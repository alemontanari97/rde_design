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585" r:id="rId2"/>
    <p:sldId id="843" r:id="rId3"/>
    <p:sldId id="844" r:id="rId4"/>
    <p:sldId id="845" r:id="rId5"/>
    <p:sldId id="846" r:id="rId6"/>
    <p:sldId id="847" r:id="rId7"/>
    <p:sldId id="848" r:id="rId8"/>
    <p:sldId id="849" r:id="rId9"/>
    <p:sldId id="850" r:id="rId10"/>
    <p:sldId id="851" r:id="rId11"/>
    <p:sldId id="852" r:id="rId12"/>
    <p:sldId id="853" r:id="rId13"/>
    <p:sldId id="854" r:id="rId14"/>
    <p:sldId id="855" r:id="rId15"/>
    <p:sldId id="856" r:id="rId16"/>
    <p:sldId id="857" r:id="rId17"/>
    <p:sldId id="858" r:id="rId18"/>
    <p:sldId id="859" r:id="rId19"/>
    <p:sldId id="860" r:id="rId20"/>
    <p:sldId id="861" r:id="rId21"/>
    <p:sldId id="862" r:id="rId22"/>
    <p:sldId id="863" r:id="rId23"/>
    <p:sldId id="864" r:id="rId24"/>
    <p:sldId id="865" r:id="rId25"/>
    <p:sldId id="866" r:id="rId26"/>
    <p:sldId id="867" r:id="rId27"/>
    <p:sldId id="868" r:id="rId28"/>
    <p:sldId id="869" r:id="rId29"/>
    <p:sldId id="870" r:id="rId30"/>
    <p:sldId id="871" r:id="rId31"/>
    <p:sldId id="872" r:id="rId32"/>
    <p:sldId id="873" r:id="rId33"/>
    <p:sldId id="874" r:id="rId34"/>
    <p:sldId id="875" r:id="rId35"/>
    <p:sldId id="876" r:id="rId36"/>
    <p:sldId id="877" r:id="rId37"/>
    <p:sldId id="878" r:id="rId38"/>
    <p:sldId id="879" r:id="rId39"/>
    <p:sldId id="880" r:id="rId40"/>
    <p:sldId id="881" r:id="rId41"/>
    <p:sldId id="882" r:id="rId42"/>
    <p:sldId id="883" r:id="rId43"/>
    <p:sldId id="884" r:id="rId44"/>
    <p:sldId id="885" r:id="rId45"/>
    <p:sldId id="886" r:id="rId46"/>
    <p:sldId id="887" r:id="rId47"/>
    <p:sldId id="888" r:id="rId48"/>
    <p:sldId id="889" r:id="rId49"/>
    <p:sldId id="890" r:id="rId50"/>
    <p:sldId id="891" r:id="rId51"/>
    <p:sldId id="892" r:id="rId52"/>
    <p:sldId id="893" r:id="rId53"/>
    <p:sldId id="894" r:id="rId54"/>
    <p:sldId id="895" r:id="rId55"/>
    <p:sldId id="896" r:id="rId56"/>
    <p:sldId id="897" r:id="rId57"/>
    <p:sldId id="898" r:id="rId58"/>
    <p:sldId id="899" r:id="rId59"/>
    <p:sldId id="900" r:id="rId60"/>
    <p:sldId id="901" r:id="rId61"/>
    <p:sldId id="902" r:id="rId62"/>
    <p:sldId id="903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5C90A-3E8E-614D-84F8-9882190274C6}" name="Maria Teresa Scelzo" initials="MTS" userId="S::maria.teresa.scelzo@vki.ac.be::37be6264-c88a-4c5c-bac6-5d9ddcdf17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433"/>
    <a:srgbClr val="0067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389" autoAdjust="0"/>
  </p:normalViewPr>
  <p:slideViewPr>
    <p:cSldViewPr snapToGrid="0">
      <p:cViewPr>
        <p:scale>
          <a:sx n="66" d="100"/>
          <a:sy n="66" d="100"/>
        </p:scale>
        <p:origin x="644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DEDE560A-8E8A-436E-813E-C270D46A31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E196812-9494-4F25-9D79-3A4CFC21CD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89A48-AC6F-47D3-B40C-2C1B139D4F3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A5800A6-55FA-485B-BD56-FFF84FBBA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5E942F-7B43-43FE-9FE5-AC71F2AC37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BE69-0B93-43EB-83C2-51DA4849037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595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841FC-F73E-4ED5-B83E-9A3C90B7F5B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2FDB6-CFFD-422B-8A27-F953604C2C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669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AD0E9-89D2-F749-A052-0AC75C7B6866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6509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movements: phenomenology (jump conditions -&gt; CJ -&gt; ZND), worked SD-Toolbox examples, cycle thermodynamics (including the standing/rotating inversion and EAP), the two thrust-model frameworks (Shepherd-Kasahara, Stechmann-Heister), and Wolanski's engineering survey. The single thread: where the entropy of a combustion wave is generated, and who pays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Wolanski (2013): detonation is a supersonic, shock-coupled reaction that RAISES pressure and density, whereas a deflagration lowers them. At equal compression the ideal-cycle efficiency gain is ~20-23% (Fickett-Jacobs &gt; Humphrey &gt; Brayton). Motivating question for the whole lecture: how much of this ideal advantage survives real gas dynamics and real nozzles? (Answer, Part IV: a few percent of Isp, if the nozzle adapts.)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Both are solution branches of the SAME Rankine-Hugoniot jump conditions. Key contrast: deflagration is subsonic, diffusion-controlled, expands and slightly decompresses the gas; detonation is supersonic, shock-ignited, compresses it. Typical: S_L ~ 0.4-3 m/s vs D_CJ ~ 1.8-2.9 km/s; p2/p1 = 15-41 across our twelve mixtures (fuel-O2 upper end).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wave-fixed control volume gives three algebraic relations independent of the internal structure. This is why an 'ideal' detonation can be treated as a jump: the reaction-zone thickness (sub-mm) is tiny next to engine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equations, four unknowns (p2,v2,w2,U): a one-parameter family of solutions, not a point. The total-enthalpy form ht1 = ht2 is the compact statement of the energy jump - and returns in Part IV as the rothalpy argument of the axial-flow model. Closure needs an equation of state and the heat release q, plus s2&gt;=s1.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Rigorous definition (Wintenberger-Shepherd Eq. B1): q_c = h1(T1,P1) - h6(T1,P1), reactants minus EQUILIBRIUM products at the same initial state, per kg of mixture. At 300 K the equilibrium products are the major species (CO2, H2O vapour, N2), so q_c coincides with the formation-enthalpy (LHV) heat release: deviation 0.00% across all 12 mixtures (q_mapping audit). Non-dimensionalisations used by the papers: q-tilde = q_c/(cp T1) on the classical Hugoniot and in the FJ closed form; q_t-tilde = q_c/(cp Tt1) on the stagnation Hugoniot with existence limit q_t-tilde &lt; 1/(gamma^2-1); q_c/(R T1) = gamma/(gamma-1) q-tilde labels the Fig. A22 family. Numbers: H2/air 3.42, CH4/air 2.76, H2/O2 13.42 MJ/kg -&gt; q-tilde 4.03/4.40/7.36.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Slope = -(rho1 w1)^2: it encodes the mass flux, hence the wave speed. Steeper line = faster wave (right figure). A real (negative) slope forbids two quadrants -&gt; the forbidden region between the CJ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 heat release the Hugoniot detaches from state 1. Right figure: increasing q lifts the whole curve and drives the CJ tangent point up and to the left (stronger compression). The wave speed is still free - one more condition (CJ)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Rayleigh line can be secant (two solutions: strong+weak), tangent (CJ), or miss the branch. The two tangencies are the CJ detonation and CJ deflagration. Between them: no real Rayleigh line (forbidden). Five regions: strong/weak detonation, forbidden, weak/strong deflagration.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Jouguet's hypothesis: the self-sustaining wave sits at the tangent point where the downstream flow is exactly sonic in the wave frame (w2 = a2, EQUILIBRIUM sound speed - with the frozen sound speed the same point reads M2 ~ 0.965, see the validation slide). Classification: strong (overdriven) detonations decay to CJ unless supported; weak detonations unreachable through a normal reaction zone; strong deflagrations forbidden. The one-gamma forms for M_CJ, p_CJ and Delta-p_CJ ~ rho1 U^2/(gamma_e+1) are reused verbatim by the Part-IV thrust models - with gamma_e the EQUILIBRIUM products exponent (1.13-1.17), not the frozen cp/cv.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theorem of the Hugoniot geometry: entropy is minimum on the detonation branch exactly at the CJ tangent point (and maximum at CJ deflagration). This entropy minimum is the CRUX of the thermodynamic advantage (Part III) - but it is necessary, not sufficient, for a good steady engine: see the standing-detonation slides for the inversion.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ZND resolves the jump: inert lead shock -&gt; von Neumann spike (p_vN ~ 2 p_CJ, no reaction) -&gt; induction zone -&gt; rapid heat release -&gt; sonic CJ plane. The reaction-zone length sets the detonation cell size and the initiation limits - the practical constraint on RDE channel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Thermicity sigma-dot (SD Toolbox Eq. 9.45): term I = volume change from composition change, term II = internal-energy/chemistry exchange. zndsolve integrates the ODEs in TIME behind the frozen shock (Eq. 11.45-11.48): dw/dt = w sigma-dot/(1-M^2) with M the frozen Mach number. Regularity at eta = 1-M^2 -&gt; 0 demands sigma-dot -&gt; 0 simultaneously: the sonic/thermicity balance IS the CJ condition seen from inside the wave, and the numerical eigenvalue of the toolbox.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Computed with the official Caltech SD Toolbox zndsolve on Cantera 3.2 (GRI-Mech 3.0). H2/air: von Neumann p_vN/p1 = 27.5, T_vN = 1532 K; induction length (peak thermicity) 0.245 mm; pressure relaxes to p_CJ/p1 = 15.5 at the sonic plane. H2/O2: induction 0.050 mm, ~5x shorter.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Official SD Toolbox CJspeed: minimises the Rayleigh wave speed over the equilibrium Hugoniot (density-ratio sweep + least-squares parabola). The report calls this Definition I and prefers it because it needs no equilibrium-sound-speed iteration. PostShock_fr at U_CJ gives the frozen von Neumann state. Validated to &lt;0.5% vs the Caltech detonation database. The frozen-vs-equilibrium sonic check (M2 = 0.965 frozen, 1.000 equilibrium) is a teaching hook for the gamma_e discussion two slides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twelve computed live with the official SD Toolbox on Cantera 3.2 (kerosene = n-dodecane surrogate, +0.19% on U_CJ vs the full mechanism). Trends: fuel-O2 -&gt; higher T2, p2/p1, M_CJ (no N2 to heat); kerosene/O2 peaks at p2/p1 = 40.6. THE COLUMN PAIR gamma_e vs gamma_fr is the point of this slide (gamma audit): gamma_e = rho2 a_eq^2/p2 at CJ = 1.13-1.17 is what Shepherd-Kasahara's equations require; the frozen cp/cv 1.22-1.25 fed to their Eq. 19-22 fails to reproduce their own Table 1. Minimum gamma_e: H2/O2 = 1.129 (NOT kerosene - the old deck bullet was wrong). CJ is sonic w.r.t. the equilibrium sound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Adversarial V&amp;V: every SD Toolbox CJ speed matches Shepherd-Kasahara's published Table 2 to &lt;=0.1%, and P_CJ to &lt;=1.7% (5 mixtures). This validates the detonation inputs that feed the thrust models - no hallucinated numbers. Right figure: post-shock Mach behaviour confirming the frozen/equilibrium sonic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One-gamma with gamma = 1.2 (the W&amp;S products value for the fuel-air class): fuel-air M_CJ within 2% - the 1.2 calibration silently absorbs the reactant-vs-product sound-speed mismatch (physical M_CJ is referenced to the reactants' a1 with gamma1 ~ 1.39-1.40, the model implies a1 = sqrt(gamma_e R T1); that is why the q_eff inversion gives q_eff/q_c = 1.18-1.30 &gt; 1 for fuel-air). Fuel-O2: over-predicts by 25-40% because dissociation withholds part of the release - q_eff/q_c = 0.63-0.84. Same story as the FJ-efficiency penalty in Part III. Use closed forms for scaling; equilibrium thermochemistry for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U_CJ tracks the balance of heat release and upstream sound speed. Maxima sit modestly rich (phi ~ 1.1-1.6): light intermediate species (H, H2) lower the product molar mass and raise the sound speed. These trends propagate directly into specific thrust (Part IV).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Dominant levers (SD Toolbox sweeps): inert dilution is strongest (2836 -&gt; 1721 m/s from O2 to heavy N2); U_CJ rises only weakly (log-like) with p1 and falls slowly with T1 (density drops faster than sound speed rises). Note for Part IV: specific PERFORMANCE of the pressure-history model is nearly independent of upstream p,T; the axial model instead gains strongly with p1/pa (deeper expansion).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Induction length Delta_i spans ~12x across these mixtures: 0.021 mm (C2H4/O2), 0.050 (H2/O2), 0.199 (CH4/O2), 0.245 mm (H2/air) - zndsolve, GRI-3.0. Cell size lambda ~ 10-50 Delta_i sets the minimum channel width/height for a self-sustained wave (Bykovskii). This ties chamber geometry hard to mixture detonability - it returns as l_cr inside Wolanski's Wave Number in Part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methodological backbone (gamma_phase_audit, 96/96 checks). Phase rule: compression uses the REACTANTS (frozen isentrope, gamma1 ~ 1.39-1.40), the combustion jump uses equilibrium chemistry with q, the expansion uses EQUILIBRIUM PRODUCTS (shifting). The analytic family is one-gamma 1.2 by W&amp;S prescription - faithful to the paper but biased on the compression leg: it understates eta_FJ by ~0.10-0.15 at pi_c = 5-20 (two-gamma variant matches Cantera to +0.003). Heiser-Pratt's gamma = 1.4 everywhere errs the opposite way (+0.13). The deprecated 0.0136 total-pressure claim was exactly this bias in loss form: products' gamma = 1.2 applied to the reactants' ram compression, overstating the loss 3.9x (supported values: 0.074 classical, 0.054 stagnation).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three compress, burn, expand and reject - differing only in the burn. Brayton: constant pressure. Humphrey: constant volume. Fickett-Jacobs/detonation: the Rayleigh-&gt;CJ jump (compression + heat addition in one step) - the dash-dot chord is an artifice, the actual ZND states lie on it. Display case: CH4-air, phi = 1, pi_c = 5, real equilibrium chemistry: P_CJ = 56.4 bar, eta_FJ = 0.475 (validation anchor C3H8-air: 61.1 bar, matching Paper A Fig. 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FJ is a closed-system cycle bounding the work from detonating a fixed mass: w_net = h1-h5, every step reversible except the detonation (Zel'dovich 1940 got the identical result). One-gamma efficiency depends only on M_CJ and gamma; the piston bookkeeping and the black-box First Law agree (A43-A55) - the elegance worth showing. Realistic values (equilibrium): 0.28-0.31 fuel-air, 0.19-0.24 fuel-O2 - counter-intuitively fuel-air wins, because dissociation in the hotter fuel-O2 products stores energy and rejects it as heat during the constant-p leg (radicals only partially recombine). Fuel-O2 still gives 2-4x more specific work (larger qc). N2-dilution sweep is the cleanest proof: adding inert gas RAISES eta monotonically toward the air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 a fixed compression ratio: FJ &gt;~ Humphrey &gt; Brayton (CH4-air: 0.300/0.271/0 at pi_c=1; 0.593/0.577/0.483 at 20), because at a fixed upstream state the CJ detonation adds heat at the highest temperature with the lowest entropy rise. CRUCIAL caveat: ranked at fixed PEAK pressure the order inverts (Brayton &gt; Humphrey &gt; FJ, verified in our JSON on C3H8-air) - detonation's huge CJ spike buys the least precompression at a given material stress. The comparison basis is everything; precompression is the real efficiency lever (0.30 -&gt; 0.59 by pi_c = 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Fig. A22 recreated: eta_FJ(pi_c) for q_c/RT1 = 10-40, one-gamma gamma = 1.2 (detonation products, W&amp;S prescription - labeled on the figure). The exact inverse q-tilde = (M_CJ^2-1)^2/(2(gamma+1)M_CJ^2) maps the curves to real mixtures: curve 30 ~ H2-air (28.7) and CH4-air (30.6), curve 40 ~ C2H2-air (39.1). Fuel-O2 lies far above (65-156) AND has gamma_e ~ 1.13, not 1.2: the family is a fuel-air-class model - quoting it for fuel-O2 would double-count energy that dissociation withholds.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deepest insight of Wintenberger-Shepherd: the cycle advantage assumes a fixed STATIC state (reactants at rest) - the frame of a rotating/propagating detonation. Fix instead the STAGNATION state (steady flow, standing wave) and the verdict INVERTS: the classical Hugoniot comparison is unfair for engines because each solution implies a different flight condition. Both papers state the dichotomy explicitly; the rotating-wave reading is the lecture's (well-founded) interpretive step - the papers predate RDEs.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Split s2-s1 = Delta_s_min (reversible, = cp ln(1+q_c/cpTt1), CONSTANT along the stagnation Hugoniot) + Delta_s_irr (= -R ln pt2/pt1). Benchmark gamma=1.4, q-tilde=4: CJ detonation 56.7% irreversible vs 3.5% for CJ deflagration (pt ratios 0.0738 vs 0.814). Availability argument (Clarke-Horlock): work is maximised when irreversibility is minimised. Subtlety worth teaching: on the CLASSICAL Hugoniot detonation's TOTAL Delta-s is lower, yet its IRREVERSIBLE share is far higher - the efficient-looking total hides the worst irreversibility.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Supported numbers (thermo audit): across a standing CJ wave pt2/pt1 = 0.074 (classical benchmark, q-tilde = 4, M1 = 4.60) and 0.054 (stagnation Hugoniot, q_t-tilde = 0.8, M1 = 5.00) - i.e. ~93-95% of the total pressure destroyed, dominated by the leading shock. The old '~99% / 0.0136' claim is NOT in the assigned papers: it was a one-gamma artifact (gamma = 1.2 of the products applied to the reactants' ram compression, overstating the loss 3.9x) - possibly echoing AIAA 2003-0714, not assigned. A deflagration ingests subsonic flow: pt2/pt1 = 0.81-0.87.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 frame decides everything. Rotating: reactants enter essentially at rest (fixed static state) -&gt; pressure gain applies. Standing: fixed stagnation forces M1 ~ M_CJ -&gt; the shock dumps the total pressure. Also (Wolanski): the standing wave is drag-limited to M ~ 5-7 flight; the rotating wave, once initiated, gives continuous thrust decoupled from flight Mach.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New synthesis figure (gamma = 1.4, q_c = 4.8 cpT0, ram precompression): eta vs flight Mach. At M0 = 5: propagating FJ 0.859 &gt;= Brayton bound 0.833 ~ standing CJ deflagration 0.818 &gt;&gt; standing CJ detonation 0.345 (factor 2.4). The standing CJ detonation only EXISTS for M0 &gt; 4.25 (existence condition q_t-tilde &lt; 1/(gamma^2-1), Eq. A42) - a structural, not merely quantitative, argument against standing-detonation engines. All curves are ideal thermal efficiencies: upper bounds, not propulsive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Kaemming-Paxson EAP_i: the steady uniform total pressure giving the same IDEAL stream thrust at the same mass flow - the pressure analogue of ideal exit velocity / turbine spouting velocity. Segment-wise: expand every exit cell isentropically to p0, mass-flux-average the ideal axial velocity, rebuild one equivalent pressure. Worked case (stoich H2/air, feed 4 atm): EAP_i = 6.0 atm, +49%. Averaging exit pt is WRONG: mass-flux +33%, momentum-flux +43% (optimistic - they over-weight the spikes), CTAP-style static route -40% (pessimistic). Availability, not pressure, must be averaged. Swirl is booked as heat (conservative; +6% if credited). Experimental route: thrust-based EAP with M8x = 1 is conservative within 5.4%; base drag (~12% of gross thrust) can corrupt the demonstrated gain by up to 38% - the biggest test-stand pitfall.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or several detonation heads ride an annulus at ~kHz on a freshly injected reactant layer, initiated once (unlike the PDE). Behind the front: oblique shock + expansion fan turning the flow axial. Performance question for the two frameworks that follow: given mixture, mass flow and geometry, what mean thrust and Isp?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Fig. 1 of GALCIT FM2017.001 (Ishihara fixture): the annulus unwrapped onto the theta-z plane - fresh triangular layer, detonation of height H at its tall end, oblique shock sweeping to the exit, periodic boundaries. Two independent closed-form models are built on this picture (inlet-face and exit-plane control volumes) and both collapse to T/Mdot ~ U_CJ - the PDE scaling. This is THE back-of-the-envelope RDE tool: thrust, Isp, layer height, effective stagnation pressure, throat sizing - no CFD.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equivalent control volumes (SK Fig. 2). Exit-plane CV -&gt; rocket form T = Mdot u_e + A_e(p_e-p_a) (axial-flow model). Inlet/thrust-wall CV -&gt; pressure-history model. Term I (detonation overpressure) dominates; Term II (inlet momentum + inlet-vs-ambient pressure) is 5-10x smaller but still 15-20% of thrust (H2-air 20%, C3H8-O2 15%) - dropping it visibly biases predictions (the Term-I-only curve runs below Rankin's data in the validation slide precisely for this reason). Term III (wall shear) is 1-2 orders below; chamber assumed adiabatic.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 Fig. 3: in the wave frame a CJ detonation consumes a layer of height H under a bounding atmosphere; oblique shock above, PM expansion behind, self-similar triple point. Matching: P5 = P3, theta5 = theta3 (3-5 contact) and P4 = P1 (1-4 contact). Sichel-Foster: thin reaction zone =&gt; only H and Delta-p_CJ are relevant scales =&gt; a near-universal decay function psi(x/H) per oxidiser family exists - K is born here. Note of merit: the 1-4 contact is a shear layer with up to ~1000 m/s slip (u4 = U_CJ + mean u_theta) - a real mixing/loss mechanism the model smooths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 Fig. 3: in the wave frame a CJ detonation consumes a layer of height H under a bounding atmosphere; oblique shock above, PM expansion behind, self-similar triple point. Matching: P5 = P3, theta5 = theta3 (3-5 contact) and P4 = P1 (1-4 contact). Sichel-Foster: thin reaction zone =&gt; only H and Delta-p_CJ are relevant scales =&gt; a near-universal decay function psi(x/H) per oxidiser family exists - K is born here. Note of merit: the 1-4 contact is a shear layer with up to ~1000 m/s slip (u4 = U_CJ + mean u_theta) - a real mixing/loss mechanism the model smooths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psi(xi) = exp(-alpha xi); K = integral ~ 1/alpha (2piR/H = 10-20 makes the upper limit effectively infinite). K = 1.02 (fuel-air, alpha 0.98), 1.54 (fuel-O2, alpha 0.65) from Schwer-Kailasanath traces; Sichel-Foster's colder analysis gives 1.3. The leading-shock spike is deliberately ignored (negligible impulse - same choice as PDE models). Note of merit: the number of waves N drops out EXACTLY - each layer is H/N but the nondimensional tail 2piR/H is N-independent (Eqs. 23-32), so F_I = Delta-p_CJ W H K for any N; simulation-confirmed. H is not free either: H = Mdot/(rho_c W U_CJ).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 Fig. 6 replica (Term I only, Eqs. 20/22, gamma_e of EQUILIBRIUM): F_I/Mdot ~ K U_CJ/(gamma_e+1). At phi = 1, H2-air: 928 m/s and Isp_f 3319 s (with gamma frozen it would read 896 m/s - the paper's own Fig. 6a is consistent only with the equilibrium gamma_e; gamma audit). Fuel-based Isp is driven by 1/Y_f: fuel-air ranks far above fuel-O2. For the deck's I+II numbers at phi=1 (e.g. H2/air 4268 s with u_c = 300 m/s as in SK Table 1) see the literature-table slide: the 3203-&gt;4268 jump vs the old deck is dominated by Term II (+1072 s), not by the gamma fix (+3.6%, largely cancelled by the exact Delta-p_CJ).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Zero net swirl: period-averaging the angular-momentum balance kills u_theta far downstream (S&amp;K 2011 CFD: u_z fluctuates about a positive mean, u_theta about zero). Energy: lab-frame h + (v^2+w^2)/2 - v U_D = h1 is the ROTHALPY of turbomachinery with U_D as blade speed - the RDE is a rotor-less turbomachine. Equilibrium (flow time &gt;&gt; chemical time) =&gt; h = h(P,s); shocks cost ~7% of pt =&gt; &lt;1% on isentropic T =&gt; s = s2: the expansion runs on the EQUILIBRIUM ISENTROPE THROUGH THE CJ STATE, not off a naive reservoir. Unwrapping is not innocent: v^2/r = (1/rho) dP/dr is left unbalanced, formally removed for large R-bar.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h(P,s2) curve crosses h1 at P_m: NO axial solutions for P_m &lt; P &lt; P_CJ, and P_m acts as the effective 1-D stagnation pressure (w = 0 there). C2H4-air: P_m/P1 = 4.18 (replicated 4.181); wide-composition rule P_m ~ 0.22-0.25 P2 (ours 0.218-0.234). Specific thrust T/Mdot = w + (P-Pa)/(rho w) has a wide plateau -&gt; nearly independent of exit pressure: quote it at the sonic point without exit BCs. Hidden Table-2 regularities: P* ~ 0.13 P2, w* ~ 0.48 U_CJ - with P_t ~ 0.24 P2 these are the first-cut design rules (throat sizing; used in reverse to reconstruct Kato's unmeasured pre-detonation state). Bottom panels (SK Figs. 9-10 content, recomputed at phi=1): T1 sensitivity is weak and INVERSE (via M_CJ); P1 is strong and DIRECT - but only through the expansion ratio (P2/P1 is nearly P1-independent), so pressurisation pays. The phi-maps of the sonic model show the same trends as pressure-history, 15-30% higher fuel-air.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 Fig. 11-12 recreated (representative points from the declared deviations, not digitised). Kato C2H4-O2 tests: pressure-history over-predicts 20-60% - attributed to non-ideal detonation (sub-CJ speeds from imperfect impinging-jet mixing) and the reconstructed pre-detonation state (P1 inferred 35-70 kPa via P_t = 0.24 P_CJ). Rankin H2-air RDE + Schauer PDE data: bracketed by Term-I (low, because Term II could not be evaluated from published info) and axial-sonic (high, ~+10%). Red X: our Term I+II at phi=1, 4706 s -&gt; -0.1%. Models are upper bounds; the gap measures injector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Replication at SK Table-1 conditions (1.5 atm / 255 K, u_c = 300 m/s): axial model within +-0.2% on 4/4; pressure-history on 3/4 with H2-air at -0.1%. The published C2H4-O2 pressure-history value of 704 s is NOT reproducible from the paper's own equations (we get 937 s) and is internally inconsistent with its twin C3H8-O2 (1016 s) - documented anomaly A1; shown with an asterisk, never propagated. Right: F/Mdot ~ U_CJ linearity (slope 1.10) across all combos with the corrected gamma_e (+2.4-3.9% vs the old frozen-gamma figure). PDE bridge: (I/M)_PDE ~ 1.5 Delta-p_CJ/(rho_c U_CJ) - same form, K = 1.5: why the PDE model correlates RDE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rocket-traceable (c*, C_F, Isp, O/F) quasi-steady RDE model. Note of merit #1: Isp must be MASS-WEIGHTED, not time-averaged - the impulse arrives preferentially in the high-pressure fraction where mdot, c* and C_F are simultaneously above average; a time average undercounts the dominant instants (mw/time-avg ratio ~ 1.20-1.22 in our replication). Cycle time cancels in Eq. 4 -&gt; scale/wave-count independence. Assumptions: quasi-steady isentropic blowdown with exponential decay, choked at all times (thermal throat at the exit plane), equilibrium products (CEA), gamma and M frozen along the nozzle. Collapse to the constant-pressure result when Pc = const: the built-in fair-comparison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Pc(t) = PR Pinit e^(-lambda t), lambda = ln(PR)/tc (periodicity: chamber back to Pinit as the next wave arrives); tc = 120 us from Stechmann's Purdue experiments; decay shape validated on side-relief tests and Sichel-Foster. Replication anchors: P0 = 71.8 vs 72 atm (-0.3%), c*(0) = 2329 vs 2330 m/s, gamma = 1.135 vs 1.14. Note of merit #10: c*(0) is nearly Ti-INDEPENDENT (reaction enthalpy dwarfs reactant sensible enthalpy - same reason CP engines barely care about Ti), but colder propellant buys a larger PR, hence a steeper c*(t) decay: cold buys pressure ratio, not initial c*.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Fair-comparison protocol: detonation and CP cases matched on equal TOTAL CYCLE MASS FLOW and THROAT AREA - not equal mean pressure (mean pressure is 'not a good metric', Conclusion 2). mdot/A = Pc/c* choked throughout (channel-choking margin dips marginally below threshold only in the 20-atm hydrocarbon tails - paper's own choice, replicated). The equal-mass constraint forces every Ti-family to pivot about a common crossing (~35-40 us): colder propellant = higher peak AND deeper tail. Anchor: 72 atm / 2330 m/s -&gt; 0.31 kg/cm2/s (model 0.312).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 matched flow and throat the detonation mean pressure sits 2.5-4.5% above the CP chamber: the DC shift (analogous to steep-fronted combustion-instability rectification). Replication: all 12 paper points within +-0.05 pt. Distinctions to insist on: it is a mass-weighted c*-side gain only, NOT additive to the nozzle benefit and NOT the Isp benefit. Kerosene shows +20% peak pressure vs H2 at equal flow - but smaller than the CJ-ratio gap: denser products blow down faster (lower pre-wave Pinit). CTAP warning: capillary-tube averaged pressure instrumentation damps the nonlinearity and likely cannot capture the shift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NPR is time-varying, so any fixed nozzle is on-design at one instant - 'the biggest challenge in capturing the performance potential of the RDE'. Bell C_F crosses 1 at ~85-86 us and keeps falling (no separation model - paper's choice, replicated; a real bell would separate and lose less, so the tabulated bell penalty is a worst case). Ideal aerospike: Pe(t) = Pa continuously below max expansion -&gt; vacuum C_F anchor 1.627 vs 1.62-1.65. Isp(eps) mass-weighted (CH4, 20 atm, 200 K): bell +2.6% at eps_opt 4.0; aerospike +7.3% at eps_opt 11.6 ~ 3x CP. Tempting fix - a long homogenising chamber - destroys most of the benefit: capture the work potential when and where it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Independent replication of Stechmann Table 1: 18/18 rows PASS (|dIsp| &lt;= 1.2%, eps within 10%, benefit within 0.12 pt). Bell optimum cross-checked against the model identity NPR(eps_opt) = mean(Pc)/Pa; aerospike optimum = saturation knee NPR(eps_opt) = Pmax/Pa (closed form). Aerospike eps_opt grows ~3x the CP value and Isp(eps) saturates monotonically - ideally oversizing costs nothing (vehicle weight/base area do). Vacuum rows: benefit 2.5-7.9% and NO aerospike-over-bell advantage (fixed pressure ratio for every nozzle). RP-1 modeled as gaseous n-dodecane: the coarsest surrogate, still within +1.2%.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Bottom line: ~6% Isp benefit for hydrocarbon boosters, ~8% for high-area-ratio H2 stages; aerospike-over-bell ~2-3%; ideal upper bound (H2/O2, 20 atm, sea level, aerospike) ~12%. RDEs optimise FUEL-RICH (largest shift for H2); cryogenic/dense propellants widen the pressure swing - the sweet spot. Geometric bonus: the annular RDE exit integrates naturally with a plug/aerospike (supersonic exit -&gt; no C-D nozzle needed, Wolanski). Measurement-precision warning (Conclusion 8): cumulative thrust+massflow uncertainty above a few percent makes the benefit experimentally undetectable - the accuracy bar for any RDE test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History anchors (Wolanski's reference list): Berthelot/Vieille/Mallard/Le Chatelier 1881 (detonation identified), CJ theory ~20 years later; Zel'dovich 1940 (cycle efficiency); Nicholls 1958 (first PDE bursts, Michigan; standing-wave rocket concepts); Voitsekhovskii 1960-63 (continuous spin detonation, SIX heads in a disk chamber, drum-camera compensation photography - the founding experiment); Michigan 1964-66 rotating-rocket feasibility: 'nothing fundamental stands in the way'; ~20 years of dormancy (cheap oil); Eidelman PDE revival mid-80s; near-simultaneous RDE resurgence Russia/Poland/France early 2000s; Tobita-Fujiwara-Wolanski patent applied 2004/issued 2005; first PDE-powered flight Mojave, January 2008.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Unrolled 2-D domain (Fig. 43): periodic boundaries = azimuth; fresh triangular layer along the injector wall; front normal to the wall; oblique shock into the products; Kelvin-Helmholtz billows on the contact surface; injection blocked just behind the front. KEY CFD RESULT: product outflow is essentially AXIAL - very little energy stays in rotation, so the pressure gain is available for thrust. Wave Number W = t_rev/t_refill (Eqs. 4-5): W ~ n integer -&gt; n co-rotating heads; W slightly &lt;1 -&gt; galloping (starve -&gt; decelerate -&gt; longer lap -&gt; over-fill -&gt; accelerate); W &lt;&lt; 1 -&gt; collapse to deflagration. l_cr scales with cell size: W ties chamber size + feed + mixture detonability - the quiet ceiling on RDE miniaturisation.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Injection states vs wall pressure (Fig. 31): (a) p_w &lt; p_cr choked sonic feed far from the front; (b) subsonic as the front nears; (c) p_w &gt; p_o just behind it -&gt; NO injection, brief REVERSE flow of products into the feed system, then recovery. Fuel and oxidiser enter through separate orifices and must re-mix into a detonable layer thicker than critical within ONE revolution - 'crucial for supporting the continuous and steady rotation'. Geometry zoo (Fig. 30): annulus (most common), cone insert, disk fed from centre or rim (Voitsekhovskii's original was disk-like!), plain cylinder (waves split and counter-rotate). Channel DEPTH is a real 3-D parameter: thin ~ 2-D, deeper develops radial transverse structure. Engineering bottlenecks: feed-system pressure loss (must not eat the gain) and wall heat transfer/cooling - the gating problems for real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SDWE/ODWE: wave frame-locked to the engine -&gt; inflow must arrive at &gt;= M_CJ (no self-start) and above M ~ 7-8 the conical envelope's drag exceeds the propulsive force: usable window M ~ 5-7 steady cruise only - Wolanski's verdict 'very limited, if any, applications' (consistent with Part III: the existence limit and the 0.35 efficiency at M0 = 5). PDE: re-initiation EVERY cycle, valves/purge, 10-100 Hz, stoichiometric operation (DDT reliability) -&gt; high NOx, dilution air before turbines; flight-proven (Mojave 2008), and PDC-turbine coexistence is easier than feared (neighboring-tube overpressure ~3% of vN spike). RDE: initiated once, kHz, lean or rich, quasi-steady thrust, decoupled from flight Mach - Table 3's clean 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thread: a detonation is the CJ (sonic, minimum-entropy) solution of the jump conditions, resolved by ZND. Twelve-mixture CJ table with the EQUILIBRIUM gamma_e = 1.13-1.17. At a fixed static state the detonation cycle is the most efficient; at a fixed stagnation state a standing wave loses ~93-95% of total pressure to its shock (0.074/0.054) - the RDE wins because it burns reactants at rest, and EAP_i is the honest scalar for the gain (+49% worked case). Thrust scales as U_CJ (SK, both CVs, models bracket CFD/data; 704 s anomaly documented); Stechmann-Heister's mass-weighted transient-nozzle bookkeeping leaves ~6-8% realistic Isp benefit, aerospike preferred, rich operation. Wolanski: wave number W sets the head count; injection reverses each lap; standing/pulsed alternatives lose on frame-locking and re-initiation.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numerical results in the deck are recomputed from the primary sources with the official SD Toolbox on Cantera 3.2 and validated: CJ vs Caltech database and SK Table 2 (&lt;=0.1%/1.7%), cycles 96/96 checks, SK Table 1 replicated (axial +-0.2%, PH 3/4 with the 704 s anomaly documented), Stechmann Table 1 18/18, EAP worked example -0.4%. Original paper figures carry per-slide attributions.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E2FCED-7A8F-4213-8062-920B248D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C82E15E-C40A-4632-A032-D4E91F7EB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75D8A6-B7A4-4A4E-8F7A-B9C6CE2E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M. Fiore et al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7D2831-435D-4149-BD88-53D94E98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8921" y="6356350"/>
            <a:ext cx="7732643" cy="501650"/>
          </a:xfrm>
          <a:solidFill>
            <a:srgbClr val="822433"/>
          </a:solidFill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Modular Aerospike Nozzles for Upper Stage Applications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936056-34A5-4B1C-B2FC-32779661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501650"/>
          </a:xfrm>
        </p:spPr>
        <p:txBody>
          <a:bodyPr/>
          <a:lstStyle/>
          <a:p>
            <a:fld id="{10A70FEB-7381-4ECC-98C1-1C73F7199FA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4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2E9DF3-20EB-4487-9E07-B1602535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3A624C-D652-4830-9048-BA901CC17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35F0B2-D273-4D5B-ABB0-668682A9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79999" y="6177600"/>
            <a:ext cx="2016000" cy="680400"/>
          </a:xfrm>
          <a:solidFill>
            <a:srgbClr val="822433"/>
          </a:solidFill>
        </p:spPr>
        <p:txBody>
          <a:bodyPr/>
          <a:lstStyle>
            <a:lvl1pPr algn="ctr">
              <a:defRPr sz="1400">
                <a:latin typeface="Palatino Linotype" panose="02040502050505030304" pitchFamily="18" charset="0"/>
              </a:defRPr>
            </a:lvl1pPr>
          </a:lstStyle>
          <a:p>
            <a:r>
              <a:rPr lang="it-IT"/>
              <a:t>M. Fiore et al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27BA9F-6563-49CA-90AB-013BAD00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0" y="6176963"/>
            <a:ext cx="6840000" cy="681038"/>
          </a:xfrm>
          <a:solidFill>
            <a:srgbClr val="822433"/>
          </a:solidFill>
        </p:spPr>
        <p:txBody>
          <a:bodyPr/>
          <a:lstStyle>
            <a:lvl1pPr>
              <a:lnSpc>
                <a:spcPct val="120000"/>
              </a:lnSpc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Modular Aerospike Nozzles for Upper Stage Applications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315FF2-043A-40FE-8279-54E0FCD2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000" y="6176961"/>
            <a:ext cx="1897200" cy="681039"/>
          </a:xfrm>
        </p:spPr>
        <p:txBody>
          <a:bodyPr/>
          <a:lstStyle>
            <a:lvl1pPr algn="r">
              <a:defRPr sz="1400"/>
            </a:lvl1pPr>
          </a:lstStyle>
          <a:p>
            <a:fld id="{10A70FEB-7381-4ECC-98C1-1C73F7199FA0}" type="slidenum">
              <a:rPr lang="en-US" smtClean="0"/>
              <a:pPr/>
              <a:t>‹N›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70157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44FAC27-EA79-44D6-9B85-DFE1A563A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AA1DBE4-757F-4E0E-B092-37A45C3C0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7A7E12-A927-4257-ABE4-819175D09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80000" y="6179586"/>
            <a:ext cx="2016000" cy="678414"/>
          </a:xfrm>
          <a:prstGeom prst="rect">
            <a:avLst/>
          </a:prstGeom>
          <a:solidFill>
            <a:srgbClr val="822433"/>
          </a:solidFill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it-IT"/>
              <a:t>M. Fiore et al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F9DB2F-1127-42B6-B6C6-6336317F6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177600"/>
            <a:ext cx="6840000" cy="680400"/>
          </a:xfrm>
          <a:prstGeom prst="rect">
            <a:avLst/>
          </a:prstGeom>
          <a:solidFill>
            <a:srgbClr val="822433"/>
          </a:solidFill>
        </p:spPr>
        <p:txBody>
          <a:bodyPr vert="horz" lIns="91440" tIns="45720" rIns="91440" bIns="45720" rtlCol="0" anchor="ctr"/>
          <a:lstStyle>
            <a:lvl1pPr algn="ctr">
              <a:lnSpc>
                <a:spcPct val="120000"/>
              </a:lnSpc>
              <a:defRPr sz="1400" b="1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Modular Aerospike Nozzles for Upper Stage Applications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CF867E-6C77-4503-9F28-E3AAFB25E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000" y="6177600"/>
            <a:ext cx="1896000" cy="680400"/>
          </a:xfrm>
          <a:prstGeom prst="rect">
            <a:avLst/>
          </a:prstGeom>
          <a:solidFill>
            <a:srgbClr val="822433"/>
          </a:solidFill>
        </p:spPr>
        <p:txBody>
          <a:bodyPr vert="horz" lIns="91440" tIns="45720" rIns="396000" bIns="45720" rtlCol="0" anchor="ctr"/>
          <a:lstStyle>
            <a:lvl1pPr algn="r">
              <a:defRPr sz="1400" b="1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</a:lstStyle>
          <a:p>
            <a:fld id="{10A70FEB-7381-4ECC-98C1-1C73F7199FA0}" type="slidenum">
              <a:rPr lang="en-US" smtClean="0"/>
              <a:pPr/>
              <a:t>‹N›</a:t>
            </a:fld>
            <a:r>
              <a:rPr lang="en-US" dirty="0"/>
              <a:t>/17 </a:t>
            </a:r>
          </a:p>
        </p:txBody>
      </p:sp>
    </p:spTree>
    <p:extLst>
      <p:ext uri="{BB962C8B-B14F-4D97-AF65-F5344CB8AC3E}">
        <p14:creationId xmlns:p14="http://schemas.microsoft.com/office/powerpoint/2010/main" val="19680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D76859-E634-F149-8469-CE8DA113AA84}"/>
              </a:ext>
            </a:extLst>
          </p:cNvPr>
          <p:cNvSpPr txBox="1"/>
          <p:nvPr/>
        </p:nvSpPr>
        <p:spPr>
          <a:xfrm>
            <a:off x="2089149" y="479090"/>
            <a:ext cx="9361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"/>
              </a:rPr>
              <a:t>Detonation and Rotating Detonation Engines</a:t>
            </a:r>
            <a:endParaRPr lang="en-FR" sz="3200" b="1" dirty="0">
              <a:solidFill>
                <a:srgbClr val="8224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"/>
              <a:ea typeface="Palatino" pitchFamily="2" charset="77"/>
              <a:cs typeface="FUTURA MEDIUM" panose="020B0602020204020303" pitchFamily="34" charset="-79"/>
            </a:endParaRPr>
          </a:p>
        </p:txBody>
      </p:sp>
      <p:pic>
        <p:nvPicPr>
          <p:cNvPr id="9" name="Picture 15" descr="Fondino">
            <a:extLst>
              <a:ext uri="{FF2B5EF4-FFF2-40B4-BE49-F238E27FC236}">
                <a16:creationId xmlns:a16="http://schemas.microsoft.com/office/drawing/2014/main" id="{891D5A5A-D4A6-43B4-A4E9-D59B20E99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447905"/>
            <a:ext cx="12192000" cy="2410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3" descr="logo +marchio">
            <a:extLst>
              <a:ext uri="{FF2B5EF4-FFF2-40B4-BE49-F238E27FC236}">
                <a16:creationId xmlns:a16="http://schemas.microsoft.com/office/drawing/2014/main" id="{E14A9313-1B86-4722-B9FF-AE715CC70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447905"/>
            <a:ext cx="9145588" cy="114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6" descr="fascia">
            <a:extLst>
              <a:ext uri="{FF2B5EF4-FFF2-40B4-BE49-F238E27FC236}">
                <a16:creationId xmlns:a16="http://schemas.microsoft.com/office/drawing/2014/main" id="{7BC0591E-068E-4752-8525-6A05CA716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89150" y="3777991"/>
            <a:ext cx="1010285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8DCCD7BE-F6E3-9F09-733C-1ED1242ECBF5}"/>
              </a:ext>
            </a:extLst>
          </p:cNvPr>
          <p:cNvSpPr txBox="1"/>
          <p:nvPr/>
        </p:nvSpPr>
        <p:spPr>
          <a:xfrm>
            <a:off x="2089149" y="2113558"/>
            <a:ext cx="9966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Palatino"/>
              </a:rPr>
              <a:t>Alessandro Montanari        Sapienza University of Rome</a:t>
            </a:r>
            <a:endParaRPr lang="en-US" sz="1050" dirty="0">
              <a:latin typeface="Palati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03120" y="138988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2B2B2B"/>
                </a:solidFill>
                <a:latin typeface="Palatino Linotype"/>
              </a:rPr>
              <a:t>A rigorous thermo-gasdynamic treatment — from Chapman–Jouguet theory to engine thrust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8716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06778"/>
                </a:solidFill>
                <a:latin typeface="Palatino Linotype"/>
              </a:rPr>
              <a:t>Graduate lecture · 90 minutes</a:t>
            </a:r>
          </a:p>
        </p:txBody>
      </p:sp>
    </p:spTree>
    <p:extLst>
      <p:ext uri="{BB962C8B-B14F-4D97-AF65-F5344CB8AC3E}">
        <p14:creationId xmlns:p14="http://schemas.microsoft.com/office/powerpoint/2010/main" val="399050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Outline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Five movements, one thread — the entropy of a combustion wave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171907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6778"/>
                </a:solidFill>
                <a:latin typeface="Palatino Linotype"/>
              </a:rPr>
              <a:t>Detonation as a thermo-gasdynamic phenomenon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225856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Palatino Linotype"/>
              </a:rPr>
              <a:t>Jump conditions &amp; the heat release q · Rayleigh line &amp; Hugoniot curve · Chapman–Jouguet · ZND 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II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" y="354787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6778"/>
                </a:solidFill>
                <a:latin typeface="Palatino Linotype"/>
              </a:rPr>
              <a:t>Worked examples — SD Toolbox / Cantera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" y="408736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Palatino Linotype"/>
              </a:rPr>
              <a:t>CJ states for twelve propellant combinations · one-γ check · parametric sweeps · models &amp; assumptions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III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171907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6778"/>
                </a:solidFill>
                <a:latin typeface="Palatino Linotype"/>
              </a:rPr>
              <a:t>The thermodynamic advantage of detonation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3448" y="225856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Palatino Linotype"/>
              </a:rPr>
              <a:t>Fickett–Jacobs / Humphrey / Brayton · standing vs. rotating waves · entropy partition · the EAP metric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IV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354787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6778"/>
                </a:solidFill>
                <a:latin typeface="Palatino Linotype"/>
              </a:rPr>
              <a:t>Thrust models for RDEs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408736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Palatino Linotype"/>
              </a:rPr>
              <a:t>Shepherd–Kasahara (pressure-history &amp; axial-flow) · Stechmann–Heister rocket performance &amp; nozzles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257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1288" y="528523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06778"/>
                </a:solidFill>
                <a:latin typeface="Palatino Linotype"/>
              </a:rPr>
              <a:t>RDE engineering practice (</a:t>
            </a:r>
            <a:r>
              <a:rPr sz="1600" b="1" i="0" dirty="0" err="1">
                <a:solidFill>
                  <a:srgbClr val="006778"/>
                </a:solidFill>
                <a:latin typeface="Palatino Linotype"/>
              </a:rPr>
              <a:t>Wolański</a:t>
            </a:r>
            <a:r>
              <a:rPr sz="1600" b="1" i="0" dirty="0">
                <a:solidFill>
                  <a:srgbClr val="006778"/>
                </a:solidFill>
                <a:latin typeface="Palatino Linotype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1288" y="57607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Palatino Linotype"/>
              </a:rPr>
              <a:t>History · annulus principle &amp; wave number · injection dynamics · chamber geometries · standing &amp; pulsed alternatives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Why detonation for propulsion?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Combustion approaching constant volume: pressure gain, not loss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691640"/>
            <a:ext cx="64008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550" b="0" i="0" dirty="0">
                <a:solidFill>
                  <a:srgbClr val="2B2B2B"/>
                </a:solidFill>
                <a:latin typeface="Palatino Linotype"/>
              </a:rPr>
              <a:t>Conventional engines burn at nearly constant pressure (Brayton). A deflagration is a subsonic, diffusion-controlled flame — small total-pressure loss, no compression.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550" b="0" i="0" dirty="0">
                <a:solidFill>
                  <a:srgbClr val="2B2B2B"/>
                </a:solidFill>
                <a:latin typeface="Palatino Linotype"/>
              </a:rPr>
              <a:t>A detonation is a supersonic shock–reaction complex: it compresses and heats the gas at once, approaching the constant-volume (Humphrey) limit.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550" b="0" i="0" dirty="0">
                <a:solidFill>
                  <a:srgbClr val="2B2B2B"/>
                </a:solidFill>
                <a:latin typeface="Palatino Linotype"/>
              </a:rPr>
              <a:t>Constant-volume heat addition raises the mean effective pressure for the same heat release → higher ideal efficiency: “pressure-gain combustion”.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550" b="1" i="0" dirty="0">
                <a:solidFill>
                  <a:srgbClr val="822433"/>
                </a:solidFill>
                <a:latin typeface="Palatino Linotype"/>
              </a:rPr>
              <a:t>The Rotating Detonation Engine </a:t>
            </a:r>
            <a:r>
              <a:rPr sz="1550" b="1" i="0" dirty="0" err="1">
                <a:solidFill>
                  <a:srgbClr val="822433"/>
                </a:solidFill>
                <a:latin typeface="Palatino Linotype"/>
              </a:rPr>
              <a:t>realises</a:t>
            </a:r>
            <a:r>
              <a:rPr sz="1550" b="1" i="0" dirty="0">
                <a:solidFill>
                  <a:srgbClr val="822433"/>
                </a:solidFill>
                <a:latin typeface="Palatino Linotype"/>
              </a:rPr>
              <a:t> this continuously in a compact annulus — one or more detonations sweeping a fresh reactant layer at ~kHz.</a:t>
            </a:r>
          </a:p>
        </p:txBody>
      </p:sp>
      <p:pic>
        <p:nvPicPr>
          <p:cNvPr id="34" name="Picture 33" descr="fig_ucj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74519"/>
            <a:ext cx="4617720" cy="24427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32320" y="4526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2B2B2B"/>
                </a:solidFill>
                <a:latin typeface="Palatino Linotype"/>
              </a:rPr>
              <a:t>CJ detonation speeds, 9 propellant pairs — computed live (SD Toolbox / Cantera)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2103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06778"/>
                </a:solidFill>
                <a:latin typeface="Palatino Linotype"/>
              </a:rPr>
              <a:t>Part 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69748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822433"/>
                </a:solidFill>
                <a:latin typeface="Palatino Linotype"/>
              </a:rPr>
              <a:t>Detonation as a thermo-gasdynamic phenomenon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11480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B2B2B"/>
                </a:solidFill>
                <a:latin typeface="Palatino Linotype"/>
              </a:rPr>
              <a:t>A combustion wave is a discontinuity constrained by conservation laws. Everything follows from mass, momentum and energy.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Deflagration vs. detonation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Two branches of the same conservation laws — typical values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57200" y="1691640"/>
          <a:ext cx="7680959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9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8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alatino Linotype"/>
                        </a:rPr>
                        <a:t>Property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alatino Linotype"/>
                        </a:rPr>
                        <a:t>Deflagration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alatino Linotype"/>
                        </a:rPr>
                        <a:t>Detonation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Propagation (lab)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2B2B2B"/>
                          </a:solidFill>
                          <a:latin typeface="Palatino Linotype"/>
                        </a:rPr>
                        <a:t>subsonic,  M₁ &lt; 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supersonic,  M₁ = M_CJ ≈ 5–8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Wave speed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Sₗ ≈ 0.4–3 m/s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D_CJ ≈ 1.8–2.9 km/s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Driving mechanism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diffusion of heat &amp; radicals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shock-induced auto-ignition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Pressure ratio  p₂/p₁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≲ 1  (slight drop)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15 – 41  (strong rise)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Volume ratio  v₂/v₁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&gt; 1  (expansion)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&lt; 1  (compression, ≈ 0.55)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Total-pressure loss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small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large (leading shock)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Internal structure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preheat + reaction zone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dirty="0">
                          <a:solidFill>
                            <a:srgbClr val="2B2B2B"/>
                          </a:solidFill>
                          <a:latin typeface="Palatino Linotype"/>
                        </a:rPr>
                        <a:t>shock + induction + reaction (ZND)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366760" y="1828800"/>
            <a:ext cx="336499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Same jump conditions — different branch of the Hugoniot.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Deflagration expands and slightly decompresses the gas.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Detonation compresses it: this is the thermodynamic prize.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The two are separated by a forbidden region (no real Rayleigh line).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6/62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combustion wave as a discontinuity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Control volume in the wave-fixed frame</a:t>
            </a:r>
          </a:p>
        </p:txBody>
      </p:sp>
      <p:pic>
        <p:nvPicPr>
          <p:cNvPr id="33" name="Picture 32" descr="fig_wave_c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1572768"/>
            <a:ext cx="7863840" cy="38705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Wave frame: reactants enter at w₁ = U − u₁, products leave at w₂ = U − u₂; integrating over the control volume gives three jump conditions relating states 1 and 2 — independent of internal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7/62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Rankine–Hugoniot jump conditions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Mass, momentum, energy — written with the total enthalpy</a:t>
            </a:r>
          </a:p>
        </p:txBody>
      </p:sp>
      <p:pic>
        <p:nvPicPr>
          <p:cNvPr id="33" name="Picture 32" descr="jump_m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55648"/>
            <a:ext cx="1975104" cy="475488"/>
          </a:xfrm>
          <a:prstGeom prst="rect">
            <a:avLst/>
          </a:prstGeom>
        </p:spPr>
      </p:pic>
      <p:pic>
        <p:nvPicPr>
          <p:cNvPr id="34" name="Picture 33" descr="jump_m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719072"/>
            <a:ext cx="3461004" cy="544068"/>
          </a:xfrm>
          <a:prstGeom prst="rect">
            <a:avLst/>
          </a:prstGeom>
        </p:spPr>
      </p:pic>
      <p:pic>
        <p:nvPicPr>
          <p:cNvPr id="35" name="Picture 34" descr="jump_energ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527048"/>
            <a:ext cx="2816349" cy="928115"/>
          </a:xfrm>
          <a:prstGeom prst="rect">
            <a:avLst/>
          </a:prstGeom>
        </p:spPr>
      </p:pic>
      <p:pic>
        <p:nvPicPr>
          <p:cNvPr id="36" name="Picture 35" descr="total_en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852928"/>
            <a:ext cx="4393692" cy="7635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49240" y="303580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006778"/>
                </a:solidFill>
                <a:latin typeface="Palatino Linotype"/>
              </a:rPr>
              <a:t>… the energy equation in one stroke: the total enthalpy is conserved across the wave.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3192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Three equations, four unknowns (p₂, v₂, w₂ and the wave speed): a one-parameter family of solutions, not a point.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Closure needs an equation of state h = h(p,ρ) and, for reacting gas, the heat release q; admissible states must satisfy s₂ ≥ s₁.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1" i="0">
                <a:solidFill>
                  <a:srgbClr val="822433"/>
                </a:solidFill>
                <a:latin typeface="Palatino Linotype"/>
              </a:rPr>
              <a:t>Eliminating the velocities collapses momentum + energy into two geometric objects in the (p, v) plane: the Rayleigh line and the Hugoniot curve.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8/62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heat-release parameter 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From formation enthalpies to the single scalar driving the wave</a:t>
            </a:r>
          </a:p>
        </p:txBody>
      </p:sp>
      <p:pic>
        <p:nvPicPr>
          <p:cNvPr id="33" name="Picture 32" descr="eq_q_total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72768"/>
            <a:ext cx="2825493" cy="9281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749039" y="184708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2B2B2B"/>
                </a:solidFill>
                <a:latin typeface="Palatino Linotype"/>
              </a:rPr>
              <a:t>fold the chemistry into the enthalpy: h = h_sens + Δh_f  →  a single q appears in the energy jump</a:t>
            </a:r>
          </a:p>
        </p:txBody>
      </p:sp>
      <p:pic>
        <p:nvPicPr>
          <p:cNvPr id="35" name="Picture 34" descr="eq_q_d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61488"/>
            <a:ext cx="8691372" cy="76809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509760" y="2871216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2B2B2B"/>
                </a:solidFill>
                <a:latin typeface="Palatino Linotype"/>
              </a:rPr>
              <a:t>the formal definition (W&amp;S, Eq. B1)</a:t>
            </a:r>
          </a:p>
        </p:txBody>
      </p:sp>
      <p:pic>
        <p:nvPicPr>
          <p:cNvPr id="37" name="Picture 36" descr="eq_q_sensi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85615"/>
            <a:ext cx="3794756" cy="92811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09160" y="4059936"/>
            <a:ext cx="6903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2B2B2B"/>
                </a:solidFill>
                <a:latin typeface="Palatino Linotype"/>
              </a:rPr>
              <a:t>… equal to the formation-enthalpy (LHV) value: deviation 0.00% across all 12 mixtures at 300 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983480"/>
            <a:ext cx="11109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q_c ≡ h₁(T₁,p₁) − h₆(T₁,p₁): reactants minus equilibrium products at the same initial state — the rigorous route from Δh_f to q.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Stoichiometric, 300 K, 1 bar:  q_c = 3.42 (H₂/air) · 2.76 (CH₄/air) · 13.42 (H₂/O₂) MJ/kg  →  q̃ = q_c/c_pT₁ = 4.0 · 4.4 · 7.4.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9/62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Rayleigh 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Mass + momentum ⟹ a straight line in the (p, v) plane</a:t>
            </a:r>
          </a:p>
        </p:txBody>
      </p:sp>
      <p:pic>
        <p:nvPicPr>
          <p:cNvPr id="33" name="Picture 32" descr="rayle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4169664" cy="7086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2697480"/>
            <a:ext cx="5806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2B2B2B"/>
                </a:solidFill>
                <a:latin typeface="Palatino Linotype"/>
              </a:rPr>
              <a:t>Mass + momentum eliminate the velocities: the end state lies on a line through (p₁,v₁) with slope −ṁ² = −(ρ₁w₁)².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2B2B2B"/>
                </a:solidFill>
                <a:latin typeface="Palatino Linotype"/>
              </a:rPr>
              <a:t>The slope fixes the mass flux, hence the wave speed U = v₁√[(p₂−p₁)/(v₁−v₂)] — a steeper line is a faster wave.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2B2B2B"/>
                </a:solidFill>
                <a:latin typeface="Palatino Linotype"/>
              </a:rPr>
              <a:t>A real (negative) slope forbids the quadrants p₂&gt;p₁, v₂&gt;v₁ and its opposite: the forbidden region.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1" i="0">
                <a:solidFill>
                  <a:srgbClr val="822433"/>
                </a:solidFill>
                <a:latin typeface="Palatino Linotype"/>
              </a:rPr>
              <a:t>Detonation compresses (v₂&lt;v₁); deflagration expands (v₂&gt;v₁).</a:t>
            </a:r>
          </a:p>
        </p:txBody>
      </p:sp>
      <p:pic>
        <p:nvPicPr>
          <p:cNvPr id="35" name="Picture 34" descr="fig_rayleigh_fami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554480"/>
            <a:ext cx="5257800" cy="38592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10/62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Hugoniot curve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Mass + momentum + energy ⟹ the locus of end states</a:t>
            </a:r>
          </a:p>
        </p:txBody>
      </p:sp>
      <p:pic>
        <p:nvPicPr>
          <p:cNvPr id="33" name="Picture 32" descr="hugoni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4379976" cy="7635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2743200"/>
            <a:ext cx="5806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2B2B2B"/>
                </a:solidFill>
                <a:latin typeface="Palatino Linotype"/>
              </a:rPr>
              <a:t>All three laws combined give the Hugoniot — the locus of admissible end states for a given heat release q.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2B2B2B"/>
                </a:solidFill>
                <a:latin typeface="Palatino Linotype"/>
              </a:rPr>
              <a:t>With q&gt;0 it detaches from state 1, splitting into an upper detonation branch and a lower deflagration branch.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2B2B2B"/>
                </a:solidFill>
                <a:latin typeface="Palatino Linotype"/>
              </a:rPr>
              <a:t>Larger heat release lifts the curve and drives the CJ point higher — the dependence shown at right.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1" i="0">
                <a:solidFill>
                  <a:srgbClr val="822433"/>
                </a:solidFill>
                <a:latin typeface="Palatino Linotype"/>
              </a:rPr>
              <a:t>The solution is a Rayleigh line tangent/secant to the Hugoniot; the wave speed stays free until one more condition fixes it.</a:t>
            </a:r>
          </a:p>
        </p:txBody>
      </p:sp>
      <p:pic>
        <p:nvPicPr>
          <p:cNvPr id="35" name="Picture 34" descr="fig_hugoniot_fami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554480"/>
            <a:ext cx="5257800" cy="39227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11/62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Rayleigh line meets Hugoniot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The complete solution map — five regions, two tangencies</a:t>
            </a:r>
          </a:p>
        </p:txBody>
      </p:sp>
      <p:pic>
        <p:nvPicPr>
          <p:cNvPr id="33" name="Picture 32" descr="fig_rayleigh_hugoni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81328"/>
            <a:ext cx="5627831" cy="44805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400" y="1737360"/>
            <a:ext cx="39319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A Rayleigh line can cut the detonation branch twice (strong + weak), touch it once (CJ), or miss 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Tangency defines the two Chapman–Jouguet points — minimum wave speed on each branch.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Between the tangents lies the forbidden region: no real Rayleigh line exists.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Regions: strong / weak detonation, CJ, weak / strong deflagration.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12/62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Chapman–Jouguet condition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Tangency = sonic outflow = minimum wave speed — and the CJ state</a:t>
            </a:r>
          </a:p>
        </p:txBody>
      </p:sp>
      <p:pic>
        <p:nvPicPr>
          <p:cNvPr id="33" name="Picture 32" descr="cj_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83664"/>
            <a:ext cx="3840480" cy="493776"/>
          </a:xfrm>
          <a:prstGeom prst="rect">
            <a:avLst/>
          </a:prstGeom>
        </p:spPr>
      </p:pic>
      <p:pic>
        <p:nvPicPr>
          <p:cNvPr id="34" name="Picture 33" descr="cj_ma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600200"/>
            <a:ext cx="6281928" cy="1056132"/>
          </a:xfrm>
          <a:prstGeom prst="rect">
            <a:avLst/>
          </a:prstGeom>
        </p:spPr>
      </p:pic>
      <p:pic>
        <p:nvPicPr>
          <p:cNvPr id="35" name="Picture 34" descr="cj_pr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27248"/>
            <a:ext cx="5294376" cy="1010412"/>
          </a:xfrm>
          <a:prstGeom prst="rect">
            <a:avLst/>
          </a:prstGeom>
        </p:spPr>
      </p:pic>
      <p:pic>
        <p:nvPicPr>
          <p:cNvPr id="36" name="Picture 35" descr="cj_spe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090672"/>
            <a:ext cx="5134356" cy="10881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8640" y="4526280"/>
            <a:ext cx="11109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At tangency the Rayleigh line and the Hugoniot share a slope: the outflow is exactly sonic in the wave frame, w₂ = a₂ (equilibrium sound speed). A self-sustaining wave selects this point — Jouguet’s hypothesis.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Upper branch: strong (overdriven) detonations decay to CJ; weak ones are unreachable through a normal reaction zone. Lower branch: weak deflagrations are the ordinary flames; strong ones are forbidden.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For a perfect gas the one-γ model gives M_CJ, p_CJ and Δp_CJ ≈ ρ₁U²/(γ_e+1) in closed form — reused by the thrust models of Part IV.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13/62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Chapman–Jouguet as an entropy extremum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Why the wave settles on the tangent point</a:t>
            </a:r>
          </a:p>
        </p:txBody>
      </p:sp>
      <p:pic>
        <p:nvPicPr>
          <p:cNvPr id="33" name="Picture 32" descr="fig_cj_entro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63040"/>
            <a:ext cx="6167683" cy="45719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52360" y="1783080"/>
            <a:ext cx="425196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Along the Hugoniot the entropy rise Δs has a minimum on the detonation branch and a maximum on the deflagration branch.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Both extrema coincide exactly with the CJ (tangent) points — a theorem of the Hugoniot geometry.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The CJ detonation is therefore the lowest-entropy self-sustaining detonation: the least dissipative, and the key to its cycle advantage (Part III).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14/62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Resolving the wave: the ZND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Zel’dovich – von Neumann – Döring: a shock followed by reaction</a:t>
            </a:r>
          </a:p>
        </p:txBody>
      </p:sp>
      <p:pic>
        <p:nvPicPr>
          <p:cNvPr id="33" name="Picture 32" descr="fig_znd_schem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7419687" cy="3931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92440" y="1783080"/>
            <a:ext cx="36118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The CJ jump hides internal structure. ZND resolves it as an inert shock + a finite reaction zone.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The lead shock compresses reactants to the von Neumann spike (p_vN ≈ 2 p_CJ) — no reaction yet.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An induction zone (near-frozen) is followed by rapid heat release; the flow accelerates to sonic exactly at the CJ plane.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006778"/>
                </a:solidFill>
                <a:latin typeface="Palatino Linotype"/>
              </a:rPr>
              <a:t>The reaction-zone thickness sets cell size, initiation limits, and RDE channel sizing.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15/62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ZND governing equations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Reacting flow behind the shock — thermicity drives the eigenvalue</a:t>
            </a:r>
          </a:p>
        </p:txBody>
      </p:sp>
      <p:pic>
        <p:nvPicPr>
          <p:cNvPr id="33" name="Picture 32" descr="thermi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828800"/>
            <a:ext cx="3465572" cy="955547"/>
          </a:xfrm>
          <a:prstGeom prst="rect">
            <a:avLst/>
          </a:prstGeom>
        </p:spPr>
      </p:pic>
      <p:pic>
        <p:nvPicPr>
          <p:cNvPr id="34" name="Picture 33" descr="znd_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09928"/>
            <a:ext cx="3634740" cy="11932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48640" y="3291840"/>
            <a:ext cx="110642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The thermicity σ̇ measures how strongly chemistry pushes the flow: it couples species production rates to pressure and density changes (SD Toolbox Eq. 9.45).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1" i="0">
                <a:solidFill>
                  <a:srgbClr val="822433"/>
                </a:solidFill>
                <a:latin typeface="Palatino Linotype"/>
              </a:rPr>
              <a:t>Integrated in time behind the frozen shock, the velocity ODE carries the factor 1/(1−M²): as reaction proceeds the frozen Mach number rises toward 1, and the thermicity must vanish exactly as M→1.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This sonic/thermicity balance is the ZND expression of the CJ condition — the regularity condition solved numerically by the SD Toolbox zndsolve.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16/62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ZND structure — computed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Stoichiometric H₂/air — official SD Toolbox zndsolve (GRI-Mech 3.0)</a:t>
            </a:r>
          </a:p>
        </p:txBody>
      </p:sp>
      <p:pic>
        <p:nvPicPr>
          <p:cNvPr id="33" name="Picture 32" descr="fig_znd_sd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08760"/>
            <a:ext cx="7121685" cy="44805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400" y="1783080"/>
            <a:ext cx="39319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von Neumann spike p_vN/p₁ ≈ 27, T_vN ≈ 1530 K — the frozen shocked state.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Thermicity peaks at the end of the induction zone (Δᵢ ≈ 0.24 mm here), marking the main heat release.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Pressure relaxes from the spike toward p_CJ/p₁ ≈ 15 as the flow reaches the sonic CJ plane.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Induction length shrinks by ~5× for H₂/O₂ — hotter, faster chemistry.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17/62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2103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06778"/>
                </a:solidFill>
                <a:latin typeface="Palatino Linotype"/>
              </a:rPr>
              <a:t>Part 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69748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822433"/>
                </a:solidFill>
                <a:latin typeface="Palatino Linotype"/>
              </a:rPr>
              <a:t>Worked examples — SD Toolbox / Cantera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11480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B2B2B"/>
                </a:solidFill>
                <a:latin typeface="Palatino Linotype"/>
              </a:rPr>
              <a:t>Rigorous CJ, von Neumann and ZND states from the equilibrium Hugoniot — cross-checked against the published literature.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18/62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Computing the CJ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The official SD Toolbox CJspeed / PostShock on Cantera 3.2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691640"/>
            <a:ext cx="676656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For each trial compression v₂/v₁, solve the chemical-equilibrium Hugoniot h₂ − h₁ = ½(p₂−p₁)(v₁+v₂) for T₂ with products in equilibrium.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1" i="0">
                <a:solidFill>
                  <a:srgbClr val="822433"/>
                </a:solidFill>
                <a:latin typeface="Palatino Linotype"/>
              </a:rPr>
              <a:t>The Rayleigh slope gives the wave speed U(v₂); CJspeed takes the minimum of U over the Hugoniot — equivalently the tangency / sonic point (more robust than iterating on the equilibrium sound speed).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von Neumann state: the frozen (unreacted) shock solution PostShock_fr at U = U_CJ.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006778"/>
                </a:solidFill>
                <a:latin typeface="Palatino Linotype"/>
              </a:rPr>
              <a:t>Implemented on Cantera 3.2 (GRI-Mech 3.0; n-dodecane surrogate for kerosene) — the algorithm documented in the SD Toolbox report.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1783080"/>
            <a:ext cx="42062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822433"/>
                </a:solidFill>
                <a:latin typeface="Palatino Linotype"/>
              </a:rPr>
              <a:t>Validation vs. Caltech database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Palatino Linotype"/>
              </a:rPr>
              <a:t>  H₂/air:  1969 m/s  (ref 1971)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Palatino Linotype"/>
              </a:rPr>
              <a:t>  H₂/O₂:   2836 m/s  (ref 2836)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Palatino Linotype"/>
              </a:rPr>
              <a:t>  CH₄/air: 1803 m/s  (ref 1804)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Palatino Linotype"/>
              </a:rPr>
              <a:t>  T₂, p₂/p₁, ρ₂/ρ₁ within 0.5%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600" b="0" i="0">
                <a:solidFill>
                  <a:srgbClr val="2B2B2B"/>
                </a:solidFill>
                <a:latin typeface="Palatino Linotype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2B2B2B"/>
                </a:solidFill>
                <a:latin typeface="Palatino Linotype"/>
              </a:rPr>
              <a:t>The minimum-speed point returns M₂ ≈ 0.965 on the frozen sound speed — exactly the equilibrium-sound-speed sonic condition.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19/62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CJ states — twelve propellant combinations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p₁ = 1 atm, T₁ = 300 K, φ = 1 — equilibrium products (SD Toolbox)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1298448"/>
          <a:ext cx="11338556" cy="3685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88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2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21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21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alatino Linotype"/>
                        </a:rPr>
                        <a:t>Mixture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alatino Linotype"/>
                        </a:rPr>
                        <a:t>U_CJ [m/s]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alatino Linotype"/>
                        </a:rPr>
                        <a:t>M_CJ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alatino Linotype"/>
                        </a:rPr>
                        <a:t>p₂/p₁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alatino Linotype"/>
                        </a:rPr>
                        <a:t>T₂ [K]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alatino Linotype"/>
                        </a:rPr>
                        <a:t>ρ₂/ρ₁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alatino Linotype"/>
                        </a:rPr>
                        <a:t>γ_e (equil.)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alatino Linotype"/>
                        </a:rPr>
                        <a:t>γ_fr (cp/cv)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H2/air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1969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4.82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15.5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2944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1.163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1.242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H2/O2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2836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5.26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18.6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3678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1.129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1.213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CH4/air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1803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5.09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17.0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2778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1.168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1.248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CH4/O2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2390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6.71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29.1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3723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1.85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1.131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1.217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C2H4/air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1824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5.27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18.2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2924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1.161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1.252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C2H4/O2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2374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7.23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33.2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3934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1.85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1.139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1.236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C2H2/air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1867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5.39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19.0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3112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1.158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1.258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C2H2/O2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2425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7.33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33.6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4211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1.153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1.270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C3H8/air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1800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5.29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18.1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2821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1.166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1.249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C3H8/O2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2357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7.66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35.9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3825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1.134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1.223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Kerosene/air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1796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5.40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18.6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2836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1.165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1.251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Kerosene/O2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2341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8.31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40.6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3882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1.86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1.137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1.229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4" name="Picture 33" descr="eq_gamma_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47488"/>
            <a:ext cx="7699248" cy="9692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66760" y="5010912"/>
            <a:ext cx="3337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2B2B2B"/>
                </a:solidFill>
                <a:latin typeface="Palatino Linotype"/>
              </a:rPr>
              <a:t>γ_e = equilibrium isentropic exponent of the products at CJ (a_eq = equilibrium sound speed): 1.13–1.17. Not the frozen cp/cv (1.22–1.25). Minimum γ_e: H₂/O₂ = 1.13.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20/62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SD Toolbox vs. published values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Convergence with Shepherd–Kasahara (GALCIT FM2017.001, Table 2)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1645920"/>
          <a:ext cx="6949437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6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Mixture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U_CJ SDT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U_CJ lit.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T₂ SDT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T₂ lit.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p_CJ SDT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p_CJ lit.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err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H2/air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1969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1968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2945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2943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1.57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1.55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C2H4/air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1824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1823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2924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2923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1.85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1.82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1.5%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H2/O2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2836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2836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3679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3675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1.89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1.86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C2H4/O2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2374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2373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3934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3930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3.37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3.31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1.7%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C3H8/O2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2357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2356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3825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3822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3.65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3.59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1.5%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4" name="Picture 33" descr="fig_postshock_ma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91640"/>
            <a:ext cx="4160520" cy="260268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5760" y="5029200"/>
            <a:ext cx="7040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2B2B2B"/>
                </a:solidFill>
                <a:latin typeface="Palatino Linotype"/>
              </a:rPr>
              <a:t>Every SD Toolbox CJ speed reproduces the published value within 0.1% and every CJ pressure within 1.7% — the detonation inputs feeding the thrust models are validated against the literature. Pressures in MPa.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21/62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one-γ model vs. real thermochemistry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A closed-form check — and exactly where it breaks down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57200" y="1691640"/>
          <a:ext cx="6857997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3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5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alatino Linotype"/>
                        </a:rPr>
                        <a:t>Mixture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alatino Linotype"/>
                        </a:rPr>
                        <a:t>M_CJ (SDT)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alatino Linotype"/>
                        </a:rPr>
                        <a:t>M_CJ (1-γ, γ=1.2)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alatino Linotype"/>
                        </a:rPr>
                        <a:t>Δ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alatino Linotype"/>
                        </a:rPr>
                        <a:t>q_eff/q_c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H2/air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4.82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4.80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-0%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1.22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CH4/air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5.09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4.94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-3%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1.26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C2H4/air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5.27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5.24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-1%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1.24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H2/O2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5.26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7.03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+34%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0.82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CH4/O2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6.71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8.98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+34%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0.81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4D59"/>
                          </a:solidFill>
                          <a:latin typeface="Palatino Linotype"/>
                        </a:rPr>
                        <a:t>Kerosene/O2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8.30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10.78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+30%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2B2B"/>
                          </a:solidFill>
                          <a:latin typeface="Palatino Linotype"/>
                        </a:rPr>
                        <a:t>0.84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635240" y="1737360"/>
            <a:ext cx="40690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One-γ model: M_CJ = √(1+H)+√H with H = (γ+1)q̃/2 and γ = 1.2 (fuel–air detonation products, W&amp;S).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006778"/>
                </a:solidFill>
                <a:latin typeface="Palatino Linotype"/>
              </a:rPr>
              <a:t>Fuel–air: excellent (≤2%) — dissociation is weak and the γ=1.2 calibration absorbs the reactant-vs-product sound-speed mismatch.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Fuel–O₂: over-predicts by 25–40%. Dissociation withholds part of the release: the wave “sees” only q_eff ≈ 0.6–0.8 q_c.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Lesson: closed forms for scaling and intuition; equilibrium thermochemistry for numbers.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22/62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Effect of equivalence ratio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CJ speed peaks slightly rich — energy content vs. product mass</a:t>
            </a:r>
          </a:p>
        </p:txBody>
      </p:sp>
      <p:pic>
        <p:nvPicPr>
          <p:cNvPr id="33" name="Picture 32" descr="fig_cj_phi_sd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6519700" cy="44805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52360" y="1783080"/>
            <a:ext cx="4251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U_CJ tracks the balance of heat release q_c and the upstream sound speed a₁.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Fuel–O₂ curves lie far above fuel–air: no nitrogen to heat, higher a₁ and q_c.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Maxima sit modestly rich (φ ≈ 1.1–1.6): light intermediate species (H, H₂) lower the product molar mass and raise the sound speed.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These trends propagate directly into specific thrust (Part IV).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23/62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CJ speed — dilution and initial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Dominant parameters mapped with the SD Toolbox</a:t>
            </a:r>
          </a:p>
        </p:txBody>
      </p:sp>
      <p:pic>
        <p:nvPicPr>
          <p:cNvPr id="33" name="Picture 32" descr="fig_cj_dilution_sd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00200"/>
            <a:ext cx="5394960" cy="3364933"/>
          </a:xfrm>
          <a:prstGeom prst="rect">
            <a:avLst/>
          </a:prstGeom>
        </p:spPr>
      </p:pic>
      <p:pic>
        <p:nvPicPr>
          <p:cNvPr id="34" name="Picture 33" descr="fig_cj_initial_sd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103120"/>
            <a:ext cx="5760720" cy="267285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5760" y="553212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2B2B2B"/>
                </a:solidFill>
                <a:latin typeface="Palatino Linotype"/>
              </a:rPr>
              <a:t>Inert dilution is the strongest lever (2836 → 1721 m/s from O₂ to heavy N₂); the CJ speed rises weakly (log-like) with p₁ and falls slowly with T₁.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24/62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ZND reaction zones across propellants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The length scale that sizes an RDE channel</a:t>
            </a:r>
          </a:p>
        </p:txBody>
      </p:sp>
      <p:pic>
        <p:nvPicPr>
          <p:cNvPr id="33" name="Picture 32" descr="fig_znd_ind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54480"/>
            <a:ext cx="5074369" cy="42976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06440" y="1783080"/>
            <a:ext cx="58521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Induction length Δᵢ (distance to peak thermicity) spans ~12× across these mixtures: 0.021 mm (C₂H₄/O₂) to 0.245 mm (H₂/air).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Δᵢ sets the detonation cell size λ ~ 10–50 Δᵢ, hence the minimum channel width and layer height for a self-sustained wave.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Fuel–O₂ mixtures (hotter, faster chemistry) have the shortest zones — easiest to detonate in small hardware.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All profiles from the official SD Toolbox zndsolve with GRI-Mech 3.0.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25/62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Models &amp; assumptions 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Which thermochemistry, which γ, where — one honest table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1417320"/>
          <a:ext cx="11338560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alatino Linotype"/>
                        </a:rPr>
                        <a:t>Quantity / model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alatino Linotype"/>
                        </a:rPr>
                        <a:t>Thermochemistry and γ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alatino Linotype"/>
                        </a:rPr>
                        <a:t>Anchor / V&amp;V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D_CJ and CJ states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equilibrium Hugoniot — SD Toolbox CJspeed + PostShock_eq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vs. Caltech &amp; SK: ≤ 0.1%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von Neumann state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frozen shock (PostShock_fr) at U_CJ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ZND inputs (p_vN, T_vN)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ZND structure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detailed kinetics, GRI-Mech 3.0 (zndsolve)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Δᵢ vs. published scales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Quantitative cycles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Cantera piecewise: frozen reactant compression · equilibrium jump · shifting-equilibrium product expansion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96/96 checks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Analytic cycle family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one-γ, γ = 1.2 (detonation products, W&amp;S prescription)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A22/B3 anchors 8/8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Steady-flow benchmark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one-γ, γ = 1.4 (reactants/air — the papers’ steady analysis)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A5–A12 anchors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SK pressure-history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γ_e = ρ₂a²_eq/p₂ at CJ + Term II (u_c = 300 m/s)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Table 1: γ_e to 3 d.p., Isp −0.1%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SK axial flow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no constant γ: equilibrium isentrope s = s₂ through CJ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Table 1: ±0.2% on 4/4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Stechmann–Heister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equilibrium (CEA-style) products; γ, M frozen along the nozzle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Table 1: 18/18 rows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EAP (Kaemming–Paxson)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mass-flux-weighted ideal stream thrust — never an averaged p_t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worked example −0.4%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11480" y="571500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2B2B2B"/>
                </a:solidFill>
                <a:latin typeface="Palatino Linotype"/>
              </a:rPr>
              <a:t>Phase rule: compression sees reactants, the jump sees equilibrium with q, the expansion sees equilibrium products — no γ crosses a phase boundary.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26/62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2103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06778"/>
                </a:solidFill>
                <a:latin typeface="Palatino Linotype"/>
              </a:rPr>
              <a:t>Part III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69748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822433"/>
                </a:solidFill>
                <a:latin typeface="Palatino Linotype"/>
              </a:rPr>
              <a:t>The thermodynamic advantage of detonation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11480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B2B2B"/>
                </a:solidFill>
                <a:latin typeface="Palatino Linotype"/>
              </a:rPr>
              <a:t>Same heat release, different combustion mode. The advantage — and its reversal — live entirely in the entropy.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27/62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Three idealised combustion cycles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Compress → burn → expand → reject, differing only in the burn</a:t>
            </a:r>
          </a:p>
        </p:txBody>
      </p:sp>
      <p:pic>
        <p:nvPicPr>
          <p:cNvPr id="33" name="Picture 32" descr="fig_cycles_p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54480"/>
            <a:ext cx="5688800" cy="448055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49440" y="178308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2B2B2B"/>
                </a:solidFill>
                <a:latin typeface="Palatino Linotype"/>
              </a:rPr>
              <a:t>Brayton — constant-pressure burn (ramjet / turbojet).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006778"/>
                </a:solidFill>
                <a:latin typeface="Palatino Linotype"/>
              </a:rPr>
              <a:t>Humphrey — constant-volume burn (raises pressure).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Fickett–Jacobs / detonation — the Rayleigh→CJ jump: compression + heat addition in one step (the ZND states lie on that chord).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Real CH₄–air chemistry, π_c = 5: the detonation reaches p_CJ ≈ 56 bar — the highest combustion pressure for the same precompression, enclosing the largest work area.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28/62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Fickett–Jacobs 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An upper bound on the work from a propagating detonation</a:t>
            </a:r>
          </a:p>
        </p:txBody>
      </p:sp>
      <p:pic>
        <p:nvPicPr>
          <p:cNvPr id="33" name="Picture 32" descr="fj_orig_piston_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3699835" cy="3931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559612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Wintenberger &amp; Shepherd, J. Propul. Power 22(3) (2006), Fig. 1</a:t>
            </a:r>
          </a:p>
        </p:txBody>
      </p:sp>
      <p:pic>
        <p:nvPicPr>
          <p:cNvPr id="35" name="Picture 34" descr="fj_e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91640"/>
            <a:ext cx="6057900" cy="10972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72000" y="3063240"/>
            <a:ext cx="70408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Detonate a fixed mass in a piston-cylinder, harvest the kinetic energy, expand, reject heat: every step reversible except the detonation itself → w_net = h₁ − h₅ is an upper bound.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The one-γ efficiency depends only on M_CJ and γ — and rises with M_CJ (stronger expansion, less heat rejected).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Computed here (Cantera, equilibrium): η ≈ 0.28–0.31 (fuel–air) but only 0.19–0.24 (fuel–O₂). Counter-intuitively fuel–air wins — dissociation in the hotter fuel–O₂ products stores energy and rejects it as heat.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Fuel–O₂ still delivers 2–4× more work per unit mass (larger q_c).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29/62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Cycle efficiency compared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At fixed compression ratio: detonation ≳ Humphrey &gt; Brayton</a:t>
            </a:r>
          </a:p>
        </p:txBody>
      </p:sp>
      <p:pic>
        <p:nvPicPr>
          <p:cNvPr id="33" name="Picture 32" descr="fig_cycles_e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6613521" cy="44805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0" y="1783080"/>
            <a:ext cx="42976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For a fixed precompression π_c the detonation cycle is the most efficient — narrowly above constant-volume, well above constant-pressure (CH₄–air: 0.30 vs 0.27 vs 0 at π_c = 1).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Root cause: at a fixed upstream state the CJ detonation adds heat at the highest temperature with the lowest entropy rise (Part I).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006778"/>
                </a:solidFill>
                <a:latin typeface="Palatino Linotype"/>
              </a:rPr>
              <a:t>Caveat: ranked instead at fixed peak pressure, the order inverts — Brayton wins. The comparison basis matters.</a:t>
            </a:r>
          </a:p>
        </p:txBody>
      </p:sp>
      <p:pic>
        <p:nvPicPr>
          <p:cNvPr id="35" name="Picture 34" descr="brayt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5120640"/>
            <a:ext cx="2857500" cy="6675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30/62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one-γ cycle family and q̃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Heat release made dimensionless — and mapped to real mixtures</a:t>
            </a:r>
          </a:p>
        </p:txBody>
      </p:sp>
      <p:pic>
        <p:nvPicPr>
          <p:cNvPr id="33" name="Picture 32" descr="fig_cycle_fam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6056046" cy="3977640"/>
          </a:xfrm>
          <a:prstGeom prst="rect">
            <a:avLst/>
          </a:prstGeom>
        </p:spPr>
      </p:pic>
      <p:pic>
        <p:nvPicPr>
          <p:cNvPr id="34" name="Picture 33" descr="eq_qtilde_inver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645920"/>
            <a:ext cx="3666744" cy="1088136"/>
          </a:xfrm>
          <a:prstGeom prst="rect">
            <a:avLst/>
          </a:prstGeom>
        </p:spPr>
      </p:pic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766560" y="3017520"/>
          <a:ext cx="4023360" cy="1316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alatino Linotype"/>
                        </a:rPr>
                        <a:t>Mixture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alatino Linotype"/>
                        </a:rPr>
                        <a:t>q_c/RT₁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alatino Linotype"/>
                        </a:rPr>
                        <a:t>q̃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4D59"/>
                          </a:solidFill>
                          <a:latin typeface="Palatino Linotype"/>
                        </a:rPr>
                        <a:t>H₂/air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B2B2B"/>
                          </a:solidFill>
                          <a:latin typeface="Palatino Linotype"/>
                        </a:rPr>
                        <a:t>28.7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B2B2B"/>
                          </a:solidFill>
                          <a:latin typeface="Palatino Linotype"/>
                        </a:rPr>
                        <a:t>4.03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4D59"/>
                          </a:solidFill>
                          <a:latin typeface="Palatino Linotype"/>
                        </a:rPr>
                        <a:t>CH₄/air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B2B2B"/>
                          </a:solidFill>
                          <a:latin typeface="Palatino Linotype"/>
                        </a:rPr>
                        <a:t>30.6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B2B2B"/>
                          </a:solidFill>
                          <a:latin typeface="Palatino Linotype"/>
                        </a:rPr>
                        <a:t>4.40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4D59"/>
                          </a:solidFill>
                          <a:latin typeface="Palatino Linotype"/>
                        </a:rPr>
                        <a:t>H₂/O₂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B2B2B"/>
                          </a:solidFill>
                          <a:latin typeface="Palatino Linotype"/>
                        </a:rPr>
                        <a:t>64.6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B2B2B"/>
                          </a:solidFill>
                          <a:latin typeface="Palatino Linotype"/>
                        </a:rPr>
                        <a:t>7.36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766560" y="452628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1" i="0">
                <a:solidFill>
                  <a:srgbClr val="822433"/>
                </a:solidFill>
                <a:latin typeface="Palatino Linotype"/>
              </a:rPr>
              <a:t>The exact inverse of M_CJ(q̃) tags each family curve with real mixtures: curve 30 ≈ H₂/CH₄–air, curve 40 ≈ C₂H₂–air.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2B2B2B"/>
                </a:solidFill>
                <a:latin typeface="Palatino Linotype"/>
              </a:rPr>
              <a:t>Fuel–O₂ lies far above the family (q_c/RT₁ = 65–156) with γ_e ≈ 1.13, not 1.2: it is a fuel–air-class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2B2B2B"/>
                </a:solidFill>
                <a:latin typeface="Palatino Linotype"/>
              </a:rPr>
              <a:t>One-γ family, γ = 1.2 (detonation products, W&amp;S); dotted: Brayton.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31/62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A crucial subtlety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What is held fixed — the static state, or the stagnation state?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737360"/>
            <a:ext cx="70866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500" b="1" i="0">
                <a:solidFill>
                  <a:srgbClr val="822433"/>
                </a:solidFill>
                <a:latin typeface="Palatino Linotype"/>
              </a:rPr>
              <a:t>The cycle advantage above assumes a fixed STATIC state upstream, with the reactants essentially at rest — the frame of a propagating (or rotating) detonation.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500" b="0" i="0">
                <a:solidFill>
                  <a:srgbClr val="2B2B2B"/>
                </a:solidFill>
                <a:latin typeface="Palatino Linotype"/>
              </a:rPr>
              <a:t>In a steady air-breathing engine the flight condition fixes the STAGNATION state, and the combustor must process a fast-moving stream.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500" b="0" i="0">
                <a:solidFill>
                  <a:srgbClr val="006778"/>
                </a:solidFill>
                <a:latin typeface="Palatino Linotype"/>
              </a:rPr>
              <a:t>A detonation standing in that stream must ingest supersonic flow at M₁ = M_CJ ≈ 5: the leading shock then destroys most of the total pressure.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500" b="0" i="0">
                <a:solidFill>
                  <a:srgbClr val="2B2B2B"/>
                </a:solidFill>
                <a:latin typeface="Palatino Linotype"/>
              </a:rPr>
              <a:t>Same wave, opposite verdict. The next slides make this quantitative — and explain why rotating beats standing.</a:t>
            </a:r>
          </a:p>
        </p:txBody>
      </p:sp>
      <p:pic>
        <p:nvPicPr>
          <p:cNvPr id="34" name="Picture 33" descr="ws_orig_detonation_c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965960"/>
            <a:ext cx="3383280" cy="228133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18120" y="44348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Wintenberger &amp; Shepherd, AIAA 2004-1033 (2004), Fig.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32/62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entropy penalty of a standing detonation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Reversible vs. irreversible entropy at fixed stagnation state</a:t>
            </a:r>
          </a:p>
        </p:txBody>
      </p:sp>
      <p:pic>
        <p:nvPicPr>
          <p:cNvPr id="33" name="Picture 32" descr="entropy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6423660" cy="854964"/>
          </a:xfrm>
          <a:prstGeom prst="rect">
            <a:avLst/>
          </a:prstGeom>
        </p:spPr>
      </p:pic>
      <p:pic>
        <p:nvPicPr>
          <p:cNvPr id="34" name="Picture 33" descr="fig_entropy_part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06040"/>
            <a:ext cx="4137042" cy="32918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74920" y="2606040"/>
            <a:ext cx="66294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Split the entropy rise: Δs_min (reversible heat addition, fixed by q̃ alone) + Δs_irr (irreversible, ⇔ total-pressure loss).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006778"/>
                </a:solidFill>
                <a:latin typeface="Palatino Linotype"/>
              </a:rPr>
              <a:t>Deflagration: Δs_irr ≈ 3.5% of the rise — almost fully reversible.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CJ detonation at fixed stagnation state: Δs_irr ≈ 57%, dominated by the leading shock (γ = 1.4, q̃ = 4 benchmark).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Work is maximised when irreversibility is minimised: the standing detonation is penalised exactly where the flame is clean.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33/62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Where the total pressure goes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Leading-shock stagnation-pressure loss vs. approach Mach</a:t>
            </a:r>
          </a:p>
        </p:txBody>
      </p:sp>
      <p:pic>
        <p:nvPicPr>
          <p:cNvPr id="33" name="Picture 32" descr="fig_tp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6491873" cy="44805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0" y="178308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A standing CJ detonation ingests its reactants at M₁ ≈ 4.6–5: across the wave p_t2/p_t1 ≈ 0.074 (classical, q̃ = 4) and ≈ 0.054 on the stagnation Hugoniot (q̃_t = 0.8) — about 93–95% of the total pressure destroyed.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This is the thermodynamic reason steady standing-detonation ramjets under-perform conventional ramjets.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A deflagration ingests subsonic flow: no shock, p_t2/p_t1 ≈ 0.81–0.87.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34/62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Rotating vs. standing detonation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The reference frame is the whole story</a:t>
            </a:r>
          </a:p>
        </p:txBody>
      </p:sp>
      <p:pic>
        <p:nvPicPr>
          <p:cNvPr id="33" name="Picture 32" descr="fig_rot_vs_st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691640"/>
            <a:ext cx="8595360" cy="395425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2B2B2B"/>
                </a:solidFill>
                <a:latin typeface="Palatino Linotype"/>
              </a:rPr>
              <a:t>The reference frame decides: rotating keeps the fixed-static-state pressure gain; standing forfeits it to the leading-shock total-pressure loss.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35/62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Same cycles, two verdicts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Fixed static vs. fixed stagnation state — the ranking inverts</a:t>
            </a:r>
          </a:p>
        </p:txBody>
      </p:sp>
      <p:pic>
        <p:nvPicPr>
          <p:cNvPr id="33" name="Picture 32" descr="fig_eta_fixed_s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6460685" cy="411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69480" y="1783080"/>
            <a:ext cx="4434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Same heat release (q_c = 4.8 c_pT₀, γ = 1.4), swept in flight Mach M₀ with ram precompression.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At M₀ = 5: propagating FJ cycle η = 0.86 ≥ Brayton bound 0.83 ≈ standing CJ deflagration 0.82 — but a standing CJ detonation delivers only 0.35.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A steady CJ detonation solution even ceases to exist below M₀ ≈ 4.25 (q̃_t &lt; 1/(γ²−1) fails).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006778"/>
                </a:solidFill>
                <a:latin typeface="Palatino Linotype"/>
              </a:rPr>
              <a:t>The rotating wave burns reactants essentially at rest and keeps the propagating-cycle ranking at every M₀.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36/62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Quantifying pressure gain — EAP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Equivalent Available Pressure (Kaemming &amp; Paxson)</a:t>
            </a:r>
          </a:p>
        </p:txBody>
      </p:sp>
      <p:pic>
        <p:nvPicPr>
          <p:cNvPr id="33" name="Picture 32" descr="eq_e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536192"/>
            <a:ext cx="8787384" cy="941832"/>
          </a:xfrm>
          <a:prstGeom prst="rect">
            <a:avLst/>
          </a:prstGeom>
        </p:spPr>
      </p:pic>
      <p:pic>
        <p:nvPicPr>
          <p:cNvPr id="34" name="Picture 33" descr="kp_orig_eap_constru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97480"/>
            <a:ext cx="2377440" cy="285864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5760" y="56144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Kaemming &amp; Paxson, AIAA 2018-4567 / NASA 20180006890, Fig. 1</a:t>
            </a:r>
          </a:p>
        </p:txBody>
      </p:sp>
      <p:pic>
        <p:nvPicPr>
          <p:cNvPr id="36" name="Picture 35" descr="kp_fig_e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724912"/>
            <a:ext cx="6217920" cy="267902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601200" y="2834640"/>
            <a:ext cx="21031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0" i="0">
                <a:solidFill>
                  <a:srgbClr val="2B2B2B"/>
                </a:solidFill>
                <a:latin typeface="Palatino Linotype"/>
              </a:rPr>
              <a:t>RDE exit flow: p_t spans 2–93 atm depending on station.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1" i="0">
                <a:solidFill>
                  <a:srgbClr val="822433"/>
                </a:solidFill>
                <a:latin typeface="Palatino Linotype"/>
              </a:rPr>
              <a:t>EAP_i collapses the cloud to one defensible number.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48640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2B2B2B"/>
                </a:solidFill>
                <a:latin typeface="Palatino Linotype"/>
              </a:rPr>
              <a:t>EAP_i = the steady, uniform total pressure delivering the same ideal stream thrust at the same mass flow — worked case: 6.0 atm from a 4-atm feed (+49%). Averaging p_t is wrong: mass/momentum-flux averages read +33/+43%, CTAP −40%.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37/62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2103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06778"/>
                </a:solidFill>
                <a:latin typeface="Palatino Linotype"/>
              </a:rPr>
              <a:t>Part IV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69748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822433"/>
                </a:solidFill>
                <a:latin typeface="Palatino Linotype"/>
              </a:rPr>
              <a:t>Thrust models for Rotating Detonation Engines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11480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B2B2B"/>
                </a:solidFill>
                <a:latin typeface="Palatino Linotype"/>
              </a:rPr>
              <a:t>From detonation physics to engine performance — two complementary analytical frameworks, then the rocket bookkeeping.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38/62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Rotating Detonation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One or more detonations sweeping an annular reactant layer</a:t>
            </a:r>
          </a:p>
        </p:txBody>
      </p:sp>
      <p:pic>
        <p:nvPicPr>
          <p:cNvPr id="33" name="Picture 32" descr="fig_rde_schem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4379028" cy="44348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49440" y="178308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Propellant is injected axially into an annulus; a detonation propagates azimuthally at ≈ U_CJ, consuming a fresh layer of height 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Behind the front: an oblique shock in the burned gas and an expansion fan that turns the flow axial — the thrust-producing exhaust.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Steady mean operation, kHz wave frequency, compact — no valves, unlike the pulsed PDE.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Performance question: given the detonation physics, what average thrust and I_sp result?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39/62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Shepherd–Kasahara model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An experiment-shaped fixture, unwrapped onto a periodic plane</a:t>
            </a:r>
          </a:p>
        </p:txBody>
      </p:sp>
      <p:pic>
        <p:nvPicPr>
          <p:cNvPr id="33" name="Picture 32" descr="sk_orig_fig01_rde_annu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600200"/>
            <a:ext cx="7680960" cy="39383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55961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Shepherd &amp; Kasahara, GALCIT Report FM2017.001 (2017), Fig.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0644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006778"/>
                </a:solidFill>
                <a:latin typeface="Palatino Linotype"/>
              </a:rPr>
              <a:t>Goal: closed-form mean thrust and Isp from mixture, mass flow and annulus geometry alone — no CFD.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40/62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Thrust from a control-volume 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Two equivalent control volumes — exit plane vs. injector face</a:t>
            </a:r>
          </a:p>
        </p:txBody>
      </p:sp>
      <p:pic>
        <p:nvPicPr>
          <p:cNvPr id="33" name="Picture 32" descr="sk_fig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4472040" cy="3520440"/>
          </a:xfrm>
          <a:prstGeom prst="rect">
            <a:avLst/>
          </a:prstGeom>
        </p:spPr>
      </p:pic>
      <p:pic>
        <p:nvPicPr>
          <p:cNvPr id="34" name="Picture 33" descr="sk_thrust_ex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783080"/>
            <a:ext cx="3474720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349240" y="2560320"/>
            <a:ext cx="63093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Exit-plane CV: the familiar rocket form T = Ṁu_e + A_e(p_e−p_a) — the basis of the axial-flow model.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Inlet-plane CV: thrust from the pressure on the injector (thrust) wall. Term I = detonation overpressure dominates; Term II (inlet momentum + pressure) is 5–10× smaller but still 15–20% of thrust; Term III (wall shear) is negligible.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006778"/>
                </a:solidFill>
                <a:latin typeface="Palatino Linotype"/>
              </a:rPr>
              <a:t>The two views give the pressure-history and the axial-flow model respectively.</a:t>
            </a:r>
          </a:p>
        </p:txBody>
      </p:sp>
      <p:pic>
        <p:nvPicPr>
          <p:cNvPr id="36" name="Picture 35" descr="sk_c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349240"/>
            <a:ext cx="9646920" cy="58064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41/62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Detonation of a layer: the triple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The gasdynamic heart of the pressure-history model</a:t>
            </a:r>
          </a:p>
        </p:txBody>
      </p:sp>
      <p:pic>
        <p:nvPicPr>
          <p:cNvPr id="33" name="Picture 32" descr="sk_fig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600200"/>
            <a:ext cx="8778240" cy="337624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8640" y="51663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In the wave frame a CJ detonation consumes a layer of height H under a bounding atmosphere: oblique shock above, Prandtl–Meyer expansion behind, and a self-similar triple point where they meet (states 1–5).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Self-similarity near the triple point ⇒ only H and Δp_CJ matter — the whole pressure field collapses onto one decay function ψ(x/H).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42/62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Shock-polar matching at the triple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PM expansion from CJ meets the bounding-gas shock polar</a:t>
            </a:r>
          </a:p>
        </p:txBody>
      </p:sp>
      <p:pic>
        <p:nvPicPr>
          <p:cNvPr id="33" name="Picture 32" descr="sk_fig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2719754" cy="443483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11880" y="1783080"/>
            <a:ext cx="80924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2B2B2B"/>
                </a:solidFill>
                <a:latin typeface="Palatino Linotype"/>
              </a:rPr>
              <a:t>Matching conditions across the contacts: p₅ = p₃ and θ₅ = θ₃ (products/shocked atmosphere), p₄ = p₁ (expanded products/reactants).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1" i="0">
                <a:solidFill>
                  <a:srgbClr val="822433"/>
                </a:solidFill>
                <a:latin typeface="Palatino Linotype"/>
              </a:rPr>
              <a:t>Graphical solution: the Prandtl–Meyer expansion from the CJ point intersects the oblique-shock polar of the bounding gas; nature picks the lower, attached (supersonic) intersection.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2B2B2B"/>
                </a:solidFill>
                <a:latin typeface="Palatino Linotype"/>
              </a:rPr>
              <a:t>Deflections grow with energy content: θ₃ ≈ 29–30° (fuel–air) vs. 33–39° (fuel–O₂), with higher p₃ — the signature that pushes the decay constant K from 1.02 to 1.54.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00" b="0" i="0">
                <a:solidFill>
                  <a:srgbClr val="006778"/>
                </a:solidFill>
                <a:latin typeface="Palatino Linotype"/>
              </a:rPr>
              <a:t>Real thermochemistry (SD Toolbox) for all three panels: C₂H₄–air, H₂–air, C₂H₄–O₂.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43/62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Pressure-history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Average thrust from the detonation overpressure on the injector</a:t>
            </a:r>
          </a:p>
        </p:txBody>
      </p:sp>
      <p:pic>
        <p:nvPicPr>
          <p:cNvPr id="33" name="Picture 32" descr="sk_p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73352"/>
            <a:ext cx="5646420" cy="790956"/>
          </a:xfrm>
          <a:prstGeom prst="rect">
            <a:avLst/>
          </a:prstGeom>
        </p:spPr>
      </p:pic>
      <p:pic>
        <p:nvPicPr>
          <p:cNvPr id="34" name="Picture 33" descr="sk_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627632"/>
            <a:ext cx="4937760" cy="886968"/>
          </a:xfrm>
          <a:prstGeom prst="rect">
            <a:avLst/>
          </a:prstGeom>
        </p:spPr>
      </p:pic>
      <p:pic>
        <p:nvPicPr>
          <p:cNvPr id="35" name="Picture 34" descr="sk_fig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788920"/>
            <a:ext cx="6766560" cy="26496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4360" y="5559552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2B2B2B"/>
                </a:solidFill>
                <a:latin typeface="Palatino Linotype"/>
              </a:rPr>
              <a:t>Injector-face pressure: exponential-decay model vs. the CFD traces it was fitted to (stylised).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788920"/>
            <a:ext cx="41148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0" i="0">
                <a:solidFill>
                  <a:srgbClr val="2B2B2B"/>
                </a:solidFill>
                <a:latin typeface="Palatino Linotype"/>
              </a:rPr>
              <a:t>Model the decay behind the front as ψ(ξ)=e^(−αξ); its integral K ≈ 1/α sets the mean thrust-wall pressure.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0" i="0">
                <a:solidFill>
                  <a:srgbClr val="006778"/>
                </a:solidFill>
                <a:latin typeface="Palatino Linotype"/>
              </a:rPr>
              <a:t>K = 1.02 (fuel–air), 1.54 (fuel–O₂) — fits to Schwer &amp; Kailasanath traces; Sichel–Foster gives 1.3.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1" i="0">
                <a:solidFill>
                  <a:srgbClr val="822433"/>
                </a:solidFill>
                <a:latin typeface="Palatino Linotype"/>
              </a:rPr>
              <a:t>Result: F_I = Δp_CJ·W·H·K — and the number of waves N cancels exactly (H_i = H/N).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44/62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Pressure-history performance maps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Specific thrust and fuel-based impulse vs. equivalence ratio</a:t>
            </a:r>
          </a:p>
        </p:txBody>
      </p:sp>
      <p:pic>
        <p:nvPicPr>
          <p:cNvPr id="33" name="Picture 32" descr="sk_fig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8412480" cy="3532118"/>
          </a:xfrm>
          <a:prstGeom prst="rect">
            <a:avLst/>
          </a:prstGeom>
        </p:spPr>
      </p:pic>
      <p:pic>
        <p:nvPicPr>
          <p:cNvPr id="34" name="Picture 33" descr="sk_Is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783080"/>
            <a:ext cx="2537460" cy="9098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98280" y="2926080"/>
            <a:ext cx="2606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2B2B2B"/>
                </a:solidFill>
                <a:latin typeface="Palatino Linotype"/>
              </a:rPr>
              <a:t>Term-I maps (as SK Fig. 6). At φ = 1, H₂/air: 928 m/s, 3319 s (Eqs. 20/22, γ_e).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1" i="0">
                <a:solidFill>
                  <a:srgbClr val="822433"/>
                </a:solidFill>
                <a:latin typeface="Palatino Linotype"/>
              </a:rPr>
              <a:t>Specific thrust scales linearly with U_CJ — F_I/Ṁ ≈ K·U_CJ/(γ_e+1): mixture enters only through U_CJ and γ_e.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0" i="0">
                <a:solidFill>
                  <a:srgbClr val="2B2B2B"/>
                </a:solidFill>
                <a:latin typeface="Palatino Linotype"/>
              </a:rPr>
              <a:t>Fuel-based Isp is driven by 1/Y_f: fuel–air ranks far above fuel–O₂ even though its specific thrust is lower.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45/62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Axial-flow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Ideal quasi-1D expansion of the detonation products</a:t>
            </a:r>
          </a:p>
        </p:txBody>
      </p:sp>
      <p:pic>
        <p:nvPicPr>
          <p:cNvPr id="33" name="Picture 32" descr="total_en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83080"/>
            <a:ext cx="4393692" cy="763524"/>
          </a:xfrm>
          <a:prstGeom prst="rect">
            <a:avLst/>
          </a:prstGeom>
        </p:spPr>
      </p:pic>
      <p:pic>
        <p:nvPicPr>
          <p:cNvPr id="34" name="Picture 33" descr="sk_ax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88920"/>
            <a:ext cx="6592824" cy="886968"/>
          </a:xfrm>
          <a:prstGeom prst="rect">
            <a:avLst/>
          </a:prstGeom>
        </p:spPr>
      </p:pic>
      <p:pic>
        <p:nvPicPr>
          <p:cNvPr id="35" name="Picture 34" descr="sk_fig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1691640"/>
            <a:ext cx="4206240" cy="158669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80960" y="33832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2B2B2B"/>
                </a:solidFill>
                <a:latin typeface="Palatino Linotype"/>
              </a:rPr>
              <a:t>Annular chamber and (r, θ, z) coordinates.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1155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Zero net swirl: period-averaging the angular-momentum balance kills the azimuthal mean far downstream — the exhaust is axial (rothalpy: the RDE is a rotor-less turbomachine).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Total enthalpy on streamlines + chemical equilibrium ⇒ w = √[2(h₁ − h(p, s₂))]: expansion along the equilibrium isentrope THROUGH THE CJ STATE (shocks cost ~7% p_t ⇒ &lt;1% on 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Specific thrust follows the rocket form T/Ṁ = w + (p−p_a)/(ρw), a function of exit pressure only.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46/62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CJ isentrope, Pₘ and the sonic maps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An effective stagnation pressure emerges: Pₘ ≈ 0.24 p₂</a:t>
            </a:r>
          </a:p>
        </p:txBody>
      </p:sp>
      <p:pic>
        <p:nvPicPr>
          <p:cNvPr id="33" name="Picture 32" descr="sk_fig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5549277" cy="2103120"/>
          </a:xfrm>
          <a:prstGeom prst="rect">
            <a:avLst/>
          </a:prstGeom>
        </p:spPr>
      </p:pic>
      <p:pic>
        <p:nvPicPr>
          <p:cNvPr id="34" name="Picture 33" descr="sk_fig09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94760"/>
            <a:ext cx="5497648" cy="21945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0800" y="1737360"/>
            <a:ext cx="53035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No axial solutions exist for Pₘ &lt; p &lt; p_CJ: the isentrope crosses h = h₁ at Pₘ — an effective 1-D stagnation pressure (C₂H₄–air: Pₘ/p₁ = 4.18, replicated 4.181; H₂/air: Pₘ = 0.234 p₂).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T/Ṁ(p) shows a wide plateau: specific thrust is nearly independent of exit pressure — quote it at the sonic point.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006778"/>
                </a:solidFill>
                <a:latin typeface="Palatino Linotype"/>
              </a:rPr>
              <a:t>Hidden regularities across mixtures: p* ≈ 0.13 p₂ and w* ≈ 0.48 U_CJ — with Pₘ ≈ 0.24 p₂, handy first-cut design rules (throat sizing, Kato test reconstruction).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Bottom: sonic-model sensitivity at φ = 1 — T₁ is weak and inverse, p₁ strong and direct (deeper expansion): chamber pressurisation pays.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47/62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Validation against CFD and experiment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Kato et al. tests and Rankin data bracket the models</a:t>
            </a:r>
          </a:p>
        </p:txBody>
      </p:sp>
      <p:pic>
        <p:nvPicPr>
          <p:cNvPr id="33" name="Picture 32" descr="sk_fig11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7863840" cy="32641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49640" y="1783080"/>
            <a:ext cx="31546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2B2B2B"/>
                </a:solidFill>
                <a:latin typeface="Palatino Linotype"/>
              </a:rPr>
              <a:t>Kato C₂H₄–O₂ tests: pressure-history over-predicts by 20–60% — non-ideal mixing, sub-CJ waves.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1" i="0">
                <a:solidFill>
                  <a:srgbClr val="822433"/>
                </a:solidFill>
                <a:latin typeface="Palatino Linotype"/>
              </a:rPr>
              <a:t>Rankin H₂–air RDE and Schauer PDE data: bracketed by Term-I (low) and axial-sonic (high) curves.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006778"/>
                </a:solidFill>
                <a:latin typeface="Palatino Linotype"/>
              </a:rPr>
              <a:t>Red ×: Term I+II at φ = 1 — 4706 s (Table 1), replicated to −0.1%.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0" i="0">
                <a:solidFill>
                  <a:srgbClr val="2B2B2B"/>
                </a:solidFill>
                <a:latin typeface="Palatino Linotype"/>
              </a:rPr>
              <a:t>The models are upper bounds: discrepancies measure injector mixing quality and the unknown pre-detonation state — exactly the quantities a designer must engineer.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48/62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Thrust models vs. literature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Replication of Shepherd–Kasahara Table 1 — with one anomaly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1691640"/>
          <a:ext cx="7315197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6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7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Case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U_CJ me/SK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Isp PH me/SK [s]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ΔPH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Isp AX me/SK [s]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ΔAX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alatino Linotype"/>
                        </a:rPr>
                        <a:t>CFD [s]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H₂–air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1983 / 1982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4702 / 4706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−0.1%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5395 / 5383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+0.2%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4860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C₂H₄–air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1836 / 1836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1957 / 1975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−0.9%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2285 / 2280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+0.2%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1990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C₂H₄–O₂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2403 / 2402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937 / 704*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+33%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912 / 911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+0.1%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700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4D59"/>
                          </a:solidFill>
                          <a:latin typeface="Palatino Linotype"/>
                        </a:rPr>
                        <a:t>C₃H₈–O₂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2384 / 2383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974 / 1016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−4.1%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953 / 952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+0.1%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B2B2B"/>
                          </a:solidFill>
                          <a:latin typeface="Palatino Linotype"/>
                        </a:rPr>
                        <a:t>1070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" name="Picture 33" descr="fig_thrust_ma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691640"/>
            <a:ext cx="3886200" cy="283345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5760" y="4526280"/>
            <a:ext cx="7406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2B2B2B"/>
                </a:solidFill>
                <a:latin typeface="Palatino Linotype"/>
              </a:rPr>
              <a:t>Axial model reproduced to ±0.2% on 4/4; pressure-history on 3/4.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1" i="0">
                <a:solidFill>
                  <a:srgbClr val="822433"/>
                </a:solidFill>
                <a:latin typeface="Palatino Linotype"/>
              </a:rPr>
              <a:t>*The published 704 s is inconsistent with the paper’s own equations and its twin case C₃H₈–O₂ — a documented anomaly (our faithful evaluation: 937 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006778"/>
                </a:solidFill>
                <a:latin typeface="Palatino Linotype"/>
              </a:rPr>
              <a:t>Right: all combos share one linear law, F/Ṁ ∝ U_CJ (slope 1.10, γ_e-corrected).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49/62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Stechmann–Heister performance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Quasi-steady, mass-weighted rocket performance for RDEs</a:t>
            </a:r>
          </a:p>
        </p:txBody>
      </p:sp>
      <p:pic>
        <p:nvPicPr>
          <p:cNvPr id="33" name="Picture 32" descr="st_orig_fig01_rde_no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27632"/>
            <a:ext cx="6858000" cy="20318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3749039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Stechmann, Heister &amp; Harroun, J. Spacecr. Rockets 56(3) (2019), Fig. 1</a:t>
            </a:r>
          </a:p>
        </p:txBody>
      </p:sp>
      <p:pic>
        <p:nvPicPr>
          <p:cNvPr id="35" name="Picture 34" descr="stech_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737360"/>
            <a:ext cx="3287268" cy="5120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35240" y="2514600"/>
            <a:ext cx="39776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2B2B2B"/>
                </a:solidFill>
                <a:latin typeface="Palatino Linotype"/>
              </a:rPr>
              <a:t>Apply the classical 0-D rocket chain instantaneously: F(t) = ṁ(t)·C_F(t)·c*(t), all three factors time-varying.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006778"/>
                </a:solidFill>
                <a:latin typeface="Palatino Linotype"/>
              </a:rPr>
              <a:t>Traceable to standard practice: c*, C_F, Isp, O/F.</a:t>
            </a:r>
          </a:p>
        </p:txBody>
      </p:sp>
      <p:pic>
        <p:nvPicPr>
          <p:cNvPr id="37" name="Picture 36" descr="stech_Is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24528"/>
            <a:ext cx="5609844" cy="909828"/>
          </a:xfrm>
          <a:prstGeom prst="rect">
            <a:avLst/>
          </a:prstGeom>
        </p:spPr>
      </p:pic>
      <p:pic>
        <p:nvPicPr>
          <p:cNvPr id="38" name="Picture 37" descr="mcy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407408"/>
            <a:ext cx="2295144" cy="5532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0080" y="53492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Isp must be MASS-WEIGHTED, not time-averaged: ṁ, c* and C_F peak simultaneously in the high-pressure fraction of the cycle — and the formulation collapses exactly to the constant-pressure rocket when Pc = const (built-in fair comparison).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50/62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Cycle histories: chamber pressure and c*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Detonation jump, exponential blowdown, periodic refill</a:t>
            </a:r>
          </a:p>
        </p:txBody>
      </p:sp>
      <p:pic>
        <p:nvPicPr>
          <p:cNvPr id="33" name="Picture 32" descr="st_fig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7406640" cy="30291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83879" y="1737360"/>
            <a:ext cx="3520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2B2B2B"/>
                </a:solidFill>
                <a:latin typeface="Palatino Linotype"/>
              </a:rPr>
              <a:t>Pc(t) = PR·P_init·e^(−λt) with λ = ln(PR)/t_c: the chamber returns to P_init exactly as the next wave arrives.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006778"/>
                </a:solidFill>
                <a:latin typeface="Palatino Linotype"/>
              </a:rPr>
              <a:t>Anchors: P₀ = 71.8 vs 72 atm; c*(0) = 2329 vs 2330 m/s; γ = 1.135 vs 1.14 (H₂–O₂, t_c = 120 μs).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1" i="0">
                <a:solidFill>
                  <a:srgbClr val="822433"/>
                </a:solidFill>
                <a:latin typeface="Palatino Linotype"/>
              </a:rPr>
              <a:t>c*(0) is nearly Ti-independent (chemistry-set); colder propellant buys PRESSURE RATIO, hence a steeper decay.</a:t>
            </a:r>
          </a:p>
        </p:txBody>
      </p:sp>
      <p:pic>
        <p:nvPicPr>
          <p:cNvPr id="35" name="Picture 34" descr="stech_c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00016"/>
            <a:ext cx="4713732" cy="13258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97880" y="5029200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2B2B2B"/>
                </a:solidFill>
                <a:latin typeface="Palatino Linotype"/>
              </a:rPr>
              <a:t>Each annular segment behaves as a small choked rocket at its instantaneous chamber state (CEA-style equilibrium products; γ, M frozen along the nozzle).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51/62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Mass flux and the matching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Equal cycle mass flow and throat area — not equal mean pressure</a:t>
            </a:r>
          </a:p>
        </p:txBody>
      </p:sp>
      <p:pic>
        <p:nvPicPr>
          <p:cNvPr id="33" name="Picture 32" descr="st_fig_massflu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7680960" cy="313695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58200" y="1737360"/>
            <a:ext cx="32461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2B2B2B"/>
                </a:solidFill>
                <a:latin typeface="Palatino Linotype"/>
              </a:rPr>
              <a:t>ṁ/A(t) = Pc/c*: choked at all times — the RDE exit plane is the effective (thermal) throat.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0" i="0">
                <a:solidFill>
                  <a:srgbClr val="006778"/>
                </a:solidFill>
                <a:latin typeface="Palatino Linotype"/>
              </a:rPr>
              <a:t>Anchor: 72 atm / 2330 m/s → 0.31 kg/cm²·s (model 0.312, +0.7%).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00" b="1" i="0">
                <a:solidFill>
                  <a:srgbClr val="822433"/>
                </a:solidFill>
                <a:latin typeface="Palatino Linotype"/>
              </a:rPr>
              <a:t>P_init is iterated until the cycle mass equals a constant-pressure combustor with the SAME throat: the honest basis for every comparison that follows.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0" i="0">
                <a:solidFill>
                  <a:srgbClr val="2B2B2B"/>
                </a:solidFill>
                <a:latin typeface="Palatino Linotype"/>
              </a:rPr>
              <a:t>Every Ti-family pivots about a common crossing (~35–40 μs): colder propellant gives a higher peak AND a deeper tail — a constrained comparison, visualised.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52/62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DC 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Detonation raises the mean chamber pressure — by a few percent</a:t>
            </a:r>
          </a:p>
        </p:txBody>
      </p:sp>
      <p:pic>
        <p:nvPicPr>
          <p:cNvPr id="33" name="Picture 32" descr="st_fig_bene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00200"/>
            <a:ext cx="6173574" cy="40233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40880" y="178308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1" i="0">
                <a:solidFill>
                  <a:srgbClr val="822433"/>
                </a:solidFill>
                <a:latin typeface="Palatino Linotype"/>
              </a:rPr>
              <a:t>At matched mass flow and throat area, the detonation cycle’s mean pressure sits 2.5–4.5% above the equivalent constant-pressure chamber: the “DC shift”.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006778"/>
                </a:solidFill>
                <a:latin typeface="Palatino Linotype"/>
              </a:rPr>
              <a:t>Replication: all 12 paper points within ±0.05 pt (H₂, φ = 1, 200 K: 2.65% exact).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It is a combustion-side gain only — not additive to the nozzle benefit, and NOT the Isp benefit itself.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00" b="0" i="0">
                <a:solidFill>
                  <a:srgbClr val="2B2B2B"/>
                </a:solidFill>
                <a:latin typeface="Palatino Linotype"/>
              </a:rPr>
              <a:t>Mean pressure is therefore a poor RDE metric — and capillary (CTAP) probes likely cannot even capture this shift.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53/62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Transient thrust coefficient and Isp(ε)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A fixed bell is on-design at only one instant of the cycle</a:t>
            </a:r>
          </a:p>
        </p:txBody>
      </p:sp>
      <p:pic>
        <p:nvPicPr>
          <p:cNvPr id="33" name="Picture 32" descr="st_fig_cf_i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8412480" cy="34890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89720" y="1783080"/>
            <a:ext cx="25146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0" i="0">
                <a:solidFill>
                  <a:srgbClr val="2B2B2B"/>
                </a:solidFill>
                <a:latin typeface="Palatino Linotype"/>
              </a:rPr>
              <a:t>Bell C_F falls through 1 at ~85 μs and keeps dropping: deep over-expansion in the tail.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0" i="0">
                <a:solidFill>
                  <a:srgbClr val="006778"/>
                </a:solidFill>
                <a:latin typeface="Palatino Linotype"/>
              </a:rPr>
              <a:t>Aerospike holds p_e = p_a across the swing.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1" i="0">
                <a:solidFill>
                  <a:srgbClr val="822433"/>
                </a:solidFill>
                <a:latin typeface="Palatino Linotype"/>
              </a:rPr>
              <a:t>Isp(ε): bell +2.6%, aerospike +7.3% over CP (CH₄, 20 atm, 200 K).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0" i="0">
                <a:solidFill>
                  <a:srgbClr val="2B2B2B"/>
                </a:solidFill>
                <a:latin typeface="Palatino Linotype"/>
              </a:rPr>
              <a:t>The nozzle pressure ratio is now time-varying: transient under/over-expansion is what erodes the ideal (Humphrey-like) cycle gain down to a few percent.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54/62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Nozzle optimisation — bell vs. aerospike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Replication of Stechmann Table 1: 18 of 18 rows reproduced</a:t>
            </a:r>
          </a:p>
        </p:txBody>
      </p:sp>
      <p:pic>
        <p:nvPicPr>
          <p:cNvPr id="33" name="Picture 32" descr="st_fig_nozzle_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00200"/>
            <a:ext cx="6766560" cy="2870753"/>
          </a:xfrm>
          <a:prstGeom prst="rect">
            <a:avLst/>
          </a:prstGeom>
        </p:spPr>
      </p:pic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315200" y="1645920"/>
          <a:ext cx="4389120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Palatino Linotype"/>
                        </a:rPr>
                        <a:t>Prop.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Palatino Linotype"/>
                        </a:rPr>
                        <a:t>P_cp [atm]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Palatino Linotype"/>
                        </a:rPr>
                        <a:t>Δbell pap/mod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Palatino Linotype"/>
                        </a:rPr>
                        <a:t>Δspike pap/mod</a:t>
                      </a:r>
                    </a:p>
                  </a:txBody>
                  <a:tcPr marL="45720" marR="36576" marT="9144" marB="9144" anchor="ctr">
                    <a:solidFill>
                      <a:srgbClr val="82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H₂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9.0 / 8.9%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12.2 / 12.2%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H₂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200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8.0 / 8.0%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9.7 / 9.7%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CH₄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4.4 / 4.4%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9.2 / 9.1%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CH₄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200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3.7 / 3.8%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6.2 / 6.3%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RP-1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4.0 / 4.0%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9.6 / 9.6%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4D59"/>
                          </a:solidFill>
                          <a:latin typeface="Palatino Linotype"/>
                        </a:rPr>
                        <a:t>RP-1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200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3.3 / 3.2%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Palatino Linotype"/>
                        </a:rPr>
                        <a:t>6.2 / 6.1%</a:t>
                      </a:r>
                    </a:p>
                  </a:txBody>
                  <a:tcPr marL="45720" marR="36576" marT="9144" marB="9144" anchor="ctr">
                    <a:solidFill>
                      <a:srgbClr val="F2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360920" y="443484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 dirty="0">
                <a:solidFill>
                  <a:srgbClr val="2B2B2B"/>
                </a:solidFill>
                <a:latin typeface="Palatino Linotype"/>
              </a:rPr>
              <a:t>Isp benefits vs. the matched CP engine; |</a:t>
            </a:r>
            <a:r>
              <a:rPr sz="1050" b="0" i="1" dirty="0" err="1">
                <a:solidFill>
                  <a:srgbClr val="2B2B2B"/>
                </a:solidFill>
                <a:latin typeface="Palatino Linotype"/>
              </a:rPr>
              <a:t>ΔIsp</a:t>
            </a:r>
            <a:r>
              <a:rPr sz="1050" b="0" i="1" dirty="0">
                <a:solidFill>
                  <a:srgbClr val="2B2B2B"/>
                </a:solidFill>
                <a:latin typeface="Palatino Linotype"/>
              </a:rPr>
              <a:t>| ≤ 1.2%, </a:t>
            </a:r>
            <a:r>
              <a:rPr sz="1050" b="0" i="1" dirty="0" err="1">
                <a:solidFill>
                  <a:srgbClr val="2B2B2B"/>
                </a:solidFill>
                <a:latin typeface="Palatino Linotype"/>
              </a:rPr>
              <a:t>ε_opt</a:t>
            </a:r>
            <a:r>
              <a:rPr sz="1050" b="0" i="1" dirty="0">
                <a:solidFill>
                  <a:srgbClr val="2B2B2B"/>
                </a:solidFill>
                <a:latin typeface="Palatino Linotype"/>
              </a:rPr>
              <a:t> within 10% — 18/18 PASS.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92040"/>
            <a:ext cx="11247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1" i="0">
                <a:solidFill>
                  <a:srgbClr val="822433"/>
                </a:solidFill>
                <a:latin typeface="Palatino Linotype"/>
              </a:rPr>
              <a:t>Detonation ε_opt is far larger for the aerospike (≈ 3× the CP value: capture the peak); Isp(ε) saturates instead of peaking — ideally, oversizing costs nothing.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0" i="0">
                <a:solidFill>
                  <a:srgbClr val="2B2B2B"/>
                </a:solidFill>
                <a:latin typeface="Palatino Linotype"/>
              </a:rPr>
              <a:t>In vacuum every nozzle has a fixed pressure ratio: the benefit collapses to 2.5–7.9% and the aerospike advantage disappears.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55/62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Aerospike nozzles and model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Pressure-adaptive expansion captures the cycle peak</a:t>
            </a:r>
          </a:p>
        </p:txBody>
      </p:sp>
      <p:pic>
        <p:nvPicPr>
          <p:cNvPr id="33" name="Picture 32" descr="st_orig_fig02_aerosp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5303520" cy="22186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8640" y="40233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Stechmann, Heister &amp; Harroun, J. Spacecr. Rockets 56(3) (2019), Fig.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737360"/>
            <a:ext cx="544068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Realisable Isp benefit: ≈ 6% for hydrocarbon boosters, ≈ 8% for H₂ upper stages — far below ideal-cycle promises, because transient nozzle losses erode the gain.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Aerospikes are the preferred RDE nozzle: thermodynamically (self-adaptation) and geometrically (annular-to-annular integration).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RDEs optimise fuel-RICH, and cold/dense (cryogenic) propellants widen the pressure swing — the sweet spot for pressure gain.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Measurement warning: if thrust + mass-flow uncertainty exceeds a few percent, the predicted benefit is experimentally undetectable.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56/62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2103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06778"/>
                </a:solidFill>
                <a:latin typeface="Palatino Linotype"/>
              </a:rPr>
              <a:t>Part 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69748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822433"/>
                </a:solidFill>
                <a:latin typeface="Palatino Linotype"/>
              </a:rPr>
              <a:t>RDE engineering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11480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2B2B2B"/>
                </a:solidFill>
                <a:latin typeface="Palatino Linotype"/>
              </a:rPr>
              <a:t>Sixty years of hardware, one stability parameter, and the reasons the rotating wave won — Wolański’s survey (Proc. Combust. Inst. 34, 2013).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57/62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From spin detonation to the RDE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Sixty years from Voitsekhovskii’s six heads to flight hardware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691640"/>
            <a:ext cx="59436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1940 · Zel’dovich: efficiency of detonative combustion.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1958 · Nicholls (Michigan): first PDE bursts; standing-wave rocket concepts.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1" i="0">
                <a:solidFill>
                  <a:srgbClr val="822433"/>
                </a:solidFill>
                <a:latin typeface="Palatino Linotype"/>
              </a:rPr>
              <a:t>1960–63 · Voitsekhovskii, Mitrofanov &amp; Topchiyan (Novosibirsk): continuous spin detonation — six heads in a disk chamber.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1964–66 · Michigan rotating-detonation rocket study: “nothing fundamental stands in the way”.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2B2B2B"/>
                </a:solidFill>
                <a:latin typeface="Palatino Linotype"/>
              </a:rPr>
              <a:t>2004/05 · Tobita–Fujiwara–Wolański RDE patent; 2008 · first PDE-powered flight (Mojave).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350" b="0" i="0">
                <a:solidFill>
                  <a:srgbClr val="006778"/>
                </a:solidFill>
                <a:latin typeface="Palatino Linotype"/>
              </a:rPr>
              <a:t>Today: rockets, ramjets and gas turbines — the annular chamber at right is the canonical research configuration.</a:t>
            </a:r>
          </a:p>
        </p:txBody>
      </p:sp>
      <p:pic>
        <p:nvPicPr>
          <p:cNvPr id="34" name="Picture 33" descr="wo_orig_annulus_princi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783080"/>
            <a:ext cx="4206240" cy="29443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9440" y="48920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Wolański, Proc. Combust. Inst. 34 (2013), Fig. 28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58/62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The unrolled annulus and the wave 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How many heads? W compares the lap time to the refill time</a:t>
            </a:r>
          </a:p>
        </p:txBody>
      </p:sp>
      <p:pic>
        <p:nvPicPr>
          <p:cNvPr id="33" name="Picture 32" descr="wo_orig_unrolled_c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5303520" cy="274051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45262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Wolański, Proc. Combust. Inst. 34 (2013), Fig. 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5440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0" i="0">
                <a:solidFill>
                  <a:srgbClr val="2B2B2B"/>
                </a:solidFill>
                <a:latin typeface="Palatino Linotype"/>
              </a:rPr>
              <a:t>The thin channel is unrolled to a periodic 2-D plane: fresh triangular layer, front normal to the wall, oblique shock, K–H billows on the contact surface.</a:t>
            </a:r>
          </a:p>
        </p:txBody>
      </p:sp>
      <p:pic>
        <p:nvPicPr>
          <p:cNvPr id="36" name="Picture 35" descr="eq_wavenu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4279392" cy="1024128"/>
          </a:xfrm>
          <a:prstGeom prst="rect">
            <a:avLst/>
          </a:prstGeom>
        </p:spPr>
      </p:pic>
      <p:pic>
        <p:nvPicPr>
          <p:cNvPr id="37" name="Picture 36" descr="wo_orig_annulus_wavenu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971800"/>
            <a:ext cx="3017520" cy="217348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03720" y="519379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Wolański (2013), Fig. 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53212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1" i="0">
                <a:solidFill>
                  <a:srgbClr val="822433"/>
                </a:solidFill>
                <a:latin typeface="Palatino Linotype"/>
              </a:rPr>
              <a:t>W ≈ n → n co-rotating heads; W slightly &lt; 1 → galloping; W ≪ 1 → deflagration.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59/62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Feeding the wave: injection and geometry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Choked, subsonic, briefly reversed — once every lap</a:t>
            </a:r>
          </a:p>
        </p:txBody>
      </p:sp>
      <p:pic>
        <p:nvPicPr>
          <p:cNvPr id="33" name="Picture 32" descr="wo_orig_injection_revers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7863840" cy="1935714"/>
          </a:xfrm>
          <a:prstGeom prst="rect">
            <a:avLst/>
          </a:prstGeom>
        </p:spPr>
      </p:pic>
      <p:pic>
        <p:nvPicPr>
          <p:cNvPr id="34" name="Picture 33" descr="wo_orig_geometry_zo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03320"/>
            <a:ext cx="5806440" cy="22246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200" y="587044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Wolański, Proc. Combust. Inst. 34 (2013), Figs. 31 &amp;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160020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1" i="0">
                <a:solidFill>
                  <a:srgbClr val="822433"/>
                </a:solidFill>
                <a:latin typeface="Palatino Linotype"/>
              </a:rPr>
              <a:t>Each injector sees a pressure sawtooth per lap: choked → subsonic → briefly REVERSED just behind the front.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93192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0" i="0">
                <a:solidFill>
                  <a:srgbClr val="2B2B2B"/>
                </a:solidFill>
                <a:latin typeface="Palatino Linotype"/>
              </a:rPr>
              <a:t>Fuel and oxidiser enter separately: they must re-mix into a detonable layer within ONE revolution.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0" i="0">
                <a:solidFill>
                  <a:srgbClr val="006778"/>
                </a:solidFill>
                <a:latin typeface="Palatino Linotype"/>
              </a:rPr>
              <a:t>Beyond the annulus: cone inserts, disk chambers fed from centre or rim, plain cylinders.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60/62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Standing waves and pulsed engines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Why the survey’s verdict favours the rotating wave</a:t>
            </a:r>
          </a:p>
        </p:txBody>
      </p:sp>
      <p:pic>
        <p:nvPicPr>
          <p:cNvPr id="33" name="Picture 32" descr="wo_orig_sdw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45920"/>
            <a:ext cx="4023360" cy="2691034"/>
          </a:xfrm>
          <a:prstGeom prst="rect">
            <a:avLst/>
          </a:prstGeom>
        </p:spPr>
      </p:pic>
      <p:pic>
        <p:nvPicPr>
          <p:cNvPr id="34" name="Picture 33" descr="wo_orig_pde_cy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645920"/>
            <a:ext cx="4023360" cy="26396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43484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B2B2B"/>
                </a:solidFill>
                <a:latin typeface="Palatino Linotype"/>
              </a:rPr>
              <a:t>Adapted from Wolański, Proc. Combust. Inst. 34 (2013), Figs. 6 &amp;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1691640"/>
            <a:ext cx="24231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150" b="0" i="0">
                <a:solidFill>
                  <a:srgbClr val="2B2B2B"/>
                </a:solidFill>
                <a:latin typeface="Palatino Linotype"/>
              </a:rPr>
              <a:t>Left: oblique-detonation ramjet. Right: the six-phase PDE cycle.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11201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0" i="0">
                <a:solidFill>
                  <a:srgbClr val="2B2B2B"/>
                </a:solidFill>
                <a:latin typeface="Palatino Linotype"/>
              </a:rPr>
              <a:t>Standing wave: frame-locked — inflow must arrive at ≥ M_CJ, and above M ≈ 7–8 envelope drag exceeds thrust: usable only at M ≈ 5–7 (“very limited, if any, applications”).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250" b="1" i="0">
                <a:solidFill>
                  <a:srgbClr val="822433"/>
                </a:solidFill>
                <a:latin typeface="Palatino Linotype"/>
              </a:rPr>
              <a:t>Pulsed: re-initiation every cycle, valves and purge at 10–100 Hz, stoichiometric operation. Rotating: initiated ONCE, kHz sweep, lean or rich — detonation sustainment decoupled from flight Mach.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61/62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The entropy of a combustion wave, from theory to thrust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A detonation is the CJ solution of the Rankine–Hugoniot jump conditions — the sonic, minimum-speed, minimum-entropy self-sustaining wave; ZND resolves its shock + induction + reaction structure.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Computed CJ speeds span 1.8–2.9 km/s with p₂/p₁ = 15–41 over twelve propellant combinations; the equilibrium γ_e = 1.13–1.17 (not the frozen cp/cv) feeds every thrust model.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1" i="0">
                <a:solidFill>
                  <a:srgbClr val="822433"/>
                </a:solidFill>
                <a:latin typeface="Palatino Linotype"/>
              </a:rPr>
              <a:t>At a fixed static state the detonation cycle wins (FJ ≳ Humphrey &gt; Brayton); at a fixed stagnation state a standing wave loses ~93–95% of its total pressure to the leading shock and the verdict inverts. The RDE keeps the advantage because it burns reactants essentially at rest — EAP makes the gain measurable.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2B2B2B"/>
                </a:solidFill>
                <a:latin typeface="Palatino Linotype"/>
              </a:rPr>
              <a:t>Thrust scales as T/Ṁ ∝ U_CJ (Shepherd–Kasahara, both control volumes, bracketing CFD and data); mass-weighted transient-nozzle bookkeeping (Stechmann–Heister) leaves a realistic few-percent Isp benefit, best captured by an aerospike.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822433"/>
                </a:solidFill>
                <a:latin typeface="Palatino Linotype"/>
              </a:rPr>
              <a:t>•  </a:t>
            </a:r>
            <a:r>
              <a:rPr sz="1450" b="0" i="0">
                <a:solidFill>
                  <a:srgbClr val="006778"/>
                </a:solidFill>
                <a:latin typeface="Palatino Linotype"/>
              </a:rPr>
              <a:t>The modelling chain of this lecture: jump conditions → CJ/ZND → cycle analysis → EAP → control-volume thrust → engine Isp.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Detonation &amp; Rotating Detonation Engines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400" b="1" i="0">
                <a:solidFill>
                  <a:srgbClr val="FFFFFF"/>
                </a:solidFill>
                <a:latin typeface="Palatino Linotype"/>
              </a:rPr>
              <a:t>62/62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6108192"/>
            <a:ext cx="1463040" cy="7498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327648"/>
            <a:ext cx="1178603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256032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22433"/>
                </a:solidFill>
                <a:latin typeface="Palatino Linotype"/>
              </a:rPr>
              <a:t>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932688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6778"/>
                </a:solidFill>
                <a:latin typeface="Palatino Linotype"/>
              </a:rPr>
              <a:t>Primary sources and figure attributions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554480"/>
            <a:ext cx="112471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6778"/>
                </a:solidFill>
                <a:latin typeface="Palatino Linotype"/>
              </a:rPr>
              <a:t>Detonation theory &amp; SD Toolbox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Kao, Ziegler, Bitter, Schmidt, Lawson &amp; Shepherd, “SD Toolbox — Numerical Tools for Shock and Detonation Wave Modeling,” GALCIT Report FM2018.001 (rev. 2025); Browne, Ziegler &amp; Shepherd, GALCIT FM2006.006.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Fickett &amp; Davis, Detonation: Theory and Experiment, Dover, 2001.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6778"/>
                </a:solidFill>
                <a:latin typeface="Palatino Linotype"/>
              </a:rPr>
              <a:t>Thermodynamic cycles &amp; pressure gain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Wintenberger &amp; Shepherd, “Thermodynamic Cycle Analysis for Propagating Detonations,” J. Propulsion &amp; Power 22(3), 2006.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Wintenberger &amp; Shepherd, “Thermodynamic Analysis of Combustion Processes for Propulsion Systems,” AIAA 2004-1033.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Kaemming &amp; Paxson, “Determining the Pressure Gain of Pressure Gain Combustion,” AIAA 2018-4567 / NASA 20180006890.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6778"/>
                </a:solidFill>
                <a:latin typeface="Palatino Linotype"/>
              </a:rPr>
              <a:t>RDE &amp; thrust models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Shepherd &amp; Kasahara, “Analytical Models for the Thrust of a Rotating Detonation Engine,” GALCIT Report FM2017.001, 2017.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Stechmann, Heister &amp; Harroun, “Rotating Detonation Engine Performance Model for Rocket Applications,” J. Spacecraft &amp; Rockets 56(3), 2019.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Schwer &amp; Kailasanath, “Fluid Dynamics of Rotating Detonation Engines with Hydrogen and Hydrocarbon Fuels,” Proc. Combust. Inst. 34, 2013 (CFD reference data).</a:t>
            </a:r>
          </a:p>
          <a:p>
            <a:pPr marL="256032" indent="-256032"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Palatino Linotype"/>
              </a:rPr>
              <a:t>Wolański, “Detonative Propulsion,” Proc. Combust. Inst. 34 (2013) 125–158.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2B2B2B"/>
                </a:solidFill>
                <a:latin typeface="Palatino Linotype"/>
              </a:rPr>
              <a:t>Original paper figures are reproduced with per-slide attributions; all computed figures and tables are traceable to the open companion scripts (SD Toolbox + Cantera 3.2).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Gradazioni di grigio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09" row="0">
    <wetp:webextensionref xmlns:r="http://schemas.openxmlformats.org/officeDocument/2006/relationships" r:id="rId1"/>
  </wetp:taskpane>
  <wetp:taskpane dockstate="right" visibility="0" width="322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96F0C90-87E7-4693-8BD7-89CC9317711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4c1ef11-a862-4ccc-8daf-c5522655107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17906AD-1CB3-427E-B59E-E96F5E1D5758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1a6e2c6-9f91-4d81-95e9-62ebebeb52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11223</TotalTime>
  <Words>14639</Words>
  <Application>Microsoft Office PowerPoint</Application>
  <PresentationFormat>Widescreen</PresentationFormat>
  <Paragraphs>918</Paragraphs>
  <Slides>62</Slides>
  <Notes>57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62</vt:i4>
      </vt:variant>
    </vt:vector>
  </HeadingPairs>
  <TitlesOfParts>
    <vt:vector size="68" baseType="lpstr">
      <vt:lpstr>Arial</vt:lpstr>
      <vt:lpstr>Calibri</vt:lpstr>
      <vt:lpstr>Calibri Light</vt:lpstr>
      <vt:lpstr>Palatino</vt:lpstr>
      <vt:lpstr>Palatino Linotype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Matteo Fiore</dc:creator>
  <cp:lastModifiedBy>Alessandro Montanari</cp:lastModifiedBy>
  <cp:revision>174</cp:revision>
  <dcterms:created xsi:type="dcterms:W3CDTF">2022-03-14T17:39:05Z</dcterms:created>
  <dcterms:modified xsi:type="dcterms:W3CDTF">2026-07-09T11:25:05Z</dcterms:modified>
</cp:coreProperties>
</file>