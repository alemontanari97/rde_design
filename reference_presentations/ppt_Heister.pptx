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585" r:id="rId2"/>
    <p:sldId id="797" r:id="rId3"/>
    <p:sldId id="827" r:id="rId4"/>
    <p:sldId id="823" r:id="rId5"/>
    <p:sldId id="838" r:id="rId6"/>
    <p:sldId id="660" r:id="rId7"/>
    <p:sldId id="840" r:id="rId8"/>
    <p:sldId id="829" r:id="rId9"/>
    <p:sldId id="830" r:id="rId10"/>
    <p:sldId id="831" r:id="rId11"/>
    <p:sldId id="653" r:id="rId12"/>
    <p:sldId id="659" r:id="rId13"/>
    <p:sldId id="832" r:id="rId14"/>
    <p:sldId id="655" r:id="rId15"/>
    <p:sldId id="834" r:id="rId16"/>
    <p:sldId id="833" r:id="rId17"/>
    <p:sldId id="656" r:id="rId18"/>
    <p:sldId id="84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1D5C90A-3E8E-614D-84F8-9882190274C6}" name="Maria Teresa Scelzo" initials="MTS" userId="S::maria.teresa.scelzo@vki.ac.be::37be6264-c88a-4c5c-bac6-5d9ddcdf172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2433"/>
    <a:srgbClr val="0067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389" autoAdjust="0"/>
  </p:normalViewPr>
  <p:slideViewPr>
    <p:cSldViewPr snapToGrid="0">
      <p:cViewPr>
        <p:scale>
          <a:sx n="66" d="100"/>
          <a:sy n="66" d="100"/>
        </p:scale>
        <p:origin x="28" y="-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DEDE560A-8E8A-436E-813E-C270D46A319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9E196812-9494-4F25-9D79-3A4CFC21CD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089A48-AC6F-47D3-B40C-2C1B139D4F3F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A5800A6-55FA-485B-BD56-FFF84FBBA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15E942F-7B43-43FE-9FE5-AC71F2AC37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2ABE69-0B93-43EB-83C2-51DA4849037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95959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0841FC-F73E-4ED5-B83E-9A3C90B7F5BB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2FDB6-CFFD-422B-8A27-F953604C2C2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6669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3AD0E9-89D2-F749-A052-0AC75C7B6866}" type="slidenum">
              <a:rPr lang="en-FR" smtClean="0"/>
              <a:t>1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8650940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EB532-27FC-218D-CF42-56B8B2101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8F38A66-6705-3060-C5F5-63F7D410E9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FFB6477-4D0A-9F7A-E9BA-E2560044A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CAEC7DD-814F-91B0-0C3E-76648228F8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2FDB6-CFFD-422B-8A27-F953604C2C2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8432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2FDB6-CFFD-422B-8A27-F953604C2C2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1855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4D91D-137B-C964-ACAA-263498ADB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2A3EF6F-8699-8A90-C4D0-BF0A87AF3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D899C9B-8509-1355-996D-ECA13572DA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14DFA63-35B1-E8FE-8288-0F67A860A2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2FDB6-CFFD-422B-8A27-F953604C2C2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2003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4457A-E992-80C7-0D78-6ECCB1ECC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75BFE78-9BCC-32B2-D4B5-1DECF15046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DF15644-3DD2-6D62-F3D1-753E012F24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C827623-1E5E-ECB1-3F60-FB22924460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2FDB6-CFFD-422B-8A27-F953604C2C2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3812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E542A-8F8B-A44C-BD65-8378AC168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51D5647-E57F-1AE7-BE6F-75AC4AF9C2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17B442C-7F1F-1BE3-6AB6-459946494A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C96272C-9C55-B863-2962-F027188CD7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2FDB6-CFFD-422B-8A27-F953604C2C2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9755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D64C1-0D89-299A-7EBC-B0A6D1104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81970AF-D322-DFE7-5F00-5950AC0BCC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1287849-52AC-1636-2471-FCF58FD0CE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7657218-36B7-74A9-8F9D-0BA2617761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2FDB6-CFFD-422B-8A27-F953604C2C2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0327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8DFAD-35DF-ED85-D768-96D7796E9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3FF421D-F78B-0CC2-E926-F5B6D8462D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776E1E6-D554-32F3-9D2F-D86B4D4183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48DE09D-D939-DA7A-E31C-997C70FB93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2FDB6-CFFD-422B-8A27-F953604C2C2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4255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FD260-E597-7DFC-1EFE-468B38357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618D9A6-397C-DF66-909D-E1B1753A58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144E611-F6A6-696F-8E55-ABBD6CB581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E33F12A-98F9-E215-380F-5FA0926B78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2FDB6-CFFD-422B-8A27-F953604C2C2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2589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3455E-DA22-9608-8BB1-63B36CE30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3B19D96-9CEE-340D-FEF1-2A3086040D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502CBBD-8639-F892-15C2-25817E0FA6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D6A3A76-5F04-CC65-4177-A950CAD41F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2FDB6-CFFD-422B-8A27-F953604C2C2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1829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ACFF7-09AC-CB9F-D7EE-285F3CE39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BBE7BDC-EC2C-2545-CDC1-C0FCFFF084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F9BE48F-6420-BFC4-529F-E8272F4780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CE90DE3-148C-62D6-DFAD-62329E484D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2FDB6-CFFD-422B-8A27-F953604C2C2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4535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EC58E-3939-E631-1877-F617663B9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48DC821-A493-6D73-3FD4-82F565898F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FA24320-946B-6770-6B20-4388CB0D6D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A40097E-59F7-6D77-D564-F9FC227BE6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2FDB6-CFFD-422B-8A27-F953604C2C2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4132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7BAD1-0D28-E2D6-21D6-BE57681BD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AEAAF97-76D5-AED5-420F-AF7282427D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36D7F03-0DE7-F5F6-0751-769A8BECB7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CE53429-20C8-AE08-2014-D5756E0EA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2FDB6-CFFD-422B-8A27-F953604C2C2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2003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4814F-9755-CC48-C689-ADA50A969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7EFA9FC-CCE5-A9FF-8ABF-15A9C0517E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4C09565-B116-D978-9751-09131F8821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63176E2-BCBF-1F09-076E-267D57E57A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2FDB6-CFFD-422B-8A27-F953604C2C2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0049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F305D-8F78-CB7D-CC38-71936D585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27FA471-5174-3BD9-55C4-B0DDCDAD23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D459DC4-F9C9-6763-FD41-9FCCD9E00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43BD465-FE27-2800-E864-90C13FED62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2FDB6-CFFD-422B-8A27-F953604C2C2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3156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930D3-3401-56DA-8DEA-B589146CA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C414DEE-E7E8-3262-1D7D-F203810FB3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5F32464-AE25-C536-EAC4-B3434F36FA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62D93D4-39B9-D6F9-73BB-1D95DE23CB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2FDB6-CFFD-422B-8A27-F953604C2C2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9679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5E907-8934-7DD5-FCB8-EC3DE9FCA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CF7C934-0F6F-54C2-E07F-7A50E9158E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79A101A-3592-D95D-AD6A-070354C4E6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047928C-13D0-07E0-E590-A74EF07110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2FDB6-CFFD-422B-8A27-F953604C2C2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2653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BE6CB-A7BB-C3FD-A303-DCB4997B2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8FB779B-6751-0F52-D3E7-F3613E89E7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9158C7F-1FD5-F6A6-B229-4CA6BE620C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2290D2C-75E2-1338-4AB3-409AD911CB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2FDB6-CFFD-422B-8A27-F953604C2C2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773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AE2FCED-7A8F-4213-8062-920B248DE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C82E15E-C40A-4632-A032-D4E91F7EBE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175D8A6-B7A4-4A4E-8F7A-B9C6CE2E0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M. Fiore et al</a:t>
            </a:r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17D2831-435D-4149-BD88-53D94E981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08921" y="6356350"/>
            <a:ext cx="7732643" cy="501650"/>
          </a:xfrm>
          <a:solidFill>
            <a:srgbClr val="822433"/>
          </a:solidFill>
        </p:spPr>
        <p:txBody>
          <a:bodyPr/>
          <a:lstStyle>
            <a:lvl1pPr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Modular Aerospike Nozzles for Upper Stage Applications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A936056-34A5-4B1C-B2FC-32779661B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501650"/>
          </a:xfrm>
        </p:spPr>
        <p:txBody>
          <a:bodyPr/>
          <a:lstStyle/>
          <a:p>
            <a:fld id="{10A70FEB-7381-4ECC-98C1-1C73F7199FA0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246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2E9DF3-20EB-4487-9E07-B1602535E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E3A624C-D652-4830-9048-BA901CC17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D35F0B2-D273-4D5B-ABB0-668682A98D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79999" y="6177600"/>
            <a:ext cx="2016000" cy="680400"/>
          </a:xfrm>
          <a:solidFill>
            <a:srgbClr val="822433"/>
          </a:solidFill>
        </p:spPr>
        <p:txBody>
          <a:bodyPr/>
          <a:lstStyle>
            <a:lvl1pPr algn="ctr">
              <a:defRPr sz="1400">
                <a:latin typeface="Palatino Linotype" panose="02040502050505030304" pitchFamily="18" charset="0"/>
              </a:defRPr>
            </a:lvl1pPr>
          </a:lstStyle>
          <a:p>
            <a:r>
              <a:rPr lang="it-IT"/>
              <a:t>M. Fiore et al</a:t>
            </a:r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527BA9F-6563-49CA-90AB-013BAD005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40000" y="6176963"/>
            <a:ext cx="6840000" cy="681038"/>
          </a:xfrm>
          <a:solidFill>
            <a:srgbClr val="822433"/>
          </a:solidFill>
        </p:spPr>
        <p:txBody>
          <a:bodyPr/>
          <a:lstStyle>
            <a:lvl1pPr>
              <a:lnSpc>
                <a:spcPct val="120000"/>
              </a:lnSpc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Modular Aerospike Nozzles for Upper Stage Applications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5315FF2-043A-40FE-8279-54E0FCD27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96000" y="6176961"/>
            <a:ext cx="1897200" cy="681039"/>
          </a:xfrm>
        </p:spPr>
        <p:txBody>
          <a:bodyPr/>
          <a:lstStyle>
            <a:lvl1pPr algn="r">
              <a:defRPr sz="1400"/>
            </a:lvl1pPr>
          </a:lstStyle>
          <a:p>
            <a:fld id="{10A70FEB-7381-4ECC-98C1-1C73F7199FA0}" type="slidenum">
              <a:rPr lang="en-US" smtClean="0"/>
              <a:pPr/>
              <a:t>‹N›</a:t>
            </a:fld>
            <a:r>
              <a:rPr lang="en-US" dirty="0"/>
              <a:t>/17</a:t>
            </a:r>
          </a:p>
        </p:txBody>
      </p:sp>
    </p:spTree>
    <p:extLst>
      <p:ext uri="{BB962C8B-B14F-4D97-AF65-F5344CB8AC3E}">
        <p14:creationId xmlns:p14="http://schemas.microsoft.com/office/powerpoint/2010/main" val="2701576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E44FAC27-EA79-44D6-9B85-DFE1A563A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AA1DBE4-757F-4E0E-B092-37A45C3C0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B7A7E12-A927-4257-ABE4-819175D095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80000" y="6179586"/>
            <a:ext cx="2016000" cy="678414"/>
          </a:xfrm>
          <a:prstGeom prst="rect">
            <a:avLst/>
          </a:prstGeom>
          <a:solidFill>
            <a:srgbClr val="822433"/>
          </a:solidFill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bg1"/>
                </a:solidFill>
                <a:latin typeface="Palatino Linotype" panose="02040502050505030304" pitchFamily="18" charset="0"/>
              </a:defRPr>
            </a:lvl1pPr>
          </a:lstStyle>
          <a:p>
            <a:r>
              <a:rPr lang="it-IT"/>
              <a:t>M. Fiore et al</a:t>
            </a:r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1F9DB2F-1127-42B6-B6C6-6336317F6C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40000" y="6177600"/>
            <a:ext cx="6840000" cy="680400"/>
          </a:xfrm>
          <a:prstGeom prst="rect">
            <a:avLst/>
          </a:prstGeom>
          <a:solidFill>
            <a:srgbClr val="822433"/>
          </a:solidFill>
        </p:spPr>
        <p:txBody>
          <a:bodyPr vert="horz" lIns="91440" tIns="45720" rIns="91440" bIns="45720" rtlCol="0" anchor="ctr"/>
          <a:lstStyle>
            <a:lvl1pPr algn="ctr">
              <a:lnSpc>
                <a:spcPct val="120000"/>
              </a:lnSpc>
              <a:defRPr sz="1400" b="1">
                <a:solidFill>
                  <a:schemeClr val="bg1"/>
                </a:solidFill>
                <a:latin typeface="Palatino Linotype" panose="02040502050505030304" pitchFamily="18" charset="0"/>
              </a:defRPr>
            </a:lvl1pPr>
          </a:lstStyle>
          <a:p>
            <a:r>
              <a:rPr lang="en-US"/>
              <a:t>Modular Aerospike Nozzles for Upper Stage Applications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DCF867E-6C77-4503-9F28-E3AAFB25E9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000" y="6177600"/>
            <a:ext cx="1896000" cy="680400"/>
          </a:xfrm>
          <a:prstGeom prst="rect">
            <a:avLst/>
          </a:prstGeom>
          <a:solidFill>
            <a:srgbClr val="822433"/>
          </a:solidFill>
        </p:spPr>
        <p:txBody>
          <a:bodyPr vert="horz" lIns="91440" tIns="45720" rIns="396000" bIns="45720" rtlCol="0" anchor="ctr"/>
          <a:lstStyle>
            <a:lvl1pPr algn="r">
              <a:defRPr sz="1400" b="1">
                <a:solidFill>
                  <a:schemeClr val="bg1"/>
                </a:solidFill>
                <a:latin typeface="Palatino Linotype" panose="02040502050505030304" pitchFamily="18" charset="0"/>
              </a:defRPr>
            </a:lvl1pPr>
          </a:lstStyle>
          <a:p>
            <a:fld id="{10A70FEB-7381-4ECC-98C1-1C73F7199FA0}" type="slidenum">
              <a:rPr lang="en-US" smtClean="0"/>
              <a:pPr/>
              <a:t>‹N›</a:t>
            </a:fld>
            <a:r>
              <a:rPr lang="en-US" dirty="0"/>
              <a:t>/17 </a:t>
            </a:r>
          </a:p>
        </p:txBody>
      </p:sp>
    </p:spTree>
    <p:extLst>
      <p:ext uri="{BB962C8B-B14F-4D97-AF65-F5344CB8AC3E}">
        <p14:creationId xmlns:p14="http://schemas.microsoft.com/office/powerpoint/2010/main" val="196805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2.jpe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.jpe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2.png"/><Relationship Id="rId5" Type="http://schemas.openxmlformats.org/officeDocument/2006/relationships/image" Target="../media/image19.png"/><Relationship Id="rId10" Type="http://schemas.openxmlformats.org/officeDocument/2006/relationships/image" Target="../media/image210.png"/><Relationship Id="rId4" Type="http://schemas.openxmlformats.org/officeDocument/2006/relationships/image" Target="../media/image18.png"/><Relationship Id="rId9" Type="http://schemas.openxmlformats.org/officeDocument/2006/relationships/image" Target="../media/image20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.jpe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3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42.png"/><Relationship Id="rId5" Type="http://schemas.openxmlformats.org/officeDocument/2006/relationships/image" Target="../media/image2.jpeg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D76859-E634-F149-8469-CE8DA113AA84}"/>
              </a:ext>
            </a:extLst>
          </p:cNvPr>
          <p:cNvSpPr txBox="1"/>
          <p:nvPr/>
        </p:nvSpPr>
        <p:spPr>
          <a:xfrm>
            <a:off x="2089149" y="479090"/>
            <a:ext cx="936163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8224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"/>
              </a:rPr>
              <a:t>Rotating Detonation Engine Activities – T(H)RUST</a:t>
            </a:r>
            <a:endParaRPr lang="en-FR" sz="3200" b="1" dirty="0">
              <a:solidFill>
                <a:srgbClr val="8224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alatino"/>
              <a:ea typeface="Palatino" pitchFamily="2" charset="77"/>
              <a:cs typeface="FUTURA MEDIUM" panose="020B0602020204020303" pitchFamily="34" charset="-79"/>
            </a:endParaRPr>
          </a:p>
        </p:txBody>
      </p:sp>
      <p:pic>
        <p:nvPicPr>
          <p:cNvPr id="9" name="Picture 15" descr="Fondino">
            <a:extLst>
              <a:ext uri="{FF2B5EF4-FFF2-40B4-BE49-F238E27FC236}">
                <a16:creationId xmlns:a16="http://schemas.microsoft.com/office/drawing/2014/main" id="{891D5A5A-D4A6-43B4-A4E9-D59B20E99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4447905"/>
            <a:ext cx="12192000" cy="24100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13" descr="logo +marchio">
            <a:extLst>
              <a:ext uri="{FF2B5EF4-FFF2-40B4-BE49-F238E27FC236}">
                <a16:creationId xmlns:a16="http://schemas.microsoft.com/office/drawing/2014/main" id="{E14A9313-1B86-4722-B9FF-AE715CC70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4447905"/>
            <a:ext cx="9145588" cy="1146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6" descr="fascia">
            <a:extLst>
              <a:ext uri="{FF2B5EF4-FFF2-40B4-BE49-F238E27FC236}">
                <a16:creationId xmlns:a16="http://schemas.microsoft.com/office/drawing/2014/main" id="{7BC0591E-068E-4752-8525-6A05CA716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089150" y="3777991"/>
            <a:ext cx="10102850" cy="66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13">
            <a:extLst>
              <a:ext uri="{FF2B5EF4-FFF2-40B4-BE49-F238E27FC236}">
                <a16:creationId xmlns:a16="http://schemas.microsoft.com/office/drawing/2014/main" id="{8DCCD7BE-F6E3-9F09-733C-1ED1242ECBF5}"/>
              </a:ext>
            </a:extLst>
          </p:cNvPr>
          <p:cNvSpPr txBox="1"/>
          <p:nvPr/>
        </p:nvSpPr>
        <p:spPr>
          <a:xfrm>
            <a:off x="2089149" y="2113558"/>
            <a:ext cx="99663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latin typeface="Palatino"/>
              </a:rPr>
              <a:t>Alessandro Montanari, Marco Grossi, Alex Falco, Francesco Nasuti</a:t>
            </a:r>
            <a:endParaRPr lang="en-US" sz="1050" dirty="0">
              <a:latin typeface="Palatino"/>
            </a:endParaRPr>
          </a:p>
        </p:txBody>
      </p:sp>
    </p:spTree>
    <p:extLst>
      <p:ext uri="{BB962C8B-B14F-4D97-AF65-F5344CB8AC3E}">
        <p14:creationId xmlns:p14="http://schemas.microsoft.com/office/powerpoint/2010/main" val="3990502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FC86B-EBFD-93C9-77B4-5E8725CBD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o 6">
            <a:extLst>
              <a:ext uri="{FF2B5EF4-FFF2-40B4-BE49-F238E27FC236}">
                <a16:creationId xmlns:a16="http://schemas.microsoft.com/office/drawing/2014/main" id="{874C94C2-DEC5-0A92-C343-B7BD5EC77EA7}"/>
              </a:ext>
            </a:extLst>
          </p:cNvPr>
          <p:cNvGrpSpPr/>
          <p:nvPr/>
        </p:nvGrpSpPr>
        <p:grpSpPr>
          <a:xfrm>
            <a:off x="0" y="6108700"/>
            <a:ext cx="12191999" cy="741549"/>
            <a:chOff x="7950" y="6134100"/>
            <a:chExt cx="12184049" cy="741549"/>
          </a:xfrm>
        </p:grpSpPr>
        <p:grpSp>
          <p:nvGrpSpPr>
            <p:cNvPr id="4" name="Gruppo 3">
              <a:extLst>
                <a:ext uri="{FF2B5EF4-FFF2-40B4-BE49-F238E27FC236}">
                  <a16:creationId xmlns:a16="http://schemas.microsoft.com/office/drawing/2014/main" id="{473A7EC8-0FD3-29CD-FDE7-74D379E88FDA}"/>
                </a:ext>
              </a:extLst>
            </p:cNvPr>
            <p:cNvGrpSpPr/>
            <p:nvPr/>
          </p:nvGrpSpPr>
          <p:grpSpPr>
            <a:xfrm>
              <a:off x="7950" y="6134100"/>
              <a:ext cx="12184049" cy="741549"/>
              <a:chOff x="0" y="6134100"/>
              <a:chExt cx="12192000" cy="741549"/>
            </a:xfrm>
          </p:grpSpPr>
          <p:sp>
            <p:nvSpPr>
              <p:cNvPr id="10" name="Rectangle 23">
                <a:extLst>
                  <a:ext uri="{FF2B5EF4-FFF2-40B4-BE49-F238E27FC236}">
                    <a16:creationId xmlns:a16="http://schemas.microsoft.com/office/drawing/2014/main" id="{5CC36CA2-08BA-B084-1659-8D5ED4535D8D}"/>
                  </a:ext>
                </a:extLst>
              </p:cNvPr>
              <p:cNvSpPr/>
              <p:nvPr/>
            </p:nvSpPr>
            <p:spPr>
              <a:xfrm>
                <a:off x="0" y="6134100"/>
                <a:ext cx="12192000" cy="741549"/>
              </a:xfrm>
              <a:prstGeom prst="rect">
                <a:avLst/>
              </a:prstGeom>
              <a:solidFill>
                <a:srgbClr val="822333"/>
              </a:solidFill>
              <a:ln>
                <a:solidFill>
                  <a:srgbClr val="8223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4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Palatino"/>
                  </a:rPr>
                  <a:t>		                          HEM modeling for subcritical flows in liquid rocket engine cooling systems 			</a:t>
                </a:r>
                <a:endParaRPr lang="en-FR" sz="1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alatino"/>
                  <a:ea typeface="Palatino" pitchFamily="2" charset="77"/>
                  <a:cs typeface="FUTURA MEDIUM" panose="020B0602020204020303" pitchFamily="34" charset="-79"/>
                </a:endParaRPr>
              </a:p>
            </p:txBody>
          </p:sp>
          <p:pic>
            <p:nvPicPr>
              <p:cNvPr id="12" name="Picture 13" descr="logo +marchio">
                <a:extLst>
                  <a:ext uri="{FF2B5EF4-FFF2-40B4-BE49-F238E27FC236}">
                    <a16:creationId xmlns:a16="http://schemas.microsoft.com/office/drawing/2014/main" id="{4C9FA66B-FC61-4B2B-8506-0E75ED2AAFB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/>
              <a:srcRect l="14831" r="54091"/>
              <a:stretch/>
            </p:blipFill>
            <p:spPr bwMode="auto">
              <a:xfrm>
                <a:off x="84996" y="6351184"/>
                <a:ext cx="1228478" cy="4953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" name="Rettangolo 2">
                <a:extLst>
                  <a:ext uri="{FF2B5EF4-FFF2-40B4-BE49-F238E27FC236}">
                    <a16:creationId xmlns:a16="http://schemas.microsoft.com/office/drawing/2014/main" id="{C4ECF365-6E2D-EE13-B782-4F4AC92022B0}"/>
                  </a:ext>
                </a:extLst>
              </p:cNvPr>
              <p:cNvSpPr/>
              <p:nvPr/>
            </p:nvSpPr>
            <p:spPr>
              <a:xfrm>
                <a:off x="0" y="6134100"/>
                <a:ext cx="928464" cy="2057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Segnaposto numero diapositiva 6">
              <a:extLst>
                <a:ext uri="{FF2B5EF4-FFF2-40B4-BE49-F238E27FC236}">
                  <a16:creationId xmlns:a16="http://schemas.microsoft.com/office/drawing/2014/main" id="{37090B0E-D758-D290-115C-AA796D46CCA1}"/>
                </a:ext>
              </a:extLst>
            </p:cNvPr>
            <p:cNvSpPr txBox="1">
              <a:spLocks/>
            </p:cNvSpPr>
            <p:nvPr/>
          </p:nvSpPr>
          <p:spPr>
            <a:xfrm>
              <a:off x="11270512" y="6276274"/>
              <a:ext cx="730988" cy="457200"/>
            </a:xfrm>
            <a:prstGeom prst="rect">
              <a:avLst/>
            </a:prstGeom>
            <a:noFill/>
          </p:spPr>
          <p:txBody>
            <a:bodyPr anchor="ctr"/>
            <a:lstStyle>
              <a:defPPr>
                <a:defRPr lang="en-US"/>
              </a:defPPr>
              <a:lvl1pPr algn="r" defTabSz="457200" rtl="0" eaLnBrk="1" fontAlgn="auto" hangingPunct="1">
                <a:spcBef>
                  <a:spcPct val="20000"/>
                </a:spcBef>
                <a:spcAft>
                  <a:spcPts val="0"/>
                </a:spcAft>
                <a:buClr>
                  <a:srgbClr val="822433"/>
                </a:buClr>
                <a:buChar char="•"/>
                <a:defRPr sz="24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1pPr>
              <a:lvl2pPr marL="742950" indent="-28575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2pPr>
              <a:lvl3pPr marL="11430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16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3pPr>
              <a:lvl4pPr marL="16002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4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4pPr>
              <a:lvl5pPr marL="20574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  <a:defRPr/>
              </a:pPr>
              <a:fld id="{BE037B56-838D-4EA9-A433-B420C86CBEEB}" type="slidenum">
                <a:rPr lang="it-IT" altLang="en-US" sz="1400" b="1" smtClean="0">
                  <a:solidFill>
                    <a:schemeClr val="bg1"/>
                  </a:solidFill>
                  <a:latin typeface="Palatino"/>
                </a:rPr>
                <a:pPr>
                  <a:spcBef>
                    <a:spcPct val="0"/>
                  </a:spcBef>
                  <a:buClrTx/>
                  <a:buFontTx/>
                  <a:buNone/>
                  <a:defRPr/>
                </a:pPr>
                <a:t>2</a:t>
              </a:fld>
              <a:r>
                <a:rPr lang="it-IT" altLang="en-US" sz="1400" b="1" dirty="0">
                  <a:solidFill>
                    <a:schemeClr val="bg1"/>
                  </a:solidFill>
                  <a:latin typeface="Palatino"/>
                </a:rPr>
                <a:t>/17</a:t>
              </a:r>
            </a:p>
          </p:txBody>
        </p:sp>
      </p:grpSp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AA5FA9FD-7298-168A-922E-6BEE8EDB0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63898351-0E96-F95D-6880-94ADB3E88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Rotating Detonation Engine Activities</a:t>
            </a:r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D7AD9770-D714-5BFE-6856-E71D0D5C5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2/18</a:t>
            </a:r>
            <a:endParaRPr lang="en-US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104437D1-2CA7-46DC-935E-BA9D3A2AB9BC}"/>
              </a:ext>
            </a:extLst>
          </p:cNvPr>
          <p:cNvSpPr txBox="1"/>
          <p:nvPr/>
        </p:nvSpPr>
        <p:spPr>
          <a:xfrm>
            <a:off x="292100" y="342900"/>
            <a:ext cx="41783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en-US" sz="3200" b="1" dirty="0">
                <a:solidFill>
                  <a:srgbClr val="8224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Research Roads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1B1FA26-5121-4EF0-AD6C-1B11AC198522}"/>
              </a:ext>
            </a:extLst>
          </p:cNvPr>
          <p:cNvSpPr txBox="1"/>
          <p:nvPr/>
        </p:nvSpPr>
        <p:spPr>
          <a:xfrm>
            <a:off x="330200" y="762000"/>
            <a:ext cx="7620000" cy="5207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spcBef>
                <a:spcPct val="0"/>
              </a:spcBef>
              <a:buClrTx/>
              <a:buNone/>
            </a:pPr>
            <a:r>
              <a:rPr lang="en-US" altLang="en-US" sz="2800" dirty="0">
                <a:solidFill>
                  <a:srgbClr val="00677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Group Overview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81B5345C-DC48-4DDD-9412-596AB61F74C6}"/>
              </a:ext>
            </a:extLst>
          </p:cNvPr>
          <p:cNvSpPr txBox="1"/>
          <p:nvPr/>
        </p:nvSpPr>
        <p:spPr>
          <a:xfrm>
            <a:off x="457200" y="1905000"/>
            <a:ext cx="3657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b="1" dirty="0">
                <a:solidFill>
                  <a:srgbClr val="006778"/>
                </a:solidFill>
                <a:latin typeface="Palatino Linotype"/>
              </a:rPr>
              <a:t>“Newborn” RDE activity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D1E12D0C-914F-4EE2-B558-09F043259B0D}"/>
              </a:ext>
            </a:extLst>
          </p:cNvPr>
          <p:cNvSpPr txBox="1"/>
          <p:nvPr/>
        </p:nvSpPr>
        <p:spPr>
          <a:xfrm>
            <a:off x="457200" y="2311400"/>
            <a:ext cx="36576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2B2B2B"/>
                </a:solidFill>
                <a:latin typeface="Palatino Linotype"/>
              </a:rPr>
              <a:t>About 1.5 years of active R&amp;D on Rotating Detonation Engines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5D8E388A-C21D-42E7-B2B7-51013BC20EE0}"/>
              </a:ext>
            </a:extLst>
          </p:cNvPr>
          <p:cNvSpPr txBox="1"/>
          <p:nvPr/>
        </p:nvSpPr>
        <p:spPr>
          <a:xfrm>
            <a:off x="4267200" y="1905000"/>
            <a:ext cx="3657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b="1" dirty="0">
                <a:solidFill>
                  <a:srgbClr val="006778"/>
                </a:solidFill>
                <a:latin typeface="Palatino Linotype"/>
              </a:rPr>
              <a:t>Numerical focus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5E035F9E-8D37-4F0B-9DEC-C74A16B18E21}"/>
              </a:ext>
            </a:extLst>
          </p:cNvPr>
          <p:cNvSpPr txBox="1"/>
          <p:nvPr/>
        </p:nvSpPr>
        <p:spPr>
          <a:xfrm>
            <a:off x="4267200" y="2311400"/>
            <a:ext cx="36576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800" b="1" dirty="0">
                <a:solidFill>
                  <a:srgbClr val="2B2B2B"/>
                </a:solidFill>
                <a:latin typeface="Palatino Linotype"/>
              </a:rPr>
              <a:t>URANS / low-order in-house modelling of RDEs</a:t>
            </a:r>
            <a:r>
              <a:rPr lang="en-US" sz="1800" dirty="0">
                <a:solidFill>
                  <a:srgbClr val="2B2B2B"/>
                </a:solidFill>
                <a:latin typeface="Palatino Linotype"/>
              </a:rPr>
              <a:t>, oriented to industrially-relevant challenges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6FC5B8C2-9469-4463-BD8A-E4CB46257960}"/>
              </a:ext>
            </a:extLst>
          </p:cNvPr>
          <p:cNvSpPr txBox="1"/>
          <p:nvPr/>
        </p:nvSpPr>
        <p:spPr>
          <a:xfrm>
            <a:off x="8077200" y="1905000"/>
            <a:ext cx="3657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800" b="1" dirty="0">
                <a:solidFill>
                  <a:srgbClr val="006778"/>
                </a:solidFill>
                <a:latin typeface="Palatino Linotype"/>
              </a:rPr>
              <a:t>International network</a:t>
            </a: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6E273A01-4215-4B72-B8C4-F60896766791}"/>
              </a:ext>
            </a:extLst>
          </p:cNvPr>
          <p:cNvSpPr txBox="1"/>
          <p:nvPr/>
        </p:nvSpPr>
        <p:spPr>
          <a:xfrm>
            <a:off x="8077200" y="2311400"/>
            <a:ext cx="3657600" cy="139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2B2B2B"/>
                </a:solidFill>
                <a:latin typeface="Palatino Linotype"/>
              </a:rPr>
              <a:t>Joint RDE activities with </a:t>
            </a:r>
            <a:r>
              <a:rPr lang="en-US" sz="1800" b="1" dirty="0">
                <a:latin typeface="Palatino Linotype"/>
              </a:rPr>
              <a:t>BEFAST Lab</a:t>
            </a:r>
            <a:r>
              <a:rPr lang="en-US" sz="1800" dirty="0">
                <a:latin typeface="Palatino Linotype"/>
              </a:rPr>
              <a:t> </a:t>
            </a:r>
            <a:r>
              <a:rPr lang="en-US" sz="1800" dirty="0">
                <a:solidFill>
                  <a:srgbClr val="2B2B2B"/>
                </a:solidFill>
                <a:latin typeface="Palatino Linotype"/>
              </a:rPr>
              <a:t>(NC State, Prof. James Braun), </a:t>
            </a:r>
            <a:r>
              <a:rPr lang="en-US" sz="1800" b="1" dirty="0">
                <a:solidFill>
                  <a:srgbClr val="2B2B2B"/>
                </a:solidFill>
                <a:latin typeface="Palatino Linotype"/>
              </a:rPr>
              <a:t>RMIT</a:t>
            </a:r>
            <a:r>
              <a:rPr lang="en-US" sz="1800" dirty="0">
                <a:solidFill>
                  <a:srgbClr val="2B2B2B"/>
                </a:solidFill>
                <a:latin typeface="Palatino Linotype"/>
              </a:rPr>
              <a:t> (Quentin Michalski) and </a:t>
            </a:r>
            <a:r>
              <a:rPr lang="en-US" sz="1800" b="1" dirty="0">
                <a:solidFill>
                  <a:srgbClr val="2B2B2B"/>
                </a:solidFill>
                <a:latin typeface="Palatino Linotype"/>
              </a:rPr>
              <a:t>ISAE-ENSMA </a:t>
            </a:r>
            <a:r>
              <a:rPr lang="en-US" sz="1800" dirty="0">
                <a:solidFill>
                  <a:srgbClr val="2B2B2B"/>
                </a:solidFill>
                <a:latin typeface="Palatino Linotype"/>
              </a:rPr>
              <a:t>(Prof. Marc </a:t>
            </a:r>
            <a:r>
              <a:rPr lang="en-US" sz="1800" dirty="0" err="1">
                <a:solidFill>
                  <a:srgbClr val="2B2B2B"/>
                </a:solidFill>
                <a:latin typeface="Palatino Linotype"/>
              </a:rPr>
              <a:t>Belleonue</a:t>
            </a:r>
            <a:r>
              <a:rPr lang="en-US" sz="1800" dirty="0">
                <a:solidFill>
                  <a:srgbClr val="2B2B2B"/>
                </a:solidFill>
                <a:latin typeface="Palatino Linotype"/>
              </a:rPr>
              <a:t>)</a:t>
            </a: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4141DE4F-1101-4A0E-B36E-8F42D84AA111}"/>
              </a:ext>
            </a:extLst>
          </p:cNvPr>
          <p:cNvSpPr txBox="1"/>
          <p:nvPr/>
        </p:nvSpPr>
        <p:spPr>
          <a:xfrm>
            <a:off x="660400" y="4419600"/>
            <a:ext cx="4800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822433"/>
                </a:solidFill>
                <a:latin typeface="Palatino Linotype"/>
              </a:rPr>
              <a:t>HYPERDE</a:t>
            </a: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1570289B-E665-4F47-AD94-3E5CA28119A6}"/>
              </a:ext>
            </a:extLst>
          </p:cNvPr>
          <p:cNvSpPr txBox="1"/>
          <p:nvPr/>
        </p:nvSpPr>
        <p:spPr>
          <a:xfrm>
            <a:off x="660400" y="4838700"/>
            <a:ext cx="4800600" cy="1193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2B2B2B"/>
                </a:solidFill>
                <a:latin typeface="Palatino Linotype"/>
              </a:rPr>
              <a:t>A </a:t>
            </a:r>
            <a:r>
              <a:rPr lang="en-US" sz="1800" b="1" dirty="0">
                <a:solidFill>
                  <a:srgbClr val="2B2B2B"/>
                </a:solidFill>
                <a:latin typeface="Palatino Linotype"/>
              </a:rPr>
              <a:t>hybrid-dimensional CFD</a:t>
            </a:r>
            <a:r>
              <a:rPr lang="en-US" sz="1800" dirty="0">
                <a:solidFill>
                  <a:srgbClr val="2B2B2B"/>
                </a:solidFill>
                <a:latin typeface="Palatino Linotype"/>
              </a:rPr>
              <a:t> modelling framework that solves chamber, injector, plenum and expansion with a consistent </a:t>
            </a:r>
            <a:r>
              <a:rPr lang="en-US" sz="1800" b="1" dirty="0">
                <a:solidFill>
                  <a:srgbClr val="2B2B2B"/>
                </a:solidFill>
                <a:latin typeface="Palatino Linotype"/>
              </a:rPr>
              <a:t>low-order</a:t>
            </a:r>
            <a:r>
              <a:rPr lang="en-US" sz="1800" dirty="0">
                <a:solidFill>
                  <a:srgbClr val="2B2B2B"/>
                </a:solidFill>
                <a:latin typeface="Palatino Linotype"/>
              </a:rPr>
              <a:t> formulation</a:t>
            </a:r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F283DF72-A498-4C1C-BA11-B3FD01A6F63A}"/>
              </a:ext>
            </a:extLst>
          </p:cNvPr>
          <p:cNvSpPr txBox="1"/>
          <p:nvPr/>
        </p:nvSpPr>
        <p:spPr>
          <a:xfrm>
            <a:off x="6426200" y="4419600"/>
            <a:ext cx="5105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822433"/>
                </a:solidFill>
                <a:latin typeface="Palatino Linotype"/>
              </a:rPr>
              <a:t>Open research lines</a:t>
            </a:r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2576A007-D839-4FF2-98EF-C8DE48169D49}"/>
              </a:ext>
            </a:extLst>
          </p:cNvPr>
          <p:cNvSpPr txBox="1"/>
          <p:nvPr/>
        </p:nvSpPr>
        <p:spPr>
          <a:xfrm>
            <a:off x="6426200" y="4838700"/>
            <a:ext cx="51054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2B2B2B"/>
                </a:solidFill>
                <a:latin typeface="Palatino Linotype"/>
              </a:rPr>
              <a:t>Study of </a:t>
            </a:r>
            <a:r>
              <a:rPr lang="en-US" sz="1800" b="1" dirty="0">
                <a:solidFill>
                  <a:srgbClr val="2B2B2B"/>
                </a:solidFill>
                <a:latin typeface="Palatino Linotype"/>
              </a:rPr>
              <a:t>hot topics</a:t>
            </a:r>
            <a:r>
              <a:rPr lang="en-US" sz="1800" dirty="0">
                <a:solidFill>
                  <a:srgbClr val="2B2B2B"/>
                </a:solidFill>
                <a:latin typeface="Palatino Linotype"/>
              </a:rPr>
              <a:t> of the RDE community: </a:t>
            </a:r>
            <a:r>
              <a:rPr lang="en-US" sz="1800" b="1" dirty="0">
                <a:solidFill>
                  <a:srgbClr val="2B2B2B"/>
                </a:solidFill>
                <a:latin typeface="Palatino Linotype"/>
              </a:rPr>
              <a:t>refill region, supersonic bladeless turbines, disk RDEs, nozzle design, heat flux</a:t>
            </a:r>
          </a:p>
        </p:txBody>
      </p:sp>
      <p:sp>
        <p:nvSpPr>
          <p:cNvPr id="8" name="Freccia bidirezionale orizzontale 7">
            <a:extLst>
              <a:ext uri="{FF2B5EF4-FFF2-40B4-BE49-F238E27FC236}">
                <a16:creationId xmlns:a16="http://schemas.microsoft.com/office/drawing/2014/main" id="{580875B1-6291-4AE6-99F0-44CE030A9D96}"/>
              </a:ext>
            </a:extLst>
          </p:cNvPr>
          <p:cNvSpPr/>
          <p:nvPr/>
        </p:nvSpPr>
        <p:spPr>
          <a:xfrm>
            <a:off x="5605780" y="4902200"/>
            <a:ext cx="482600" cy="330200"/>
          </a:xfrm>
          <a:prstGeom prst="leftRightArrow">
            <a:avLst/>
          </a:prstGeom>
          <a:solidFill>
            <a:srgbClr val="8224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9D2B3C86-520F-4F3F-9CA6-C429A92058F3}"/>
              </a:ext>
            </a:extLst>
          </p:cNvPr>
          <p:cNvSpPr/>
          <p:nvPr/>
        </p:nvSpPr>
        <p:spPr>
          <a:xfrm>
            <a:off x="457200" y="3962400"/>
            <a:ext cx="11277600" cy="12700"/>
          </a:xfrm>
          <a:prstGeom prst="rect">
            <a:avLst/>
          </a:prstGeom>
          <a:solidFill>
            <a:srgbClr val="8224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30728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o 6">
            <a:extLst>
              <a:ext uri="{FF2B5EF4-FFF2-40B4-BE49-F238E27FC236}">
                <a16:creationId xmlns:a16="http://schemas.microsoft.com/office/drawing/2014/main" id="{1F84AA2B-C0DA-46D0-99FC-44CBA2D0FEFE}"/>
              </a:ext>
            </a:extLst>
          </p:cNvPr>
          <p:cNvGrpSpPr/>
          <p:nvPr/>
        </p:nvGrpSpPr>
        <p:grpSpPr>
          <a:xfrm>
            <a:off x="0" y="6108700"/>
            <a:ext cx="12191995" cy="741549"/>
            <a:chOff x="7950" y="6134100"/>
            <a:chExt cx="12184045" cy="741549"/>
          </a:xfrm>
        </p:grpSpPr>
        <p:grpSp>
          <p:nvGrpSpPr>
            <p:cNvPr id="4" name="Gruppo 3">
              <a:extLst>
                <a:ext uri="{FF2B5EF4-FFF2-40B4-BE49-F238E27FC236}">
                  <a16:creationId xmlns:a16="http://schemas.microsoft.com/office/drawing/2014/main" id="{4A3AFDE9-682F-432A-B9A1-CA5AD8BFEB74}"/>
                </a:ext>
              </a:extLst>
            </p:cNvPr>
            <p:cNvGrpSpPr/>
            <p:nvPr/>
          </p:nvGrpSpPr>
          <p:grpSpPr>
            <a:xfrm>
              <a:off x="7950" y="6134100"/>
              <a:ext cx="12184045" cy="741549"/>
              <a:chOff x="0" y="6134100"/>
              <a:chExt cx="12192000" cy="741549"/>
            </a:xfrm>
          </p:grpSpPr>
          <p:sp>
            <p:nvSpPr>
              <p:cNvPr id="10" name="Rectangle 23">
                <a:extLst>
                  <a:ext uri="{FF2B5EF4-FFF2-40B4-BE49-F238E27FC236}">
                    <a16:creationId xmlns:a16="http://schemas.microsoft.com/office/drawing/2014/main" id="{D59BAA97-5D78-47BC-8B68-8FCE3C2E807E}"/>
                  </a:ext>
                </a:extLst>
              </p:cNvPr>
              <p:cNvSpPr/>
              <p:nvPr/>
            </p:nvSpPr>
            <p:spPr>
              <a:xfrm>
                <a:off x="0" y="6134100"/>
                <a:ext cx="12192000" cy="741549"/>
              </a:xfrm>
              <a:prstGeom prst="rect">
                <a:avLst/>
              </a:prstGeom>
              <a:solidFill>
                <a:srgbClr val="822333"/>
              </a:solidFill>
              <a:ln>
                <a:solidFill>
                  <a:srgbClr val="8223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4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Palatino"/>
                  </a:rPr>
                  <a:t>		                          HEM modeling for subcritical flows in liquid rocket engine cooling systems 			</a:t>
                </a:r>
                <a:endParaRPr lang="en-FR" sz="1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alatino"/>
                  <a:ea typeface="Palatino" pitchFamily="2" charset="77"/>
                  <a:cs typeface="FUTURA MEDIUM" panose="020B0602020204020303" pitchFamily="34" charset="-79"/>
                </a:endParaRPr>
              </a:p>
            </p:txBody>
          </p:sp>
          <p:pic>
            <p:nvPicPr>
              <p:cNvPr id="12" name="Picture 13" descr="logo +marchio">
                <a:extLst>
                  <a:ext uri="{FF2B5EF4-FFF2-40B4-BE49-F238E27FC236}">
                    <a16:creationId xmlns:a16="http://schemas.microsoft.com/office/drawing/2014/main" id="{A93E522A-FDF1-4841-8AA7-61343D7133E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/>
              <a:srcRect l="14831" r="54091"/>
              <a:stretch/>
            </p:blipFill>
            <p:spPr bwMode="auto">
              <a:xfrm>
                <a:off x="84996" y="6351184"/>
                <a:ext cx="1228478" cy="4953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" name="Rettangolo 2">
                <a:extLst>
                  <a:ext uri="{FF2B5EF4-FFF2-40B4-BE49-F238E27FC236}">
                    <a16:creationId xmlns:a16="http://schemas.microsoft.com/office/drawing/2014/main" id="{8DFF130E-DAC8-41F8-8F41-E25BF02D81F4}"/>
                  </a:ext>
                </a:extLst>
              </p:cNvPr>
              <p:cNvSpPr/>
              <p:nvPr/>
            </p:nvSpPr>
            <p:spPr>
              <a:xfrm>
                <a:off x="0" y="6134100"/>
                <a:ext cx="928464" cy="2057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Segnaposto numero diapositiva 6">
              <a:extLst>
                <a:ext uri="{FF2B5EF4-FFF2-40B4-BE49-F238E27FC236}">
                  <a16:creationId xmlns:a16="http://schemas.microsoft.com/office/drawing/2014/main" id="{A884649D-C4B6-437F-9DD4-3F312512391D}"/>
                </a:ext>
              </a:extLst>
            </p:cNvPr>
            <p:cNvSpPr txBox="1">
              <a:spLocks/>
            </p:cNvSpPr>
            <p:nvPr/>
          </p:nvSpPr>
          <p:spPr>
            <a:xfrm>
              <a:off x="11270512" y="6276274"/>
              <a:ext cx="730988" cy="457200"/>
            </a:xfrm>
            <a:prstGeom prst="rect">
              <a:avLst/>
            </a:prstGeom>
            <a:noFill/>
          </p:spPr>
          <p:txBody>
            <a:bodyPr anchor="ctr"/>
            <a:lstStyle>
              <a:defPPr>
                <a:defRPr lang="en-US"/>
              </a:defPPr>
              <a:lvl1pPr algn="r" defTabSz="457200" rtl="0" eaLnBrk="1" fontAlgn="auto" hangingPunct="1">
                <a:spcBef>
                  <a:spcPct val="20000"/>
                </a:spcBef>
                <a:spcAft>
                  <a:spcPts val="0"/>
                </a:spcAft>
                <a:buClr>
                  <a:srgbClr val="822433"/>
                </a:buClr>
                <a:buChar char="•"/>
                <a:defRPr sz="24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1pPr>
              <a:lvl2pPr marL="742950" indent="-28575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2pPr>
              <a:lvl3pPr marL="11430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16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3pPr>
              <a:lvl4pPr marL="16002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4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4pPr>
              <a:lvl5pPr marL="20574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  <a:defRPr/>
              </a:pPr>
              <a:fld id="{BE037B56-838D-4EA9-A433-B420C86CBEEB}" type="slidenum">
                <a:rPr lang="it-IT" altLang="en-US" sz="1400" b="1" smtClean="0">
                  <a:solidFill>
                    <a:schemeClr val="bg1"/>
                  </a:solidFill>
                  <a:latin typeface="Palatino"/>
                </a:rPr>
                <a:pPr>
                  <a:spcBef>
                    <a:spcPct val="0"/>
                  </a:spcBef>
                  <a:buClrTx/>
                  <a:buFontTx/>
                  <a:buNone/>
                  <a:defRPr/>
                </a:pPr>
                <a:t>3</a:t>
              </a:fld>
              <a:r>
                <a:rPr lang="it-IT" altLang="en-US" sz="1400" b="1" dirty="0">
                  <a:solidFill>
                    <a:schemeClr val="bg1"/>
                  </a:solidFill>
                  <a:latin typeface="Palatino"/>
                </a:rPr>
                <a:t>/18</a:t>
              </a:r>
            </a:p>
          </p:txBody>
        </p:sp>
      </p:grpSp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6CAC7D4E-C999-4B37-B5EC-2B1C5ABAE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DF6BED3D-2820-4F77-9CA6-572921EC8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3/18</a:t>
            </a:r>
            <a:endParaRPr lang="en-US" dirty="0"/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7DBC8FCA-716A-C751-D6AA-382B065DE7EE}"/>
              </a:ext>
            </a:extLst>
          </p:cNvPr>
          <p:cNvSpPr txBox="1">
            <a:spLocks/>
          </p:cNvSpPr>
          <p:nvPr/>
        </p:nvSpPr>
        <p:spPr>
          <a:xfrm>
            <a:off x="295491" y="346384"/>
            <a:ext cx="7131625" cy="5048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3200" b="1" dirty="0">
                <a:solidFill>
                  <a:srgbClr val="8224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Code Development and Capabilities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08CD1154-C830-0734-7691-BC44324DF6AB}"/>
              </a:ext>
            </a:extLst>
          </p:cNvPr>
          <p:cNvSpPr txBox="1"/>
          <p:nvPr/>
        </p:nvSpPr>
        <p:spPr>
          <a:xfrm>
            <a:off x="469900" y="952500"/>
            <a:ext cx="11531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dirty="0">
                <a:solidFill>
                  <a:srgbClr val="00677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/>
              </a:rPr>
              <a:t>HYPERDE</a:t>
            </a:r>
            <a:r>
              <a:rPr lang="en-US" sz="2400" dirty="0">
                <a:solidFill>
                  <a:srgbClr val="00677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/>
              </a:rPr>
              <a:t>  (</a:t>
            </a:r>
            <a:r>
              <a:rPr lang="en-US" sz="2400" b="1" dirty="0">
                <a:solidFill>
                  <a:srgbClr val="00677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/>
              </a:rPr>
              <a:t>HY</a:t>
            </a:r>
            <a:r>
              <a:rPr lang="en-US" sz="2400" dirty="0">
                <a:solidFill>
                  <a:srgbClr val="00677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/>
              </a:rPr>
              <a:t>brid-dimensional </a:t>
            </a:r>
            <a:r>
              <a:rPr lang="en-US" sz="2400" b="1" dirty="0">
                <a:solidFill>
                  <a:srgbClr val="00677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/>
              </a:rPr>
              <a:t>PER</a:t>
            </a:r>
            <a:r>
              <a:rPr lang="en-US" sz="2400" dirty="0">
                <a:solidFill>
                  <a:srgbClr val="00677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/>
              </a:rPr>
              <a:t>formance-predictive numerical framework for </a:t>
            </a:r>
            <a:r>
              <a:rPr lang="en-US" sz="2400" b="1" dirty="0">
                <a:solidFill>
                  <a:srgbClr val="00677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/>
              </a:rPr>
              <a:t>R</a:t>
            </a:r>
            <a:r>
              <a:rPr lang="en-US" sz="2400" dirty="0">
                <a:solidFill>
                  <a:srgbClr val="00677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/>
              </a:rPr>
              <a:t>otating </a:t>
            </a:r>
            <a:r>
              <a:rPr lang="en-US" sz="2400" b="1" dirty="0">
                <a:solidFill>
                  <a:srgbClr val="00677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/>
              </a:rPr>
              <a:t>D</a:t>
            </a:r>
            <a:r>
              <a:rPr lang="en-US" sz="2400" dirty="0">
                <a:solidFill>
                  <a:srgbClr val="00677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/>
              </a:rPr>
              <a:t>etonation </a:t>
            </a:r>
            <a:r>
              <a:rPr lang="en-US" sz="2400" b="1" dirty="0">
                <a:solidFill>
                  <a:srgbClr val="00677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/>
              </a:rPr>
              <a:t>E</a:t>
            </a:r>
            <a:r>
              <a:rPr lang="en-US" sz="2400" dirty="0">
                <a:solidFill>
                  <a:srgbClr val="00677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/>
              </a:rPr>
              <a:t>ngines)</a:t>
            </a:r>
          </a:p>
        </p:txBody>
      </p:sp>
      <p:sp>
        <p:nvSpPr>
          <p:cNvPr id="9" name="Segnaposto piè di pagina 26">
            <a:extLst>
              <a:ext uri="{FF2B5EF4-FFF2-40B4-BE49-F238E27FC236}">
                <a16:creationId xmlns:a16="http://schemas.microsoft.com/office/drawing/2014/main" id="{DA64EF43-31BE-FA45-3220-C9F37CE91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40000" y="6176963"/>
            <a:ext cx="6840000" cy="681038"/>
          </a:xfrm>
        </p:spPr>
        <p:txBody>
          <a:bodyPr/>
          <a:lstStyle/>
          <a:p>
            <a:r>
              <a:rPr lang="en-US" dirty="0"/>
              <a:t>Rotating Detonation Engine Activities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E29A7C46-483F-4D38-8459-ECA98CD31A29}"/>
              </a:ext>
            </a:extLst>
          </p:cNvPr>
          <p:cNvSpPr txBox="1"/>
          <p:nvPr/>
        </p:nvSpPr>
        <p:spPr>
          <a:xfrm>
            <a:off x="457200" y="2540000"/>
            <a:ext cx="5207000" cy="406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>
              <a:buNone/>
            </a:pPr>
            <a:r>
              <a:rPr lang="en-US" sz="2200" b="1" dirty="0">
                <a:solidFill>
                  <a:srgbClr val="822433"/>
                </a:solidFill>
                <a:latin typeface="Palatino Linotype"/>
              </a:rPr>
              <a:t>Chamber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4C25D3B0-3F30-4C41-88C7-D144BB1C3455}"/>
              </a:ext>
            </a:extLst>
          </p:cNvPr>
          <p:cNvSpPr txBox="1"/>
          <p:nvPr/>
        </p:nvSpPr>
        <p:spPr>
          <a:xfrm>
            <a:off x="457200" y="2946400"/>
            <a:ext cx="52070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822433"/>
                </a:solidFill>
                <a:latin typeface="Palatino Linotype"/>
              </a:rPr>
              <a:t>3D  /  Q2D (unwrapped)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060A9ED3-DC00-4080-ADD8-6CA812E9EFC4}"/>
              </a:ext>
            </a:extLst>
          </p:cNvPr>
          <p:cNvSpPr txBox="1"/>
          <p:nvPr/>
        </p:nvSpPr>
        <p:spPr>
          <a:xfrm>
            <a:off x="457200" y="3175000"/>
            <a:ext cx="5207000" cy="1079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800" b="1" dirty="0">
                <a:solidFill>
                  <a:srgbClr val="2B2B2B"/>
                </a:solidFill>
                <a:latin typeface="Palatino Linotype"/>
              </a:rPr>
              <a:t>Fully 3D</a:t>
            </a:r>
            <a:r>
              <a:rPr lang="en-US" sz="1800" dirty="0">
                <a:solidFill>
                  <a:srgbClr val="2B2B2B"/>
                </a:solidFill>
                <a:latin typeface="Palatino Linotype"/>
              </a:rPr>
              <a:t> or </a:t>
            </a:r>
            <a:r>
              <a:rPr lang="en-US" sz="1800" b="1" dirty="0">
                <a:solidFill>
                  <a:srgbClr val="2B2B2B"/>
                </a:solidFill>
                <a:latin typeface="Palatino Linotype"/>
              </a:rPr>
              <a:t>“unwrapped” Q2D</a:t>
            </a:r>
            <a:r>
              <a:rPr lang="en-US" sz="1800" dirty="0">
                <a:solidFill>
                  <a:srgbClr val="2B2B2B"/>
                </a:solidFill>
                <a:latin typeface="Palatino Linotype"/>
              </a:rPr>
              <a:t> URANS/Eulerian solver for the annular chamber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03F92AC0-7F97-4B89-9548-0DAC469F2BF4}"/>
              </a:ext>
            </a:extLst>
          </p:cNvPr>
          <p:cNvSpPr txBox="1"/>
          <p:nvPr/>
        </p:nvSpPr>
        <p:spPr>
          <a:xfrm>
            <a:off x="6527800" y="2540000"/>
            <a:ext cx="5207000" cy="406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>
              <a:buNone/>
            </a:pPr>
            <a:r>
              <a:rPr lang="en-US" sz="2200" b="1" dirty="0">
                <a:solidFill>
                  <a:srgbClr val="006778"/>
                </a:solidFill>
                <a:latin typeface="Palatino Linotype"/>
              </a:rPr>
              <a:t>Plenum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2B0F40AC-75F6-4BC6-A14F-6D9F099661F6}"/>
              </a:ext>
            </a:extLst>
          </p:cNvPr>
          <p:cNvSpPr txBox="1"/>
          <p:nvPr/>
        </p:nvSpPr>
        <p:spPr>
          <a:xfrm>
            <a:off x="6527800" y="2946400"/>
            <a:ext cx="52070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006778"/>
                </a:solidFill>
                <a:latin typeface="Palatino Linotype"/>
              </a:rPr>
              <a:t>3D  /  Q2D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80EDD2AE-DF7D-40A2-8DC4-B7470EB8CEB5}"/>
              </a:ext>
            </a:extLst>
          </p:cNvPr>
          <p:cNvSpPr txBox="1"/>
          <p:nvPr/>
        </p:nvSpPr>
        <p:spPr>
          <a:xfrm>
            <a:off x="6527800" y="3175000"/>
            <a:ext cx="5207000" cy="1079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800" b="1" dirty="0">
                <a:solidFill>
                  <a:srgbClr val="2B2B2B"/>
                </a:solidFill>
                <a:latin typeface="Palatino Linotype"/>
              </a:rPr>
              <a:t>Fully 3D</a:t>
            </a:r>
            <a:r>
              <a:rPr lang="en-US" sz="1800" dirty="0">
                <a:solidFill>
                  <a:srgbClr val="2B2B2B"/>
                </a:solidFill>
                <a:latin typeface="Palatino Linotype"/>
              </a:rPr>
              <a:t> (2D for unwrapped) solver for the upstream feed plenum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67FF628A-91DD-4E3D-93BE-86A1B9CBF725}"/>
              </a:ext>
            </a:extLst>
          </p:cNvPr>
          <p:cNvSpPr txBox="1"/>
          <p:nvPr/>
        </p:nvSpPr>
        <p:spPr>
          <a:xfrm>
            <a:off x="457200" y="4381500"/>
            <a:ext cx="5207000" cy="406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>
              <a:buNone/>
            </a:pPr>
            <a:r>
              <a:rPr lang="en-US" sz="2200" b="1" dirty="0">
                <a:solidFill>
                  <a:srgbClr val="006778"/>
                </a:solidFill>
                <a:latin typeface="Palatino Linotype"/>
              </a:rPr>
              <a:t>Injectors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ECA1ED1-C9A8-4B9E-B456-D48A843AA112}"/>
              </a:ext>
            </a:extLst>
          </p:cNvPr>
          <p:cNvSpPr txBox="1"/>
          <p:nvPr/>
        </p:nvSpPr>
        <p:spPr>
          <a:xfrm>
            <a:off x="457200" y="4762500"/>
            <a:ext cx="52070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006778"/>
                </a:solidFill>
                <a:latin typeface="Palatino Linotype"/>
              </a:rPr>
              <a:t>3D  /  Q2D  /  Eulerian quasi-1D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01646756-38C0-4842-945F-E3E0C8A400A1}"/>
              </a:ext>
            </a:extLst>
          </p:cNvPr>
          <p:cNvSpPr txBox="1"/>
          <p:nvPr/>
        </p:nvSpPr>
        <p:spPr>
          <a:xfrm>
            <a:off x="457200" y="5016500"/>
            <a:ext cx="5207000" cy="1079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800" b="1" dirty="0">
                <a:solidFill>
                  <a:srgbClr val="2B2B2B"/>
                </a:solidFill>
                <a:latin typeface="Palatino Linotype"/>
              </a:rPr>
              <a:t>Quasi-1D</a:t>
            </a:r>
            <a:r>
              <a:rPr lang="en-US" sz="1800" dirty="0">
                <a:solidFill>
                  <a:srgbClr val="2B2B2B"/>
                </a:solidFill>
                <a:latin typeface="Palatino Linotype"/>
              </a:rPr>
              <a:t> solver captures the </a:t>
            </a:r>
            <a:r>
              <a:rPr lang="en-US" sz="1800" b="1" dirty="0">
                <a:solidFill>
                  <a:srgbClr val="2B2B2B"/>
                </a:solidFill>
                <a:latin typeface="Palatino Linotype"/>
              </a:rPr>
              <a:t>longitudinal transient response</a:t>
            </a:r>
            <a:r>
              <a:rPr lang="en-US" sz="1800" dirty="0">
                <a:solidFill>
                  <a:srgbClr val="2B2B2B"/>
                </a:solidFill>
                <a:latin typeface="Palatino Linotype"/>
              </a:rPr>
              <a:t> in strongly injector-coupled cases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9863DF74-AFAF-44DC-9E34-36FFB753CD33}"/>
              </a:ext>
            </a:extLst>
          </p:cNvPr>
          <p:cNvSpPr txBox="1"/>
          <p:nvPr/>
        </p:nvSpPr>
        <p:spPr>
          <a:xfrm>
            <a:off x="6527800" y="4381500"/>
            <a:ext cx="5207000" cy="406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>
              <a:buNone/>
            </a:pPr>
            <a:r>
              <a:rPr lang="en-US" sz="2200" b="1" dirty="0">
                <a:solidFill>
                  <a:srgbClr val="822433"/>
                </a:solidFill>
                <a:latin typeface="Palatino Linotype"/>
              </a:rPr>
              <a:t>Expansion System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E4073B55-3DE6-44EC-8A3E-88BB40840A97}"/>
              </a:ext>
            </a:extLst>
          </p:cNvPr>
          <p:cNvSpPr txBox="1"/>
          <p:nvPr/>
        </p:nvSpPr>
        <p:spPr>
          <a:xfrm>
            <a:off x="6527800" y="4762500"/>
            <a:ext cx="52070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822433"/>
                </a:solidFill>
                <a:latin typeface="Palatino Linotype"/>
              </a:rPr>
              <a:t>3D URANS  /  Q2D chamber coupling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A256502E-34D7-404C-B7A2-7AE02D6940F4}"/>
              </a:ext>
            </a:extLst>
          </p:cNvPr>
          <p:cNvSpPr txBox="1"/>
          <p:nvPr/>
        </p:nvSpPr>
        <p:spPr>
          <a:xfrm>
            <a:off x="6527800" y="5016500"/>
            <a:ext cx="5207000" cy="1079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800" b="1" dirty="0">
                <a:solidFill>
                  <a:srgbClr val="2B2B2B"/>
                </a:solidFill>
                <a:latin typeface="Palatino Linotype"/>
              </a:rPr>
              <a:t>3D URANS</a:t>
            </a:r>
            <a:r>
              <a:rPr lang="en-US" sz="1800" dirty="0">
                <a:solidFill>
                  <a:srgbClr val="2B2B2B"/>
                </a:solidFill>
                <a:latin typeface="Palatino Linotype"/>
              </a:rPr>
              <a:t> solver coupled with the </a:t>
            </a:r>
            <a:r>
              <a:rPr lang="en-US" sz="1800" b="1" dirty="0">
                <a:solidFill>
                  <a:srgbClr val="2B2B2B"/>
                </a:solidFill>
                <a:latin typeface="Palatino Linotype"/>
              </a:rPr>
              <a:t>chamber 3D/Q2D exhaust</a:t>
            </a:r>
            <a:r>
              <a:rPr lang="en-US" sz="1800" dirty="0">
                <a:solidFill>
                  <a:srgbClr val="2B2B2B"/>
                </a:solidFill>
                <a:latin typeface="Palatino Linotype"/>
              </a:rPr>
              <a:t> (choked and unchoked outflows)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E5849DCE-4072-4450-B14B-8B442E3AE3EE}"/>
              </a:ext>
            </a:extLst>
          </p:cNvPr>
          <p:cNvSpPr txBox="1"/>
          <p:nvPr/>
        </p:nvSpPr>
        <p:spPr>
          <a:xfrm>
            <a:off x="469900" y="1905000"/>
            <a:ext cx="11531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2B2B2B"/>
                </a:solidFill>
                <a:latin typeface="Palatino Linotype"/>
              </a:rPr>
              <a:t>Rationale: each engine subsystem is solved at its most informative </a:t>
            </a:r>
            <a:r>
              <a:rPr lang="en-US" sz="1800" b="1" dirty="0">
                <a:solidFill>
                  <a:srgbClr val="2B2B2B"/>
                </a:solidFill>
                <a:latin typeface="Palatino Linotype"/>
              </a:rPr>
              <a:t>dimensionality</a:t>
            </a:r>
            <a:endParaRPr lang="en-US" sz="1800" dirty="0">
              <a:solidFill>
                <a:srgbClr val="2B2B2B"/>
              </a:solidFill>
              <a:latin typeface="Palatino Linotype"/>
            </a:endParaRPr>
          </a:p>
        </p:txBody>
      </p:sp>
    </p:spTree>
    <p:extLst>
      <p:ext uri="{BB962C8B-B14F-4D97-AF65-F5344CB8AC3E}">
        <p14:creationId xmlns:p14="http://schemas.microsoft.com/office/powerpoint/2010/main" val="1894365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E1956-C10E-31DC-C69D-0BA4B1FCB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o 6">
            <a:extLst>
              <a:ext uri="{FF2B5EF4-FFF2-40B4-BE49-F238E27FC236}">
                <a16:creationId xmlns:a16="http://schemas.microsoft.com/office/drawing/2014/main" id="{7775C41D-A8B7-9CB1-3F47-40BD149ED641}"/>
              </a:ext>
            </a:extLst>
          </p:cNvPr>
          <p:cNvGrpSpPr/>
          <p:nvPr/>
        </p:nvGrpSpPr>
        <p:grpSpPr>
          <a:xfrm>
            <a:off x="0" y="6108700"/>
            <a:ext cx="12191999" cy="741549"/>
            <a:chOff x="7950" y="6134100"/>
            <a:chExt cx="12184049" cy="741549"/>
          </a:xfrm>
        </p:grpSpPr>
        <p:grpSp>
          <p:nvGrpSpPr>
            <p:cNvPr id="4" name="Gruppo 3">
              <a:extLst>
                <a:ext uri="{FF2B5EF4-FFF2-40B4-BE49-F238E27FC236}">
                  <a16:creationId xmlns:a16="http://schemas.microsoft.com/office/drawing/2014/main" id="{B4E67923-A8FF-7540-E478-E5D021D7A335}"/>
                </a:ext>
              </a:extLst>
            </p:cNvPr>
            <p:cNvGrpSpPr/>
            <p:nvPr/>
          </p:nvGrpSpPr>
          <p:grpSpPr>
            <a:xfrm>
              <a:off x="7950" y="6134100"/>
              <a:ext cx="12184049" cy="741549"/>
              <a:chOff x="0" y="6134100"/>
              <a:chExt cx="12192000" cy="741549"/>
            </a:xfrm>
          </p:grpSpPr>
          <p:sp>
            <p:nvSpPr>
              <p:cNvPr id="10" name="Rectangle 23">
                <a:extLst>
                  <a:ext uri="{FF2B5EF4-FFF2-40B4-BE49-F238E27FC236}">
                    <a16:creationId xmlns:a16="http://schemas.microsoft.com/office/drawing/2014/main" id="{476BC24B-0105-84F2-9D3A-A7FD5595FF6A}"/>
                  </a:ext>
                </a:extLst>
              </p:cNvPr>
              <p:cNvSpPr/>
              <p:nvPr/>
            </p:nvSpPr>
            <p:spPr>
              <a:xfrm>
                <a:off x="0" y="6134100"/>
                <a:ext cx="12192000" cy="741549"/>
              </a:xfrm>
              <a:prstGeom prst="rect">
                <a:avLst/>
              </a:prstGeom>
              <a:solidFill>
                <a:srgbClr val="822333"/>
              </a:solidFill>
              <a:ln>
                <a:solidFill>
                  <a:srgbClr val="8223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4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Palatino"/>
                  </a:rPr>
                  <a:t>		                          HEM modeling for subcritical flows in liquid rocket engine cooling systems 			</a:t>
                </a:r>
                <a:endParaRPr lang="en-FR" sz="1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alatino"/>
                  <a:ea typeface="Palatino" pitchFamily="2" charset="77"/>
                  <a:cs typeface="FUTURA MEDIUM" panose="020B0602020204020303" pitchFamily="34" charset="-79"/>
                </a:endParaRPr>
              </a:p>
            </p:txBody>
          </p:sp>
          <p:pic>
            <p:nvPicPr>
              <p:cNvPr id="12" name="Picture 13" descr="logo +marchio">
                <a:extLst>
                  <a:ext uri="{FF2B5EF4-FFF2-40B4-BE49-F238E27FC236}">
                    <a16:creationId xmlns:a16="http://schemas.microsoft.com/office/drawing/2014/main" id="{9245820D-63D5-3B15-E719-A0133B8E903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/>
              <a:srcRect l="14831" r="54091"/>
              <a:stretch/>
            </p:blipFill>
            <p:spPr bwMode="auto">
              <a:xfrm>
                <a:off x="84996" y="6351184"/>
                <a:ext cx="1228478" cy="4953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" name="Rettangolo 2">
                <a:extLst>
                  <a:ext uri="{FF2B5EF4-FFF2-40B4-BE49-F238E27FC236}">
                    <a16:creationId xmlns:a16="http://schemas.microsoft.com/office/drawing/2014/main" id="{096478C4-6580-3505-1E76-533811A41CED}"/>
                  </a:ext>
                </a:extLst>
              </p:cNvPr>
              <p:cNvSpPr/>
              <p:nvPr/>
            </p:nvSpPr>
            <p:spPr>
              <a:xfrm>
                <a:off x="0" y="6134100"/>
                <a:ext cx="928464" cy="2057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Segnaposto numero diapositiva 6">
              <a:extLst>
                <a:ext uri="{FF2B5EF4-FFF2-40B4-BE49-F238E27FC236}">
                  <a16:creationId xmlns:a16="http://schemas.microsoft.com/office/drawing/2014/main" id="{C3ED05F7-2429-A1F9-DC00-9F576A2AE468}"/>
                </a:ext>
              </a:extLst>
            </p:cNvPr>
            <p:cNvSpPr txBox="1">
              <a:spLocks/>
            </p:cNvSpPr>
            <p:nvPr/>
          </p:nvSpPr>
          <p:spPr>
            <a:xfrm>
              <a:off x="11270512" y="6276274"/>
              <a:ext cx="730988" cy="457200"/>
            </a:xfrm>
            <a:prstGeom prst="rect">
              <a:avLst/>
            </a:prstGeom>
            <a:noFill/>
          </p:spPr>
          <p:txBody>
            <a:bodyPr anchor="ctr"/>
            <a:lstStyle>
              <a:defPPr>
                <a:defRPr lang="en-US"/>
              </a:defPPr>
              <a:lvl1pPr algn="r" defTabSz="457200" rtl="0" eaLnBrk="1" fontAlgn="auto" hangingPunct="1">
                <a:spcBef>
                  <a:spcPct val="20000"/>
                </a:spcBef>
                <a:spcAft>
                  <a:spcPts val="0"/>
                </a:spcAft>
                <a:buClr>
                  <a:srgbClr val="822433"/>
                </a:buClr>
                <a:buChar char="•"/>
                <a:defRPr sz="24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1pPr>
              <a:lvl2pPr marL="742950" indent="-28575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2pPr>
              <a:lvl3pPr marL="11430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16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3pPr>
              <a:lvl4pPr marL="16002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4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4pPr>
              <a:lvl5pPr marL="20574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  <a:defRPr/>
              </a:pPr>
              <a:fld id="{BE037B56-838D-4EA9-A433-B420C86CBEEB}" type="slidenum">
                <a:rPr lang="it-IT" altLang="en-US" sz="1400" b="1" smtClean="0">
                  <a:solidFill>
                    <a:schemeClr val="bg1"/>
                  </a:solidFill>
                  <a:latin typeface="Palatino"/>
                </a:rPr>
                <a:pPr>
                  <a:spcBef>
                    <a:spcPct val="0"/>
                  </a:spcBef>
                  <a:buClrTx/>
                  <a:buFontTx/>
                  <a:buNone/>
                  <a:defRPr/>
                </a:pPr>
                <a:t>4</a:t>
              </a:fld>
              <a:r>
                <a:rPr lang="it-IT" altLang="en-US" sz="1400" b="1" dirty="0">
                  <a:solidFill>
                    <a:schemeClr val="bg1"/>
                  </a:solidFill>
                  <a:latin typeface="Palatino"/>
                </a:rPr>
                <a:t>/18</a:t>
              </a:r>
            </a:p>
          </p:txBody>
        </p:sp>
      </p:grpSp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EFB09B4E-9557-CB36-EE9B-9FE3AD5B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A071666-A57E-2425-9B37-AF0B70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Rotating Detonation Engine Activities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5800F593-CC30-47D9-9CBB-DBFC2B21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4/18</a:t>
            </a:r>
            <a:endParaRPr lang="en-US" dirty="0"/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5674E355-36FC-27CD-7843-AB215FDDD42E}"/>
              </a:ext>
            </a:extLst>
          </p:cNvPr>
          <p:cNvSpPr txBox="1">
            <a:spLocks/>
          </p:cNvSpPr>
          <p:nvPr/>
        </p:nvSpPr>
        <p:spPr>
          <a:xfrm>
            <a:off x="295492" y="346384"/>
            <a:ext cx="7953560" cy="5048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3200" b="1" dirty="0">
                <a:solidFill>
                  <a:srgbClr val="8224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Code Development and Capabilities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D31F0BA-5BCA-173F-235B-27E3A865E4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774" y="756223"/>
            <a:ext cx="663234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None/>
            </a:pPr>
            <a:r>
              <a:rPr lang="en-US" altLang="en-US" sz="2800" dirty="0">
                <a:solidFill>
                  <a:srgbClr val="00677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General features of the solvers’ suite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CC975C6C-F765-496D-8247-1E5123A3DA42}"/>
              </a:ext>
            </a:extLst>
          </p:cNvPr>
          <p:cNvSpPr txBox="1"/>
          <p:nvPr/>
        </p:nvSpPr>
        <p:spPr>
          <a:xfrm>
            <a:off x="457200" y="1879600"/>
            <a:ext cx="5461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822433"/>
                </a:solidFill>
                <a:latin typeface="Palatino Linotype"/>
              </a:rPr>
              <a:t>•  </a:t>
            </a:r>
            <a:r>
              <a:rPr lang="en-US" sz="1800" b="1" dirty="0">
                <a:solidFill>
                  <a:srgbClr val="2B2B2B"/>
                </a:solidFill>
                <a:latin typeface="Palatino Linotype"/>
              </a:rPr>
              <a:t>Finite volume method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7B1A796-DBA1-4D43-B381-8FB88EE0C279}"/>
              </a:ext>
            </a:extLst>
          </p:cNvPr>
          <p:cNvSpPr txBox="1"/>
          <p:nvPr/>
        </p:nvSpPr>
        <p:spPr>
          <a:xfrm>
            <a:off x="457200" y="2514600"/>
            <a:ext cx="5461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822433"/>
                </a:solidFill>
                <a:latin typeface="Palatino Linotype"/>
              </a:rPr>
              <a:t>•  </a:t>
            </a:r>
            <a:r>
              <a:rPr lang="en-US" sz="1800" b="1" dirty="0">
                <a:solidFill>
                  <a:srgbClr val="2B2B2B"/>
                </a:solidFill>
                <a:latin typeface="Palatino Linotype"/>
              </a:rPr>
              <a:t>II order in space, up to III order in time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D9C4EB3-FC53-447E-83E9-901819AD76D7}"/>
              </a:ext>
            </a:extLst>
          </p:cNvPr>
          <p:cNvSpPr txBox="1"/>
          <p:nvPr/>
        </p:nvSpPr>
        <p:spPr>
          <a:xfrm>
            <a:off x="457200" y="3149600"/>
            <a:ext cx="5461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822433"/>
                </a:solidFill>
                <a:latin typeface="Palatino Linotype"/>
              </a:rPr>
              <a:t>•  </a:t>
            </a:r>
            <a:r>
              <a:rPr lang="en-US" sz="1800" b="1" dirty="0">
                <a:solidFill>
                  <a:srgbClr val="2B2B2B"/>
                </a:solidFill>
                <a:latin typeface="Palatino Linotype"/>
              </a:rPr>
              <a:t>Several turbulence models</a:t>
            </a:r>
            <a:r>
              <a:rPr lang="en-US" sz="1800" dirty="0">
                <a:solidFill>
                  <a:srgbClr val="2B2B2B"/>
                </a:solidFill>
                <a:latin typeface="Palatino Linotype"/>
              </a:rPr>
              <a:t> (easily extendable; strong modularity)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AAE778C0-12BD-464D-B9A2-81C7A2170408}"/>
              </a:ext>
            </a:extLst>
          </p:cNvPr>
          <p:cNvSpPr txBox="1"/>
          <p:nvPr/>
        </p:nvSpPr>
        <p:spPr>
          <a:xfrm>
            <a:off x="457200" y="3784600"/>
            <a:ext cx="5461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822433"/>
                </a:solidFill>
                <a:latin typeface="Palatino Linotype"/>
              </a:rPr>
              <a:t>•  </a:t>
            </a:r>
            <a:r>
              <a:rPr lang="en-US" sz="1800" b="1" dirty="0">
                <a:solidFill>
                  <a:srgbClr val="2B2B2B"/>
                </a:solidFill>
                <a:latin typeface="Palatino Linotype"/>
              </a:rPr>
              <a:t>Tabulated thermo properties</a:t>
            </a:r>
            <a:r>
              <a:rPr lang="en-US" sz="1800" dirty="0">
                <a:solidFill>
                  <a:srgbClr val="2B2B2B"/>
                </a:solidFill>
                <a:latin typeface="Palatino Linotype"/>
              </a:rPr>
              <a:t>, thermally perfect gas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3B4CD73B-A363-41AA-BB9A-C3E22744F49E}"/>
              </a:ext>
            </a:extLst>
          </p:cNvPr>
          <p:cNvSpPr txBox="1"/>
          <p:nvPr/>
        </p:nvSpPr>
        <p:spPr>
          <a:xfrm>
            <a:off x="6273800" y="1879600"/>
            <a:ext cx="5461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822433"/>
                </a:solidFill>
                <a:latin typeface="Palatino Linotype"/>
              </a:rPr>
              <a:t>•  </a:t>
            </a:r>
            <a:r>
              <a:rPr lang="en-US" sz="1800" b="1" dirty="0">
                <a:solidFill>
                  <a:srgbClr val="2B2B2B"/>
                </a:solidFill>
                <a:latin typeface="Palatino Linotype"/>
              </a:rPr>
              <a:t>Flexible pre-processing tool</a:t>
            </a:r>
            <a:r>
              <a:rPr lang="en-US" sz="1800" dirty="0">
                <a:solidFill>
                  <a:srgbClr val="2B2B2B"/>
                </a:solidFill>
                <a:latin typeface="Palatino Linotype"/>
              </a:rPr>
              <a:t>, full integration with .yaml chemical datasets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DDF1297E-10CA-40B4-AB7C-4A25D8EBE104}"/>
              </a:ext>
            </a:extLst>
          </p:cNvPr>
          <p:cNvSpPr txBox="1"/>
          <p:nvPr/>
        </p:nvSpPr>
        <p:spPr>
          <a:xfrm>
            <a:off x="6273800" y="2514600"/>
            <a:ext cx="5461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822433"/>
                </a:solidFill>
                <a:latin typeface="Palatino Linotype"/>
              </a:rPr>
              <a:t>•  </a:t>
            </a:r>
            <a:r>
              <a:rPr lang="en-US" sz="1800" b="1" dirty="0">
                <a:solidFill>
                  <a:srgbClr val="2B2B2B"/>
                </a:solidFill>
                <a:latin typeface="Palatino Linotype"/>
              </a:rPr>
              <a:t>Strong CPU parallelization</a:t>
            </a:r>
            <a:r>
              <a:rPr lang="en-US" sz="1800" dirty="0">
                <a:solidFill>
                  <a:srgbClr val="2B2B2B"/>
                </a:solidFill>
                <a:latin typeface="Palatino Linotype"/>
              </a:rPr>
              <a:t> (OpenMP + MPI)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62CCFCAD-F7D7-4B5A-BEF9-C6024A150319}"/>
              </a:ext>
            </a:extLst>
          </p:cNvPr>
          <p:cNvSpPr txBox="1"/>
          <p:nvPr/>
        </p:nvSpPr>
        <p:spPr>
          <a:xfrm>
            <a:off x="6273800" y="3149600"/>
            <a:ext cx="5461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822433"/>
                </a:solidFill>
                <a:latin typeface="Palatino Linotype"/>
              </a:rPr>
              <a:t>•  </a:t>
            </a:r>
            <a:r>
              <a:rPr lang="en-US" sz="1800" b="1" dirty="0">
                <a:solidFill>
                  <a:srgbClr val="2B2B2B"/>
                </a:solidFill>
                <a:latin typeface="Palatino Linotype"/>
              </a:rPr>
              <a:t>Lots of degrees of freedom</a:t>
            </a:r>
            <a:r>
              <a:rPr lang="en-US" sz="1800" dirty="0">
                <a:solidFill>
                  <a:srgbClr val="2B2B2B"/>
                </a:solidFill>
                <a:latin typeface="Palatino Linotype"/>
              </a:rPr>
              <a:t> on numerics: Riemann solvers, integrated quantities, stiff chemical ODE solver, …</a:t>
            </a:r>
          </a:p>
        </p:txBody>
      </p:sp>
      <p:sp>
        <p:nvSpPr>
          <p:cNvPr id="36" name="Rettangolo 35">
            <a:extLst>
              <a:ext uri="{FF2B5EF4-FFF2-40B4-BE49-F238E27FC236}">
                <a16:creationId xmlns:a16="http://schemas.microsoft.com/office/drawing/2014/main" id="{AD8A9DD5-E0FC-470A-B2EE-4A171CA97211}"/>
              </a:ext>
            </a:extLst>
          </p:cNvPr>
          <p:cNvSpPr/>
          <p:nvPr/>
        </p:nvSpPr>
        <p:spPr>
          <a:xfrm>
            <a:off x="457200" y="4635500"/>
            <a:ext cx="5359400" cy="12700"/>
          </a:xfrm>
          <a:prstGeom prst="rect">
            <a:avLst/>
          </a:prstGeom>
          <a:solidFill>
            <a:srgbClr val="8224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7" name="Rettangolo 36">
            <a:extLst>
              <a:ext uri="{FF2B5EF4-FFF2-40B4-BE49-F238E27FC236}">
                <a16:creationId xmlns:a16="http://schemas.microsoft.com/office/drawing/2014/main" id="{B53B0872-5F1E-496E-9E3C-88D0E3C5840C}"/>
              </a:ext>
            </a:extLst>
          </p:cNvPr>
          <p:cNvSpPr/>
          <p:nvPr/>
        </p:nvSpPr>
        <p:spPr>
          <a:xfrm>
            <a:off x="6375400" y="4635500"/>
            <a:ext cx="5359400" cy="12700"/>
          </a:xfrm>
          <a:prstGeom prst="rect">
            <a:avLst/>
          </a:prstGeom>
          <a:solidFill>
            <a:srgbClr val="8224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61F6F3DB-E895-46F3-9605-900CB2E4A49D}"/>
              </a:ext>
            </a:extLst>
          </p:cNvPr>
          <p:cNvSpPr txBox="1"/>
          <p:nvPr/>
        </p:nvSpPr>
        <p:spPr>
          <a:xfrm>
            <a:off x="5816600" y="4445000"/>
            <a:ext cx="558800" cy="406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>
              <a:buNone/>
            </a:pPr>
            <a:r>
              <a:rPr lang="en-US" sz="2600" b="1" dirty="0">
                <a:solidFill>
                  <a:srgbClr val="822433"/>
                </a:solidFill>
                <a:latin typeface="Palatino Linotype"/>
              </a:rPr>
              <a:t>+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486C566E-80ED-46D9-A877-792ED3786064}"/>
              </a:ext>
            </a:extLst>
          </p:cNvPr>
          <p:cNvSpPr txBox="1"/>
          <p:nvPr/>
        </p:nvSpPr>
        <p:spPr>
          <a:xfrm>
            <a:off x="1016000" y="5016500"/>
            <a:ext cx="10160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buNone/>
            </a:pPr>
            <a:r>
              <a:rPr lang="en-US" sz="1800" dirty="0">
                <a:solidFill>
                  <a:srgbClr val="822433"/>
                </a:solidFill>
                <a:latin typeface="Palatino Linotype"/>
              </a:rPr>
              <a:t>•  </a:t>
            </a:r>
            <a:r>
              <a:rPr lang="en-US" sz="1800" b="1" dirty="0">
                <a:solidFill>
                  <a:srgbClr val="2B2B2B"/>
                </a:solidFill>
                <a:latin typeface="Palatino Linotype"/>
              </a:rPr>
              <a:t>Interface with other in-house solvers</a:t>
            </a:r>
            <a:r>
              <a:rPr lang="en-US" sz="1800" dirty="0">
                <a:solidFill>
                  <a:srgbClr val="2B2B2B"/>
                </a:solidFill>
                <a:latin typeface="Palatino Linotype"/>
              </a:rPr>
              <a:t> (solid, multiphase, real-fluid)</a:t>
            </a:r>
          </a:p>
        </p:txBody>
      </p:sp>
    </p:spTree>
    <p:extLst>
      <p:ext uri="{BB962C8B-B14F-4D97-AF65-F5344CB8AC3E}">
        <p14:creationId xmlns:p14="http://schemas.microsoft.com/office/powerpoint/2010/main" val="1192435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B381D-1E8A-0E95-962E-BCFD85F70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magine 28">
            <a:extLst>
              <a:ext uri="{FF2B5EF4-FFF2-40B4-BE49-F238E27FC236}">
                <a16:creationId xmlns:a16="http://schemas.microsoft.com/office/drawing/2014/main" id="{31787FA7-053A-EB7D-41CE-BA3D965B5B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7653" y="2540000"/>
            <a:ext cx="1308100" cy="3048000"/>
          </a:xfrm>
          <a:prstGeom prst="rect">
            <a:avLst/>
          </a:prstGeom>
        </p:spPr>
      </p:pic>
      <p:grpSp>
        <p:nvGrpSpPr>
          <p:cNvPr id="7" name="Gruppo 6">
            <a:extLst>
              <a:ext uri="{FF2B5EF4-FFF2-40B4-BE49-F238E27FC236}">
                <a16:creationId xmlns:a16="http://schemas.microsoft.com/office/drawing/2014/main" id="{7782177A-FFAE-928A-6C1A-992BF7E43D5B}"/>
              </a:ext>
            </a:extLst>
          </p:cNvPr>
          <p:cNvGrpSpPr/>
          <p:nvPr/>
        </p:nvGrpSpPr>
        <p:grpSpPr>
          <a:xfrm>
            <a:off x="0" y="6108700"/>
            <a:ext cx="12191999" cy="741549"/>
            <a:chOff x="7950" y="6134100"/>
            <a:chExt cx="12184049" cy="741549"/>
          </a:xfrm>
        </p:grpSpPr>
        <p:grpSp>
          <p:nvGrpSpPr>
            <p:cNvPr id="4" name="Gruppo 3">
              <a:extLst>
                <a:ext uri="{FF2B5EF4-FFF2-40B4-BE49-F238E27FC236}">
                  <a16:creationId xmlns:a16="http://schemas.microsoft.com/office/drawing/2014/main" id="{94022773-2481-50B5-9C31-483B3379D0A6}"/>
                </a:ext>
              </a:extLst>
            </p:cNvPr>
            <p:cNvGrpSpPr/>
            <p:nvPr/>
          </p:nvGrpSpPr>
          <p:grpSpPr>
            <a:xfrm>
              <a:off x="7950" y="6134100"/>
              <a:ext cx="12184049" cy="741549"/>
              <a:chOff x="0" y="6134100"/>
              <a:chExt cx="12192000" cy="741549"/>
            </a:xfrm>
          </p:grpSpPr>
          <p:sp>
            <p:nvSpPr>
              <p:cNvPr id="10" name="Rectangle 23">
                <a:extLst>
                  <a:ext uri="{FF2B5EF4-FFF2-40B4-BE49-F238E27FC236}">
                    <a16:creationId xmlns:a16="http://schemas.microsoft.com/office/drawing/2014/main" id="{8433B353-1922-636B-29FB-E0935281F23A}"/>
                  </a:ext>
                </a:extLst>
              </p:cNvPr>
              <p:cNvSpPr/>
              <p:nvPr/>
            </p:nvSpPr>
            <p:spPr>
              <a:xfrm>
                <a:off x="0" y="6134100"/>
                <a:ext cx="12192000" cy="741549"/>
              </a:xfrm>
              <a:prstGeom prst="rect">
                <a:avLst/>
              </a:prstGeom>
              <a:solidFill>
                <a:srgbClr val="822333"/>
              </a:solidFill>
              <a:ln>
                <a:solidFill>
                  <a:srgbClr val="8223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4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Palatino"/>
                  </a:rPr>
                  <a:t>		                          HEM modeling for subcritical flows in liquid rocket engine cooling systems 			</a:t>
                </a:r>
                <a:endParaRPr lang="en-FR" sz="1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alatino"/>
                  <a:ea typeface="Palatino" pitchFamily="2" charset="77"/>
                  <a:cs typeface="FUTURA MEDIUM" panose="020B0602020204020303" pitchFamily="34" charset="-79"/>
                </a:endParaRPr>
              </a:p>
            </p:txBody>
          </p:sp>
          <p:pic>
            <p:nvPicPr>
              <p:cNvPr id="12" name="Picture 13" descr="logo +marchio">
                <a:extLst>
                  <a:ext uri="{FF2B5EF4-FFF2-40B4-BE49-F238E27FC236}">
                    <a16:creationId xmlns:a16="http://schemas.microsoft.com/office/drawing/2014/main" id="{03A477B4-EF3C-E39B-B28E-263C31DC85D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 cstate="print"/>
              <a:srcRect l="14831" r="54091"/>
              <a:stretch/>
            </p:blipFill>
            <p:spPr bwMode="auto">
              <a:xfrm>
                <a:off x="84996" y="6351184"/>
                <a:ext cx="1228478" cy="4953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" name="Rettangolo 2">
                <a:extLst>
                  <a:ext uri="{FF2B5EF4-FFF2-40B4-BE49-F238E27FC236}">
                    <a16:creationId xmlns:a16="http://schemas.microsoft.com/office/drawing/2014/main" id="{5F66407E-601C-A41B-D27B-9455409A858E}"/>
                  </a:ext>
                </a:extLst>
              </p:cNvPr>
              <p:cNvSpPr/>
              <p:nvPr/>
            </p:nvSpPr>
            <p:spPr>
              <a:xfrm>
                <a:off x="0" y="6134100"/>
                <a:ext cx="928464" cy="2057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Segnaposto numero diapositiva 6">
              <a:extLst>
                <a:ext uri="{FF2B5EF4-FFF2-40B4-BE49-F238E27FC236}">
                  <a16:creationId xmlns:a16="http://schemas.microsoft.com/office/drawing/2014/main" id="{E6DF11E5-C28B-AD20-0578-9C0B746F889B}"/>
                </a:ext>
              </a:extLst>
            </p:cNvPr>
            <p:cNvSpPr txBox="1">
              <a:spLocks/>
            </p:cNvSpPr>
            <p:nvPr/>
          </p:nvSpPr>
          <p:spPr>
            <a:xfrm>
              <a:off x="11270512" y="6276274"/>
              <a:ext cx="730988" cy="457200"/>
            </a:xfrm>
            <a:prstGeom prst="rect">
              <a:avLst/>
            </a:prstGeom>
            <a:noFill/>
          </p:spPr>
          <p:txBody>
            <a:bodyPr anchor="ctr"/>
            <a:lstStyle>
              <a:defPPr>
                <a:defRPr lang="en-US"/>
              </a:defPPr>
              <a:lvl1pPr algn="r" defTabSz="457200" rtl="0" eaLnBrk="1" fontAlgn="auto" hangingPunct="1">
                <a:spcBef>
                  <a:spcPct val="20000"/>
                </a:spcBef>
                <a:spcAft>
                  <a:spcPts val="0"/>
                </a:spcAft>
                <a:buClr>
                  <a:srgbClr val="822433"/>
                </a:buClr>
                <a:buChar char="•"/>
                <a:defRPr sz="24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1pPr>
              <a:lvl2pPr marL="742950" indent="-28575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2pPr>
              <a:lvl3pPr marL="11430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16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3pPr>
              <a:lvl4pPr marL="16002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4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4pPr>
              <a:lvl5pPr marL="20574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  <a:defRPr/>
              </a:pPr>
              <a:fld id="{BE037B56-838D-4EA9-A433-B420C86CBEEB}" type="slidenum">
                <a:rPr lang="it-IT" altLang="en-US" sz="1400" b="1" smtClean="0">
                  <a:solidFill>
                    <a:schemeClr val="bg1"/>
                  </a:solidFill>
                  <a:latin typeface="Palatino"/>
                </a:rPr>
                <a:pPr>
                  <a:spcBef>
                    <a:spcPct val="0"/>
                  </a:spcBef>
                  <a:buClrTx/>
                  <a:buFontTx/>
                  <a:buNone/>
                  <a:defRPr/>
                </a:pPr>
                <a:t>5</a:t>
              </a:fld>
              <a:r>
                <a:rPr lang="it-IT" altLang="en-US" sz="1400" b="1" dirty="0">
                  <a:solidFill>
                    <a:schemeClr val="bg1"/>
                  </a:solidFill>
                  <a:latin typeface="Palatino"/>
                </a:rPr>
                <a:t>/18</a:t>
              </a:r>
            </a:p>
          </p:txBody>
        </p:sp>
      </p:grpSp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4D1B927A-97A4-9704-AB22-F487FE4B4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AFFB8E59-B28E-1D56-5AE9-2F50BA61F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Rotating Detonation Engine Activities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E8FCEB04-9081-4332-B69B-DA7DE17C0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5/18</a:t>
            </a:r>
            <a:endParaRPr lang="en-US" dirty="0"/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77E2D8BF-3006-A055-53E2-B105DF5A2CB0}"/>
              </a:ext>
            </a:extLst>
          </p:cNvPr>
          <p:cNvSpPr txBox="1">
            <a:spLocks/>
          </p:cNvSpPr>
          <p:nvPr/>
        </p:nvSpPr>
        <p:spPr>
          <a:xfrm>
            <a:off x="295491" y="346384"/>
            <a:ext cx="7131625" cy="5048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3200" b="1" dirty="0">
                <a:solidFill>
                  <a:srgbClr val="8224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Code Development and Capabilities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7A394608-3731-336D-8CD4-E2C51D77D9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62" y="2540000"/>
            <a:ext cx="5397500" cy="3048000"/>
          </a:xfrm>
          <a:prstGeom prst="rect">
            <a:avLst/>
          </a:prstGeom>
        </p:spPr>
      </p:pic>
      <p:sp>
        <p:nvSpPr>
          <p:cNvPr id="22" name="TextBox 10">
            <a:extLst>
              <a:ext uri="{FF2B5EF4-FFF2-40B4-BE49-F238E27FC236}">
                <a16:creationId xmlns:a16="http://schemas.microsoft.com/office/drawing/2014/main" id="{9681C8BD-DA5B-7C2A-B11A-2FE53B343B2E}"/>
              </a:ext>
            </a:extLst>
          </p:cNvPr>
          <p:cNvSpPr txBox="1"/>
          <p:nvPr/>
        </p:nvSpPr>
        <p:spPr>
          <a:xfrm>
            <a:off x="457200" y="990600"/>
            <a:ext cx="11277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en-US" sz="2800" dirty="0">
                <a:solidFill>
                  <a:srgbClr val="00677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/>
              </a:rPr>
              <a:t>Q2D solver — innovation w.r.t. recent literature</a:t>
            </a:r>
          </a:p>
          <a:p>
            <a:pPr algn="l">
              <a:buNone/>
            </a:pPr>
            <a:endParaRPr lang="en-US" sz="800" dirty="0"/>
          </a:p>
          <a:p>
            <a:pPr algn="l">
              <a:buNone/>
            </a:pPr>
            <a:r>
              <a:rPr lang="en-US" sz="1800" dirty="0">
                <a:solidFill>
                  <a:srgbClr val="822433"/>
                </a:solidFill>
                <a:latin typeface="Palatino Linotype"/>
              </a:rPr>
              <a:t>•  </a:t>
            </a:r>
            <a:r>
              <a:rPr lang="en-US" sz="1800" b="1" dirty="0">
                <a:solidFill>
                  <a:srgbClr val="2B2B2B"/>
                </a:solidFill>
                <a:latin typeface="Palatino Linotype"/>
              </a:rPr>
              <a:t>Rigorous treatment</a:t>
            </a:r>
            <a:r>
              <a:rPr lang="en-US" sz="1800" dirty="0">
                <a:solidFill>
                  <a:srgbClr val="2B2B2B"/>
                </a:solidFill>
                <a:latin typeface="Palatino Linotype"/>
              </a:rPr>
              <a:t> of diffusive fluxes and generic RANS equations</a:t>
            </a:r>
          </a:p>
          <a:p>
            <a:pPr algn="l">
              <a:buNone/>
            </a:pPr>
            <a:r>
              <a:rPr lang="en-US" sz="1800" dirty="0">
                <a:solidFill>
                  <a:srgbClr val="822433"/>
                </a:solidFill>
                <a:latin typeface="Palatino Linotype"/>
              </a:rPr>
              <a:t>•  </a:t>
            </a:r>
            <a:r>
              <a:rPr lang="en-US" sz="1800" b="1" dirty="0">
                <a:solidFill>
                  <a:srgbClr val="2B2B2B"/>
                </a:solidFill>
                <a:latin typeface="Palatino Linotype"/>
              </a:rPr>
              <a:t>General derivation</a:t>
            </a:r>
            <a:r>
              <a:rPr lang="en-US" sz="1800" dirty="0">
                <a:solidFill>
                  <a:srgbClr val="2B2B2B"/>
                </a:solidFill>
                <a:latin typeface="Palatino Linotype"/>
              </a:rPr>
              <a:t> with </a:t>
            </a:r>
            <a:r>
              <a:rPr lang="en-US" sz="1800" i="1" dirty="0">
                <a:solidFill>
                  <a:srgbClr val="2B2B2B"/>
                </a:solidFill>
                <a:latin typeface="Palatino Linotype"/>
              </a:rPr>
              <a:t>z = z(x,y)</a:t>
            </a:r>
            <a:r>
              <a:rPr lang="en-US" sz="1800" dirty="0">
                <a:solidFill>
                  <a:srgbClr val="2B2B2B"/>
                </a:solidFill>
                <a:latin typeface="Palatino Linotype"/>
              </a:rPr>
              <a:t> — valid for generic width variations</a:t>
            </a:r>
          </a:p>
          <a:p>
            <a:pPr algn="l">
              <a:buNone/>
            </a:pPr>
            <a:r>
              <a:rPr lang="en-US" sz="1800" dirty="0">
                <a:solidFill>
                  <a:srgbClr val="822433"/>
                </a:solidFill>
                <a:latin typeface="Palatino Linotype"/>
              </a:rPr>
              <a:t>•  </a:t>
            </a:r>
            <a:r>
              <a:rPr lang="en-US" sz="1800" b="1" dirty="0">
                <a:solidFill>
                  <a:srgbClr val="2B2B2B"/>
                </a:solidFill>
                <a:latin typeface="Palatino Linotype"/>
              </a:rPr>
              <a:t>Adaptation to CFD</a:t>
            </a:r>
            <a:r>
              <a:rPr lang="en-US" sz="1800" dirty="0">
                <a:solidFill>
                  <a:srgbClr val="2B2B2B"/>
                </a:solidFill>
                <a:latin typeface="Palatino Linotype"/>
              </a:rPr>
              <a:t> of the non-isentropic BFS boundary condition </a:t>
            </a:r>
            <a:r>
              <a:rPr lang="en-US" sz="1800" b="1" dirty="0">
                <a:solidFill>
                  <a:srgbClr val="822433"/>
                </a:solidFill>
                <a:latin typeface="Palatino Linotype"/>
              </a:rPr>
              <a:t>[1]</a:t>
            </a:r>
          </a:p>
        </p:txBody>
      </p:sp>
      <p:pic>
        <p:nvPicPr>
          <p:cNvPr id="24" name="Immagine 23">
            <a:extLst>
              <a:ext uri="{FF2B5EF4-FFF2-40B4-BE49-F238E27FC236}">
                <a16:creationId xmlns:a16="http://schemas.microsoft.com/office/drawing/2014/main" id="{2A43754D-FE96-1805-9BB5-6D7C40EAEC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925" y="2540000"/>
            <a:ext cx="3441700" cy="304800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F0D652AB-A482-48C5-A464-30C149331299}"/>
              </a:ext>
            </a:extLst>
          </p:cNvPr>
          <p:cNvSpPr txBox="1"/>
          <p:nvPr/>
        </p:nvSpPr>
        <p:spPr>
          <a:xfrm>
            <a:off x="457200" y="5842000"/>
            <a:ext cx="112776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buNone/>
            </a:pPr>
            <a:r>
              <a:rPr lang="en-US" sz="1000" b="1" dirty="0">
                <a:solidFill>
                  <a:srgbClr val="822433"/>
                </a:solidFill>
                <a:latin typeface="Palatino Linotype"/>
              </a:rPr>
              <a:t>[1]  </a:t>
            </a:r>
            <a:r>
              <a:rPr lang="en-US" sz="1000" dirty="0">
                <a:solidFill>
                  <a:srgbClr val="2B2B2B"/>
                </a:solidFill>
                <a:latin typeface="Palatino Linotype"/>
              </a:rPr>
              <a:t>Fievisohn &amp; Yu, “</a:t>
            </a:r>
            <a:r>
              <a:rPr lang="en-US" sz="1000" i="1" dirty="0">
                <a:solidFill>
                  <a:srgbClr val="2B2B2B"/>
                </a:solidFill>
                <a:latin typeface="Palatino Linotype"/>
              </a:rPr>
              <a:t>Steady-state analysis of RDE flowfields with the method of characteristics</a:t>
            </a:r>
            <a:r>
              <a:rPr lang="en-US" sz="1000" dirty="0">
                <a:solidFill>
                  <a:srgbClr val="2B2B2B"/>
                </a:solidFill>
                <a:latin typeface="Palatino Linotype"/>
              </a:rPr>
              <a:t>,” </a:t>
            </a:r>
            <a:r>
              <a:rPr lang="en-US" sz="1000" i="1" dirty="0">
                <a:solidFill>
                  <a:srgbClr val="2B2B2B"/>
                </a:solidFill>
                <a:latin typeface="Palatino Linotype"/>
              </a:rPr>
              <a:t>J. Propulsion and Power</a:t>
            </a:r>
            <a:r>
              <a:rPr lang="en-US" sz="1000" dirty="0">
                <a:solidFill>
                  <a:srgbClr val="2B2B2B"/>
                </a:solidFill>
                <a:latin typeface="Palatino Linotype"/>
              </a:rPr>
              <a:t> 33(1), 89–99, 2017.</a:t>
            </a:r>
          </a:p>
        </p:txBody>
      </p:sp>
    </p:spTree>
    <p:extLst>
      <p:ext uri="{BB962C8B-B14F-4D97-AF65-F5344CB8AC3E}">
        <p14:creationId xmlns:p14="http://schemas.microsoft.com/office/powerpoint/2010/main" val="3610081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A3EF8-7EB3-3699-5555-14ED5283C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o 6">
            <a:extLst>
              <a:ext uri="{FF2B5EF4-FFF2-40B4-BE49-F238E27FC236}">
                <a16:creationId xmlns:a16="http://schemas.microsoft.com/office/drawing/2014/main" id="{4879D2CD-1EEB-BA34-6827-D8CE34E0B2C5}"/>
              </a:ext>
            </a:extLst>
          </p:cNvPr>
          <p:cNvGrpSpPr/>
          <p:nvPr/>
        </p:nvGrpSpPr>
        <p:grpSpPr>
          <a:xfrm>
            <a:off x="0" y="6108700"/>
            <a:ext cx="12191999" cy="741549"/>
            <a:chOff x="7950" y="6134100"/>
            <a:chExt cx="12184049" cy="741549"/>
          </a:xfrm>
        </p:grpSpPr>
        <p:grpSp>
          <p:nvGrpSpPr>
            <p:cNvPr id="4" name="Gruppo 3">
              <a:extLst>
                <a:ext uri="{FF2B5EF4-FFF2-40B4-BE49-F238E27FC236}">
                  <a16:creationId xmlns:a16="http://schemas.microsoft.com/office/drawing/2014/main" id="{0A0DF907-BB74-E4E8-6A69-CB341EC93172}"/>
                </a:ext>
              </a:extLst>
            </p:cNvPr>
            <p:cNvGrpSpPr/>
            <p:nvPr/>
          </p:nvGrpSpPr>
          <p:grpSpPr>
            <a:xfrm>
              <a:off x="7950" y="6134100"/>
              <a:ext cx="12184049" cy="741549"/>
              <a:chOff x="0" y="6134100"/>
              <a:chExt cx="12192000" cy="741549"/>
            </a:xfrm>
          </p:grpSpPr>
          <p:sp>
            <p:nvSpPr>
              <p:cNvPr id="10" name="Rectangle 23">
                <a:extLst>
                  <a:ext uri="{FF2B5EF4-FFF2-40B4-BE49-F238E27FC236}">
                    <a16:creationId xmlns:a16="http://schemas.microsoft.com/office/drawing/2014/main" id="{F127293D-E39F-8824-1086-24E4D6E53454}"/>
                  </a:ext>
                </a:extLst>
              </p:cNvPr>
              <p:cNvSpPr/>
              <p:nvPr/>
            </p:nvSpPr>
            <p:spPr>
              <a:xfrm>
                <a:off x="0" y="6134100"/>
                <a:ext cx="12192000" cy="741549"/>
              </a:xfrm>
              <a:prstGeom prst="rect">
                <a:avLst/>
              </a:prstGeom>
              <a:solidFill>
                <a:srgbClr val="822333"/>
              </a:solidFill>
              <a:ln>
                <a:solidFill>
                  <a:srgbClr val="8223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4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Palatino"/>
                  </a:rPr>
                  <a:t>		                          HEM modeling for subcritical flows in liquid rocket engine cooling systems 			</a:t>
                </a:r>
                <a:endParaRPr lang="en-FR" sz="1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alatino"/>
                  <a:ea typeface="Palatino" pitchFamily="2" charset="77"/>
                  <a:cs typeface="FUTURA MEDIUM" panose="020B0602020204020303" pitchFamily="34" charset="-79"/>
                </a:endParaRPr>
              </a:p>
            </p:txBody>
          </p:sp>
          <p:pic>
            <p:nvPicPr>
              <p:cNvPr id="12" name="Picture 13" descr="logo +marchio">
                <a:extLst>
                  <a:ext uri="{FF2B5EF4-FFF2-40B4-BE49-F238E27FC236}">
                    <a16:creationId xmlns:a16="http://schemas.microsoft.com/office/drawing/2014/main" id="{191B3D40-B4BE-A276-8385-77DE2CC655E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/>
              <a:srcRect l="14831" r="54091"/>
              <a:stretch/>
            </p:blipFill>
            <p:spPr bwMode="auto">
              <a:xfrm>
                <a:off x="84996" y="6351184"/>
                <a:ext cx="1228478" cy="4953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" name="Rettangolo 2">
                <a:extLst>
                  <a:ext uri="{FF2B5EF4-FFF2-40B4-BE49-F238E27FC236}">
                    <a16:creationId xmlns:a16="http://schemas.microsoft.com/office/drawing/2014/main" id="{AA01081C-D3F3-AFEF-2AD2-E5DA7ABDA78F}"/>
                  </a:ext>
                </a:extLst>
              </p:cNvPr>
              <p:cNvSpPr/>
              <p:nvPr/>
            </p:nvSpPr>
            <p:spPr>
              <a:xfrm>
                <a:off x="0" y="6134100"/>
                <a:ext cx="928464" cy="2057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Segnaposto numero diapositiva 6">
              <a:extLst>
                <a:ext uri="{FF2B5EF4-FFF2-40B4-BE49-F238E27FC236}">
                  <a16:creationId xmlns:a16="http://schemas.microsoft.com/office/drawing/2014/main" id="{0EE8264F-6A99-8994-B2F7-E7491908C45D}"/>
                </a:ext>
              </a:extLst>
            </p:cNvPr>
            <p:cNvSpPr txBox="1">
              <a:spLocks/>
            </p:cNvSpPr>
            <p:nvPr/>
          </p:nvSpPr>
          <p:spPr>
            <a:xfrm>
              <a:off x="11270512" y="6276274"/>
              <a:ext cx="730988" cy="457200"/>
            </a:xfrm>
            <a:prstGeom prst="rect">
              <a:avLst/>
            </a:prstGeom>
            <a:noFill/>
          </p:spPr>
          <p:txBody>
            <a:bodyPr anchor="ctr"/>
            <a:lstStyle>
              <a:defPPr>
                <a:defRPr lang="en-US"/>
              </a:defPPr>
              <a:lvl1pPr algn="r" defTabSz="457200" rtl="0" eaLnBrk="1" fontAlgn="auto" hangingPunct="1">
                <a:spcBef>
                  <a:spcPct val="20000"/>
                </a:spcBef>
                <a:spcAft>
                  <a:spcPts val="0"/>
                </a:spcAft>
                <a:buClr>
                  <a:srgbClr val="822433"/>
                </a:buClr>
                <a:buChar char="•"/>
                <a:defRPr sz="24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1pPr>
              <a:lvl2pPr marL="742950" indent="-28575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2pPr>
              <a:lvl3pPr marL="11430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16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3pPr>
              <a:lvl4pPr marL="16002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4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4pPr>
              <a:lvl5pPr marL="20574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  <a:defRPr/>
              </a:pPr>
              <a:fld id="{BE037B56-838D-4EA9-A433-B420C86CBEEB}" type="slidenum">
                <a:rPr lang="it-IT" altLang="en-US" sz="1400" b="1" smtClean="0">
                  <a:solidFill>
                    <a:schemeClr val="bg1"/>
                  </a:solidFill>
                  <a:latin typeface="Palatino"/>
                </a:rPr>
                <a:pPr>
                  <a:spcBef>
                    <a:spcPct val="0"/>
                  </a:spcBef>
                  <a:buClrTx/>
                  <a:buFontTx/>
                  <a:buNone/>
                  <a:defRPr/>
                </a:pPr>
                <a:t>6</a:t>
              </a:fld>
              <a:r>
                <a:rPr lang="it-IT" altLang="en-US" sz="1400" b="1" dirty="0">
                  <a:solidFill>
                    <a:schemeClr val="bg1"/>
                  </a:solidFill>
                  <a:latin typeface="Palatino"/>
                </a:rPr>
                <a:t>/18</a:t>
              </a:r>
            </a:p>
          </p:txBody>
        </p:sp>
      </p:grpSp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2BB8700E-CBCD-AE57-BBB6-6E5BD1F9F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23C73235-6DEF-7214-2C6F-E39848042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Rotating Detonation Engine Activities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037ADD42-C863-F9A6-A8BF-EA857E218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6/18</a:t>
            </a:r>
            <a:endParaRPr lang="en-US" dirty="0"/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0F82F0F3-CF27-3A40-9AB2-17A39CF2B09E}"/>
              </a:ext>
            </a:extLst>
          </p:cNvPr>
          <p:cNvSpPr txBox="1">
            <a:spLocks/>
          </p:cNvSpPr>
          <p:nvPr/>
        </p:nvSpPr>
        <p:spPr>
          <a:xfrm>
            <a:off x="295491" y="346384"/>
            <a:ext cx="7131625" cy="5048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3200" b="1" dirty="0">
                <a:solidFill>
                  <a:srgbClr val="8224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Code Development and Capabilities</a:t>
            </a:r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6745A92B-242C-16FB-05F6-D35F1F46642D}"/>
              </a:ext>
            </a:extLst>
          </p:cNvPr>
          <p:cNvSpPr txBox="1"/>
          <p:nvPr/>
        </p:nvSpPr>
        <p:spPr>
          <a:xfrm>
            <a:off x="457200" y="990600"/>
            <a:ext cx="11277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en-US" sz="2800" dirty="0">
                <a:solidFill>
                  <a:srgbClr val="00677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/>
              </a:rPr>
              <a:t>V&amp;V</a:t>
            </a:r>
          </a:p>
          <a:p>
            <a:pPr algn="l">
              <a:buNone/>
            </a:pPr>
            <a:endParaRPr lang="en-US" sz="800" dirty="0"/>
          </a:p>
          <a:p>
            <a:pPr algn="l">
              <a:buNone/>
            </a:pPr>
            <a:r>
              <a:rPr lang="en-US" sz="1800" dirty="0">
                <a:solidFill>
                  <a:srgbClr val="822433"/>
                </a:solidFill>
                <a:latin typeface="Palatino Linotype"/>
              </a:rPr>
              <a:t>•  </a:t>
            </a:r>
            <a:r>
              <a:rPr lang="en-US" sz="1800" dirty="0">
                <a:solidFill>
                  <a:srgbClr val="2B2B2B"/>
                </a:solidFill>
                <a:latin typeface="Palatino Linotype"/>
              </a:rPr>
              <a:t>Validation against </a:t>
            </a:r>
            <a:r>
              <a:rPr lang="en-US" b="1" dirty="0">
                <a:solidFill>
                  <a:srgbClr val="2B2B2B"/>
                </a:solidFill>
                <a:latin typeface="Palatino Linotype"/>
              </a:rPr>
              <a:t>1D ZND H2/Air detonation from SDT </a:t>
            </a:r>
            <a:endParaRPr lang="en-US" sz="1800" b="1" dirty="0">
              <a:solidFill>
                <a:srgbClr val="2B2B2B"/>
              </a:solidFill>
              <a:latin typeface="Palatino Linotype"/>
            </a:endParaRP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4266980B-EB05-48CD-C498-5D1647A7C2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464" y="1913930"/>
            <a:ext cx="4591567" cy="4081903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E5DCFA41-02D5-2F3B-698E-A111D4F04D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1971" y="1913929"/>
            <a:ext cx="4591567" cy="4081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845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92B86-FD6D-68C3-A0A5-E0C7D16C6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10">
            <a:extLst>
              <a:ext uri="{FF2B5EF4-FFF2-40B4-BE49-F238E27FC236}">
                <a16:creationId xmlns:a16="http://schemas.microsoft.com/office/drawing/2014/main" id="{D54C9E42-D1A6-9F60-59E9-0602A675B0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099" y="1994619"/>
            <a:ext cx="4314707" cy="3832141"/>
          </a:xfrm>
          <a:prstGeom prst="rect">
            <a:avLst/>
          </a:prstGeom>
        </p:spPr>
      </p:pic>
      <p:grpSp>
        <p:nvGrpSpPr>
          <p:cNvPr id="7" name="Gruppo 6">
            <a:extLst>
              <a:ext uri="{FF2B5EF4-FFF2-40B4-BE49-F238E27FC236}">
                <a16:creationId xmlns:a16="http://schemas.microsoft.com/office/drawing/2014/main" id="{F753F246-F067-EA20-8922-963EC4614E0B}"/>
              </a:ext>
            </a:extLst>
          </p:cNvPr>
          <p:cNvGrpSpPr/>
          <p:nvPr/>
        </p:nvGrpSpPr>
        <p:grpSpPr>
          <a:xfrm>
            <a:off x="0" y="6108700"/>
            <a:ext cx="12191999" cy="741549"/>
            <a:chOff x="7950" y="6134100"/>
            <a:chExt cx="12184049" cy="741549"/>
          </a:xfrm>
        </p:grpSpPr>
        <p:grpSp>
          <p:nvGrpSpPr>
            <p:cNvPr id="4" name="Gruppo 3">
              <a:extLst>
                <a:ext uri="{FF2B5EF4-FFF2-40B4-BE49-F238E27FC236}">
                  <a16:creationId xmlns:a16="http://schemas.microsoft.com/office/drawing/2014/main" id="{24951730-A336-7CAC-4FF2-DED9BD9ABB65}"/>
                </a:ext>
              </a:extLst>
            </p:cNvPr>
            <p:cNvGrpSpPr/>
            <p:nvPr/>
          </p:nvGrpSpPr>
          <p:grpSpPr>
            <a:xfrm>
              <a:off x="7950" y="6134100"/>
              <a:ext cx="12184049" cy="741549"/>
              <a:chOff x="0" y="6134100"/>
              <a:chExt cx="12192000" cy="741549"/>
            </a:xfrm>
          </p:grpSpPr>
          <p:sp>
            <p:nvSpPr>
              <p:cNvPr id="10" name="Rectangle 23">
                <a:extLst>
                  <a:ext uri="{FF2B5EF4-FFF2-40B4-BE49-F238E27FC236}">
                    <a16:creationId xmlns:a16="http://schemas.microsoft.com/office/drawing/2014/main" id="{F3A62D8B-50C7-B1DB-EFE0-45A5DD6ACC55}"/>
                  </a:ext>
                </a:extLst>
              </p:cNvPr>
              <p:cNvSpPr/>
              <p:nvPr/>
            </p:nvSpPr>
            <p:spPr>
              <a:xfrm>
                <a:off x="0" y="6134100"/>
                <a:ext cx="12192000" cy="741549"/>
              </a:xfrm>
              <a:prstGeom prst="rect">
                <a:avLst/>
              </a:prstGeom>
              <a:solidFill>
                <a:srgbClr val="822333"/>
              </a:solidFill>
              <a:ln>
                <a:solidFill>
                  <a:srgbClr val="8223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4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Palatino"/>
                  </a:rPr>
                  <a:t>		                          HEM modeling for subcritical flows in liquid rocket engine cooling systems 			</a:t>
                </a:r>
                <a:endParaRPr lang="en-FR" sz="1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alatino"/>
                  <a:ea typeface="Palatino" pitchFamily="2" charset="77"/>
                  <a:cs typeface="FUTURA MEDIUM" panose="020B0602020204020303" pitchFamily="34" charset="-79"/>
                </a:endParaRPr>
              </a:p>
            </p:txBody>
          </p:sp>
          <p:pic>
            <p:nvPicPr>
              <p:cNvPr id="12" name="Picture 13" descr="logo +marchio">
                <a:extLst>
                  <a:ext uri="{FF2B5EF4-FFF2-40B4-BE49-F238E27FC236}">
                    <a16:creationId xmlns:a16="http://schemas.microsoft.com/office/drawing/2014/main" id="{621F03D2-BD79-D450-7C3E-930226976E9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 cstate="print"/>
              <a:srcRect l="14831" r="54091"/>
              <a:stretch/>
            </p:blipFill>
            <p:spPr bwMode="auto">
              <a:xfrm>
                <a:off x="84996" y="6351184"/>
                <a:ext cx="1228478" cy="4953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" name="Rettangolo 2">
                <a:extLst>
                  <a:ext uri="{FF2B5EF4-FFF2-40B4-BE49-F238E27FC236}">
                    <a16:creationId xmlns:a16="http://schemas.microsoft.com/office/drawing/2014/main" id="{DC8D9D94-73E3-ACBE-83C3-D87CA9F69F4B}"/>
                  </a:ext>
                </a:extLst>
              </p:cNvPr>
              <p:cNvSpPr/>
              <p:nvPr/>
            </p:nvSpPr>
            <p:spPr>
              <a:xfrm>
                <a:off x="0" y="6134100"/>
                <a:ext cx="928464" cy="2057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Segnaposto numero diapositiva 6">
              <a:extLst>
                <a:ext uri="{FF2B5EF4-FFF2-40B4-BE49-F238E27FC236}">
                  <a16:creationId xmlns:a16="http://schemas.microsoft.com/office/drawing/2014/main" id="{E72F1986-0692-D0EA-4E39-E20056068F78}"/>
                </a:ext>
              </a:extLst>
            </p:cNvPr>
            <p:cNvSpPr txBox="1">
              <a:spLocks/>
            </p:cNvSpPr>
            <p:nvPr/>
          </p:nvSpPr>
          <p:spPr>
            <a:xfrm>
              <a:off x="11270512" y="6276274"/>
              <a:ext cx="730988" cy="457200"/>
            </a:xfrm>
            <a:prstGeom prst="rect">
              <a:avLst/>
            </a:prstGeom>
            <a:noFill/>
          </p:spPr>
          <p:txBody>
            <a:bodyPr anchor="ctr"/>
            <a:lstStyle>
              <a:defPPr>
                <a:defRPr lang="en-US"/>
              </a:defPPr>
              <a:lvl1pPr algn="r" defTabSz="457200" rtl="0" eaLnBrk="1" fontAlgn="auto" hangingPunct="1">
                <a:spcBef>
                  <a:spcPct val="20000"/>
                </a:spcBef>
                <a:spcAft>
                  <a:spcPts val="0"/>
                </a:spcAft>
                <a:buClr>
                  <a:srgbClr val="822433"/>
                </a:buClr>
                <a:buChar char="•"/>
                <a:defRPr sz="24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1pPr>
              <a:lvl2pPr marL="742950" indent="-28575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2pPr>
              <a:lvl3pPr marL="11430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16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3pPr>
              <a:lvl4pPr marL="16002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4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4pPr>
              <a:lvl5pPr marL="20574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  <a:defRPr/>
              </a:pPr>
              <a:fld id="{BE037B56-838D-4EA9-A433-B420C86CBEEB}" type="slidenum">
                <a:rPr lang="it-IT" altLang="en-US" sz="1400" b="1" smtClean="0">
                  <a:solidFill>
                    <a:schemeClr val="bg1"/>
                  </a:solidFill>
                  <a:latin typeface="Palatino"/>
                </a:rPr>
                <a:pPr>
                  <a:spcBef>
                    <a:spcPct val="0"/>
                  </a:spcBef>
                  <a:buClrTx/>
                  <a:buFontTx/>
                  <a:buNone/>
                  <a:defRPr/>
                </a:pPr>
                <a:t>7</a:t>
              </a:fld>
              <a:r>
                <a:rPr lang="it-IT" altLang="en-US" sz="1400" b="1" dirty="0">
                  <a:solidFill>
                    <a:schemeClr val="bg1"/>
                  </a:solidFill>
                  <a:latin typeface="Palatino"/>
                </a:rPr>
                <a:t>/18</a:t>
              </a:r>
            </a:p>
          </p:txBody>
        </p:sp>
      </p:grpSp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9CD52ADF-0561-C77D-3789-5675EA5D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AF981D20-6E20-E42E-A2D9-58419ED1A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Rotating Detonation Engine Activities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1B0469C0-01B0-F40A-A197-1269BE464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7/18</a:t>
            </a:r>
            <a:endParaRPr lang="en-US" dirty="0"/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CED25826-5628-9FAA-C086-5DB13B2EE142}"/>
              </a:ext>
            </a:extLst>
          </p:cNvPr>
          <p:cNvSpPr txBox="1">
            <a:spLocks/>
          </p:cNvSpPr>
          <p:nvPr/>
        </p:nvSpPr>
        <p:spPr>
          <a:xfrm>
            <a:off x="295491" y="346384"/>
            <a:ext cx="7131625" cy="5048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3200" b="1" dirty="0">
                <a:solidFill>
                  <a:srgbClr val="8224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Code Development and Capabilities</a:t>
            </a:r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BB200273-8605-F1C2-B1B2-4A2B8B14906A}"/>
              </a:ext>
            </a:extLst>
          </p:cNvPr>
          <p:cNvSpPr txBox="1"/>
          <p:nvPr/>
        </p:nvSpPr>
        <p:spPr>
          <a:xfrm>
            <a:off x="457200" y="990600"/>
            <a:ext cx="11277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en-US" sz="2800" dirty="0">
                <a:solidFill>
                  <a:srgbClr val="00677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/>
              </a:rPr>
              <a:t>V&amp;V</a:t>
            </a:r>
          </a:p>
          <a:p>
            <a:pPr algn="l">
              <a:buNone/>
            </a:pPr>
            <a:endParaRPr lang="en-US" sz="800" dirty="0"/>
          </a:p>
          <a:p>
            <a:pPr algn="l">
              <a:buNone/>
            </a:pPr>
            <a:r>
              <a:rPr lang="en-US" sz="1800" dirty="0">
                <a:solidFill>
                  <a:srgbClr val="822433"/>
                </a:solidFill>
                <a:latin typeface="Palatino Linotype"/>
              </a:rPr>
              <a:t>•  </a:t>
            </a:r>
            <a:r>
              <a:rPr lang="en-US" sz="1800" dirty="0">
                <a:solidFill>
                  <a:srgbClr val="2B2B2B"/>
                </a:solidFill>
                <a:latin typeface="Palatino Linotype"/>
              </a:rPr>
              <a:t>Validation against </a:t>
            </a:r>
            <a:r>
              <a:rPr lang="en-US" sz="1800" b="1" dirty="0">
                <a:solidFill>
                  <a:srgbClr val="2B2B2B"/>
                </a:solidFill>
                <a:latin typeface="Palatino Linotype"/>
              </a:rPr>
              <a:t>“unwrapped” literature test cases</a:t>
            </a:r>
            <a:r>
              <a:rPr lang="en-US" sz="1800" dirty="0">
                <a:solidFill>
                  <a:srgbClr val="2B2B2B"/>
                </a:solidFill>
                <a:latin typeface="Palatino Linotype"/>
              </a:rPr>
              <a:t> </a:t>
            </a:r>
            <a:r>
              <a:rPr lang="en-US" sz="1800" b="1" dirty="0">
                <a:solidFill>
                  <a:srgbClr val="822433"/>
                </a:solidFill>
                <a:latin typeface="Palatino Linotype"/>
              </a:rPr>
              <a:t>[2]</a:t>
            </a:r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95277E88-6BC0-64DD-9885-AA2AF68B6B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835" y="1913930"/>
            <a:ext cx="4314707" cy="3832141"/>
          </a:xfrm>
          <a:prstGeom prst="rect">
            <a:avLst/>
          </a:prstGeom>
        </p:spPr>
      </p:pic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6F292980-4C71-45ED-8482-1AE3A7F5FFE2}"/>
              </a:ext>
            </a:extLst>
          </p:cNvPr>
          <p:cNvSpPr txBox="1"/>
          <p:nvPr/>
        </p:nvSpPr>
        <p:spPr>
          <a:xfrm>
            <a:off x="457200" y="5842000"/>
            <a:ext cx="112776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buNone/>
            </a:pPr>
            <a:r>
              <a:rPr lang="en-US" sz="1000" b="1" dirty="0">
                <a:solidFill>
                  <a:srgbClr val="822433"/>
                </a:solidFill>
                <a:latin typeface="Palatino Linotype"/>
              </a:rPr>
              <a:t>[2]  </a:t>
            </a:r>
            <a:r>
              <a:rPr lang="en-US" sz="1000" dirty="0">
                <a:solidFill>
                  <a:srgbClr val="2B2B2B"/>
                </a:solidFill>
                <a:latin typeface="Palatino Linotype"/>
              </a:rPr>
              <a:t>D. Schwer and K. Kailasanath, “</a:t>
            </a:r>
            <a:r>
              <a:rPr lang="en-US" sz="1000" i="1" dirty="0">
                <a:solidFill>
                  <a:srgbClr val="2B2B2B"/>
                </a:solidFill>
                <a:latin typeface="Palatino Linotype"/>
              </a:rPr>
              <a:t>Feedback into mixture plenums in rotating detonation engines</a:t>
            </a:r>
            <a:r>
              <a:rPr lang="en-US" sz="1000" dirty="0">
                <a:solidFill>
                  <a:srgbClr val="2B2B2B"/>
                </a:solidFill>
                <a:latin typeface="Palatino Linotype"/>
              </a:rPr>
              <a:t>,” </a:t>
            </a:r>
            <a:r>
              <a:rPr lang="en-US" sz="1000" i="1" dirty="0">
                <a:solidFill>
                  <a:srgbClr val="2B2B2B"/>
                </a:solidFill>
                <a:latin typeface="Palatino Linotype"/>
              </a:rPr>
              <a:t>50th AIAA Aerospace Sciences Meeting</a:t>
            </a:r>
            <a:r>
              <a:rPr lang="en-US" sz="1000" dirty="0">
                <a:solidFill>
                  <a:srgbClr val="2B2B2B"/>
                </a:solidFill>
                <a:latin typeface="Palatino Linotype"/>
              </a:rPr>
              <a:t>, 2012.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E92687A4-8078-D85E-A83A-1137FE085EB8}"/>
              </a:ext>
            </a:extLst>
          </p:cNvPr>
          <p:cNvSpPr txBox="1"/>
          <p:nvPr/>
        </p:nvSpPr>
        <p:spPr>
          <a:xfrm>
            <a:off x="6381549" y="1975368"/>
            <a:ext cx="462013" cy="38727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35F9CCC-60B5-635E-1D37-E07BF2C9CB94}"/>
              </a:ext>
            </a:extLst>
          </p:cNvPr>
          <p:cNvSpPr txBox="1"/>
          <p:nvPr/>
        </p:nvSpPr>
        <p:spPr>
          <a:xfrm rot="16200000">
            <a:off x="8531047" y="-313794"/>
            <a:ext cx="636043" cy="44784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24525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52404-B5FF-D88C-0DD6-027F52479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magine 17">
            <a:extLst>
              <a:ext uri="{FF2B5EF4-FFF2-40B4-BE49-F238E27FC236}">
                <a16:creationId xmlns:a16="http://schemas.microsoft.com/office/drawing/2014/main" id="{F6DE30D0-1BAB-CBA4-715A-7640908FD7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4200" y="2222499"/>
            <a:ext cx="3784600" cy="3360951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6F942C87-6119-0A05-256E-811612A564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919" y="2222500"/>
            <a:ext cx="3903855" cy="3466856"/>
          </a:xfrm>
          <a:prstGeom prst="rect">
            <a:avLst/>
          </a:prstGeom>
        </p:spPr>
      </p:pic>
      <p:sp>
        <p:nvSpPr>
          <p:cNvPr id="24" name="Rettangolo 23">
            <a:extLst>
              <a:ext uri="{FF2B5EF4-FFF2-40B4-BE49-F238E27FC236}">
                <a16:creationId xmlns:a16="http://schemas.microsoft.com/office/drawing/2014/main" id="{8AA0A19D-3DDC-45E9-8E74-B40B5C2C5DD6}"/>
              </a:ext>
            </a:extLst>
          </p:cNvPr>
          <p:cNvSpPr/>
          <p:nvPr/>
        </p:nvSpPr>
        <p:spPr>
          <a:xfrm>
            <a:off x="4399280" y="2120900"/>
            <a:ext cx="7670800" cy="3708400"/>
          </a:xfrm>
          <a:prstGeom prst="rect">
            <a:avLst/>
          </a:prstGeom>
          <a:noFill/>
          <a:ln w="12700" cap="flat" cmpd="sng" algn="ctr">
            <a:solidFill>
              <a:srgbClr val="82243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CA8CC812-1DB6-C328-ABB5-8D4D02A22A8B}"/>
              </a:ext>
            </a:extLst>
          </p:cNvPr>
          <p:cNvGrpSpPr/>
          <p:nvPr/>
        </p:nvGrpSpPr>
        <p:grpSpPr>
          <a:xfrm>
            <a:off x="0" y="6108700"/>
            <a:ext cx="12191999" cy="741549"/>
            <a:chOff x="7950" y="6134100"/>
            <a:chExt cx="12184049" cy="741549"/>
          </a:xfrm>
        </p:grpSpPr>
        <p:grpSp>
          <p:nvGrpSpPr>
            <p:cNvPr id="4" name="Gruppo 3">
              <a:extLst>
                <a:ext uri="{FF2B5EF4-FFF2-40B4-BE49-F238E27FC236}">
                  <a16:creationId xmlns:a16="http://schemas.microsoft.com/office/drawing/2014/main" id="{F3E26C88-9EEA-9E2D-85E9-FD7945DC4CE6}"/>
                </a:ext>
              </a:extLst>
            </p:cNvPr>
            <p:cNvGrpSpPr/>
            <p:nvPr/>
          </p:nvGrpSpPr>
          <p:grpSpPr>
            <a:xfrm>
              <a:off x="7950" y="6134100"/>
              <a:ext cx="12184049" cy="741549"/>
              <a:chOff x="0" y="6134100"/>
              <a:chExt cx="12192000" cy="741549"/>
            </a:xfrm>
          </p:grpSpPr>
          <p:sp>
            <p:nvSpPr>
              <p:cNvPr id="10" name="Rectangle 23">
                <a:extLst>
                  <a:ext uri="{FF2B5EF4-FFF2-40B4-BE49-F238E27FC236}">
                    <a16:creationId xmlns:a16="http://schemas.microsoft.com/office/drawing/2014/main" id="{447AA13A-5657-ED7D-0483-BF7B4F7B50F4}"/>
                  </a:ext>
                </a:extLst>
              </p:cNvPr>
              <p:cNvSpPr/>
              <p:nvPr/>
            </p:nvSpPr>
            <p:spPr>
              <a:xfrm>
                <a:off x="0" y="6134100"/>
                <a:ext cx="12192000" cy="741549"/>
              </a:xfrm>
              <a:prstGeom prst="rect">
                <a:avLst/>
              </a:prstGeom>
              <a:solidFill>
                <a:srgbClr val="822333"/>
              </a:solidFill>
              <a:ln>
                <a:solidFill>
                  <a:srgbClr val="8223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4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Palatino"/>
                  </a:rPr>
                  <a:t>		                          HEM modeling for subcritical flows in liquid rocket engine cooling systems 			</a:t>
                </a:r>
                <a:endParaRPr lang="en-FR" sz="1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alatino"/>
                  <a:ea typeface="Palatino" pitchFamily="2" charset="77"/>
                  <a:cs typeface="FUTURA MEDIUM" panose="020B0602020204020303" pitchFamily="34" charset="-79"/>
                </a:endParaRPr>
              </a:p>
            </p:txBody>
          </p:sp>
          <p:pic>
            <p:nvPicPr>
              <p:cNvPr id="12" name="Picture 13" descr="logo +marchio">
                <a:extLst>
                  <a:ext uri="{FF2B5EF4-FFF2-40B4-BE49-F238E27FC236}">
                    <a16:creationId xmlns:a16="http://schemas.microsoft.com/office/drawing/2014/main" id="{A3D35975-8796-78D5-96FF-764F974090D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 cstate="print"/>
              <a:srcRect l="14831" r="54091"/>
              <a:stretch/>
            </p:blipFill>
            <p:spPr bwMode="auto">
              <a:xfrm>
                <a:off x="84996" y="6351184"/>
                <a:ext cx="1228478" cy="4953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" name="Rettangolo 2">
                <a:extLst>
                  <a:ext uri="{FF2B5EF4-FFF2-40B4-BE49-F238E27FC236}">
                    <a16:creationId xmlns:a16="http://schemas.microsoft.com/office/drawing/2014/main" id="{4BAA7DBC-3A77-EABB-70AA-655997632D6B}"/>
                  </a:ext>
                </a:extLst>
              </p:cNvPr>
              <p:cNvSpPr/>
              <p:nvPr/>
            </p:nvSpPr>
            <p:spPr>
              <a:xfrm>
                <a:off x="0" y="6134100"/>
                <a:ext cx="928464" cy="2057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Segnaposto numero diapositiva 6">
              <a:extLst>
                <a:ext uri="{FF2B5EF4-FFF2-40B4-BE49-F238E27FC236}">
                  <a16:creationId xmlns:a16="http://schemas.microsoft.com/office/drawing/2014/main" id="{2A95F984-03DB-0788-FB25-4F08F1A65738}"/>
                </a:ext>
              </a:extLst>
            </p:cNvPr>
            <p:cNvSpPr txBox="1">
              <a:spLocks/>
            </p:cNvSpPr>
            <p:nvPr/>
          </p:nvSpPr>
          <p:spPr>
            <a:xfrm>
              <a:off x="11270512" y="6276274"/>
              <a:ext cx="730988" cy="457200"/>
            </a:xfrm>
            <a:prstGeom prst="rect">
              <a:avLst/>
            </a:prstGeom>
            <a:noFill/>
          </p:spPr>
          <p:txBody>
            <a:bodyPr anchor="ctr"/>
            <a:lstStyle>
              <a:defPPr>
                <a:defRPr lang="en-US"/>
              </a:defPPr>
              <a:lvl1pPr algn="r" defTabSz="457200" rtl="0" eaLnBrk="1" fontAlgn="auto" hangingPunct="1">
                <a:spcBef>
                  <a:spcPct val="20000"/>
                </a:spcBef>
                <a:spcAft>
                  <a:spcPts val="0"/>
                </a:spcAft>
                <a:buClr>
                  <a:srgbClr val="822433"/>
                </a:buClr>
                <a:buChar char="•"/>
                <a:defRPr sz="24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1pPr>
              <a:lvl2pPr marL="742950" indent="-28575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2pPr>
              <a:lvl3pPr marL="11430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16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3pPr>
              <a:lvl4pPr marL="16002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4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4pPr>
              <a:lvl5pPr marL="20574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  <a:defRPr/>
              </a:pPr>
              <a:fld id="{BE037B56-838D-4EA9-A433-B420C86CBEEB}" type="slidenum">
                <a:rPr lang="it-IT" altLang="en-US" sz="1400" b="1" smtClean="0">
                  <a:solidFill>
                    <a:schemeClr val="bg1"/>
                  </a:solidFill>
                  <a:latin typeface="Palatino"/>
                </a:rPr>
                <a:pPr>
                  <a:spcBef>
                    <a:spcPct val="0"/>
                  </a:spcBef>
                  <a:buClrTx/>
                  <a:buFontTx/>
                  <a:buNone/>
                  <a:defRPr/>
                </a:pPr>
                <a:t>8</a:t>
              </a:fld>
              <a:r>
                <a:rPr lang="it-IT" altLang="en-US" sz="1400" b="1" dirty="0">
                  <a:solidFill>
                    <a:schemeClr val="bg1"/>
                  </a:solidFill>
                  <a:latin typeface="Palatino"/>
                </a:rPr>
                <a:t>/18</a:t>
              </a:r>
            </a:p>
          </p:txBody>
        </p:sp>
      </p:grpSp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BCAEEEB5-D60A-46D4-B969-C536BB3EA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AF19B5EB-B4BF-0BB6-7E12-75EA7D75F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Rotating Detonation Engine Activities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1A7A2CDC-ACC0-182C-04F8-F0C0A0940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8/18</a:t>
            </a:r>
            <a:endParaRPr lang="en-US" dirty="0"/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BA76D260-6925-43A3-9EFD-834FEBF54EC0}"/>
              </a:ext>
            </a:extLst>
          </p:cNvPr>
          <p:cNvSpPr txBox="1">
            <a:spLocks/>
          </p:cNvSpPr>
          <p:nvPr/>
        </p:nvSpPr>
        <p:spPr>
          <a:xfrm>
            <a:off x="295491" y="346384"/>
            <a:ext cx="7131625" cy="5048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3200" b="1" dirty="0">
                <a:solidFill>
                  <a:srgbClr val="8224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Code Development and Capabilities</a:t>
            </a:r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3E8A140B-47E1-8343-DDC8-3F7507B77C9E}"/>
              </a:ext>
            </a:extLst>
          </p:cNvPr>
          <p:cNvSpPr txBox="1"/>
          <p:nvPr/>
        </p:nvSpPr>
        <p:spPr>
          <a:xfrm>
            <a:off x="457199" y="990600"/>
            <a:ext cx="120249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en-US" sz="2800" dirty="0">
                <a:solidFill>
                  <a:srgbClr val="00677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/>
              </a:rPr>
              <a:t>V&amp;V</a:t>
            </a:r>
          </a:p>
          <a:p>
            <a:pPr algn="l">
              <a:buNone/>
            </a:pPr>
            <a:endParaRPr lang="en-US" sz="800" dirty="0"/>
          </a:p>
          <a:p>
            <a:pPr algn="l">
              <a:buNone/>
            </a:pPr>
            <a:r>
              <a:rPr lang="en-US" sz="1800" dirty="0">
                <a:solidFill>
                  <a:srgbClr val="822433"/>
                </a:solidFill>
                <a:latin typeface="Palatino Linotype"/>
              </a:rPr>
              <a:t>•  </a:t>
            </a:r>
            <a:r>
              <a:rPr lang="en-US" sz="1800" dirty="0">
                <a:solidFill>
                  <a:srgbClr val="2B2B2B"/>
                </a:solidFill>
                <a:latin typeface="Palatino Linotype"/>
              </a:rPr>
              <a:t>Extensive assessment of HYPERDE features (</a:t>
            </a:r>
            <a:r>
              <a:rPr lang="en-US" sz="1800" b="1" dirty="0">
                <a:solidFill>
                  <a:srgbClr val="2B2B2B"/>
                </a:solidFill>
                <a:latin typeface="Palatino Linotype"/>
              </a:rPr>
              <a:t>Q2D source terms</a:t>
            </a:r>
            <a:r>
              <a:rPr lang="en-US" sz="1800" dirty="0">
                <a:solidFill>
                  <a:srgbClr val="2B2B2B"/>
                </a:solidFill>
                <a:latin typeface="Palatino Linotype"/>
              </a:rPr>
              <a:t>, Q1D injectors-chamber, Q2D-3D connection)</a:t>
            </a:r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31C33D19-DD6A-649E-5ECB-C8346E46C1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5280" y="2222499"/>
            <a:ext cx="3903856" cy="3466857"/>
          </a:xfrm>
          <a:prstGeom prst="rect">
            <a:avLst/>
          </a:prstGeom>
        </p:spPr>
      </p:pic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3A540A39-6259-48B4-9B71-2C4CFB40AE64}"/>
              </a:ext>
            </a:extLst>
          </p:cNvPr>
          <p:cNvSpPr txBox="1"/>
          <p:nvPr/>
        </p:nvSpPr>
        <p:spPr>
          <a:xfrm>
            <a:off x="5816756" y="5541275"/>
            <a:ext cx="34036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it-IT" sz="1400" b="1" dirty="0">
                <a:solidFill>
                  <a:srgbClr val="822433"/>
                </a:solidFill>
                <a:latin typeface="Palatino Linotype"/>
              </a:rPr>
              <a:t>AR = 0.4</a:t>
            </a:r>
          </a:p>
        </p:txBody>
      </p:sp>
    </p:spTree>
    <p:extLst>
      <p:ext uri="{BB962C8B-B14F-4D97-AF65-F5344CB8AC3E}">
        <p14:creationId xmlns:p14="http://schemas.microsoft.com/office/powerpoint/2010/main" val="450732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693CA-FF31-0ECB-20D8-DE0CBCEE2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o 6">
            <a:extLst>
              <a:ext uri="{FF2B5EF4-FFF2-40B4-BE49-F238E27FC236}">
                <a16:creationId xmlns:a16="http://schemas.microsoft.com/office/drawing/2014/main" id="{7E726380-ACC1-1BAD-3699-960265B66EEC}"/>
              </a:ext>
            </a:extLst>
          </p:cNvPr>
          <p:cNvGrpSpPr/>
          <p:nvPr/>
        </p:nvGrpSpPr>
        <p:grpSpPr>
          <a:xfrm>
            <a:off x="0" y="6108700"/>
            <a:ext cx="12191999" cy="741549"/>
            <a:chOff x="7950" y="6134100"/>
            <a:chExt cx="12184049" cy="741549"/>
          </a:xfrm>
        </p:grpSpPr>
        <p:grpSp>
          <p:nvGrpSpPr>
            <p:cNvPr id="4" name="Gruppo 3">
              <a:extLst>
                <a:ext uri="{FF2B5EF4-FFF2-40B4-BE49-F238E27FC236}">
                  <a16:creationId xmlns:a16="http://schemas.microsoft.com/office/drawing/2014/main" id="{FAE93331-F67A-4C27-51C9-FD522F5326FB}"/>
                </a:ext>
              </a:extLst>
            </p:cNvPr>
            <p:cNvGrpSpPr/>
            <p:nvPr/>
          </p:nvGrpSpPr>
          <p:grpSpPr>
            <a:xfrm>
              <a:off x="7950" y="6134100"/>
              <a:ext cx="12184049" cy="741549"/>
              <a:chOff x="0" y="6134100"/>
              <a:chExt cx="12192000" cy="741549"/>
            </a:xfrm>
          </p:grpSpPr>
          <p:sp>
            <p:nvSpPr>
              <p:cNvPr id="10" name="Rectangle 23">
                <a:extLst>
                  <a:ext uri="{FF2B5EF4-FFF2-40B4-BE49-F238E27FC236}">
                    <a16:creationId xmlns:a16="http://schemas.microsoft.com/office/drawing/2014/main" id="{93A7402E-CAB3-8A42-C492-B97A82188C8C}"/>
                  </a:ext>
                </a:extLst>
              </p:cNvPr>
              <p:cNvSpPr/>
              <p:nvPr/>
            </p:nvSpPr>
            <p:spPr>
              <a:xfrm>
                <a:off x="0" y="6134100"/>
                <a:ext cx="12192000" cy="741549"/>
              </a:xfrm>
              <a:prstGeom prst="rect">
                <a:avLst/>
              </a:prstGeom>
              <a:solidFill>
                <a:srgbClr val="822333"/>
              </a:solidFill>
              <a:ln>
                <a:solidFill>
                  <a:srgbClr val="8223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4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Palatino"/>
                  </a:rPr>
                  <a:t>		                          HEM modeling for subcritical flows in liquid rocket engine cooling systems 			</a:t>
                </a:r>
                <a:endParaRPr lang="en-FR" sz="1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alatino"/>
                  <a:ea typeface="Palatino" pitchFamily="2" charset="77"/>
                  <a:cs typeface="FUTURA MEDIUM" panose="020B0602020204020303" pitchFamily="34" charset="-79"/>
                </a:endParaRPr>
              </a:p>
            </p:txBody>
          </p:sp>
          <p:pic>
            <p:nvPicPr>
              <p:cNvPr id="12" name="Picture 13" descr="logo +marchio">
                <a:extLst>
                  <a:ext uri="{FF2B5EF4-FFF2-40B4-BE49-F238E27FC236}">
                    <a16:creationId xmlns:a16="http://schemas.microsoft.com/office/drawing/2014/main" id="{65EBCAF6-0745-FEB0-D728-50E63D8E239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/>
              <a:srcRect l="14831" r="54091"/>
              <a:stretch/>
            </p:blipFill>
            <p:spPr bwMode="auto">
              <a:xfrm>
                <a:off x="84996" y="6351184"/>
                <a:ext cx="1228478" cy="4953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" name="Rettangolo 2">
                <a:extLst>
                  <a:ext uri="{FF2B5EF4-FFF2-40B4-BE49-F238E27FC236}">
                    <a16:creationId xmlns:a16="http://schemas.microsoft.com/office/drawing/2014/main" id="{285FF4B1-0EE7-D815-6162-2401D18C35B1}"/>
                  </a:ext>
                </a:extLst>
              </p:cNvPr>
              <p:cNvSpPr/>
              <p:nvPr/>
            </p:nvSpPr>
            <p:spPr>
              <a:xfrm>
                <a:off x="0" y="6134100"/>
                <a:ext cx="928464" cy="2057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Segnaposto numero diapositiva 6">
              <a:extLst>
                <a:ext uri="{FF2B5EF4-FFF2-40B4-BE49-F238E27FC236}">
                  <a16:creationId xmlns:a16="http://schemas.microsoft.com/office/drawing/2014/main" id="{33FB19B0-77C7-9D55-A696-9E8712785E11}"/>
                </a:ext>
              </a:extLst>
            </p:cNvPr>
            <p:cNvSpPr txBox="1">
              <a:spLocks/>
            </p:cNvSpPr>
            <p:nvPr/>
          </p:nvSpPr>
          <p:spPr>
            <a:xfrm>
              <a:off x="11270512" y="6276274"/>
              <a:ext cx="730988" cy="457200"/>
            </a:xfrm>
            <a:prstGeom prst="rect">
              <a:avLst/>
            </a:prstGeom>
            <a:noFill/>
          </p:spPr>
          <p:txBody>
            <a:bodyPr anchor="ctr"/>
            <a:lstStyle>
              <a:defPPr>
                <a:defRPr lang="en-US"/>
              </a:defPPr>
              <a:lvl1pPr algn="r" defTabSz="457200" rtl="0" eaLnBrk="1" fontAlgn="auto" hangingPunct="1">
                <a:spcBef>
                  <a:spcPct val="20000"/>
                </a:spcBef>
                <a:spcAft>
                  <a:spcPts val="0"/>
                </a:spcAft>
                <a:buClr>
                  <a:srgbClr val="822433"/>
                </a:buClr>
                <a:buChar char="•"/>
                <a:defRPr sz="24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1pPr>
              <a:lvl2pPr marL="742950" indent="-28575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2pPr>
              <a:lvl3pPr marL="11430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16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3pPr>
              <a:lvl4pPr marL="16002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4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4pPr>
              <a:lvl5pPr marL="20574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  <a:defRPr/>
              </a:pPr>
              <a:fld id="{BE037B56-838D-4EA9-A433-B420C86CBEEB}" type="slidenum">
                <a:rPr lang="it-IT" altLang="en-US" sz="1400" b="1" smtClean="0">
                  <a:solidFill>
                    <a:schemeClr val="bg1"/>
                  </a:solidFill>
                  <a:latin typeface="Palatino"/>
                </a:rPr>
                <a:pPr>
                  <a:spcBef>
                    <a:spcPct val="0"/>
                  </a:spcBef>
                  <a:buClrTx/>
                  <a:buFontTx/>
                  <a:buNone/>
                  <a:defRPr/>
                </a:pPr>
                <a:t>9</a:t>
              </a:fld>
              <a:r>
                <a:rPr lang="it-IT" altLang="en-US" sz="1400" b="1" dirty="0">
                  <a:solidFill>
                    <a:schemeClr val="bg1"/>
                  </a:solidFill>
                  <a:latin typeface="Palatino"/>
                </a:rPr>
                <a:t>/18</a:t>
              </a:r>
            </a:p>
          </p:txBody>
        </p:sp>
      </p:grpSp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496C55C5-1AFC-0EB5-3787-11D5961AF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BF9D3AB5-56CC-A245-AC07-1287F5E40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Rotating Detonation Engine Activities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80F25540-93E7-ED90-EFA3-D5C5E8265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9/18</a:t>
            </a:r>
            <a:endParaRPr lang="en-US" dirty="0"/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4CB67A35-62FF-05B5-E20B-EA5410CFA0F1}"/>
              </a:ext>
            </a:extLst>
          </p:cNvPr>
          <p:cNvSpPr txBox="1">
            <a:spLocks/>
          </p:cNvSpPr>
          <p:nvPr/>
        </p:nvSpPr>
        <p:spPr>
          <a:xfrm>
            <a:off x="295491" y="346384"/>
            <a:ext cx="7131625" cy="5048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3200" b="1" dirty="0">
                <a:solidFill>
                  <a:srgbClr val="8224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Code Development and Capabilities</a:t>
            </a:r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587E9AA8-F671-F2C2-C956-DAED753B645F}"/>
              </a:ext>
            </a:extLst>
          </p:cNvPr>
          <p:cNvSpPr txBox="1"/>
          <p:nvPr/>
        </p:nvSpPr>
        <p:spPr>
          <a:xfrm>
            <a:off x="457199" y="990600"/>
            <a:ext cx="120249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en-US" sz="2800" dirty="0">
                <a:solidFill>
                  <a:srgbClr val="00677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/>
              </a:rPr>
              <a:t>V&amp;V</a:t>
            </a:r>
          </a:p>
          <a:p>
            <a:pPr algn="l">
              <a:buNone/>
            </a:pPr>
            <a:endParaRPr lang="en-US" sz="800" dirty="0"/>
          </a:p>
          <a:p>
            <a:pPr algn="l">
              <a:buNone/>
            </a:pPr>
            <a:r>
              <a:rPr lang="en-US" sz="1800" dirty="0">
                <a:solidFill>
                  <a:srgbClr val="822433"/>
                </a:solidFill>
                <a:latin typeface="Palatino Linotype"/>
              </a:rPr>
              <a:t>•  </a:t>
            </a:r>
            <a:r>
              <a:rPr lang="en-US" sz="1800" dirty="0">
                <a:solidFill>
                  <a:srgbClr val="2B2B2B"/>
                </a:solidFill>
                <a:latin typeface="Palatino Linotype"/>
              </a:rPr>
              <a:t>Extensive assessment of HYPERDE features (Q2D source terms, </a:t>
            </a:r>
            <a:r>
              <a:rPr lang="en-US" sz="1800" b="1" dirty="0">
                <a:solidFill>
                  <a:srgbClr val="2B2B2B"/>
                </a:solidFill>
                <a:latin typeface="Palatino Linotype"/>
              </a:rPr>
              <a:t>Q1D injectors-chamber</a:t>
            </a:r>
            <a:r>
              <a:rPr lang="en-US" sz="1800" dirty="0">
                <a:solidFill>
                  <a:srgbClr val="2B2B2B"/>
                </a:solidFill>
                <a:latin typeface="Palatino Linotype"/>
              </a:rPr>
              <a:t>, Q2D-3D connection)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EBCAABF1-58C7-B0F7-6C5C-BEA74376AB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2939" y="2246558"/>
            <a:ext cx="4072939" cy="3620842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B83C7E8A-D085-00DE-373F-017474D04A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9060" y="2256773"/>
            <a:ext cx="4072939" cy="3620843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B24026F3-0875-75A8-A1AD-0D3C30F07D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48594"/>
            <a:ext cx="4072939" cy="3616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357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C025D-7026-D625-546A-5A6D10A41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video">
            <a:hlinkClick r:id="" action="ppaction://media"/>
            <a:extLst>
              <a:ext uri="{FF2B5EF4-FFF2-40B4-BE49-F238E27FC236}">
                <a16:creationId xmlns:a16="http://schemas.microsoft.com/office/drawing/2014/main" id="{38B1E48B-4710-D50E-12EA-2954116B984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851460" y="2248594"/>
            <a:ext cx="4072939" cy="3621135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CF8E9154-6F2B-B7B2-63DD-CAAF776435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8443" y="2336800"/>
            <a:ext cx="3806343" cy="3383838"/>
          </a:xfrm>
          <a:prstGeom prst="rect">
            <a:avLst/>
          </a:prstGeom>
        </p:spPr>
      </p:pic>
      <p:grpSp>
        <p:nvGrpSpPr>
          <p:cNvPr id="7" name="Gruppo 6">
            <a:extLst>
              <a:ext uri="{FF2B5EF4-FFF2-40B4-BE49-F238E27FC236}">
                <a16:creationId xmlns:a16="http://schemas.microsoft.com/office/drawing/2014/main" id="{CCE53F78-8AF7-0507-6434-60F5B14DF36D}"/>
              </a:ext>
            </a:extLst>
          </p:cNvPr>
          <p:cNvGrpSpPr/>
          <p:nvPr/>
        </p:nvGrpSpPr>
        <p:grpSpPr>
          <a:xfrm>
            <a:off x="0" y="6108700"/>
            <a:ext cx="12191999" cy="741549"/>
            <a:chOff x="7950" y="6134100"/>
            <a:chExt cx="12184049" cy="741549"/>
          </a:xfrm>
        </p:grpSpPr>
        <p:grpSp>
          <p:nvGrpSpPr>
            <p:cNvPr id="4" name="Gruppo 3">
              <a:extLst>
                <a:ext uri="{FF2B5EF4-FFF2-40B4-BE49-F238E27FC236}">
                  <a16:creationId xmlns:a16="http://schemas.microsoft.com/office/drawing/2014/main" id="{2BA2C0E6-BB74-27F1-9FB2-EDD44E446922}"/>
                </a:ext>
              </a:extLst>
            </p:cNvPr>
            <p:cNvGrpSpPr/>
            <p:nvPr/>
          </p:nvGrpSpPr>
          <p:grpSpPr>
            <a:xfrm>
              <a:off x="7950" y="6134100"/>
              <a:ext cx="12184049" cy="741549"/>
              <a:chOff x="0" y="6134100"/>
              <a:chExt cx="12192000" cy="741549"/>
            </a:xfrm>
          </p:grpSpPr>
          <p:sp>
            <p:nvSpPr>
              <p:cNvPr id="10" name="Rectangle 23">
                <a:extLst>
                  <a:ext uri="{FF2B5EF4-FFF2-40B4-BE49-F238E27FC236}">
                    <a16:creationId xmlns:a16="http://schemas.microsoft.com/office/drawing/2014/main" id="{5F982B8F-9F74-4685-FBCA-81156E0F5B73}"/>
                  </a:ext>
                </a:extLst>
              </p:cNvPr>
              <p:cNvSpPr/>
              <p:nvPr/>
            </p:nvSpPr>
            <p:spPr>
              <a:xfrm>
                <a:off x="0" y="6134100"/>
                <a:ext cx="12192000" cy="741549"/>
              </a:xfrm>
              <a:prstGeom prst="rect">
                <a:avLst/>
              </a:prstGeom>
              <a:solidFill>
                <a:srgbClr val="822333"/>
              </a:solidFill>
              <a:ln>
                <a:solidFill>
                  <a:srgbClr val="8223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4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Palatino"/>
                  </a:rPr>
                  <a:t>		                          HEM modeling for subcritical flows in liquid rocket engine cooling systems 			</a:t>
                </a:r>
                <a:endParaRPr lang="en-FR" sz="1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alatino"/>
                  <a:ea typeface="Palatino" pitchFamily="2" charset="77"/>
                  <a:cs typeface="FUTURA MEDIUM" panose="020B0602020204020303" pitchFamily="34" charset="-79"/>
                </a:endParaRPr>
              </a:p>
            </p:txBody>
          </p:sp>
          <p:pic>
            <p:nvPicPr>
              <p:cNvPr id="12" name="Picture 13" descr="logo +marchio">
                <a:extLst>
                  <a:ext uri="{FF2B5EF4-FFF2-40B4-BE49-F238E27FC236}">
                    <a16:creationId xmlns:a16="http://schemas.microsoft.com/office/drawing/2014/main" id="{B3A75CF2-8787-E91D-BB67-B73DDEAE226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 cstate="print"/>
              <a:srcRect l="14831" r="54091"/>
              <a:stretch/>
            </p:blipFill>
            <p:spPr bwMode="auto">
              <a:xfrm>
                <a:off x="84996" y="6351184"/>
                <a:ext cx="1228478" cy="4953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" name="Rettangolo 2">
                <a:extLst>
                  <a:ext uri="{FF2B5EF4-FFF2-40B4-BE49-F238E27FC236}">
                    <a16:creationId xmlns:a16="http://schemas.microsoft.com/office/drawing/2014/main" id="{EF3B0930-1CC7-5D68-B027-832559F41D47}"/>
                  </a:ext>
                </a:extLst>
              </p:cNvPr>
              <p:cNvSpPr/>
              <p:nvPr/>
            </p:nvSpPr>
            <p:spPr>
              <a:xfrm>
                <a:off x="0" y="6134100"/>
                <a:ext cx="928464" cy="2057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Segnaposto numero diapositiva 6">
              <a:extLst>
                <a:ext uri="{FF2B5EF4-FFF2-40B4-BE49-F238E27FC236}">
                  <a16:creationId xmlns:a16="http://schemas.microsoft.com/office/drawing/2014/main" id="{7FD40A69-0EFF-C6EC-52C5-179F219E9183}"/>
                </a:ext>
              </a:extLst>
            </p:cNvPr>
            <p:cNvSpPr txBox="1">
              <a:spLocks/>
            </p:cNvSpPr>
            <p:nvPr/>
          </p:nvSpPr>
          <p:spPr>
            <a:xfrm>
              <a:off x="11270512" y="6276274"/>
              <a:ext cx="730988" cy="457200"/>
            </a:xfrm>
            <a:prstGeom prst="rect">
              <a:avLst/>
            </a:prstGeom>
            <a:noFill/>
          </p:spPr>
          <p:txBody>
            <a:bodyPr anchor="ctr"/>
            <a:lstStyle>
              <a:defPPr>
                <a:defRPr lang="en-US"/>
              </a:defPPr>
              <a:lvl1pPr algn="r" defTabSz="457200" rtl="0" eaLnBrk="1" fontAlgn="auto" hangingPunct="1">
                <a:spcBef>
                  <a:spcPct val="20000"/>
                </a:spcBef>
                <a:spcAft>
                  <a:spcPts val="0"/>
                </a:spcAft>
                <a:buClr>
                  <a:srgbClr val="822433"/>
                </a:buClr>
                <a:buChar char="•"/>
                <a:defRPr sz="24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1pPr>
              <a:lvl2pPr marL="742950" indent="-28575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2pPr>
              <a:lvl3pPr marL="11430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16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3pPr>
              <a:lvl4pPr marL="16002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4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4pPr>
              <a:lvl5pPr marL="20574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  <a:defRPr/>
              </a:pPr>
              <a:fld id="{BE037B56-838D-4EA9-A433-B420C86CBEEB}" type="slidenum">
                <a:rPr lang="it-IT" altLang="en-US" sz="1400" b="1" smtClean="0">
                  <a:solidFill>
                    <a:schemeClr val="bg1"/>
                  </a:solidFill>
                  <a:latin typeface="Palatino"/>
                </a:rPr>
                <a:pPr>
                  <a:spcBef>
                    <a:spcPct val="0"/>
                  </a:spcBef>
                  <a:buClrTx/>
                  <a:buFontTx/>
                  <a:buNone/>
                  <a:defRPr/>
                </a:pPr>
                <a:t>10</a:t>
              </a:fld>
              <a:r>
                <a:rPr lang="it-IT" altLang="en-US" sz="1400" b="1" dirty="0">
                  <a:solidFill>
                    <a:schemeClr val="bg1"/>
                  </a:solidFill>
                  <a:latin typeface="Palatino"/>
                </a:rPr>
                <a:t>/18</a:t>
              </a:r>
            </a:p>
          </p:txBody>
        </p:sp>
      </p:grpSp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DCF9F0DF-139F-026F-69D2-B4BC6F143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2B1A86FF-D265-3602-8FCF-0CB3B2C47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Rotating Detonation Engine Activities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3B62513B-137F-E1FA-420D-0A6B1764C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10/18</a:t>
            </a:r>
            <a:endParaRPr lang="en-US" dirty="0"/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EC5F14D1-AD94-53AB-91FC-CBE59C1BCE97}"/>
              </a:ext>
            </a:extLst>
          </p:cNvPr>
          <p:cNvSpPr txBox="1">
            <a:spLocks/>
          </p:cNvSpPr>
          <p:nvPr/>
        </p:nvSpPr>
        <p:spPr>
          <a:xfrm>
            <a:off x="295491" y="346384"/>
            <a:ext cx="7131625" cy="5048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3200" b="1" dirty="0">
                <a:solidFill>
                  <a:srgbClr val="8224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Code Development and Capabilities</a:t>
            </a:r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7E575883-EB93-C287-067E-9F1C13665753}"/>
              </a:ext>
            </a:extLst>
          </p:cNvPr>
          <p:cNvSpPr txBox="1"/>
          <p:nvPr/>
        </p:nvSpPr>
        <p:spPr>
          <a:xfrm>
            <a:off x="457199" y="990600"/>
            <a:ext cx="120249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en-US" sz="2800" dirty="0">
                <a:solidFill>
                  <a:srgbClr val="00677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/>
              </a:rPr>
              <a:t>V&amp;V</a:t>
            </a:r>
          </a:p>
          <a:p>
            <a:pPr algn="l">
              <a:buNone/>
            </a:pPr>
            <a:endParaRPr lang="en-US" sz="800" dirty="0"/>
          </a:p>
          <a:p>
            <a:pPr algn="l">
              <a:buNone/>
            </a:pPr>
            <a:r>
              <a:rPr lang="en-US" sz="1800" dirty="0">
                <a:solidFill>
                  <a:srgbClr val="822433"/>
                </a:solidFill>
                <a:latin typeface="Palatino Linotype"/>
              </a:rPr>
              <a:t>•  </a:t>
            </a:r>
            <a:r>
              <a:rPr lang="en-US" sz="1800" dirty="0">
                <a:solidFill>
                  <a:srgbClr val="2B2B2B"/>
                </a:solidFill>
                <a:latin typeface="Palatino Linotype"/>
              </a:rPr>
              <a:t>Extensive assessment of HYPERDE features (Q2D source terms, Q1D injectors-chamber, </a:t>
            </a:r>
            <a:r>
              <a:rPr lang="en-US" sz="1800" b="1" dirty="0">
                <a:solidFill>
                  <a:srgbClr val="2B2B2B"/>
                </a:solidFill>
                <a:latin typeface="Palatino Linotype"/>
              </a:rPr>
              <a:t>Q2D-3D connection</a:t>
            </a:r>
            <a:r>
              <a:rPr lang="en-US" sz="1800" dirty="0">
                <a:solidFill>
                  <a:srgbClr val="2B2B2B"/>
                </a:solidFill>
                <a:latin typeface="Palatino Linotype"/>
              </a:rPr>
              <a:t>)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EF0E99DC-CC07-7553-AD46-D0118477112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48594"/>
            <a:ext cx="4072939" cy="3616770"/>
          </a:xfrm>
          <a:prstGeom prst="rect">
            <a:avLst/>
          </a:prstGeom>
        </p:spPr>
      </p:pic>
      <p:sp>
        <p:nvSpPr>
          <p:cNvPr id="11" name="Rettangolo 10">
            <a:extLst>
              <a:ext uri="{FF2B5EF4-FFF2-40B4-BE49-F238E27FC236}">
                <a16:creationId xmlns:a16="http://schemas.microsoft.com/office/drawing/2014/main" id="{1675CFBD-0B69-A0AC-AEAB-F82271DD7107}"/>
              </a:ext>
            </a:extLst>
          </p:cNvPr>
          <p:cNvSpPr/>
          <p:nvPr/>
        </p:nvSpPr>
        <p:spPr>
          <a:xfrm>
            <a:off x="2316480" y="2120900"/>
            <a:ext cx="223520" cy="3708400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854DBED5-9116-D677-BE46-FA665DDA3F78}"/>
              </a:ext>
            </a:extLst>
          </p:cNvPr>
          <p:cNvSpPr/>
          <p:nvPr/>
        </p:nvSpPr>
        <p:spPr>
          <a:xfrm>
            <a:off x="2846841" y="2336800"/>
            <a:ext cx="668519" cy="135128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19" name="Freccia in giù 18">
            <a:extLst>
              <a:ext uri="{FF2B5EF4-FFF2-40B4-BE49-F238E27FC236}">
                <a16:creationId xmlns:a16="http://schemas.microsoft.com/office/drawing/2014/main" id="{AA58FC08-002A-00F2-879D-E6BC75E5CBE1}"/>
              </a:ext>
            </a:extLst>
          </p:cNvPr>
          <p:cNvSpPr/>
          <p:nvPr/>
        </p:nvSpPr>
        <p:spPr>
          <a:xfrm rot="16200000">
            <a:off x="2999544" y="3628151"/>
            <a:ext cx="484632" cy="731520"/>
          </a:xfrm>
          <a:prstGeom prst="downArrow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Freccia in giù 20">
            <a:extLst>
              <a:ext uri="{FF2B5EF4-FFF2-40B4-BE49-F238E27FC236}">
                <a16:creationId xmlns:a16="http://schemas.microsoft.com/office/drawing/2014/main" id="{DE91EC6A-0F3C-9DFF-FDAB-ABE4B41C84A0}"/>
              </a:ext>
            </a:extLst>
          </p:cNvPr>
          <p:cNvSpPr/>
          <p:nvPr/>
        </p:nvSpPr>
        <p:spPr>
          <a:xfrm rot="16200000">
            <a:off x="8018183" y="3662959"/>
            <a:ext cx="484632" cy="731520"/>
          </a:xfrm>
          <a:prstGeom prst="downArrow">
            <a:avLst/>
          </a:prstGeom>
          <a:solidFill>
            <a:srgbClr val="822433"/>
          </a:solidFill>
          <a:ln>
            <a:solidFill>
              <a:srgbClr val="8224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8102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3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C3BAB-2B61-5C21-22B8-DA5F01961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o 6">
            <a:extLst>
              <a:ext uri="{FF2B5EF4-FFF2-40B4-BE49-F238E27FC236}">
                <a16:creationId xmlns:a16="http://schemas.microsoft.com/office/drawing/2014/main" id="{8774C85A-1182-D3FF-D019-C37F290086B4}"/>
              </a:ext>
            </a:extLst>
          </p:cNvPr>
          <p:cNvGrpSpPr/>
          <p:nvPr/>
        </p:nvGrpSpPr>
        <p:grpSpPr>
          <a:xfrm>
            <a:off x="0" y="6108700"/>
            <a:ext cx="12191999" cy="741549"/>
            <a:chOff x="7950" y="6134100"/>
            <a:chExt cx="12184049" cy="741549"/>
          </a:xfrm>
        </p:grpSpPr>
        <p:grpSp>
          <p:nvGrpSpPr>
            <p:cNvPr id="4" name="Gruppo 3">
              <a:extLst>
                <a:ext uri="{FF2B5EF4-FFF2-40B4-BE49-F238E27FC236}">
                  <a16:creationId xmlns:a16="http://schemas.microsoft.com/office/drawing/2014/main" id="{5AFED1ED-BDA5-1854-6E01-47D6B005AEE0}"/>
                </a:ext>
              </a:extLst>
            </p:cNvPr>
            <p:cNvGrpSpPr/>
            <p:nvPr/>
          </p:nvGrpSpPr>
          <p:grpSpPr>
            <a:xfrm>
              <a:off x="7950" y="6134100"/>
              <a:ext cx="12184049" cy="741549"/>
              <a:chOff x="0" y="6134100"/>
              <a:chExt cx="12192000" cy="741549"/>
            </a:xfrm>
          </p:grpSpPr>
          <p:sp>
            <p:nvSpPr>
              <p:cNvPr id="10" name="Rectangle 23">
                <a:extLst>
                  <a:ext uri="{FF2B5EF4-FFF2-40B4-BE49-F238E27FC236}">
                    <a16:creationId xmlns:a16="http://schemas.microsoft.com/office/drawing/2014/main" id="{E881DB14-421D-7F5C-B3AA-1786A16D5979}"/>
                  </a:ext>
                </a:extLst>
              </p:cNvPr>
              <p:cNvSpPr/>
              <p:nvPr/>
            </p:nvSpPr>
            <p:spPr>
              <a:xfrm>
                <a:off x="0" y="6134100"/>
                <a:ext cx="12192000" cy="741549"/>
              </a:xfrm>
              <a:prstGeom prst="rect">
                <a:avLst/>
              </a:prstGeom>
              <a:solidFill>
                <a:srgbClr val="822333"/>
              </a:solidFill>
              <a:ln>
                <a:solidFill>
                  <a:srgbClr val="8223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4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Palatino"/>
                  </a:rPr>
                  <a:t>		                          HEM modeling for subcritical flows in liquid rocket engine cooling systems 			</a:t>
                </a:r>
                <a:endParaRPr lang="en-FR" sz="1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alatino"/>
                  <a:ea typeface="Palatino" pitchFamily="2" charset="77"/>
                  <a:cs typeface="FUTURA MEDIUM" panose="020B0602020204020303" pitchFamily="34" charset="-79"/>
                </a:endParaRPr>
              </a:p>
            </p:txBody>
          </p:sp>
          <p:pic>
            <p:nvPicPr>
              <p:cNvPr id="12" name="Picture 13" descr="logo +marchio">
                <a:extLst>
                  <a:ext uri="{FF2B5EF4-FFF2-40B4-BE49-F238E27FC236}">
                    <a16:creationId xmlns:a16="http://schemas.microsoft.com/office/drawing/2014/main" id="{C4897A6E-62E0-1DAD-75A7-DCEEE529301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/>
              <a:srcRect l="14831" r="54091"/>
              <a:stretch/>
            </p:blipFill>
            <p:spPr bwMode="auto">
              <a:xfrm>
                <a:off x="84996" y="6351184"/>
                <a:ext cx="1228478" cy="4953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" name="Rettangolo 2">
                <a:extLst>
                  <a:ext uri="{FF2B5EF4-FFF2-40B4-BE49-F238E27FC236}">
                    <a16:creationId xmlns:a16="http://schemas.microsoft.com/office/drawing/2014/main" id="{0297B6E1-55B6-ED38-07C4-9C209768DFFA}"/>
                  </a:ext>
                </a:extLst>
              </p:cNvPr>
              <p:cNvSpPr/>
              <p:nvPr/>
            </p:nvSpPr>
            <p:spPr>
              <a:xfrm>
                <a:off x="0" y="6134100"/>
                <a:ext cx="928464" cy="2057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Segnaposto numero diapositiva 6">
              <a:extLst>
                <a:ext uri="{FF2B5EF4-FFF2-40B4-BE49-F238E27FC236}">
                  <a16:creationId xmlns:a16="http://schemas.microsoft.com/office/drawing/2014/main" id="{3F7AE62F-008C-86D8-8708-DDD552DAD902}"/>
                </a:ext>
              </a:extLst>
            </p:cNvPr>
            <p:cNvSpPr txBox="1">
              <a:spLocks/>
            </p:cNvSpPr>
            <p:nvPr/>
          </p:nvSpPr>
          <p:spPr>
            <a:xfrm>
              <a:off x="11270512" y="6276274"/>
              <a:ext cx="730988" cy="457200"/>
            </a:xfrm>
            <a:prstGeom prst="rect">
              <a:avLst/>
            </a:prstGeom>
            <a:noFill/>
          </p:spPr>
          <p:txBody>
            <a:bodyPr anchor="ctr"/>
            <a:lstStyle>
              <a:defPPr>
                <a:defRPr lang="en-US"/>
              </a:defPPr>
              <a:lvl1pPr algn="r" defTabSz="457200" rtl="0" eaLnBrk="1" fontAlgn="auto" hangingPunct="1">
                <a:spcBef>
                  <a:spcPct val="20000"/>
                </a:spcBef>
                <a:spcAft>
                  <a:spcPts val="0"/>
                </a:spcAft>
                <a:buClr>
                  <a:srgbClr val="822433"/>
                </a:buClr>
                <a:buChar char="•"/>
                <a:defRPr sz="24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1pPr>
              <a:lvl2pPr marL="742950" indent="-28575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2pPr>
              <a:lvl3pPr marL="11430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16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3pPr>
              <a:lvl4pPr marL="16002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4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4pPr>
              <a:lvl5pPr marL="20574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  <a:defRPr/>
              </a:pPr>
              <a:fld id="{BE037B56-838D-4EA9-A433-B420C86CBEEB}" type="slidenum">
                <a:rPr lang="it-IT" altLang="en-US" sz="1400" b="1" smtClean="0">
                  <a:solidFill>
                    <a:schemeClr val="bg1"/>
                  </a:solidFill>
                  <a:latin typeface="Palatino"/>
                </a:rPr>
                <a:pPr>
                  <a:spcBef>
                    <a:spcPct val="0"/>
                  </a:spcBef>
                  <a:buClrTx/>
                  <a:buFontTx/>
                  <a:buNone/>
                  <a:defRPr/>
                </a:pPr>
                <a:t>11</a:t>
              </a:fld>
              <a:r>
                <a:rPr lang="it-IT" altLang="en-US" sz="1400" b="1" dirty="0">
                  <a:solidFill>
                    <a:schemeClr val="bg1"/>
                  </a:solidFill>
                  <a:latin typeface="Palatino"/>
                </a:rPr>
                <a:t>/18</a:t>
              </a:r>
            </a:p>
          </p:txBody>
        </p:sp>
      </p:grpSp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75901BDA-B025-8B5A-5412-CA84283BC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19C03B4D-1439-C5E7-0BF2-CBCDFCB27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Rotating Detonation Engine Activities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CB21CCED-EA68-57D1-A98F-53A7F5CEB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11/18</a:t>
            </a:r>
            <a:endParaRPr lang="en-US" dirty="0"/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A62A83BA-43F7-1233-0E31-666A27FDB3EC}"/>
              </a:ext>
            </a:extLst>
          </p:cNvPr>
          <p:cNvSpPr txBox="1">
            <a:spLocks/>
          </p:cNvSpPr>
          <p:nvPr/>
        </p:nvSpPr>
        <p:spPr>
          <a:xfrm>
            <a:off x="295492" y="428030"/>
            <a:ext cx="9289379" cy="5516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3200" b="1" dirty="0">
                <a:solidFill>
                  <a:srgbClr val="8224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Characterization of Refill Region Dynamics (with RMIT and NCSU) </a:t>
            </a:r>
          </a:p>
        </p:txBody>
      </p:sp>
      <p:grpSp>
        <p:nvGrpSpPr>
          <p:cNvPr id="8" name="Group 58">
            <a:extLst>
              <a:ext uri="{FF2B5EF4-FFF2-40B4-BE49-F238E27FC236}">
                <a16:creationId xmlns:a16="http://schemas.microsoft.com/office/drawing/2014/main" id="{C9056756-626D-C42B-E59A-5FA16F82163E}"/>
              </a:ext>
            </a:extLst>
          </p:cNvPr>
          <p:cNvGrpSpPr>
            <a:grpSpLocks noChangeAspect="1"/>
          </p:cNvGrpSpPr>
          <p:nvPr/>
        </p:nvGrpSpPr>
        <p:grpSpPr>
          <a:xfrm>
            <a:off x="821248" y="2448064"/>
            <a:ext cx="3389649" cy="1070153"/>
            <a:chOff x="821248" y="2446387"/>
            <a:chExt cx="4864842" cy="1535889"/>
          </a:xfrm>
        </p:grpSpPr>
        <p:pic>
          <p:nvPicPr>
            <p:cNvPr id="9" name="Picture 54">
              <a:extLst>
                <a:ext uri="{FF2B5EF4-FFF2-40B4-BE49-F238E27FC236}">
                  <a16:creationId xmlns:a16="http://schemas.microsoft.com/office/drawing/2014/main" id="{7C4CEB72-3F3B-7046-7F94-1CE616B89B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3925" b="15261"/>
            <a:stretch>
              <a:fillRect/>
            </a:stretch>
          </p:blipFill>
          <p:spPr>
            <a:xfrm>
              <a:off x="821248" y="2446387"/>
              <a:ext cx="4864842" cy="1386025"/>
            </a:xfrm>
            <a:prstGeom prst="rect">
              <a:avLst/>
            </a:prstGeom>
          </p:spPr>
        </p:pic>
        <p:sp>
          <p:nvSpPr>
            <p:cNvPr id="14" name="Rectangle 56">
              <a:extLst>
                <a:ext uri="{FF2B5EF4-FFF2-40B4-BE49-F238E27FC236}">
                  <a16:creationId xmlns:a16="http://schemas.microsoft.com/office/drawing/2014/main" id="{8CF97A06-30AA-99F2-8998-6BD5FBD0F1AB}"/>
                </a:ext>
              </a:extLst>
            </p:cNvPr>
            <p:cNvSpPr/>
            <p:nvPr/>
          </p:nvSpPr>
          <p:spPr>
            <a:xfrm>
              <a:off x="821248" y="2621651"/>
              <a:ext cx="429702" cy="3505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7" name="Rectangle 57">
              <a:extLst>
                <a:ext uri="{FF2B5EF4-FFF2-40B4-BE49-F238E27FC236}">
                  <a16:creationId xmlns:a16="http://schemas.microsoft.com/office/drawing/2014/main" id="{06D02E51-850F-2997-C0E2-C88B01B604BC}"/>
                </a:ext>
              </a:extLst>
            </p:cNvPr>
            <p:cNvSpPr/>
            <p:nvPr/>
          </p:nvSpPr>
          <p:spPr>
            <a:xfrm>
              <a:off x="2948886" y="3794135"/>
              <a:ext cx="391214" cy="1881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pic>
        <p:nvPicPr>
          <p:cNvPr id="19" name="Picture 69">
            <a:extLst>
              <a:ext uri="{FF2B5EF4-FFF2-40B4-BE49-F238E27FC236}">
                <a16:creationId xmlns:a16="http://schemas.microsoft.com/office/drawing/2014/main" id="{BF859A48-F590-FCBE-A65B-32987771A5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2986" y="2293051"/>
            <a:ext cx="2624689" cy="1344721"/>
          </a:xfrm>
          <a:prstGeom prst="rect">
            <a:avLst/>
          </a:prstGeom>
        </p:spPr>
      </p:pic>
      <p:pic>
        <p:nvPicPr>
          <p:cNvPr id="20" name="Picture 69">
            <a:extLst>
              <a:ext uri="{FF2B5EF4-FFF2-40B4-BE49-F238E27FC236}">
                <a16:creationId xmlns:a16="http://schemas.microsoft.com/office/drawing/2014/main" id="{3F5828A9-6B19-02E4-EF31-546A39D54A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2986" y="2293051"/>
            <a:ext cx="2624689" cy="1344721"/>
          </a:xfrm>
          <a:prstGeom prst="rect">
            <a:avLst/>
          </a:prstGeom>
        </p:spPr>
      </p:pic>
      <p:pic>
        <p:nvPicPr>
          <p:cNvPr id="21" name="Picture 72">
            <a:extLst>
              <a:ext uri="{FF2B5EF4-FFF2-40B4-BE49-F238E27FC236}">
                <a16:creationId xmlns:a16="http://schemas.microsoft.com/office/drawing/2014/main" id="{AE8CD984-8BD0-8EA8-70E7-D769775460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1693" y="2253350"/>
            <a:ext cx="2318178" cy="1567946"/>
          </a:xfrm>
          <a:prstGeom prst="rect">
            <a:avLst/>
          </a:prstGeom>
        </p:spPr>
      </p:pic>
      <p:pic>
        <p:nvPicPr>
          <p:cNvPr id="22" name="Picture 69">
            <a:extLst>
              <a:ext uri="{FF2B5EF4-FFF2-40B4-BE49-F238E27FC236}">
                <a16:creationId xmlns:a16="http://schemas.microsoft.com/office/drawing/2014/main" id="{66B3DD08-FAE1-E9D6-425A-CACC39FBD8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2986" y="2293051"/>
            <a:ext cx="2624689" cy="1344721"/>
          </a:xfrm>
          <a:prstGeom prst="rect">
            <a:avLst/>
          </a:prstGeom>
        </p:spPr>
      </p:pic>
      <p:pic>
        <p:nvPicPr>
          <p:cNvPr id="23" name="Picture 72">
            <a:extLst>
              <a:ext uri="{FF2B5EF4-FFF2-40B4-BE49-F238E27FC236}">
                <a16:creationId xmlns:a16="http://schemas.microsoft.com/office/drawing/2014/main" id="{981AE3D5-CBF2-1568-67A4-52E768FBEE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1693" y="2253350"/>
            <a:ext cx="2318178" cy="1567946"/>
          </a:xfrm>
          <a:prstGeom prst="rect">
            <a:avLst/>
          </a:prstGeom>
        </p:spPr>
      </p:pic>
      <p:pic>
        <p:nvPicPr>
          <p:cNvPr id="24" name="Picture 74">
            <a:extLst>
              <a:ext uri="{FF2B5EF4-FFF2-40B4-BE49-F238E27FC236}">
                <a16:creationId xmlns:a16="http://schemas.microsoft.com/office/drawing/2014/main" id="{6AD4937B-924E-AE78-4382-13717AC2DB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54232" y="2373376"/>
            <a:ext cx="2279720" cy="1047585"/>
          </a:xfrm>
          <a:prstGeom prst="rect">
            <a:avLst/>
          </a:prstGeom>
        </p:spPr>
      </p:pic>
      <p:sp>
        <p:nvSpPr>
          <p:cNvPr id="25" name="TextBox 1">
            <a:extLst>
              <a:ext uri="{FF2B5EF4-FFF2-40B4-BE49-F238E27FC236}">
                <a16:creationId xmlns:a16="http://schemas.microsoft.com/office/drawing/2014/main" id="{80362398-2D95-63F9-22B1-ED2D35C9EC82}"/>
              </a:ext>
            </a:extLst>
          </p:cNvPr>
          <p:cNvSpPr txBox="1"/>
          <p:nvPr/>
        </p:nvSpPr>
        <p:spPr>
          <a:xfrm>
            <a:off x="613541" y="4310515"/>
            <a:ext cx="111530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b="1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How does the geometry affect the refill region expansion process?</a:t>
            </a:r>
          </a:p>
          <a:p>
            <a:pPr marL="457200" indent="-457200">
              <a:buFontTx/>
              <a:buChar char="-"/>
            </a:pPr>
            <a:r>
              <a:rPr lang="en-US" b="1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What happens if/when expansion yields supersonic Mach number in the layer?</a:t>
            </a:r>
          </a:p>
          <a:p>
            <a:pPr marL="457200" indent="-457200">
              <a:buFontTx/>
              <a:buChar char="-"/>
            </a:pPr>
            <a:r>
              <a:rPr lang="en-US" b="1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Can the process be modelled?</a:t>
            </a:r>
          </a:p>
          <a:p>
            <a:pPr marL="457200" indent="-457200">
              <a:buFontTx/>
              <a:buChar char="-"/>
            </a:pPr>
            <a:r>
              <a:rPr lang="en-US" b="1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How does the overall phenomenology impact the stagnation pressure losses?</a:t>
            </a:r>
            <a:endParaRPr lang="en-US" dirty="0">
              <a:latin typeface="Palatino Linotype" panose="0204050205050503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4C0DF9BD-134A-F943-937D-3F4A0A416EB1}"/>
              </a:ext>
            </a:extLst>
          </p:cNvPr>
          <p:cNvSpPr txBox="1"/>
          <p:nvPr/>
        </p:nvSpPr>
        <p:spPr>
          <a:xfrm>
            <a:off x="613541" y="1114851"/>
            <a:ext cx="1115300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Understanding physics of RDE refill regions with diverging inlets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Introduced to </a:t>
            </a:r>
            <a:r>
              <a:rPr lang="en-US" b="1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mitigate separation losses </a:t>
            </a:r>
            <a:r>
              <a:rPr lang="en-US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associated with </a:t>
            </a:r>
            <a:r>
              <a:rPr lang="en-US" b="1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backward-facing steps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Experimental and numerical evidence instead reports </a:t>
            </a:r>
            <a:r>
              <a:rPr lang="en-US" b="1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degraded overall performance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</a:p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endParaRPr lang="en-A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Group 416">
            <a:extLst>
              <a:ext uri="{FF2B5EF4-FFF2-40B4-BE49-F238E27FC236}">
                <a16:creationId xmlns:a16="http://schemas.microsoft.com/office/drawing/2014/main" id="{D7FB79D7-206E-001E-AE6C-8DFEEFA9E98A}"/>
              </a:ext>
            </a:extLst>
          </p:cNvPr>
          <p:cNvGrpSpPr>
            <a:grpSpLocks noChangeAspect="1"/>
          </p:cNvGrpSpPr>
          <p:nvPr/>
        </p:nvGrpSpPr>
        <p:grpSpPr>
          <a:xfrm>
            <a:off x="10520776" y="3520771"/>
            <a:ext cx="1220451" cy="2304336"/>
            <a:chOff x="261310" y="1275289"/>
            <a:chExt cx="2201062" cy="4155831"/>
          </a:xfrm>
        </p:grpSpPr>
        <p:sp>
          <p:nvSpPr>
            <p:cNvPr id="16" name="Freeform: Shape 417">
              <a:extLst>
                <a:ext uri="{FF2B5EF4-FFF2-40B4-BE49-F238E27FC236}">
                  <a16:creationId xmlns:a16="http://schemas.microsoft.com/office/drawing/2014/main" id="{14616ECC-B44C-EDB0-031B-9BA8C8DC4A3A}"/>
                </a:ext>
              </a:extLst>
            </p:cNvPr>
            <p:cNvSpPr/>
            <p:nvPr/>
          </p:nvSpPr>
          <p:spPr>
            <a:xfrm>
              <a:off x="328617" y="1417144"/>
              <a:ext cx="2133755" cy="892182"/>
            </a:xfrm>
            <a:custGeom>
              <a:avLst/>
              <a:gdLst>
                <a:gd name="connsiteX0" fmla="*/ 0 w 1691640"/>
                <a:gd name="connsiteY0" fmla="*/ 863600 h 863600"/>
                <a:gd name="connsiteX1" fmla="*/ 1391920 w 1691640"/>
                <a:gd name="connsiteY1" fmla="*/ 20320 h 863600"/>
                <a:gd name="connsiteX2" fmla="*/ 1691640 w 1691640"/>
                <a:gd name="connsiteY2" fmla="*/ 0 h 863600"/>
                <a:gd name="connsiteX3" fmla="*/ 254000 w 1691640"/>
                <a:gd name="connsiteY3" fmla="*/ 863600 h 863600"/>
                <a:gd name="connsiteX4" fmla="*/ 0 w 1691640"/>
                <a:gd name="connsiteY4" fmla="*/ 863600 h 863600"/>
                <a:gd name="connsiteX0" fmla="*/ 0 w 1691640"/>
                <a:gd name="connsiteY0" fmla="*/ 863600 h 863600"/>
                <a:gd name="connsiteX1" fmla="*/ 1391920 w 1691640"/>
                <a:gd name="connsiteY1" fmla="*/ 20320 h 863600"/>
                <a:gd name="connsiteX2" fmla="*/ 1691640 w 1691640"/>
                <a:gd name="connsiteY2" fmla="*/ 0 h 863600"/>
                <a:gd name="connsiteX3" fmla="*/ 278667 w 1691640"/>
                <a:gd name="connsiteY3" fmla="*/ 863600 h 863600"/>
                <a:gd name="connsiteX4" fmla="*/ 0 w 1691640"/>
                <a:gd name="connsiteY4" fmla="*/ 863600 h 863600"/>
                <a:gd name="connsiteX0" fmla="*/ 0 w 1711373"/>
                <a:gd name="connsiteY0" fmla="*/ 863600 h 863600"/>
                <a:gd name="connsiteX1" fmla="*/ 1391920 w 1711373"/>
                <a:gd name="connsiteY1" fmla="*/ 20320 h 863600"/>
                <a:gd name="connsiteX2" fmla="*/ 1711373 w 1711373"/>
                <a:gd name="connsiteY2" fmla="*/ 0 h 863600"/>
                <a:gd name="connsiteX3" fmla="*/ 278667 w 1711373"/>
                <a:gd name="connsiteY3" fmla="*/ 863600 h 863600"/>
                <a:gd name="connsiteX4" fmla="*/ 0 w 1711373"/>
                <a:gd name="connsiteY4" fmla="*/ 863600 h 863600"/>
                <a:gd name="connsiteX0" fmla="*/ 0 w 1822371"/>
                <a:gd name="connsiteY0" fmla="*/ 835698 h 863600"/>
                <a:gd name="connsiteX1" fmla="*/ 1502918 w 1822371"/>
                <a:gd name="connsiteY1" fmla="*/ 20320 h 863600"/>
                <a:gd name="connsiteX2" fmla="*/ 1822371 w 1822371"/>
                <a:gd name="connsiteY2" fmla="*/ 0 h 863600"/>
                <a:gd name="connsiteX3" fmla="*/ 389665 w 1822371"/>
                <a:gd name="connsiteY3" fmla="*/ 863600 h 863600"/>
                <a:gd name="connsiteX4" fmla="*/ 0 w 1822371"/>
                <a:gd name="connsiteY4" fmla="*/ 835698 h 863600"/>
                <a:gd name="connsiteX0" fmla="*/ 0 w 1822371"/>
                <a:gd name="connsiteY0" fmla="*/ 835698 h 863600"/>
                <a:gd name="connsiteX1" fmla="*/ 1354920 w 1822371"/>
                <a:gd name="connsiteY1" fmla="*/ 1719 h 863600"/>
                <a:gd name="connsiteX2" fmla="*/ 1822371 w 1822371"/>
                <a:gd name="connsiteY2" fmla="*/ 0 h 863600"/>
                <a:gd name="connsiteX3" fmla="*/ 389665 w 1822371"/>
                <a:gd name="connsiteY3" fmla="*/ 863600 h 863600"/>
                <a:gd name="connsiteX4" fmla="*/ 0 w 1822371"/>
                <a:gd name="connsiteY4" fmla="*/ 835698 h 863600"/>
                <a:gd name="connsiteX0" fmla="*/ 0 w 2035118"/>
                <a:gd name="connsiteY0" fmla="*/ 833979 h 861881"/>
                <a:gd name="connsiteX1" fmla="*/ 1354920 w 2035118"/>
                <a:gd name="connsiteY1" fmla="*/ 0 h 861881"/>
                <a:gd name="connsiteX2" fmla="*/ 2035118 w 2035118"/>
                <a:gd name="connsiteY2" fmla="*/ 7582 h 861881"/>
                <a:gd name="connsiteX3" fmla="*/ 389665 w 2035118"/>
                <a:gd name="connsiteY3" fmla="*/ 861881 h 861881"/>
                <a:gd name="connsiteX4" fmla="*/ 0 w 2035118"/>
                <a:gd name="connsiteY4" fmla="*/ 833979 h 861881"/>
                <a:gd name="connsiteX0" fmla="*/ 0 w 2035118"/>
                <a:gd name="connsiteY0" fmla="*/ 833979 h 871182"/>
                <a:gd name="connsiteX1" fmla="*/ 1354920 w 2035118"/>
                <a:gd name="connsiteY1" fmla="*/ 0 h 871182"/>
                <a:gd name="connsiteX2" fmla="*/ 2035118 w 2035118"/>
                <a:gd name="connsiteY2" fmla="*/ 7582 h 871182"/>
                <a:gd name="connsiteX3" fmla="*/ 602412 w 2035118"/>
                <a:gd name="connsiteY3" fmla="*/ 871182 h 871182"/>
                <a:gd name="connsiteX4" fmla="*/ 0 w 2035118"/>
                <a:gd name="connsiteY4" fmla="*/ 833979 h 871182"/>
                <a:gd name="connsiteX0" fmla="*/ 0 w 2072117"/>
                <a:gd name="connsiteY0" fmla="*/ 852580 h 871182"/>
                <a:gd name="connsiteX1" fmla="*/ 1391919 w 2072117"/>
                <a:gd name="connsiteY1" fmla="*/ 0 h 871182"/>
                <a:gd name="connsiteX2" fmla="*/ 2072117 w 2072117"/>
                <a:gd name="connsiteY2" fmla="*/ 7582 h 871182"/>
                <a:gd name="connsiteX3" fmla="*/ 639411 w 2072117"/>
                <a:gd name="connsiteY3" fmla="*/ 871182 h 871182"/>
                <a:gd name="connsiteX4" fmla="*/ 0 w 2072117"/>
                <a:gd name="connsiteY4" fmla="*/ 852580 h 871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2117" h="871182">
                  <a:moveTo>
                    <a:pt x="0" y="852580"/>
                  </a:moveTo>
                  <a:lnTo>
                    <a:pt x="1391919" y="0"/>
                  </a:lnTo>
                  <a:lnTo>
                    <a:pt x="2072117" y="7582"/>
                  </a:lnTo>
                  <a:lnTo>
                    <a:pt x="639411" y="871182"/>
                  </a:lnTo>
                  <a:lnTo>
                    <a:pt x="0" y="852580"/>
                  </a:lnTo>
                  <a:close/>
                </a:path>
              </a:pathLst>
            </a:custGeom>
            <a:solidFill>
              <a:srgbClr val="ECC0C8"/>
            </a:solidFill>
            <a:ln>
              <a:solidFill>
                <a:srgbClr val="ECC0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2200" dirty="0"/>
            </a:p>
          </p:txBody>
        </p:sp>
        <p:sp>
          <p:nvSpPr>
            <p:cNvPr id="29" name="Freeform: Shape 418">
              <a:extLst>
                <a:ext uri="{FF2B5EF4-FFF2-40B4-BE49-F238E27FC236}">
                  <a16:creationId xmlns:a16="http://schemas.microsoft.com/office/drawing/2014/main" id="{018C7233-3CCB-FB7A-EBC0-0358C1D64D3D}"/>
                </a:ext>
              </a:extLst>
            </p:cNvPr>
            <p:cNvSpPr/>
            <p:nvPr/>
          </p:nvSpPr>
          <p:spPr>
            <a:xfrm>
              <a:off x="517934" y="4248307"/>
              <a:ext cx="1728403" cy="867224"/>
            </a:xfrm>
            <a:custGeom>
              <a:avLst/>
              <a:gdLst>
                <a:gd name="connsiteX0" fmla="*/ 0 w 1691640"/>
                <a:gd name="connsiteY0" fmla="*/ 863600 h 863600"/>
                <a:gd name="connsiteX1" fmla="*/ 1391920 w 1691640"/>
                <a:gd name="connsiteY1" fmla="*/ 20320 h 863600"/>
                <a:gd name="connsiteX2" fmla="*/ 1691640 w 1691640"/>
                <a:gd name="connsiteY2" fmla="*/ 0 h 863600"/>
                <a:gd name="connsiteX3" fmla="*/ 254000 w 1691640"/>
                <a:gd name="connsiteY3" fmla="*/ 863600 h 863600"/>
                <a:gd name="connsiteX4" fmla="*/ 0 w 1691640"/>
                <a:gd name="connsiteY4" fmla="*/ 863600 h 863600"/>
                <a:gd name="connsiteX0" fmla="*/ 0 w 1691640"/>
                <a:gd name="connsiteY0" fmla="*/ 863600 h 863600"/>
                <a:gd name="connsiteX1" fmla="*/ 1391920 w 1691640"/>
                <a:gd name="connsiteY1" fmla="*/ 20320 h 863600"/>
                <a:gd name="connsiteX2" fmla="*/ 1691640 w 1691640"/>
                <a:gd name="connsiteY2" fmla="*/ 0 h 863600"/>
                <a:gd name="connsiteX3" fmla="*/ 278667 w 1691640"/>
                <a:gd name="connsiteY3" fmla="*/ 863600 h 863600"/>
                <a:gd name="connsiteX4" fmla="*/ 0 w 1691640"/>
                <a:gd name="connsiteY4" fmla="*/ 863600 h 863600"/>
                <a:gd name="connsiteX0" fmla="*/ 0 w 1711373"/>
                <a:gd name="connsiteY0" fmla="*/ 863600 h 863600"/>
                <a:gd name="connsiteX1" fmla="*/ 1391920 w 1711373"/>
                <a:gd name="connsiteY1" fmla="*/ 20320 h 863600"/>
                <a:gd name="connsiteX2" fmla="*/ 1711373 w 1711373"/>
                <a:gd name="connsiteY2" fmla="*/ 0 h 863600"/>
                <a:gd name="connsiteX3" fmla="*/ 278667 w 1711373"/>
                <a:gd name="connsiteY3" fmla="*/ 863600 h 863600"/>
                <a:gd name="connsiteX4" fmla="*/ 0 w 1711373"/>
                <a:gd name="connsiteY4" fmla="*/ 863600 h 863600"/>
                <a:gd name="connsiteX0" fmla="*/ 0 w 1822371"/>
                <a:gd name="connsiteY0" fmla="*/ 835698 h 863600"/>
                <a:gd name="connsiteX1" fmla="*/ 1502918 w 1822371"/>
                <a:gd name="connsiteY1" fmla="*/ 20320 h 863600"/>
                <a:gd name="connsiteX2" fmla="*/ 1822371 w 1822371"/>
                <a:gd name="connsiteY2" fmla="*/ 0 h 863600"/>
                <a:gd name="connsiteX3" fmla="*/ 389665 w 1822371"/>
                <a:gd name="connsiteY3" fmla="*/ 863600 h 863600"/>
                <a:gd name="connsiteX4" fmla="*/ 0 w 1822371"/>
                <a:gd name="connsiteY4" fmla="*/ 835698 h 863600"/>
                <a:gd name="connsiteX0" fmla="*/ 0 w 1822371"/>
                <a:gd name="connsiteY0" fmla="*/ 835698 h 863600"/>
                <a:gd name="connsiteX1" fmla="*/ 1354920 w 1822371"/>
                <a:gd name="connsiteY1" fmla="*/ 1719 h 863600"/>
                <a:gd name="connsiteX2" fmla="*/ 1822371 w 1822371"/>
                <a:gd name="connsiteY2" fmla="*/ 0 h 863600"/>
                <a:gd name="connsiteX3" fmla="*/ 389665 w 1822371"/>
                <a:gd name="connsiteY3" fmla="*/ 863600 h 863600"/>
                <a:gd name="connsiteX4" fmla="*/ 0 w 1822371"/>
                <a:gd name="connsiteY4" fmla="*/ 835698 h 863600"/>
                <a:gd name="connsiteX0" fmla="*/ 0 w 2035118"/>
                <a:gd name="connsiteY0" fmla="*/ 833979 h 861881"/>
                <a:gd name="connsiteX1" fmla="*/ 1354920 w 2035118"/>
                <a:gd name="connsiteY1" fmla="*/ 0 h 861881"/>
                <a:gd name="connsiteX2" fmla="*/ 2035118 w 2035118"/>
                <a:gd name="connsiteY2" fmla="*/ 7582 h 861881"/>
                <a:gd name="connsiteX3" fmla="*/ 389665 w 2035118"/>
                <a:gd name="connsiteY3" fmla="*/ 861881 h 861881"/>
                <a:gd name="connsiteX4" fmla="*/ 0 w 2035118"/>
                <a:gd name="connsiteY4" fmla="*/ 833979 h 861881"/>
                <a:gd name="connsiteX0" fmla="*/ 0 w 2035118"/>
                <a:gd name="connsiteY0" fmla="*/ 833979 h 871182"/>
                <a:gd name="connsiteX1" fmla="*/ 1354920 w 2035118"/>
                <a:gd name="connsiteY1" fmla="*/ 0 h 871182"/>
                <a:gd name="connsiteX2" fmla="*/ 2035118 w 2035118"/>
                <a:gd name="connsiteY2" fmla="*/ 7582 h 871182"/>
                <a:gd name="connsiteX3" fmla="*/ 602412 w 2035118"/>
                <a:gd name="connsiteY3" fmla="*/ 871182 h 871182"/>
                <a:gd name="connsiteX4" fmla="*/ 0 w 2035118"/>
                <a:gd name="connsiteY4" fmla="*/ 833979 h 871182"/>
                <a:gd name="connsiteX0" fmla="*/ 0 w 2072117"/>
                <a:gd name="connsiteY0" fmla="*/ 852580 h 871182"/>
                <a:gd name="connsiteX1" fmla="*/ 1391919 w 2072117"/>
                <a:gd name="connsiteY1" fmla="*/ 0 h 871182"/>
                <a:gd name="connsiteX2" fmla="*/ 2072117 w 2072117"/>
                <a:gd name="connsiteY2" fmla="*/ 7582 h 871182"/>
                <a:gd name="connsiteX3" fmla="*/ 639411 w 2072117"/>
                <a:gd name="connsiteY3" fmla="*/ 871182 h 871182"/>
                <a:gd name="connsiteX4" fmla="*/ 0 w 2072117"/>
                <a:gd name="connsiteY4" fmla="*/ 852580 h 871182"/>
                <a:gd name="connsiteX0" fmla="*/ 0 w 2042107"/>
                <a:gd name="connsiteY0" fmla="*/ 865624 h 871182"/>
                <a:gd name="connsiteX1" fmla="*/ 1361909 w 2042107"/>
                <a:gd name="connsiteY1" fmla="*/ 0 h 871182"/>
                <a:gd name="connsiteX2" fmla="*/ 2042107 w 2042107"/>
                <a:gd name="connsiteY2" fmla="*/ 7582 h 871182"/>
                <a:gd name="connsiteX3" fmla="*/ 609401 w 2042107"/>
                <a:gd name="connsiteY3" fmla="*/ 871182 h 871182"/>
                <a:gd name="connsiteX4" fmla="*/ 0 w 2042107"/>
                <a:gd name="connsiteY4" fmla="*/ 865624 h 871182"/>
                <a:gd name="connsiteX0" fmla="*/ 0 w 2042107"/>
                <a:gd name="connsiteY0" fmla="*/ 865624 h 897271"/>
                <a:gd name="connsiteX1" fmla="*/ 1361909 w 2042107"/>
                <a:gd name="connsiteY1" fmla="*/ 0 h 897271"/>
                <a:gd name="connsiteX2" fmla="*/ 2042107 w 2042107"/>
                <a:gd name="connsiteY2" fmla="*/ 7582 h 897271"/>
                <a:gd name="connsiteX3" fmla="*/ 316803 w 2042107"/>
                <a:gd name="connsiteY3" fmla="*/ 897271 h 897271"/>
                <a:gd name="connsiteX4" fmla="*/ 0 w 2042107"/>
                <a:gd name="connsiteY4" fmla="*/ 865624 h 897271"/>
                <a:gd name="connsiteX0" fmla="*/ 0 w 2042107"/>
                <a:gd name="connsiteY0" fmla="*/ 859102 h 890749"/>
                <a:gd name="connsiteX1" fmla="*/ 1662010 w 2042107"/>
                <a:gd name="connsiteY1" fmla="*/ 0 h 890749"/>
                <a:gd name="connsiteX2" fmla="*/ 2042107 w 2042107"/>
                <a:gd name="connsiteY2" fmla="*/ 1060 h 890749"/>
                <a:gd name="connsiteX3" fmla="*/ 316803 w 2042107"/>
                <a:gd name="connsiteY3" fmla="*/ 890749 h 890749"/>
                <a:gd name="connsiteX4" fmla="*/ 0 w 2042107"/>
                <a:gd name="connsiteY4" fmla="*/ 859102 h 890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2107" h="890749">
                  <a:moveTo>
                    <a:pt x="0" y="859102"/>
                  </a:moveTo>
                  <a:lnTo>
                    <a:pt x="1662010" y="0"/>
                  </a:lnTo>
                  <a:lnTo>
                    <a:pt x="2042107" y="1060"/>
                  </a:lnTo>
                  <a:lnTo>
                    <a:pt x="316803" y="890749"/>
                  </a:lnTo>
                  <a:lnTo>
                    <a:pt x="0" y="859102"/>
                  </a:lnTo>
                  <a:close/>
                </a:path>
              </a:pathLst>
            </a:custGeom>
            <a:solidFill>
              <a:srgbClr val="00B0F0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2200" dirty="0"/>
            </a:p>
          </p:txBody>
        </p:sp>
        <p:sp>
          <p:nvSpPr>
            <p:cNvPr id="30" name="Rectangle 3">
              <a:extLst>
                <a:ext uri="{FF2B5EF4-FFF2-40B4-BE49-F238E27FC236}">
                  <a16:creationId xmlns:a16="http://schemas.microsoft.com/office/drawing/2014/main" id="{5C3738F8-9B5D-C805-E356-96BA17BB3F9C}"/>
                </a:ext>
              </a:extLst>
            </p:cNvPr>
            <p:cNvSpPr/>
            <p:nvPr/>
          </p:nvSpPr>
          <p:spPr>
            <a:xfrm>
              <a:off x="263756" y="4105895"/>
              <a:ext cx="748553" cy="998530"/>
            </a:xfrm>
            <a:custGeom>
              <a:avLst/>
              <a:gdLst>
                <a:gd name="connsiteX0" fmla="*/ 0 w 748553"/>
                <a:gd name="connsiteY0" fmla="*/ 0 h 1002926"/>
                <a:gd name="connsiteX1" fmla="*/ 748553 w 748553"/>
                <a:gd name="connsiteY1" fmla="*/ 0 h 1002926"/>
                <a:gd name="connsiteX2" fmla="*/ 748553 w 748553"/>
                <a:gd name="connsiteY2" fmla="*/ 1002926 h 1002926"/>
                <a:gd name="connsiteX3" fmla="*/ 0 w 748553"/>
                <a:gd name="connsiteY3" fmla="*/ 1002926 h 1002926"/>
                <a:gd name="connsiteX4" fmla="*/ 0 w 748553"/>
                <a:gd name="connsiteY4" fmla="*/ 0 h 1002926"/>
                <a:gd name="connsiteX0" fmla="*/ 0 w 748553"/>
                <a:gd name="connsiteY0" fmla="*/ 0 h 1002926"/>
                <a:gd name="connsiteX1" fmla="*/ 748553 w 748553"/>
                <a:gd name="connsiteY1" fmla="*/ 0 h 1002926"/>
                <a:gd name="connsiteX2" fmla="*/ 572707 w 748553"/>
                <a:gd name="connsiteY2" fmla="*/ 998530 h 1002926"/>
                <a:gd name="connsiteX3" fmla="*/ 0 w 748553"/>
                <a:gd name="connsiteY3" fmla="*/ 1002926 h 1002926"/>
                <a:gd name="connsiteX4" fmla="*/ 0 w 748553"/>
                <a:gd name="connsiteY4" fmla="*/ 0 h 1002926"/>
                <a:gd name="connsiteX0" fmla="*/ 0 w 748553"/>
                <a:gd name="connsiteY0" fmla="*/ 0 h 1020511"/>
                <a:gd name="connsiteX1" fmla="*/ 748553 w 748553"/>
                <a:gd name="connsiteY1" fmla="*/ 0 h 1020511"/>
                <a:gd name="connsiteX2" fmla="*/ 572707 w 748553"/>
                <a:gd name="connsiteY2" fmla="*/ 998530 h 1020511"/>
                <a:gd name="connsiteX3" fmla="*/ 272562 w 748553"/>
                <a:gd name="connsiteY3" fmla="*/ 1020511 h 1020511"/>
                <a:gd name="connsiteX4" fmla="*/ 0 w 748553"/>
                <a:gd name="connsiteY4" fmla="*/ 0 h 1020511"/>
                <a:gd name="connsiteX0" fmla="*/ 0 w 748553"/>
                <a:gd name="connsiteY0" fmla="*/ 0 h 998530"/>
                <a:gd name="connsiteX1" fmla="*/ 748553 w 748553"/>
                <a:gd name="connsiteY1" fmla="*/ 0 h 998530"/>
                <a:gd name="connsiteX2" fmla="*/ 572707 w 748553"/>
                <a:gd name="connsiteY2" fmla="*/ 998530 h 998530"/>
                <a:gd name="connsiteX3" fmla="*/ 254977 w 748553"/>
                <a:gd name="connsiteY3" fmla="*/ 998530 h 998530"/>
                <a:gd name="connsiteX4" fmla="*/ 0 w 748553"/>
                <a:gd name="connsiteY4" fmla="*/ 0 h 998530"/>
                <a:gd name="connsiteX0" fmla="*/ 0 w 748553"/>
                <a:gd name="connsiteY0" fmla="*/ 0 h 998530"/>
                <a:gd name="connsiteX1" fmla="*/ 748553 w 748553"/>
                <a:gd name="connsiteY1" fmla="*/ 0 h 998530"/>
                <a:gd name="connsiteX2" fmla="*/ 572707 w 748553"/>
                <a:gd name="connsiteY2" fmla="*/ 998530 h 998530"/>
                <a:gd name="connsiteX3" fmla="*/ 215412 w 748553"/>
                <a:gd name="connsiteY3" fmla="*/ 994134 h 998530"/>
                <a:gd name="connsiteX4" fmla="*/ 0 w 748553"/>
                <a:gd name="connsiteY4" fmla="*/ 0 h 998530"/>
                <a:gd name="connsiteX0" fmla="*/ 0 w 748553"/>
                <a:gd name="connsiteY0" fmla="*/ 0 h 998530"/>
                <a:gd name="connsiteX1" fmla="*/ 748553 w 748553"/>
                <a:gd name="connsiteY1" fmla="*/ 0 h 998530"/>
                <a:gd name="connsiteX2" fmla="*/ 533142 w 748553"/>
                <a:gd name="connsiteY2" fmla="*/ 998530 h 998530"/>
                <a:gd name="connsiteX3" fmla="*/ 215412 w 748553"/>
                <a:gd name="connsiteY3" fmla="*/ 994134 h 998530"/>
                <a:gd name="connsiteX4" fmla="*/ 0 w 748553"/>
                <a:gd name="connsiteY4" fmla="*/ 0 h 998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8553" h="998530">
                  <a:moveTo>
                    <a:pt x="0" y="0"/>
                  </a:moveTo>
                  <a:lnTo>
                    <a:pt x="748553" y="0"/>
                  </a:lnTo>
                  <a:lnTo>
                    <a:pt x="533142" y="998530"/>
                  </a:lnTo>
                  <a:lnTo>
                    <a:pt x="215412" y="994134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2200"/>
            </a:p>
          </p:txBody>
        </p:sp>
        <p:cxnSp>
          <p:nvCxnSpPr>
            <p:cNvPr id="31" name="Straight Connector 420">
              <a:extLst>
                <a:ext uri="{FF2B5EF4-FFF2-40B4-BE49-F238E27FC236}">
                  <a16:creationId xmlns:a16="http://schemas.microsoft.com/office/drawing/2014/main" id="{4EC52E01-5651-4A2C-DD4C-3EDD4B6BED6C}"/>
                </a:ext>
              </a:extLst>
            </p:cNvPr>
            <p:cNvCxnSpPr>
              <a:cxnSpLocks/>
              <a:stCxn id="30" idx="0"/>
              <a:endCxn id="32" idx="0"/>
            </p:cNvCxnSpPr>
            <p:nvPr/>
          </p:nvCxnSpPr>
          <p:spPr>
            <a:xfrm flipV="1">
              <a:off x="263756" y="3243427"/>
              <a:ext cx="1440473" cy="862468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ectangle 3">
              <a:extLst>
                <a:ext uri="{FF2B5EF4-FFF2-40B4-BE49-F238E27FC236}">
                  <a16:creationId xmlns:a16="http://schemas.microsoft.com/office/drawing/2014/main" id="{549FDB68-1151-B2C7-B200-47802B584E04}"/>
                </a:ext>
              </a:extLst>
            </p:cNvPr>
            <p:cNvSpPr/>
            <p:nvPr/>
          </p:nvSpPr>
          <p:spPr>
            <a:xfrm>
              <a:off x="1704229" y="3243427"/>
              <a:ext cx="748553" cy="998530"/>
            </a:xfrm>
            <a:custGeom>
              <a:avLst/>
              <a:gdLst>
                <a:gd name="connsiteX0" fmla="*/ 0 w 748553"/>
                <a:gd name="connsiteY0" fmla="*/ 0 h 1002926"/>
                <a:gd name="connsiteX1" fmla="*/ 748553 w 748553"/>
                <a:gd name="connsiteY1" fmla="*/ 0 h 1002926"/>
                <a:gd name="connsiteX2" fmla="*/ 748553 w 748553"/>
                <a:gd name="connsiteY2" fmla="*/ 1002926 h 1002926"/>
                <a:gd name="connsiteX3" fmla="*/ 0 w 748553"/>
                <a:gd name="connsiteY3" fmla="*/ 1002926 h 1002926"/>
                <a:gd name="connsiteX4" fmla="*/ 0 w 748553"/>
                <a:gd name="connsiteY4" fmla="*/ 0 h 1002926"/>
                <a:gd name="connsiteX0" fmla="*/ 0 w 748553"/>
                <a:gd name="connsiteY0" fmla="*/ 0 h 1002926"/>
                <a:gd name="connsiteX1" fmla="*/ 748553 w 748553"/>
                <a:gd name="connsiteY1" fmla="*/ 0 h 1002926"/>
                <a:gd name="connsiteX2" fmla="*/ 572707 w 748553"/>
                <a:gd name="connsiteY2" fmla="*/ 998530 h 1002926"/>
                <a:gd name="connsiteX3" fmla="*/ 0 w 748553"/>
                <a:gd name="connsiteY3" fmla="*/ 1002926 h 1002926"/>
                <a:gd name="connsiteX4" fmla="*/ 0 w 748553"/>
                <a:gd name="connsiteY4" fmla="*/ 0 h 1002926"/>
                <a:gd name="connsiteX0" fmla="*/ 0 w 748553"/>
                <a:gd name="connsiteY0" fmla="*/ 0 h 1020511"/>
                <a:gd name="connsiteX1" fmla="*/ 748553 w 748553"/>
                <a:gd name="connsiteY1" fmla="*/ 0 h 1020511"/>
                <a:gd name="connsiteX2" fmla="*/ 572707 w 748553"/>
                <a:gd name="connsiteY2" fmla="*/ 998530 h 1020511"/>
                <a:gd name="connsiteX3" fmla="*/ 272562 w 748553"/>
                <a:gd name="connsiteY3" fmla="*/ 1020511 h 1020511"/>
                <a:gd name="connsiteX4" fmla="*/ 0 w 748553"/>
                <a:gd name="connsiteY4" fmla="*/ 0 h 1020511"/>
                <a:gd name="connsiteX0" fmla="*/ 0 w 748553"/>
                <a:gd name="connsiteY0" fmla="*/ 0 h 998530"/>
                <a:gd name="connsiteX1" fmla="*/ 748553 w 748553"/>
                <a:gd name="connsiteY1" fmla="*/ 0 h 998530"/>
                <a:gd name="connsiteX2" fmla="*/ 572707 w 748553"/>
                <a:gd name="connsiteY2" fmla="*/ 998530 h 998530"/>
                <a:gd name="connsiteX3" fmla="*/ 254977 w 748553"/>
                <a:gd name="connsiteY3" fmla="*/ 998530 h 998530"/>
                <a:gd name="connsiteX4" fmla="*/ 0 w 748553"/>
                <a:gd name="connsiteY4" fmla="*/ 0 h 998530"/>
                <a:gd name="connsiteX0" fmla="*/ 0 w 748553"/>
                <a:gd name="connsiteY0" fmla="*/ 0 h 998530"/>
                <a:gd name="connsiteX1" fmla="*/ 748553 w 748553"/>
                <a:gd name="connsiteY1" fmla="*/ 0 h 998530"/>
                <a:gd name="connsiteX2" fmla="*/ 572707 w 748553"/>
                <a:gd name="connsiteY2" fmla="*/ 998530 h 998530"/>
                <a:gd name="connsiteX3" fmla="*/ 215412 w 748553"/>
                <a:gd name="connsiteY3" fmla="*/ 994134 h 998530"/>
                <a:gd name="connsiteX4" fmla="*/ 0 w 748553"/>
                <a:gd name="connsiteY4" fmla="*/ 0 h 998530"/>
                <a:gd name="connsiteX0" fmla="*/ 0 w 748553"/>
                <a:gd name="connsiteY0" fmla="*/ 0 h 998530"/>
                <a:gd name="connsiteX1" fmla="*/ 748553 w 748553"/>
                <a:gd name="connsiteY1" fmla="*/ 0 h 998530"/>
                <a:gd name="connsiteX2" fmla="*/ 533142 w 748553"/>
                <a:gd name="connsiteY2" fmla="*/ 998530 h 998530"/>
                <a:gd name="connsiteX3" fmla="*/ 215412 w 748553"/>
                <a:gd name="connsiteY3" fmla="*/ 994134 h 998530"/>
                <a:gd name="connsiteX4" fmla="*/ 0 w 748553"/>
                <a:gd name="connsiteY4" fmla="*/ 0 h 998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8553" h="998530">
                  <a:moveTo>
                    <a:pt x="0" y="0"/>
                  </a:moveTo>
                  <a:lnTo>
                    <a:pt x="748553" y="0"/>
                  </a:lnTo>
                  <a:lnTo>
                    <a:pt x="533142" y="998530"/>
                  </a:lnTo>
                  <a:lnTo>
                    <a:pt x="215412" y="9941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2200"/>
            </a:p>
          </p:txBody>
        </p:sp>
        <p:cxnSp>
          <p:nvCxnSpPr>
            <p:cNvPr id="33" name="Straight Connector 422">
              <a:extLst>
                <a:ext uri="{FF2B5EF4-FFF2-40B4-BE49-F238E27FC236}">
                  <a16:creationId xmlns:a16="http://schemas.microsoft.com/office/drawing/2014/main" id="{1F8B764B-B7F0-D148-2B55-6C192FB68CA2}"/>
                </a:ext>
              </a:extLst>
            </p:cNvPr>
            <p:cNvCxnSpPr>
              <a:cxnSpLocks/>
              <a:stCxn id="30" idx="3"/>
              <a:endCxn id="32" idx="3"/>
            </p:cNvCxnSpPr>
            <p:nvPr/>
          </p:nvCxnSpPr>
          <p:spPr>
            <a:xfrm flipV="1">
              <a:off x="479168" y="4237561"/>
              <a:ext cx="1440473" cy="862468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423">
              <a:extLst>
                <a:ext uri="{FF2B5EF4-FFF2-40B4-BE49-F238E27FC236}">
                  <a16:creationId xmlns:a16="http://schemas.microsoft.com/office/drawing/2014/main" id="{E0ABAF82-79ED-EF2D-8881-D3B36F1A5F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0632" y="4231340"/>
              <a:ext cx="1440473" cy="862468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424">
              <a:extLst>
                <a:ext uri="{FF2B5EF4-FFF2-40B4-BE49-F238E27FC236}">
                  <a16:creationId xmlns:a16="http://schemas.microsoft.com/office/drawing/2014/main" id="{A083F565-C2FA-0764-80F7-0711EF5DADE1}"/>
                </a:ext>
              </a:extLst>
            </p:cNvPr>
            <p:cNvCxnSpPr>
              <a:cxnSpLocks/>
              <a:stCxn id="30" idx="1"/>
              <a:endCxn id="32" idx="1"/>
            </p:cNvCxnSpPr>
            <p:nvPr/>
          </p:nvCxnSpPr>
          <p:spPr>
            <a:xfrm flipV="1">
              <a:off x="1012309" y="3243427"/>
              <a:ext cx="1440473" cy="862468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 425">
              <a:extLst>
                <a:ext uri="{FF2B5EF4-FFF2-40B4-BE49-F238E27FC236}">
                  <a16:creationId xmlns:a16="http://schemas.microsoft.com/office/drawing/2014/main" id="{9B43DCE8-BA4A-41F1-367C-D61AA7B6B5E7}"/>
                </a:ext>
              </a:extLst>
            </p:cNvPr>
            <p:cNvSpPr/>
            <p:nvPr/>
          </p:nvSpPr>
          <p:spPr>
            <a:xfrm>
              <a:off x="263756" y="2307868"/>
              <a:ext cx="748553" cy="17980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2200"/>
            </a:p>
          </p:txBody>
        </p:sp>
        <p:sp>
          <p:nvSpPr>
            <p:cNvPr id="37" name="Rectangle 426">
              <a:extLst>
                <a:ext uri="{FF2B5EF4-FFF2-40B4-BE49-F238E27FC236}">
                  <a16:creationId xmlns:a16="http://schemas.microsoft.com/office/drawing/2014/main" id="{36446704-CA53-505A-6A3C-55A9AA9FB66B}"/>
                </a:ext>
              </a:extLst>
            </p:cNvPr>
            <p:cNvSpPr/>
            <p:nvPr/>
          </p:nvSpPr>
          <p:spPr>
            <a:xfrm>
              <a:off x="1704228" y="1443202"/>
              <a:ext cx="748553" cy="17980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2200"/>
            </a:p>
          </p:txBody>
        </p:sp>
        <p:cxnSp>
          <p:nvCxnSpPr>
            <p:cNvPr id="38" name="Straight Connector 427">
              <a:extLst>
                <a:ext uri="{FF2B5EF4-FFF2-40B4-BE49-F238E27FC236}">
                  <a16:creationId xmlns:a16="http://schemas.microsoft.com/office/drawing/2014/main" id="{E156C51F-4696-6C3E-78D7-D6054AD0CC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1310" y="1445245"/>
              <a:ext cx="1442720" cy="86868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428">
              <a:extLst>
                <a:ext uri="{FF2B5EF4-FFF2-40B4-BE49-F238E27FC236}">
                  <a16:creationId xmlns:a16="http://schemas.microsoft.com/office/drawing/2014/main" id="{2E9D81A7-31E3-3A6E-388E-13CF368C0A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1186" y="1445245"/>
              <a:ext cx="1444684" cy="858227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0" name="Group 429">
              <a:extLst>
                <a:ext uri="{FF2B5EF4-FFF2-40B4-BE49-F238E27FC236}">
                  <a16:creationId xmlns:a16="http://schemas.microsoft.com/office/drawing/2014/main" id="{927D1AD1-FF0A-94CA-9ECA-915B93710A6D}"/>
                </a:ext>
              </a:extLst>
            </p:cNvPr>
            <p:cNvGrpSpPr/>
            <p:nvPr/>
          </p:nvGrpSpPr>
          <p:grpSpPr>
            <a:xfrm>
              <a:off x="615323" y="4177830"/>
              <a:ext cx="978477" cy="1253290"/>
              <a:chOff x="4500050" y="3132906"/>
              <a:chExt cx="978477" cy="1253290"/>
            </a:xfrm>
          </p:grpSpPr>
          <p:cxnSp>
            <p:nvCxnSpPr>
              <p:cNvPr id="45" name="Straight Arrow Connector 434">
                <a:extLst>
                  <a:ext uri="{FF2B5EF4-FFF2-40B4-BE49-F238E27FC236}">
                    <a16:creationId xmlns:a16="http://schemas.microsoft.com/office/drawing/2014/main" id="{1483ED9C-D0ED-850C-E918-827B06568F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45801" y="4044605"/>
                <a:ext cx="590659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35">
                <a:extLst>
                  <a:ext uri="{FF2B5EF4-FFF2-40B4-BE49-F238E27FC236}">
                    <a16:creationId xmlns:a16="http://schemas.microsoft.com/office/drawing/2014/main" id="{02B704E3-95FB-4076-9952-EDF9491B323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45801" y="3466942"/>
                <a:ext cx="0" cy="573267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36">
                <a:extLst>
                  <a:ext uri="{FF2B5EF4-FFF2-40B4-BE49-F238E27FC236}">
                    <a16:creationId xmlns:a16="http://schemas.microsoft.com/office/drawing/2014/main" id="{938C7A99-50B2-1388-4E61-74CE56632B2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45801" y="3809345"/>
                <a:ext cx="380198" cy="230864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TextBox 437">
                    <a:extLst>
                      <a:ext uri="{FF2B5EF4-FFF2-40B4-BE49-F238E27FC236}">
                        <a16:creationId xmlns:a16="http://schemas.microsoft.com/office/drawing/2014/main" id="{E64DF90B-4517-DACF-6195-090CBBDD18DE}"/>
                      </a:ext>
                    </a:extLst>
                  </p:cNvPr>
                  <p:cNvSpPr txBox="1"/>
                  <p:nvPr/>
                </p:nvSpPr>
                <p:spPr>
                  <a:xfrm>
                    <a:off x="4748603" y="3329466"/>
                    <a:ext cx="553066" cy="5934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en-AU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AU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oMath>
                      </m:oMathPara>
                    </a14:m>
                    <a:endParaRPr lang="en-AU" sz="22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38" name="TextBox 437">
                    <a:extLst>
                      <a:ext uri="{FF2B5EF4-FFF2-40B4-BE49-F238E27FC236}">
                        <a16:creationId xmlns:a16="http://schemas.microsoft.com/office/drawing/2014/main" id="{10C3F0B1-1DC0-A8D4-12C8-DF9C9ACB14F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48603" y="3329466"/>
                    <a:ext cx="553066" cy="593421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t="-15493" r="-27273"/>
                    </a:stretch>
                  </a:blipFill>
                </p:spPr>
                <p:txBody>
                  <a:bodyPr/>
                  <a:lstStyle/>
                  <a:p>
                    <a:r>
                      <a:rPr lang="en-A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TextBox 438">
                    <a:extLst>
                      <a:ext uri="{FF2B5EF4-FFF2-40B4-BE49-F238E27FC236}">
                        <a16:creationId xmlns:a16="http://schemas.microsoft.com/office/drawing/2014/main" id="{F8E7F208-C992-468E-ED2C-A4A004371AF2}"/>
                      </a:ext>
                    </a:extLst>
                  </p:cNvPr>
                  <p:cNvSpPr txBox="1"/>
                  <p:nvPr/>
                </p:nvSpPr>
                <p:spPr>
                  <a:xfrm>
                    <a:off x="5052577" y="3792775"/>
                    <a:ext cx="425950" cy="5934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en-AU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AU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oMath>
                      </m:oMathPara>
                    </a14:m>
                    <a:endParaRPr lang="en-AU" sz="22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39" name="TextBox 438">
                    <a:extLst>
                      <a:ext uri="{FF2B5EF4-FFF2-40B4-BE49-F238E27FC236}">
                        <a16:creationId xmlns:a16="http://schemas.microsoft.com/office/drawing/2014/main" id="{0D7D1180-A186-DBB7-DA54-65650F4DDCD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52577" y="3792775"/>
                    <a:ext cx="425950" cy="59342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t="-15714" r="-25490"/>
                    </a:stretch>
                  </a:blipFill>
                </p:spPr>
                <p:txBody>
                  <a:bodyPr/>
                  <a:lstStyle/>
                  <a:p>
                    <a:r>
                      <a:rPr lang="en-A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TextBox 439">
                    <a:extLst>
                      <a:ext uri="{FF2B5EF4-FFF2-40B4-BE49-F238E27FC236}">
                        <a16:creationId xmlns:a16="http://schemas.microsoft.com/office/drawing/2014/main" id="{D6C9C907-2C92-CD42-5E24-C25CA0100F97}"/>
                      </a:ext>
                    </a:extLst>
                  </p:cNvPr>
                  <p:cNvSpPr txBox="1"/>
                  <p:nvPr/>
                </p:nvSpPr>
                <p:spPr>
                  <a:xfrm>
                    <a:off x="4500050" y="3132906"/>
                    <a:ext cx="425950" cy="5934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en-AU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AU" sz="2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oMath>
                      </m:oMathPara>
                    </a14:m>
                    <a:endParaRPr lang="en-AU" sz="22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40" name="TextBox 439">
                    <a:extLst>
                      <a:ext uri="{FF2B5EF4-FFF2-40B4-BE49-F238E27FC236}">
                        <a16:creationId xmlns:a16="http://schemas.microsoft.com/office/drawing/2014/main" id="{2AB80783-AC90-939C-60D1-A63BBCC59DC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00050" y="3132906"/>
                    <a:ext cx="425950" cy="593421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4000" t="-15493" r="-26000" b="-8451"/>
                    </a:stretch>
                  </a:blipFill>
                </p:spPr>
                <p:txBody>
                  <a:bodyPr/>
                  <a:lstStyle/>
                  <a:p>
                    <a:r>
                      <a:rPr lang="en-AU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1" name="Straight Arrow Connector 430">
              <a:extLst>
                <a:ext uri="{FF2B5EF4-FFF2-40B4-BE49-F238E27FC236}">
                  <a16:creationId xmlns:a16="http://schemas.microsoft.com/office/drawing/2014/main" id="{5609538A-306C-CE18-B2D3-7ED101617D97}"/>
                </a:ext>
              </a:extLst>
            </p:cNvPr>
            <p:cNvCxnSpPr/>
            <p:nvPr/>
          </p:nvCxnSpPr>
          <p:spPr>
            <a:xfrm flipV="1">
              <a:off x="1891759" y="1275289"/>
              <a:ext cx="0" cy="411480"/>
            </a:xfrm>
            <a:prstGeom prst="straightConnector1">
              <a:avLst/>
            </a:prstGeom>
            <a:ln w="57150">
              <a:solidFill>
                <a:srgbClr val="D9829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31">
              <a:extLst>
                <a:ext uri="{FF2B5EF4-FFF2-40B4-BE49-F238E27FC236}">
                  <a16:creationId xmlns:a16="http://schemas.microsoft.com/office/drawing/2014/main" id="{2CA684D5-B189-5DAA-4BF0-32981660B645}"/>
                </a:ext>
              </a:extLst>
            </p:cNvPr>
            <p:cNvCxnSpPr/>
            <p:nvPr/>
          </p:nvCxnSpPr>
          <p:spPr>
            <a:xfrm flipV="1">
              <a:off x="1542876" y="1481029"/>
              <a:ext cx="0" cy="411480"/>
            </a:xfrm>
            <a:prstGeom prst="straightConnector1">
              <a:avLst/>
            </a:prstGeom>
            <a:ln w="57150">
              <a:solidFill>
                <a:srgbClr val="D9829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32">
              <a:extLst>
                <a:ext uri="{FF2B5EF4-FFF2-40B4-BE49-F238E27FC236}">
                  <a16:creationId xmlns:a16="http://schemas.microsoft.com/office/drawing/2014/main" id="{2E888991-07ED-CFA2-6FAC-5AC94D416B66}"/>
                </a:ext>
              </a:extLst>
            </p:cNvPr>
            <p:cNvCxnSpPr/>
            <p:nvPr/>
          </p:nvCxnSpPr>
          <p:spPr>
            <a:xfrm flipV="1">
              <a:off x="1146636" y="1686769"/>
              <a:ext cx="0" cy="411480"/>
            </a:xfrm>
            <a:prstGeom prst="straightConnector1">
              <a:avLst/>
            </a:prstGeom>
            <a:ln w="57150">
              <a:solidFill>
                <a:srgbClr val="D9829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3">
              <a:extLst>
                <a:ext uri="{FF2B5EF4-FFF2-40B4-BE49-F238E27FC236}">
                  <a16:creationId xmlns:a16="http://schemas.microsoft.com/office/drawing/2014/main" id="{9E5722F4-DA35-2628-0F59-8D6E691AAE14}"/>
                </a:ext>
              </a:extLst>
            </p:cNvPr>
            <p:cNvCxnSpPr/>
            <p:nvPr/>
          </p:nvCxnSpPr>
          <p:spPr>
            <a:xfrm flipV="1">
              <a:off x="704676" y="1956009"/>
              <a:ext cx="0" cy="411480"/>
            </a:xfrm>
            <a:prstGeom prst="straightConnector1">
              <a:avLst/>
            </a:prstGeom>
            <a:ln w="57150">
              <a:solidFill>
                <a:srgbClr val="D9829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Rectangle 3">
            <a:extLst>
              <a:ext uri="{FF2B5EF4-FFF2-40B4-BE49-F238E27FC236}">
                <a16:creationId xmlns:a16="http://schemas.microsoft.com/office/drawing/2014/main" id="{E8627202-8220-075E-6931-FC0E8A690A20}"/>
              </a:ext>
            </a:extLst>
          </p:cNvPr>
          <p:cNvSpPr/>
          <p:nvPr/>
        </p:nvSpPr>
        <p:spPr>
          <a:xfrm flipH="1" flipV="1">
            <a:off x="10558097" y="5654408"/>
            <a:ext cx="352286" cy="384541"/>
          </a:xfrm>
          <a:custGeom>
            <a:avLst/>
            <a:gdLst>
              <a:gd name="connsiteX0" fmla="*/ 0 w 748553"/>
              <a:gd name="connsiteY0" fmla="*/ 0 h 1002926"/>
              <a:gd name="connsiteX1" fmla="*/ 748553 w 748553"/>
              <a:gd name="connsiteY1" fmla="*/ 0 h 1002926"/>
              <a:gd name="connsiteX2" fmla="*/ 748553 w 748553"/>
              <a:gd name="connsiteY2" fmla="*/ 1002926 h 1002926"/>
              <a:gd name="connsiteX3" fmla="*/ 0 w 748553"/>
              <a:gd name="connsiteY3" fmla="*/ 1002926 h 1002926"/>
              <a:gd name="connsiteX4" fmla="*/ 0 w 748553"/>
              <a:gd name="connsiteY4" fmla="*/ 0 h 1002926"/>
              <a:gd name="connsiteX0" fmla="*/ 0 w 748553"/>
              <a:gd name="connsiteY0" fmla="*/ 0 h 1002926"/>
              <a:gd name="connsiteX1" fmla="*/ 748553 w 748553"/>
              <a:gd name="connsiteY1" fmla="*/ 0 h 1002926"/>
              <a:gd name="connsiteX2" fmla="*/ 572707 w 748553"/>
              <a:gd name="connsiteY2" fmla="*/ 998530 h 1002926"/>
              <a:gd name="connsiteX3" fmla="*/ 0 w 748553"/>
              <a:gd name="connsiteY3" fmla="*/ 1002926 h 1002926"/>
              <a:gd name="connsiteX4" fmla="*/ 0 w 748553"/>
              <a:gd name="connsiteY4" fmla="*/ 0 h 1002926"/>
              <a:gd name="connsiteX0" fmla="*/ 0 w 748553"/>
              <a:gd name="connsiteY0" fmla="*/ 0 h 1020511"/>
              <a:gd name="connsiteX1" fmla="*/ 748553 w 748553"/>
              <a:gd name="connsiteY1" fmla="*/ 0 h 1020511"/>
              <a:gd name="connsiteX2" fmla="*/ 572707 w 748553"/>
              <a:gd name="connsiteY2" fmla="*/ 998530 h 1020511"/>
              <a:gd name="connsiteX3" fmla="*/ 272562 w 748553"/>
              <a:gd name="connsiteY3" fmla="*/ 1020511 h 1020511"/>
              <a:gd name="connsiteX4" fmla="*/ 0 w 748553"/>
              <a:gd name="connsiteY4" fmla="*/ 0 h 1020511"/>
              <a:gd name="connsiteX0" fmla="*/ 0 w 748553"/>
              <a:gd name="connsiteY0" fmla="*/ 0 h 998530"/>
              <a:gd name="connsiteX1" fmla="*/ 748553 w 748553"/>
              <a:gd name="connsiteY1" fmla="*/ 0 h 998530"/>
              <a:gd name="connsiteX2" fmla="*/ 572707 w 748553"/>
              <a:gd name="connsiteY2" fmla="*/ 998530 h 998530"/>
              <a:gd name="connsiteX3" fmla="*/ 254977 w 748553"/>
              <a:gd name="connsiteY3" fmla="*/ 998530 h 998530"/>
              <a:gd name="connsiteX4" fmla="*/ 0 w 748553"/>
              <a:gd name="connsiteY4" fmla="*/ 0 h 998530"/>
              <a:gd name="connsiteX0" fmla="*/ 0 w 748553"/>
              <a:gd name="connsiteY0" fmla="*/ 0 h 998530"/>
              <a:gd name="connsiteX1" fmla="*/ 748553 w 748553"/>
              <a:gd name="connsiteY1" fmla="*/ 0 h 998530"/>
              <a:gd name="connsiteX2" fmla="*/ 572707 w 748553"/>
              <a:gd name="connsiteY2" fmla="*/ 998530 h 998530"/>
              <a:gd name="connsiteX3" fmla="*/ 215412 w 748553"/>
              <a:gd name="connsiteY3" fmla="*/ 994134 h 998530"/>
              <a:gd name="connsiteX4" fmla="*/ 0 w 748553"/>
              <a:gd name="connsiteY4" fmla="*/ 0 h 998530"/>
              <a:gd name="connsiteX0" fmla="*/ 0 w 748553"/>
              <a:gd name="connsiteY0" fmla="*/ 0 h 998530"/>
              <a:gd name="connsiteX1" fmla="*/ 748553 w 748553"/>
              <a:gd name="connsiteY1" fmla="*/ 0 h 998530"/>
              <a:gd name="connsiteX2" fmla="*/ 533142 w 748553"/>
              <a:gd name="connsiteY2" fmla="*/ 998530 h 998530"/>
              <a:gd name="connsiteX3" fmla="*/ 215412 w 748553"/>
              <a:gd name="connsiteY3" fmla="*/ 994134 h 998530"/>
              <a:gd name="connsiteX4" fmla="*/ 0 w 748553"/>
              <a:gd name="connsiteY4" fmla="*/ 0 h 998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8553" h="998530">
                <a:moveTo>
                  <a:pt x="0" y="0"/>
                </a:moveTo>
                <a:lnTo>
                  <a:pt x="748553" y="0"/>
                </a:lnTo>
                <a:lnTo>
                  <a:pt x="533142" y="998530"/>
                </a:lnTo>
                <a:lnTo>
                  <a:pt x="215412" y="994134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200"/>
          </a:p>
        </p:txBody>
      </p:sp>
      <p:sp>
        <p:nvSpPr>
          <p:cNvPr id="54" name="Rectangle 3">
            <a:extLst>
              <a:ext uri="{FF2B5EF4-FFF2-40B4-BE49-F238E27FC236}">
                <a16:creationId xmlns:a16="http://schemas.microsoft.com/office/drawing/2014/main" id="{5AB5AEC2-5136-454F-54AE-EDAD2B427A9F}"/>
              </a:ext>
            </a:extLst>
          </p:cNvPr>
          <p:cNvSpPr/>
          <p:nvPr/>
        </p:nvSpPr>
        <p:spPr>
          <a:xfrm flipH="1" flipV="1">
            <a:off x="11348826" y="5156974"/>
            <a:ext cx="352286" cy="384541"/>
          </a:xfrm>
          <a:custGeom>
            <a:avLst/>
            <a:gdLst>
              <a:gd name="connsiteX0" fmla="*/ 0 w 748553"/>
              <a:gd name="connsiteY0" fmla="*/ 0 h 1002926"/>
              <a:gd name="connsiteX1" fmla="*/ 748553 w 748553"/>
              <a:gd name="connsiteY1" fmla="*/ 0 h 1002926"/>
              <a:gd name="connsiteX2" fmla="*/ 748553 w 748553"/>
              <a:gd name="connsiteY2" fmla="*/ 1002926 h 1002926"/>
              <a:gd name="connsiteX3" fmla="*/ 0 w 748553"/>
              <a:gd name="connsiteY3" fmla="*/ 1002926 h 1002926"/>
              <a:gd name="connsiteX4" fmla="*/ 0 w 748553"/>
              <a:gd name="connsiteY4" fmla="*/ 0 h 1002926"/>
              <a:gd name="connsiteX0" fmla="*/ 0 w 748553"/>
              <a:gd name="connsiteY0" fmla="*/ 0 h 1002926"/>
              <a:gd name="connsiteX1" fmla="*/ 748553 w 748553"/>
              <a:gd name="connsiteY1" fmla="*/ 0 h 1002926"/>
              <a:gd name="connsiteX2" fmla="*/ 572707 w 748553"/>
              <a:gd name="connsiteY2" fmla="*/ 998530 h 1002926"/>
              <a:gd name="connsiteX3" fmla="*/ 0 w 748553"/>
              <a:gd name="connsiteY3" fmla="*/ 1002926 h 1002926"/>
              <a:gd name="connsiteX4" fmla="*/ 0 w 748553"/>
              <a:gd name="connsiteY4" fmla="*/ 0 h 1002926"/>
              <a:gd name="connsiteX0" fmla="*/ 0 w 748553"/>
              <a:gd name="connsiteY0" fmla="*/ 0 h 1020511"/>
              <a:gd name="connsiteX1" fmla="*/ 748553 w 748553"/>
              <a:gd name="connsiteY1" fmla="*/ 0 h 1020511"/>
              <a:gd name="connsiteX2" fmla="*/ 572707 w 748553"/>
              <a:gd name="connsiteY2" fmla="*/ 998530 h 1020511"/>
              <a:gd name="connsiteX3" fmla="*/ 272562 w 748553"/>
              <a:gd name="connsiteY3" fmla="*/ 1020511 h 1020511"/>
              <a:gd name="connsiteX4" fmla="*/ 0 w 748553"/>
              <a:gd name="connsiteY4" fmla="*/ 0 h 1020511"/>
              <a:gd name="connsiteX0" fmla="*/ 0 w 748553"/>
              <a:gd name="connsiteY0" fmla="*/ 0 h 998530"/>
              <a:gd name="connsiteX1" fmla="*/ 748553 w 748553"/>
              <a:gd name="connsiteY1" fmla="*/ 0 h 998530"/>
              <a:gd name="connsiteX2" fmla="*/ 572707 w 748553"/>
              <a:gd name="connsiteY2" fmla="*/ 998530 h 998530"/>
              <a:gd name="connsiteX3" fmla="*/ 254977 w 748553"/>
              <a:gd name="connsiteY3" fmla="*/ 998530 h 998530"/>
              <a:gd name="connsiteX4" fmla="*/ 0 w 748553"/>
              <a:gd name="connsiteY4" fmla="*/ 0 h 998530"/>
              <a:gd name="connsiteX0" fmla="*/ 0 w 748553"/>
              <a:gd name="connsiteY0" fmla="*/ 0 h 998530"/>
              <a:gd name="connsiteX1" fmla="*/ 748553 w 748553"/>
              <a:gd name="connsiteY1" fmla="*/ 0 h 998530"/>
              <a:gd name="connsiteX2" fmla="*/ 572707 w 748553"/>
              <a:gd name="connsiteY2" fmla="*/ 998530 h 998530"/>
              <a:gd name="connsiteX3" fmla="*/ 215412 w 748553"/>
              <a:gd name="connsiteY3" fmla="*/ 994134 h 998530"/>
              <a:gd name="connsiteX4" fmla="*/ 0 w 748553"/>
              <a:gd name="connsiteY4" fmla="*/ 0 h 998530"/>
              <a:gd name="connsiteX0" fmla="*/ 0 w 748553"/>
              <a:gd name="connsiteY0" fmla="*/ 0 h 998530"/>
              <a:gd name="connsiteX1" fmla="*/ 748553 w 748553"/>
              <a:gd name="connsiteY1" fmla="*/ 0 h 998530"/>
              <a:gd name="connsiteX2" fmla="*/ 533142 w 748553"/>
              <a:gd name="connsiteY2" fmla="*/ 998530 h 998530"/>
              <a:gd name="connsiteX3" fmla="*/ 215412 w 748553"/>
              <a:gd name="connsiteY3" fmla="*/ 994134 h 998530"/>
              <a:gd name="connsiteX4" fmla="*/ 0 w 748553"/>
              <a:gd name="connsiteY4" fmla="*/ 0 h 998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8553" h="998530">
                <a:moveTo>
                  <a:pt x="0" y="0"/>
                </a:moveTo>
                <a:lnTo>
                  <a:pt x="748553" y="0"/>
                </a:lnTo>
                <a:lnTo>
                  <a:pt x="533142" y="998530"/>
                </a:lnTo>
                <a:lnTo>
                  <a:pt x="215412" y="994134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200"/>
          </a:p>
        </p:txBody>
      </p:sp>
      <p:sp>
        <p:nvSpPr>
          <p:cNvPr id="71" name="Oval 465">
            <a:extLst>
              <a:ext uri="{FF2B5EF4-FFF2-40B4-BE49-F238E27FC236}">
                <a16:creationId xmlns:a16="http://schemas.microsoft.com/office/drawing/2014/main" id="{8110F607-110F-1889-BC64-0C081F0658F4}"/>
              </a:ext>
            </a:extLst>
          </p:cNvPr>
          <p:cNvSpPr/>
          <p:nvPr/>
        </p:nvSpPr>
        <p:spPr>
          <a:xfrm>
            <a:off x="13136548" y="5876810"/>
            <a:ext cx="2316933" cy="19621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0" bIns="36000"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Inlet extension added for supersonic cases</a:t>
            </a:r>
            <a:endParaRPr lang="en-AU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3610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605FD-AE2C-27F2-9D3B-A47307283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o 6">
            <a:extLst>
              <a:ext uri="{FF2B5EF4-FFF2-40B4-BE49-F238E27FC236}">
                <a16:creationId xmlns:a16="http://schemas.microsoft.com/office/drawing/2014/main" id="{638308CA-E5DD-39EB-851C-D1CCBD735385}"/>
              </a:ext>
            </a:extLst>
          </p:cNvPr>
          <p:cNvGrpSpPr/>
          <p:nvPr/>
        </p:nvGrpSpPr>
        <p:grpSpPr>
          <a:xfrm>
            <a:off x="0" y="6108700"/>
            <a:ext cx="12191999" cy="741549"/>
            <a:chOff x="7950" y="6134100"/>
            <a:chExt cx="12184049" cy="741549"/>
          </a:xfrm>
        </p:grpSpPr>
        <p:grpSp>
          <p:nvGrpSpPr>
            <p:cNvPr id="4" name="Gruppo 3">
              <a:extLst>
                <a:ext uri="{FF2B5EF4-FFF2-40B4-BE49-F238E27FC236}">
                  <a16:creationId xmlns:a16="http://schemas.microsoft.com/office/drawing/2014/main" id="{3063B44C-73AE-0C93-7901-FFE4BE785A96}"/>
                </a:ext>
              </a:extLst>
            </p:cNvPr>
            <p:cNvGrpSpPr/>
            <p:nvPr/>
          </p:nvGrpSpPr>
          <p:grpSpPr>
            <a:xfrm>
              <a:off x="7950" y="6134100"/>
              <a:ext cx="12184049" cy="741549"/>
              <a:chOff x="0" y="6134100"/>
              <a:chExt cx="12192000" cy="741549"/>
            </a:xfrm>
          </p:grpSpPr>
          <p:sp>
            <p:nvSpPr>
              <p:cNvPr id="10" name="Rectangle 23">
                <a:extLst>
                  <a:ext uri="{FF2B5EF4-FFF2-40B4-BE49-F238E27FC236}">
                    <a16:creationId xmlns:a16="http://schemas.microsoft.com/office/drawing/2014/main" id="{E3870D67-492D-05B7-08B3-FC5CF14B3083}"/>
                  </a:ext>
                </a:extLst>
              </p:cNvPr>
              <p:cNvSpPr/>
              <p:nvPr/>
            </p:nvSpPr>
            <p:spPr>
              <a:xfrm>
                <a:off x="0" y="6134100"/>
                <a:ext cx="12192000" cy="741549"/>
              </a:xfrm>
              <a:prstGeom prst="rect">
                <a:avLst/>
              </a:prstGeom>
              <a:solidFill>
                <a:srgbClr val="822333"/>
              </a:solidFill>
              <a:ln>
                <a:solidFill>
                  <a:srgbClr val="8223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4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Palatino"/>
                  </a:rPr>
                  <a:t>		                          HEM modeling for subcritical flows in liquid rocket engine cooling systems 			</a:t>
                </a:r>
                <a:endParaRPr lang="en-FR" sz="1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alatino"/>
                  <a:ea typeface="Palatino" pitchFamily="2" charset="77"/>
                  <a:cs typeface="FUTURA MEDIUM" panose="020B0602020204020303" pitchFamily="34" charset="-79"/>
                </a:endParaRPr>
              </a:p>
            </p:txBody>
          </p:sp>
          <p:pic>
            <p:nvPicPr>
              <p:cNvPr id="12" name="Picture 13" descr="logo +marchio">
                <a:extLst>
                  <a:ext uri="{FF2B5EF4-FFF2-40B4-BE49-F238E27FC236}">
                    <a16:creationId xmlns:a16="http://schemas.microsoft.com/office/drawing/2014/main" id="{187986AF-2BDA-9482-B613-D1A55B81930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/>
              <a:srcRect l="14831" r="54091"/>
              <a:stretch/>
            </p:blipFill>
            <p:spPr bwMode="auto">
              <a:xfrm>
                <a:off x="84996" y="6351184"/>
                <a:ext cx="1228478" cy="4953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" name="Rettangolo 2">
                <a:extLst>
                  <a:ext uri="{FF2B5EF4-FFF2-40B4-BE49-F238E27FC236}">
                    <a16:creationId xmlns:a16="http://schemas.microsoft.com/office/drawing/2014/main" id="{D6B4BD83-D39F-12E5-E0A3-28DA9F63DF55}"/>
                  </a:ext>
                </a:extLst>
              </p:cNvPr>
              <p:cNvSpPr/>
              <p:nvPr/>
            </p:nvSpPr>
            <p:spPr>
              <a:xfrm>
                <a:off x="0" y="6134100"/>
                <a:ext cx="928464" cy="2057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Segnaposto numero diapositiva 6">
              <a:extLst>
                <a:ext uri="{FF2B5EF4-FFF2-40B4-BE49-F238E27FC236}">
                  <a16:creationId xmlns:a16="http://schemas.microsoft.com/office/drawing/2014/main" id="{3971A59A-E134-E82B-1904-BA2C6F652630}"/>
                </a:ext>
              </a:extLst>
            </p:cNvPr>
            <p:cNvSpPr txBox="1">
              <a:spLocks/>
            </p:cNvSpPr>
            <p:nvPr/>
          </p:nvSpPr>
          <p:spPr>
            <a:xfrm>
              <a:off x="11270512" y="6276274"/>
              <a:ext cx="730988" cy="457200"/>
            </a:xfrm>
            <a:prstGeom prst="rect">
              <a:avLst/>
            </a:prstGeom>
            <a:noFill/>
          </p:spPr>
          <p:txBody>
            <a:bodyPr anchor="ctr"/>
            <a:lstStyle>
              <a:defPPr>
                <a:defRPr lang="en-US"/>
              </a:defPPr>
              <a:lvl1pPr algn="r" defTabSz="457200" rtl="0" eaLnBrk="1" fontAlgn="auto" hangingPunct="1">
                <a:spcBef>
                  <a:spcPct val="20000"/>
                </a:spcBef>
                <a:spcAft>
                  <a:spcPts val="0"/>
                </a:spcAft>
                <a:buClr>
                  <a:srgbClr val="822433"/>
                </a:buClr>
                <a:buChar char="•"/>
                <a:defRPr sz="24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1pPr>
              <a:lvl2pPr marL="742950" indent="-28575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2pPr>
              <a:lvl3pPr marL="11430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16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3pPr>
              <a:lvl4pPr marL="16002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4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4pPr>
              <a:lvl5pPr marL="20574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  <a:defRPr/>
              </a:pPr>
              <a:fld id="{BE037B56-838D-4EA9-A433-B420C86CBEEB}" type="slidenum">
                <a:rPr lang="it-IT" altLang="en-US" sz="1400" b="1" smtClean="0">
                  <a:solidFill>
                    <a:schemeClr val="bg1"/>
                  </a:solidFill>
                  <a:latin typeface="Palatino"/>
                </a:rPr>
                <a:pPr>
                  <a:spcBef>
                    <a:spcPct val="0"/>
                  </a:spcBef>
                  <a:buClrTx/>
                  <a:buFontTx/>
                  <a:buNone/>
                  <a:defRPr/>
                </a:pPr>
                <a:t>12</a:t>
              </a:fld>
              <a:r>
                <a:rPr lang="it-IT" altLang="en-US" sz="1400" b="1" dirty="0">
                  <a:solidFill>
                    <a:schemeClr val="bg1"/>
                  </a:solidFill>
                  <a:latin typeface="Palatino"/>
                </a:rPr>
                <a:t>/18</a:t>
              </a:r>
            </a:p>
          </p:txBody>
        </p:sp>
      </p:grpSp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10037D04-0A31-E95E-F79E-0B3E23D46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BF45DABA-2AC9-8FD8-E3B1-B6EED5ACB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Rotating Detonation Engine Activities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F540B51A-A60D-1624-20BD-B9603ECFC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12/18</a:t>
            </a:r>
            <a:endParaRPr lang="en-US" dirty="0"/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8E3760F3-A97A-3B1F-EF6B-34ACC96094C3}"/>
              </a:ext>
            </a:extLst>
          </p:cNvPr>
          <p:cNvSpPr txBox="1">
            <a:spLocks/>
          </p:cNvSpPr>
          <p:nvPr/>
        </p:nvSpPr>
        <p:spPr>
          <a:xfrm>
            <a:off x="295491" y="346384"/>
            <a:ext cx="10311549" cy="5048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3200" b="1" dirty="0">
                <a:solidFill>
                  <a:srgbClr val="8224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Characterization of Refill Region Dynamics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10">
                <a:extLst>
                  <a:ext uri="{FF2B5EF4-FFF2-40B4-BE49-F238E27FC236}">
                    <a16:creationId xmlns:a16="http://schemas.microsoft.com/office/drawing/2014/main" id="{BD809CD3-202B-3D7A-6CE9-5DD83E86BE05}"/>
                  </a:ext>
                </a:extLst>
              </p:cNvPr>
              <p:cNvSpPr txBox="1"/>
              <p:nvPr/>
            </p:nvSpPr>
            <p:spPr>
              <a:xfrm>
                <a:off x="613541" y="1043731"/>
                <a:ext cx="11153009" cy="1908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Palatino Linotype" panose="02040502050505030304" pitchFamily="18" charset="0"/>
                    <a:cs typeface="Times New Roman" panose="02020603050405020304" pitchFamily="18" charset="0"/>
                  </a:rPr>
                  <a:t>Pressure flow field comparison for different inlet expansion ratio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𝚲</m:t>
                    </m:r>
                  </m:oMath>
                </a14:m>
                <a:endParaRPr lang="en-US" b="1" dirty="0">
                  <a:latin typeface="Palatino Linotype" panose="0204050205050503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Palatino Linotype" panose="02040502050505030304" pitchFamily="18" charset="0"/>
                    <a:cs typeface="Times New Roman" panose="02020603050405020304" pitchFamily="18" charset="0"/>
                  </a:rPr>
                  <a:t>Small amounts of expansion yield partially supersonic refill areas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Palatino Linotype" panose="02040502050505030304" pitchFamily="18" charset="0"/>
                    <a:cs typeface="Times New Roman" panose="02020603050405020304" pitchFamily="18" charset="0"/>
                  </a:rPr>
                  <a:t>Supersonic area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latin typeface="Palatino Linotype" panose="02040502050505030304" pitchFamily="18" charset="0"/>
                    <a:cs typeface="Times New Roman" panose="02020603050405020304" pitchFamily="18" charset="0"/>
                  </a:rPr>
                  <a:t> loss growth with increasing inlet expansion ratio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Λ</m:t>
                    </m:r>
                  </m:oMath>
                </a14:m>
                <a:endParaRPr lang="en-US" dirty="0">
                  <a:latin typeface="Palatino Linotype" panose="0204050205050503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Palatino Linotype" panose="0204050205050503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Λ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=2.9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Palatino Linotype" panose="02040502050505030304" pitchFamily="18" charset="0"/>
                    <a:cs typeface="Times New Roman" panose="02020603050405020304" pitchFamily="18" charset="0"/>
                  </a:rPr>
                  <a:t>some of the inlet line becomes fully supersonic (</a:t>
                </a:r>
                <a:r>
                  <a:rPr lang="en-US" b="1" dirty="0">
                    <a:latin typeface="Palatino Linotype" panose="02040502050505030304" pitchFamily="18" charset="0"/>
                    <a:cs typeface="Times New Roman" panose="02020603050405020304" pitchFamily="18" charset="0"/>
                  </a:rPr>
                  <a:t>and negative PG</a:t>
                </a:r>
                <a:r>
                  <a:rPr lang="en-US" dirty="0">
                    <a:latin typeface="Palatino Linotype" panose="02040502050505030304" pitchFamily="18" charset="0"/>
                    <a:cs typeface="Times New Roman" panose="02020603050405020304" pitchFamily="18" charset="0"/>
                  </a:rPr>
                  <a:t>)!</a:t>
                </a:r>
              </a:p>
              <a:p>
                <a:endParaRPr lang="en-US" dirty="0">
                  <a:latin typeface="Palatino Linotype" panose="02040502050505030304" pitchFamily="18" charset="0"/>
                  <a:cs typeface="Times New Roman" panose="02020603050405020304" pitchFamily="18" charset="0"/>
                </a:endParaRPr>
              </a:p>
              <a:p>
                <a:endParaRPr lang="en-AU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TextBox 10">
                <a:extLst>
                  <a:ext uri="{FF2B5EF4-FFF2-40B4-BE49-F238E27FC236}">
                    <a16:creationId xmlns:a16="http://schemas.microsoft.com/office/drawing/2014/main" id="{BD809CD3-202B-3D7A-6CE9-5DD83E86B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541" y="1043731"/>
                <a:ext cx="11153009" cy="1908215"/>
              </a:xfrm>
              <a:prstGeom prst="rect">
                <a:avLst/>
              </a:prstGeom>
              <a:blipFill>
                <a:blip r:embed="rId4"/>
                <a:stretch>
                  <a:fillRect l="-492" t="-159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492">
            <a:extLst>
              <a:ext uri="{FF2B5EF4-FFF2-40B4-BE49-F238E27FC236}">
                <a16:creationId xmlns:a16="http://schemas.microsoft.com/office/drawing/2014/main" id="{C5885338-4D1E-6750-4284-E4E4930D31B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" t="58514" r="14974"/>
          <a:stretch>
            <a:fillRect/>
          </a:stretch>
        </p:blipFill>
        <p:spPr>
          <a:xfrm>
            <a:off x="6003215" y="2408189"/>
            <a:ext cx="5975425" cy="1466063"/>
          </a:xfrm>
          <a:prstGeom prst="rect">
            <a:avLst/>
          </a:prstGeom>
        </p:spPr>
      </p:pic>
      <p:pic>
        <p:nvPicPr>
          <p:cNvPr id="17" name="Picture 495">
            <a:extLst>
              <a:ext uri="{FF2B5EF4-FFF2-40B4-BE49-F238E27FC236}">
                <a16:creationId xmlns:a16="http://schemas.microsoft.com/office/drawing/2014/main" id="{16737C94-7215-B699-F66B-19DF8A1D96F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4196"/>
          <a:stretch>
            <a:fillRect/>
          </a:stretch>
        </p:blipFill>
        <p:spPr>
          <a:xfrm>
            <a:off x="5996940" y="3910328"/>
            <a:ext cx="6027420" cy="1447712"/>
          </a:xfrm>
          <a:prstGeom prst="rect">
            <a:avLst/>
          </a:prstGeom>
        </p:spPr>
      </p:pic>
      <p:pic>
        <p:nvPicPr>
          <p:cNvPr id="18" name="Picture 497">
            <a:extLst>
              <a:ext uri="{FF2B5EF4-FFF2-40B4-BE49-F238E27FC236}">
                <a16:creationId xmlns:a16="http://schemas.microsoft.com/office/drawing/2014/main" id="{70C62A1A-3BF9-7AAF-2E07-A53C94D9748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51483"/>
          <a:stretch>
            <a:fillRect/>
          </a:stretch>
        </p:blipFill>
        <p:spPr>
          <a:xfrm>
            <a:off x="121739" y="2408189"/>
            <a:ext cx="5920921" cy="1502139"/>
          </a:xfrm>
          <a:prstGeom prst="rect">
            <a:avLst/>
          </a:prstGeom>
        </p:spPr>
      </p:pic>
      <p:pic>
        <p:nvPicPr>
          <p:cNvPr id="19" name="Picture 490">
            <a:extLst>
              <a:ext uri="{FF2B5EF4-FFF2-40B4-BE49-F238E27FC236}">
                <a16:creationId xmlns:a16="http://schemas.microsoft.com/office/drawing/2014/main" id="{9FB2D04B-F318-E4DB-DA87-28D5833AA58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50525" r="12989" b="5026"/>
          <a:stretch>
            <a:fillRect/>
          </a:stretch>
        </p:blipFill>
        <p:spPr>
          <a:xfrm>
            <a:off x="73555" y="3909415"/>
            <a:ext cx="5984345" cy="146526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3">
                <a:extLst>
                  <a:ext uri="{FF2B5EF4-FFF2-40B4-BE49-F238E27FC236}">
                    <a16:creationId xmlns:a16="http://schemas.microsoft.com/office/drawing/2014/main" id="{4C450D92-DB1D-498E-EB81-0FC2F437E421}"/>
                  </a:ext>
                </a:extLst>
              </p:cNvPr>
              <p:cNvSpPr txBox="1"/>
              <p:nvPr/>
            </p:nvSpPr>
            <p:spPr>
              <a:xfrm>
                <a:off x="3810000" y="2441397"/>
                <a:ext cx="2169124" cy="70788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Λ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=1,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2D,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𝜖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=0°, </m:t>
                    </m:r>
                    <m:r>
                      <m:rPr>
                        <m:sty m:val="p"/>
                      </m:rPr>
                      <a:rPr lang="it-IT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PG</m:t>
                    </m:r>
                    <m:r>
                      <a:rPr lang="it-IT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+56.7%</m:t>
                    </m:r>
                  </m:oMath>
                </a14:m>
                <a:endParaRPr lang="en-A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0" name="TextBox 3">
                <a:extLst>
                  <a:ext uri="{FF2B5EF4-FFF2-40B4-BE49-F238E27FC236}">
                    <a16:creationId xmlns:a16="http://schemas.microsoft.com/office/drawing/2014/main" id="{4C450D92-DB1D-498E-EB81-0FC2F437E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2441397"/>
                <a:ext cx="2169124" cy="707886"/>
              </a:xfrm>
              <a:prstGeom prst="rect">
                <a:avLst/>
              </a:prstGeom>
              <a:blipFill>
                <a:blip r:embed="rId9"/>
                <a:stretch>
                  <a:fillRect t="-427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4">
                <a:extLst>
                  <a:ext uri="{FF2B5EF4-FFF2-40B4-BE49-F238E27FC236}">
                    <a16:creationId xmlns:a16="http://schemas.microsoft.com/office/drawing/2014/main" id="{EEC91995-4211-2999-E332-76AF5AF31460}"/>
                  </a:ext>
                </a:extLst>
              </p:cNvPr>
              <p:cNvSpPr txBox="1"/>
              <p:nvPr/>
            </p:nvSpPr>
            <p:spPr>
              <a:xfrm>
                <a:off x="9175583" y="2441397"/>
                <a:ext cx="2724462" cy="70076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.5,</m:t>
                      </m:r>
                      <m:r>
                        <a:rPr lang="it-IT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𝑒</m:t>
                      </m:r>
                      <m:r>
                        <a:rPr lang="it-IT" sz="20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40 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𝑚𝑚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𝜖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=7.5°,</m:t>
                      </m:r>
                      <m:r>
                        <m:rPr>
                          <m:sty m:val="p"/>
                        </m:rPr>
                        <a:rPr lang="it-IT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PG</m:t>
                      </m:r>
                      <m:r>
                        <a:rPr lang="it-IT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= +35.2%</m:t>
                      </m:r>
                    </m:oMath>
                  </m:oMathPara>
                </a14:m>
                <a:endParaRPr lang="en-A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1" name="TextBox 4">
                <a:extLst>
                  <a:ext uri="{FF2B5EF4-FFF2-40B4-BE49-F238E27FC236}">
                    <a16:creationId xmlns:a16="http://schemas.microsoft.com/office/drawing/2014/main" id="{EEC91995-4211-2999-E332-76AF5AF314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5583" y="2441397"/>
                <a:ext cx="2724462" cy="70076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6">
            <a:extLst>
              <a:ext uri="{FF2B5EF4-FFF2-40B4-BE49-F238E27FC236}">
                <a16:creationId xmlns:a16="http://schemas.microsoft.com/office/drawing/2014/main" id="{85E04BB8-9897-AC20-DFF7-09C572DD2C1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5707243" y="4342075"/>
            <a:ext cx="670834" cy="285007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7">
                <a:extLst>
                  <a:ext uri="{FF2B5EF4-FFF2-40B4-BE49-F238E27FC236}">
                    <a16:creationId xmlns:a16="http://schemas.microsoft.com/office/drawing/2014/main" id="{D88D4422-DA01-49AC-17F4-2786EEAE14A9}"/>
                  </a:ext>
                </a:extLst>
              </p:cNvPr>
              <p:cNvSpPr txBox="1"/>
              <p:nvPr/>
            </p:nvSpPr>
            <p:spPr>
              <a:xfrm>
                <a:off x="3013529" y="3943536"/>
                <a:ext cx="2927495" cy="70076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2.9,</m:t>
                      </m:r>
                      <m:r>
                        <a:rPr lang="it-IT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𝑒</m:t>
                      </m:r>
                      <m:r>
                        <a:rPr lang="it-IT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=20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𝑚𝑚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𝜖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=7.5°,</m:t>
                      </m:r>
                      <m:r>
                        <m:rPr>
                          <m:sty m:val="p"/>
                        </m:rPr>
                        <a:rPr lang="it-IT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PG</m:t>
                      </m:r>
                      <m:r>
                        <a:rPr lang="it-IT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= −4.5%</m:t>
                      </m:r>
                    </m:oMath>
                  </m:oMathPara>
                </a14:m>
                <a:endParaRPr lang="en-A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3" name="TextBox 7">
                <a:extLst>
                  <a:ext uri="{FF2B5EF4-FFF2-40B4-BE49-F238E27FC236}">
                    <a16:creationId xmlns:a16="http://schemas.microsoft.com/office/drawing/2014/main" id="{D88D4422-DA01-49AC-17F4-2786EEAE14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3529" y="3943536"/>
                <a:ext cx="2927495" cy="7007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8">
                <a:extLst>
                  <a:ext uri="{FF2B5EF4-FFF2-40B4-BE49-F238E27FC236}">
                    <a16:creationId xmlns:a16="http://schemas.microsoft.com/office/drawing/2014/main" id="{E6CFB765-5137-8D71-AC74-B89BE6DE0223}"/>
                  </a:ext>
                </a:extLst>
              </p:cNvPr>
              <p:cNvSpPr txBox="1"/>
              <p:nvPr/>
            </p:nvSpPr>
            <p:spPr>
              <a:xfrm>
                <a:off x="9005606" y="3952414"/>
                <a:ext cx="2927495" cy="70076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Λ</m:t>
                      </m:r>
                      <m:r>
                        <a:rPr lang="en-US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1.8,</m:t>
                      </m:r>
                      <m:r>
                        <a:rPr lang="it-IT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𝑒</m:t>
                      </m:r>
                      <m:r>
                        <a:rPr lang="it-IT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=30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𝑚𝑚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𝜖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=7.5°,</m:t>
                      </m:r>
                      <m:r>
                        <m:rPr>
                          <m:sty m:val="p"/>
                        </m:rPr>
                        <a:rPr lang="it-IT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PG</m:t>
                      </m:r>
                      <m:r>
                        <a:rPr lang="it-IT" sz="20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= +26.2%</m:t>
                      </m:r>
                    </m:oMath>
                  </m:oMathPara>
                </a14:m>
                <a:endParaRPr lang="en-A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4" name="TextBox 8">
                <a:extLst>
                  <a:ext uri="{FF2B5EF4-FFF2-40B4-BE49-F238E27FC236}">
                    <a16:creationId xmlns:a16="http://schemas.microsoft.com/office/drawing/2014/main" id="{E6CFB765-5137-8D71-AC74-B89BE6DE0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606" y="3952414"/>
                <a:ext cx="2927495" cy="70076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19">
                <a:extLst>
                  <a:ext uri="{FF2B5EF4-FFF2-40B4-BE49-F238E27FC236}">
                    <a16:creationId xmlns:a16="http://schemas.microsoft.com/office/drawing/2014/main" id="{B498FD23-D0B9-82A4-1C01-96D0C0B5218B}"/>
                  </a:ext>
                </a:extLst>
              </p:cNvPr>
              <p:cNvSpPr txBox="1"/>
              <p:nvPr/>
            </p:nvSpPr>
            <p:spPr>
              <a:xfrm>
                <a:off x="7900707" y="5394116"/>
                <a:ext cx="12115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𝑀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lang="en-A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5" name="TextBox 19">
                <a:extLst>
                  <a:ext uri="{FF2B5EF4-FFF2-40B4-BE49-F238E27FC236}">
                    <a16:creationId xmlns:a16="http://schemas.microsoft.com/office/drawing/2014/main" id="{B498FD23-D0B9-82A4-1C01-96D0C0B521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0707" y="5394116"/>
                <a:ext cx="1211544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" name="TextBox 20">
                <a:extLst>
                  <a:ext uri="{FF2B5EF4-FFF2-40B4-BE49-F238E27FC236}">
                    <a16:creationId xmlns:a16="http://schemas.microsoft.com/office/drawing/2014/main" id="{0527D09C-889F-4972-DEE0-6FDF95207D27}"/>
                  </a:ext>
                </a:extLst>
              </p:cNvPr>
              <p:cNvSpPr txBox="1"/>
              <p:nvPr/>
            </p:nvSpPr>
            <p:spPr>
              <a:xfrm>
                <a:off x="9112251" y="5394116"/>
                <a:ext cx="12115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𝜙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=0.99</m:t>
                      </m:r>
                    </m:oMath>
                  </m:oMathPara>
                </a14:m>
                <a:endParaRPr lang="en-A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9" name="TextBox 20">
                <a:extLst>
                  <a:ext uri="{FF2B5EF4-FFF2-40B4-BE49-F238E27FC236}">
                    <a16:creationId xmlns:a16="http://schemas.microsoft.com/office/drawing/2014/main" id="{0527D09C-889F-4972-DEE0-6FDF95207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2251" y="5394116"/>
                <a:ext cx="1211544" cy="400110"/>
              </a:xfrm>
              <a:prstGeom prst="rect">
                <a:avLst/>
              </a:prstGeom>
              <a:blipFill>
                <a:blip r:embed="rId15"/>
                <a:stretch>
                  <a:fillRect l="-3015" b="-1538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" name="TextBox 24">
                <a:extLst>
                  <a:ext uri="{FF2B5EF4-FFF2-40B4-BE49-F238E27FC236}">
                    <a16:creationId xmlns:a16="http://schemas.microsoft.com/office/drawing/2014/main" id="{E124FC40-264F-FE29-F99C-6224362C0916}"/>
                  </a:ext>
                </a:extLst>
              </p:cNvPr>
              <p:cNvSpPr txBox="1"/>
              <p:nvPr/>
            </p:nvSpPr>
            <p:spPr>
              <a:xfrm>
                <a:off x="10142256" y="5377474"/>
                <a:ext cx="12115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𝜙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=0.2</m:t>
                      </m:r>
                    </m:oMath>
                  </m:oMathPara>
                </a14:m>
                <a:endParaRPr lang="en-A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0" name="TextBox 24">
                <a:extLst>
                  <a:ext uri="{FF2B5EF4-FFF2-40B4-BE49-F238E27FC236}">
                    <a16:creationId xmlns:a16="http://schemas.microsoft.com/office/drawing/2014/main" id="{E124FC40-264F-FE29-F99C-6224362C09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2256" y="5377474"/>
                <a:ext cx="1211544" cy="400110"/>
              </a:xfrm>
              <a:prstGeom prst="rect">
                <a:avLst/>
              </a:prstGeom>
              <a:blipFill>
                <a:blip r:embed="rId16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Straight Arrow Connector 29">
            <a:extLst>
              <a:ext uri="{FF2B5EF4-FFF2-40B4-BE49-F238E27FC236}">
                <a16:creationId xmlns:a16="http://schemas.microsoft.com/office/drawing/2014/main" id="{1854C01F-21F2-DB3A-16C2-BEA29DB139E9}"/>
              </a:ext>
            </a:extLst>
          </p:cNvPr>
          <p:cNvCxnSpPr>
            <a:cxnSpLocks/>
          </p:cNvCxnSpPr>
          <p:nvPr/>
        </p:nvCxnSpPr>
        <p:spPr>
          <a:xfrm flipV="1">
            <a:off x="2736850" y="5318665"/>
            <a:ext cx="229676" cy="2045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31">
            <a:extLst>
              <a:ext uri="{FF2B5EF4-FFF2-40B4-BE49-F238E27FC236}">
                <a16:creationId xmlns:a16="http://schemas.microsoft.com/office/drawing/2014/main" id="{6FA62E57-09A3-15FD-4E69-015F27A61F45}"/>
              </a:ext>
            </a:extLst>
          </p:cNvPr>
          <p:cNvSpPr txBox="1"/>
          <p:nvPr/>
        </p:nvSpPr>
        <p:spPr>
          <a:xfrm>
            <a:off x="1567005" y="5449570"/>
            <a:ext cx="1393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Inlet line</a:t>
            </a:r>
            <a:endParaRPr lang="en-AU" dirty="0">
              <a:latin typeface="Palatino Linotype" panose="0204050205050503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Box 13">
                <a:extLst>
                  <a:ext uri="{FF2B5EF4-FFF2-40B4-BE49-F238E27FC236}">
                    <a16:creationId xmlns:a16="http://schemas.microsoft.com/office/drawing/2014/main" id="{8B297872-6A64-AE06-E76B-16B156BC23DB}"/>
                  </a:ext>
                </a:extLst>
              </p:cNvPr>
              <p:cNvSpPr txBox="1"/>
              <p:nvPr/>
            </p:nvSpPr>
            <p:spPr>
              <a:xfrm>
                <a:off x="10142256" y="1189110"/>
                <a:ext cx="1917845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=5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𝑏𝑎𝑟</m:t>
                      </m:r>
                    </m:oMath>
                  </m:oMathPara>
                </a14:m>
                <a:endParaRPr lang="en-US" sz="1600" b="0" i="1" dirty="0">
                  <a:latin typeface="Palatino Linotype" panose="0204050205050503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=330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𝐾</m:t>
                    </m:r>
                  </m:oMath>
                </a14:m>
                <a:r>
                  <a:rPr lang="en-US" sz="1600" dirty="0">
                    <a:latin typeface="Palatino Linotype" panose="0204050205050503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US" sz="1600" dirty="0">
                    <a:latin typeface="Palatino Linotype" panose="02040502050505030304" pitchFamily="18" charset="0"/>
                    <a:cs typeface="Times New Roman" panose="02020603050405020304" pitchFamily="18" charset="0"/>
                  </a:rPr>
                  <a:t>premixed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𝑎𝑖𝑟</m:t>
                    </m:r>
                  </m:oMath>
                </a14:m>
                <a:r>
                  <a:rPr lang="en-US" sz="1600" dirty="0">
                    <a:latin typeface="Palatino Linotype" panose="0204050205050503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𝜙</m:t>
                      </m:r>
                      <m:r>
                        <a:rPr lang="en-US" sz="16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lang="en-US" sz="1600" dirty="0">
                  <a:latin typeface="Palatino Linotype" panose="0204050205050503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3" name="TextBox 13">
                <a:extLst>
                  <a:ext uri="{FF2B5EF4-FFF2-40B4-BE49-F238E27FC236}">
                    <a16:creationId xmlns:a16="http://schemas.microsoft.com/office/drawing/2014/main" id="{8B297872-6A64-AE06-E76B-16B156BC23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2256" y="1189110"/>
                <a:ext cx="1917845" cy="1077218"/>
              </a:xfrm>
              <a:prstGeom prst="rect">
                <a:avLst/>
              </a:prstGeom>
              <a:blipFill>
                <a:blip r:embed="rId17"/>
                <a:stretch>
                  <a:fillRect l="-1911" b="-226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5" name="Straight Arrow Connector 15">
            <a:extLst>
              <a:ext uri="{FF2B5EF4-FFF2-40B4-BE49-F238E27FC236}">
                <a16:creationId xmlns:a16="http://schemas.microsoft.com/office/drawing/2014/main" id="{C64E3376-B241-C35C-8F83-359D6F64AF36}"/>
              </a:ext>
            </a:extLst>
          </p:cNvPr>
          <p:cNvCxnSpPr>
            <a:cxnSpLocks/>
          </p:cNvCxnSpPr>
          <p:nvPr/>
        </p:nvCxnSpPr>
        <p:spPr>
          <a:xfrm flipH="1" flipV="1">
            <a:off x="7969250" y="5038272"/>
            <a:ext cx="368300" cy="4214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21">
            <a:extLst>
              <a:ext uri="{FF2B5EF4-FFF2-40B4-BE49-F238E27FC236}">
                <a16:creationId xmlns:a16="http://schemas.microsoft.com/office/drawing/2014/main" id="{F2DFBD9D-EFC9-9D14-6BA2-2CC4301D6A51}"/>
              </a:ext>
            </a:extLst>
          </p:cNvPr>
          <p:cNvCxnSpPr>
            <a:cxnSpLocks/>
          </p:cNvCxnSpPr>
          <p:nvPr/>
        </p:nvCxnSpPr>
        <p:spPr>
          <a:xfrm flipV="1">
            <a:off x="9718023" y="5015230"/>
            <a:ext cx="0" cy="3788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26">
            <a:extLst>
              <a:ext uri="{FF2B5EF4-FFF2-40B4-BE49-F238E27FC236}">
                <a16:creationId xmlns:a16="http://schemas.microsoft.com/office/drawing/2014/main" id="{1887DF9F-C3C4-2E91-4BDA-37315B6B0583}"/>
              </a:ext>
            </a:extLst>
          </p:cNvPr>
          <p:cNvCxnSpPr>
            <a:cxnSpLocks/>
          </p:cNvCxnSpPr>
          <p:nvPr/>
        </p:nvCxnSpPr>
        <p:spPr>
          <a:xfrm flipV="1">
            <a:off x="10748028" y="4993005"/>
            <a:ext cx="0" cy="3844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1618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C991D-BFBA-1B7E-21CD-0FAB81A1A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o 6">
            <a:extLst>
              <a:ext uri="{FF2B5EF4-FFF2-40B4-BE49-F238E27FC236}">
                <a16:creationId xmlns:a16="http://schemas.microsoft.com/office/drawing/2014/main" id="{80EA8ECB-7C5B-CFA9-F3FB-1405800E02DD}"/>
              </a:ext>
            </a:extLst>
          </p:cNvPr>
          <p:cNvGrpSpPr/>
          <p:nvPr/>
        </p:nvGrpSpPr>
        <p:grpSpPr>
          <a:xfrm>
            <a:off x="0" y="6108700"/>
            <a:ext cx="12191999" cy="741549"/>
            <a:chOff x="7950" y="6134100"/>
            <a:chExt cx="12184049" cy="741549"/>
          </a:xfrm>
        </p:grpSpPr>
        <p:grpSp>
          <p:nvGrpSpPr>
            <p:cNvPr id="4" name="Gruppo 3">
              <a:extLst>
                <a:ext uri="{FF2B5EF4-FFF2-40B4-BE49-F238E27FC236}">
                  <a16:creationId xmlns:a16="http://schemas.microsoft.com/office/drawing/2014/main" id="{A5762A17-9A91-5AFE-DE6E-B5B8703EC33D}"/>
                </a:ext>
              </a:extLst>
            </p:cNvPr>
            <p:cNvGrpSpPr/>
            <p:nvPr/>
          </p:nvGrpSpPr>
          <p:grpSpPr>
            <a:xfrm>
              <a:off x="7950" y="6134100"/>
              <a:ext cx="12184049" cy="741549"/>
              <a:chOff x="0" y="6134100"/>
              <a:chExt cx="12192000" cy="741549"/>
            </a:xfrm>
          </p:grpSpPr>
          <p:sp>
            <p:nvSpPr>
              <p:cNvPr id="10" name="Rectangle 23">
                <a:extLst>
                  <a:ext uri="{FF2B5EF4-FFF2-40B4-BE49-F238E27FC236}">
                    <a16:creationId xmlns:a16="http://schemas.microsoft.com/office/drawing/2014/main" id="{8231CCB2-0097-47C1-2749-BF83BA063A35}"/>
                  </a:ext>
                </a:extLst>
              </p:cNvPr>
              <p:cNvSpPr/>
              <p:nvPr/>
            </p:nvSpPr>
            <p:spPr>
              <a:xfrm>
                <a:off x="0" y="6134100"/>
                <a:ext cx="12192000" cy="741549"/>
              </a:xfrm>
              <a:prstGeom prst="rect">
                <a:avLst/>
              </a:prstGeom>
              <a:solidFill>
                <a:srgbClr val="822333"/>
              </a:solidFill>
              <a:ln>
                <a:solidFill>
                  <a:srgbClr val="8223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4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Palatino"/>
                  </a:rPr>
                  <a:t>		                          HEM modeling for subcritical flows in liquid rocket engine cooling systems 			</a:t>
                </a:r>
                <a:endParaRPr lang="en-FR" sz="1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alatino"/>
                  <a:ea typeface="Palatino" pitchFamily="2" charset="77"/>
                  <a:cs typeface="FUTURA MEDIUM" panose="020B0602020204020303" pitchFamily="34" charset="-79"/>
                </a:endParaRPr>
              </a:p>
            </p:txBody>
          </p:sp>
          <p:pic>
            <p:nvPicPr>
              <p:cNvPr id="12" name="Picture 13" descr="logo +marchio">
                <a:extLst>
                  <a:ext uri="{FF2B5EF4-FFF2-40B4-BE49-F238E27FC236}">
                    <a16:creationId xmlns:a16="http://schemas.microsoft.com/office/drawing/2014/main" id="{A2448FDD-2023-88FD-4279-31AD7AA4141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/>
              <a:srcRect l="14831" r="54091"/>
              <a:stretch/>
            </p:blipFill>
            <p:spPr bwMode="auto">
              <a:xfrm>
                <a:off x="84996" y="6351184"/>
                <a:ext cx="1228478" cy="4953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" name="Rettangolo 2">
                <a:extLst>
                  <a:ext uri="{FF2B5EF4-FFF2-40B4-BE49-F238E27FC236}">
                    <a16:creationId xmlns:a16="http://schemas.microsoft.com/office/drawing/2014/main" id="{44404EB8-6ACD-DAF4-2480-0B1CB2A99C7F}"/>
                  </a:ext>
                </a:extLst>
              </p:cNvPr>
              <p:cNvSpPr/>
              <p:nvPr/>
            </p:nvSpPr>
            <p:spPr>
              <a:xfrm>
                <a:off x="0" y="6134100"/>
                <a:ext cx="928464" cy="2057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Segnaposto numero diapositiva 6">
              <a:extLst>
                <a:ext uri="{FF2B5EF4-FFF2-40B4-BE49-F238E27FC236}">
                  <a16:creationId xmlns:a16="http://schemas.microsoft.com/office/drawing/2014/main" id="{CBC1A82E-4C58-6C94-2A7F-7F9CF6CA2090}"/>
                </a:ext>
              </a:extLst>
            </p:cNvPr>
            <p:cNvSpPr txBox="1">
              <a:spLocks/>
            </p:cNvSpPr>
            <p:nvPr/>
          </p:nvSpPr>
          <p:spPr>
            <a:xfrm>
              <a:off x="11270512" y="6276274"/>
              <a:ext cx="730988" cy="457200"/>
            </a:xfrm>
            <a:prstGeom prst="rect">
              <a:avLst/>
            </a:prstGeom>
            <a:noFill/>
          </p:spPr>
          <p:txBody>
            <a:bodyPr anchor="ctr"/>
            <a:lstStyle>
              <a:defPPr>
                <a:defRPr lang="en-US"/>
              </a:defPPr>
              <a:lvl1pPr algn="r" defTabSz="457200" rtl="0" eaLnBrk="1" fontAlgn="auto" hangingPunct="1">
                <a:spcBef>
                  <a:spcPct val="20000"/>
                </a:spcBef>
                <a:spcAft>
                  <a:spcPts val="0"/>
                </a:spcAft>
                <a:buClr>
                  <a:srgbClr val="822433"/>
                </a:buClr>
                <a:buChar char="•"/>
                <a:defRPr sz="24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1pPr>
              <a:lvl2pPr marL="742950" indent="-28575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2pPr>
              <a:lvl3pPr marL="11430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16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3pPr>
              <a:lvl4pPr marL="16002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4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4pPr>
              <a:lvl5pPr marL="20574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  <a:defRPr/>
              </a:pPr>
              <a:fld id="{BE037B56-838D-4EA9-A433-B420C86CBEEB}" type="slidenum">
                <a:rPr lang="it-IT" altLang="en-US" sz="1400" b="1" smtClean="0">
                  <a:solidFill>
                    <a:schemeClr val="bg1"/>
                  </a:solidFill>
                  <a:latin typeface="Palatino"/>
                </a:rPr>
                <a:pPr>
                  <a:spcBef>
                    <a:spcPct val="0"/>
                  </a:spcBef>
                  <a:buClrTx/>
                  <a:buFontTx/>
                  <a:buNone/>
                  <a:defRPr/>
                </a:pPr>
                <a:t>13</a:t>
              </a:fld>
              <a:r>
                <a:rPr lang="it-IT" altLang="en-US" sz="1400" b="1" dirty="0">
                  <a:solidFill>
                    <a:schemeClr val="bg1"/>
                  </a:solidFill>
                  <a:latin typeface="Palatino"/>
                </a:rPr>
                <a:t>/18</a:t>
              </a:r>
            </a:p>
          </p:txBody>
        </p:sp>
      </p:grpSp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B26BFCA3-44FD-7C8C-330C-62289CFBC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5D0DC1AA-78E5-A11F-47C2-DB8B5B761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Rotating Detonation Engine Activities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F3911E23-570B-A653-C59D-FD3CAC6B5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13/18</a:t>
            </a:r>
            <a:endParaRPr lang="en-US" dirty="0"/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105F0598-21F2-8FF0-E031-FB5B7BBC1EAD}"/>
              </a:ext>
            </a:extLst>
          </p:cNvPr>
          <p:cNvSpPr txBox="1">
            <a:spLocks/>
          </p:cNvSpPr>
          <p:nvPr/>
        </p:nvSpPr>
        <p:spPr>
          <a:xfrm>
            <a:off x="295491" y="346384"/>
            <a:ext cx="10311549" cy="5048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3200" b="1" dirty="0">
                <a:solidFill>
                  <a:srgbClr val="8224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Characterization of Refill Region Dynamics 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AD899B92-8E22-2567-932A-960A313354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680" y="1477816"/>
            <a:ext cx="9866920" cy="3902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269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ED2EF-E6B7-0228-6D8C-48CD167F3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o 6">
            <a:extLst>
              <a:ext uri="{FF2B5EF4-FFF2-40B4-BE49-F238E27FC236}">
                <a16:creationId xmlns:a16="http://schemas.microsoft.com/office/drawing/2014/main" id="{60103F3F-AB62-F227-0F46-FBF3F127D030}"/>
              </a:ext>
            </a:extLst>
          </p:cNvPr>
          <p:cNvGrpSpPr/>
          <p:nvPr/>
        </p:nvGrpSpPr>
        <p:grpSpPr>
          <a:xfrm>
            <a:off x="0" y="6108700"/>
            <a:ext cx="12191999" cy="741549"/>
            <a:chOff x="7950" y="6134100"/>
            <a:chExt cx="12184049" cy="741549"/>
          </a:xfrm>
        </p:grpSpPr>
        <p:grpSp>
          <p:nvGrpSpPr>
            <p:cNvPr id="4" name="Gruppo 3">
              <a:extLst>
                <a:ext uri="{FF2B5EF4-FFF2-40B4-BE49-F238E27FC236}">
                  <a16:creationId xmlns:a16="http://schemas.microsoft.com/office/drawing/2014/main" id="{711E705C-6C86-F79E-61B4-01ABED669078}"/>
                </a:ext>
              </a:extLst>
            </p:cNvPr>
            <p:cNvGrpSpPr/>
            <p:nvPr/>
          </p:nvGrpSpPr>
          <p:grpSpPr>
            <a:xfrm>
              <a:off x="7950" y="6134100"/>
              <a:ext cx="12184049" cy="741549"/>
              <a:chOff x="0" y="6134100"/>
              <a:chExt cx="12192000" cy="741549"/>
            </a:xfrm>
          </p:grpSpPr>
          <p:sp>
            <p:nvSpPr>
              <p:cNvPr id="10" name="Rectangle 23">
                <a:extLst>
                  <a:ext uri="{FF2B5EF4-FFF2-40B4-BE49-F238E27FC236}">
                    <a16:creationId xmlns:a16="http://schemas.microsoft.com/office/drawing/2014/main" id="{36B9938B-2153-D40D-4B7F-6EEE7A7896F1}"/>
                  </a:ext>
                </a:extLst>
              </p:cNvPr>
              <p:cNvSpPr/>
              <p:nvPr/>
            </p:nvSpPr>
            <p:spPr>
              <a:xfrm>
                <a:off x="0" y="6134100"/>
                <a:ext cx="12192000" cy="741549"/>
              </a:xfrm>
              <a:prstGeom prst="rect">
                <a:avLst/>
              </a:prstGeom>
              <a:solidFill>
                <a:srgbClr val="822333"/>
              </a:solidFill>
              <a:ln>
                <a:solidFill>
                  <a:srgbClr val="8223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4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Palatino"/>
                  </a:rPr>
                  <a:t>		                          HEM modeling for subcritical flows in liquid rocket engine cooling systems 			</a:t>
                </a:r>
                <a:endParaRPr lang="en-FR" sz="1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alatino"/>
                  <a:ea typeface="Palatino" pitchFamily="2" charset="77"/>
                  <a:cs typeface="FUTURA MEDIUM" panose="020B0602020204020303" pitchFamily="34" charset="-79"/>
                </a:endParaRPr>
              </a:p>
            </p:txBody>
          </p:sp>
          <p:pic>
            <p:nvPicPr>
              <p:cNvPr id="12" name="Picture 13" descr="logo +marchio">
                <a:extLst>
                  <a:ext uri="{FF2B5EF4-FFF2-40B4-BE49-F238E27FC236}">
                    <a16:creationId xmlns:a16="http://schemas.microsoft.com/office/drawing/2014/main" id="{910D7DAE-DC70-FD26-C14F-0E484050573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/>
              <a:srcRect l="14831" r="54091"/>
              <a:stretch/>
            </p:blipFill>
            <p:spPr bwMode="auto">
              <a:xfrm>
                <a:off x="84996" y="6351184"/>
                <a:ext cx="1228478" cy="4953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" name="Rettangolo 2">
                <a:extLst>
                  <a:ext uri="{FF2B5EF4-FFF2-40B4-BE49-F238E27FC236}">
                    <a16:creationId xmlns:a16="http://schemas.microsoft.com/office/drawing/2014/main" id="{EF07E98F-5B56-9412-1FC6-44A8E048C3F7}"/>
                  </a:ext>
                </a:extLst>
              </p:cNvPr>
              <p:cNvSpPr/>
              <p:nvPr/>
            </p:nvSpPr>
            <p:spPr>
              <a:xfrm>
                <a:off x="0" y="6134100"/>
                <a:ext cx="928464" cy="2057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Segnaposto numero diapositiva 6">
              <a:extLst>
                <a:ext uri="{FF2B5EF4-FFF2-40B4-BE49-F238E27FC236}">
                  <a16:creationId xmlns:a16="http://schemas.microsoft.com/office/drawing/2014/main" id="{BF07147B-7141-76F4-01E2-3DDF672C26B4}"/>
                </a:ext>
              </a:extLst>
            </p:cNvPr>
            <p:cNvSpPr txBox="1">
              <a:spLocks/>
            </p:cNvSpPr>
            <p:nvPr/>
          </p:nvSpPr>
          <p:spPr>
            <a:xfrm>
              <a:off x="11270512" y="6276274"/>
              <a:ext cx="730988" cy="457200"/>
            </a:xfrm>
            <a:prstGeom prst="rect">
              <a:avLst/>
            </a:prstGeom>
            <a:noFill/>
          </p:spPr>
          <p:txBody>
            <a:bodyPr anchor="ctr"/>
            <a:lstStyle>
              <a:defPPr>
                <a:defRPr lang="en-US"/>
              </a:defPPr>
              <a:lvl1pPr algn="r" defTabSz="457200" rtl="0" eaLnBrk="1" fontAlgn="auto" hangingPunct="1">
                <a:spcBef>
                  <a:spcPct val="20000"/>
                </a:spcBef>
                <a:spcAft>
                  <a:spcPts val="0"/>
                </a:spcAft>
                <a:buClr>
                  <a:srgbClr val="822433"/>
                </a:buClr>
                <a:buChar char="•"/>
                <a:defRPr sz="24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1pPr>
              <a:lvl2pPr marL="742950" indent="-28575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2pPr>
              <a:lvl3pPr marL="11430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16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3pPr>
              <a:lvl4pPr marL="16002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4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4pPr>
              <a:lvl5pPr marL="20574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  <a:defRPr/>
              </a:pPr>
              <a:fld id="{BE037B56-838D-4EA9-A433-B420C86CBEEB}" type="slidenum">
                <a:rPr lang="it-IT" altLang="en-US" sz="1400" b="1" smtClean="0">
                  <a:solidFill>
                    <a:schemeClr val="bg1"/>
                  </a:solidFill>
                  <a:latin typeface="Palatino"/>
                </a:rPr>
                <a:pPr>
                  <a:spcBef>
                    <a:spcPct val="0"/>
                  </a:spcBef>
                  <a:buClrTx/>
                  <a:buFontTx/>
                  <a:buNone/>
                  <a:defRPr/>
                </a:pPr>
                <a:t>14</a:t>
              </a:fld>
              <a:r>
                <a:rPr lang="it-IT" altLang="en-US" sz="1400" b="1" dirty="0">
                  <a:solidFill>
                    <a:schemeClr val="bg1"/>
                  </a:solidFill>
                  <a:latin typeface="Palatino"/>
                </a:rPr>
                <a:t>/18</a:t>
              </a:r>
            </a:p>
          </p:txBody>
        </p:sp>
      </p:grpSp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84EF43DD-B1A4-0434-6836-5211DB5B6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96D9B8AA-CC2C-801B-439B-FD3F65AAA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Rotating Detonation Engine Activities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17DCB42A-FF83-5E17-6D61-69C0E2423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14/18</a:t>
            </a:r>
            <a:endParaRPr lang="en-US" dirty="0"/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B051104E-8479-844D-57D9-8C8AF754C176}"/>
              </a:ext>
            </a:extLst>
          </p:cNvPr>
          <p:cNvSpPr txBox="1">
            <a:spLocks/>
          </p:cNvSpPr>
          <p:nvPr/>
        </p:nvSpPr>
        <p:spPr>
          <a:xfrm>
            <a:off x="295491" y="346384"/>
            <a:ext cx="10311549" cy="5048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3200" b="1" dirty="0">
                <a:solidFill>
                  <a:srgbClr val="8224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Supersonic Bladeless Turbines (with NCSU)</a:t>
            </a: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239A058D-E51E-3C0B-193A-5E7C8D09F064}"/>
              </a:ext>
            </a:extLst>
          </p:cNvPr>
          <p:cNvSpPr txBox="1"/>
          <p:nvPr/>
        </p:nvSpPr>
        <p:spPr>
          <a:xfrm>
            <a:off x="613541" y="1043731"/>
            <a:ext cx="11153009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CFD based design of NCSU supersonic wind tunnel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Capability up to Mach 4 for steady non-reactive flow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Swappable nozzle and second-throat diffuser system allowing for low feed pressure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Numerical analysis of phenomenology and working principle of bladeless turbines</a:t>
            </a:r>
          </a:p>
          <a:p>
            <a:endParaRPr lang="en-US" dirty="0">
              <a:latin typeface="Palatino Linotype" panose="02040502050505030304" pitchFamily="18" charset="0"/>
              <a:cs typeface="Times New Roman" panose="02020603050405020304" pitchFamily="18" charset="0"/>
            </a:endParaRPr>
          </a:p>
          <a:p>
            <a:endParaRPr lang="en-A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FD54FEF3-FC50-0945-3D8A-83440B8028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474" y="2380786"/>
            <a:ext cx="3944208" cy="3505415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FC6C3B93-83ED-D25F-7BDE-82216114FE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1842" y="2380787"/>
            <a:ext cx="3757952" cy="343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878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E1524-2D1B-8268-3523-5B65ADA2C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o 6">
            <a:extLst>
              <a:ext uri="{FF2B5EF4-FFF2-40B4-BE49-F238E27FC236}">
                <a16:creationId xmlns:a16="http://schemas.microsoft.com/office/drawing/2014/main" id="{448F0FCE-1571-C0A3-68D2-32858A5A3422}"/>
              </a:ext>
            </a:extLst>
          </p:cNvPr>
          <p:cNvGrpSpPr/>
          <p:nvPr/>
        </p:nvGrpSpPr>
        <p:grpSpPr>
          <a:xfrm>
            <a:off x="0" y="6108700"/>
            <a:ext cx="12191999" cy="741549"/>
            <a:chOff x="7950" y="6134100"/>
            <a:chExt cx="12184049" cy="741549"/>
          </a:xfrm>
        </p:grpSpPr>
        <p:grpSp>
          <p:nvGrpSpPr>
            <p:cNvPr id="4" name="Gruppo 3">
              <a:extLst>
                <a:ext uri="{FF2B5EF4-FFF2-40B4-BE49-F238E27FC236}">
                  <a16:creationId xmlns:a16="http://schemas.microsoft.com/office/drawing/2014/main" id="{16AC8C9A-305D-1CA6-0CAD-4E9E45E0D308}"/>
                </a:ext>
              </a:extLst>
            </p:cNvPr>
            <p:cNvGrpSpPr/>
            <p:nvPr/>
          </p:nvGrpSpPr>
          <p:grpSpPr>
            <a:xfrm>
              <a:off x="7950" y="6134100"/>
              <a:ext cx="12184049" cy="741549"/>
              <a:chOff x="0" y="6134100"/>
              <a:chExt cx="12192000" cy="741549"/>
            </a:xfrm>
          </p:grpSpPr>
          <p:sp>
            <p:nvSpPr>
              <p:cNvPr id="10" name="Rectangle 23">
                <a:extLst>
                  <a:ext uri="{FF2B5EF4-FFF2-40B4-BE49-F238E27FC236}">
                    <a16:creationId xmlns:a16="http://schemas.microsoft.com/office/drawing/2014/main" id="{BE32319D-893E-A84B-43C7-9E691D8145EC}"/>
                  </a:ext>
                </a:extLst>
              </p:cNvPr>
              <p:cNvSpPr/>
              <p:nvPr/>
            </p:nvSpPr>
            <p:spPr>
              <a:xfrm>
                <a:off x="0" y="6134100"/>
                <a:ext cx="12192000" cy="741549"/>
              </a:xfrm>
              <a:prstGeom prst="rect">
                <a:avLst/>
              </a:prstGeom>
              <a:solidFill>
                <a:srgbClr val="822333"/>
              </a:solidFill>
              <a:ln>
                <a:solidFill>
                  <a:srgbClr val="8223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4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Palatino"/>
                  </a:rPr>
                  <a:t>		                          HEM modeling for subcritical flows in liquid rocket engine cooling systems 			</a:t>
                </a:r>
                <a:endParaRPr lang="en-FR" sz="1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alatino"/>
                  <a:ea typeface="Palatino" pitchFamily="2" charset="77"/>
                  <a:cs typeface="FUTURA MEDIUM" panose="020B0602020204020303" pitchFamily="34" charset="-79"/>
                </a:endParaRPr>
              </a:p>
            </p:txBody>
          </p:sp>
          <p:pic>
            <p:nvPicPr>
              <p:cNvPr id="12" name="Picture 13" descr="logo +marchio">
                <a:extLst>
                  <a:ext uri="{FF2B5EF4-FFF2-40B4-BE49-F238E27FC236}">
                    <a16:creationId xmlns:a16="http://schemas.microsoft.com/office/drawing/2014/main" id="{40C1FC15-C808-1783-C9CC-7965F77DD17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/>
              <a:srcRect l="14831" r="54091"/>
              <a:stretch/>
            </p:blipFill>
            <p:spPr bwMode="auto">
              <a:xfrm>
                <a:off x="84996" y="6351184"/>
                <a:ext cx="1228478" cy="4953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" name="Rettangolo 2">
                <a:extLst>
                  <a:ext uri="{FF2B5EF4-FFF2-40B4-BE49-F238E27FC236}">
                    <a16:creationId xmlns:a16="http://schemas.microsoft.com/office/drawing/2014/main" id="{2B6D5FE9-0074-3A5F-CD41-5444D712EA9D}"/>
                  </a:ext>
                </a:extLst>
              </p:cNvPr>
              <p:cNvSpPr/>
              <p:nvPr/>
            </p:nvSpPr>
            <p:spPr>
              <a:xfrm>
                <a:off x="0" y="6134100"/>
                <a:ext cx="928464" cy="2057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Segnaposto numero diapositiva 6">
              <a:extLst>
                <a:ext uri="{FF2B5EF4-FFF2-40B4-BE49-F238E27FC236}">
                  <a16:creationId xmlns:a16="http://schemas.microsoft.com/office/drawing/2014/main" id="{B47D1FD5-EF73-7659-F344-426EDF2CEDE9}"/>
                </a:ext>
              </a:extLst>
            </p:cNvPr>
            <p:cNvSpPr txBox="1">
              <a:spLocks/>
            </p:cNvSpPr>
            <p:nvPr/>
          </p:nvSpPr>
          <p:spPr>
            <a:xfrm>
              <a:off x="11270512" y="6276274"/>
              <a:ext cx="730988" cy="457200"/>
            </a:xfrm>
            <a:prstGeom prst="rect">
              <a:avLst/>
            </a:prstGeom>
            <a:noFill/>
          </p:spPr>
          <p:txBody>
            <a:bodyPr anchor="ctr"/>
            <a:lstStyle>
              <a:defPPr>
                <a:defRPr lang="en-US"/>
              </a:defPPr>
              <a:lvl1pPr algn="r" defTabSz="457200" rtl="0" eaLnBrk="1" fontAlgn="auto" hangingPunct="1">
                <a:spcBef>
                  <a:spcPct val="20000"/>
                </a:spcBef>
                <a:spcAft>
                  <a:spcPts val="0"/>
                </a:spcAft>
                <a:buClr>
                  <a:srgbClr val="822433"/>
                </a:buClr>
                <a:buChar char="•"/>
                <a:defRPr sz="24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1pPr>
              <a:lvl2pPr marL="742950" indent="-28575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2pPr>
              <a:lvl3pPr marL="11430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16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3pPr>
              <a:lvl4pPr marL="16002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4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4pPr>
              <a:lvl5pPr marL="20574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  <a:defRPr/>
              </a:pPr>
              <a:fld id="{BE037B56-838D-4EA9-A433-B420C86CBEEB}" type="slidenum">
                <a:rPr lang="it-IT" altLang="en-US" sz="1400" b="1" smtClean="0">
                  <a:solidFill>
                    <a:schemeClr val="bg1"/>
                  </a:solidFill>
                  <a:latin typeface="Palatino"/>
                </a:rPr>
                <a:pPr>
                  <a:spcBef>
                    <a:spcPct val="0"/>
                  </a:spcBef>
                  <a:buClrTx/>
                  <a:buFontTx/>
                  <a:buNone/>
                  <a:defRPr/>
                </a:pPr>
                <a:t>15</a:t>
              </a:fld>
              <a:r>
                <a:rPr lang="it-IT" altLang="en-US" sz="1400" b="1" dirty="0">
                  <a:solidFill>
                    <a:schemeClr val="bg1"/>
                  </a:solidFill>
                  <a:latin typeface="Palatino"/>
                </a:rPr>
                <a:t>/18</a:t>
              </a:r>
            </a:p>
          </p:txBody>
        </p:sp>
      </p:grpSp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A048E8C6-9B8C-B56A-90CC-BB544D05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106E803D-56B4-FAD5-D7BE-9E14D8DE6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Rotating Detonation Engine Activities</a:t>
            </a:r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0F03257E-211D-E30E-4642-415AF8BDA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15/18</a:t>
            </a:r>
            <a:endParaRPr lang="en-US" dirty="0"/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F5E1E203-4C24-1972-E4F1-66AD5BBA8722}"/>
              </a:ext>
            </a:extLst>
          </p:cNvPr>
          <p:cNvSpPr txBox="1">
            <a:spLocks/>
          </p:cNvSpPr>
          <p:nvPr/>
        </p:nvSpPr>
        <p:spPr>
          <a:xfrm>
            <a:off x="295491" y="346384"/>
            <a:ext cx="10311549" cy="5048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3200" b="1" dirty="0">
                <a:solidFill>
                  <a:srgbClr val="8224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Supersonic Bladeless Turbines (with NCSU)</a:t>
            </a: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80538004-384C-9E18-6E72-DA1A36ECD4D3}"/>
              </a:ext>
            </a:extLst>
          </p:cNvPr>
          <p:cNvSpPr txBox="1"/>
          <p:nvPr/>
        </p:nvSpPr>
        <p:spPr>
          <a:xfrm>
            <a:off x="613541" y="1043731"/>
            <a:ext cx="11153009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CFD based design of NCSU supersonic wind tunnel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Capability up to Mach 4 for steady non-reactive flow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Swappable nozzle and second-throat diffuser system allowing for low feed pressure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Numerical analysis of phenomenology and working principle of bladeless turbines</a:t>
            </a:r>
          </a:p>
          <a:p>
            <a:endParaRPr lang="en-US" dirty="0">
              <a:latin typeface="Palatino Linotype" panose="02040502050505030304" pitchFamily="18" charset="0"/>
              <a:cs typeface="Times New Roman" panose="02020603050405020304" pitchFamily="18" charset="0"/>
            </a:endParaRPr>
          </a:p>
          <a:p>
            <a:endParaRPr lang="en-A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41D71250-E442-76D9-3FAB-F66414C024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6016" y="2525607"/>
            <a:ext cx="7055103" cy="3509179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9FD2EFCA-8566-DF98-8C00-812A90E5ED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6" y="3020209"/>
            <a:ext cx="5247710" cy="2301121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14D693E6-E28C-8F7A-CAB3-7AD5113D58A0}"/>
              </a:ext>
            </a:extLst>
          </p:cNvPr>
          <p:cNvSpPr txBox="1"/>
          <p:nvPr/>
        </p:nvSpPr>
        <p:spPr>
          <a:xfrm>
            <a:off x="1313474" y="3168974"/>
            <a:ext cx="34036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it-IT" sz="1400" b="1" dirty="0">
                <a:solidFill>
                  <a:srgbClr val="822433"/>
                </a:solidFill>
                <a:latin typeface="Palatino Linotype"/>
              </a:rPr>
              <a:t>p</a:t>
            </a:r>
            <a:r>
              <a:rPr lang="it-IT" sz="1400" b="1" baseline="-25000" dirty="0">
                <a:solidFill>
                  <a:srgbClr val="822433"/>
                </a:solidFill>
                <a:latin typeface="Palatino Linotype"/>
              </a:rPr>
              <a:t>0</a:t>
            </a:r>
            <a:r>
              <a:rPr lang="it-IT" sz="1400" b="1" dirty="0">
                <a:solidFill>
                  <a:srgbClr val="822433"/>
                </a:solidFill>
                <a:latin typeface="Palatino Linotype"/>
              </a:rPr>
              <a:t> = 3 bar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ECEFF58A-77A4-FFBF-97EA-8F8CF4246EC5}"/>
              </a:ext>
            </a:extLst>
          </p:cNvPr>
          <p:cNvSpPr txBox="1"/>
          <p:nvPr/>
        </p:nvSpPr>
        <p:spPr>
          <a:xfrm>
            <a:off x="1313474" y="4520254"/>
            <a:ext cx="34036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it-IT" sz="1400" b="1" dirty="0">
                <a:solidFill>
                  <a:srgbClr val="822433"/>
                </a:solidFill>
                <a:latin typeface="Palatino Linotype"/>
              </a:rPr>
              <a:t>p</a:t>
            </a:r>
            <a:r>
              <a:rPr lang="it-IT" sz="1400" b="1" baseline="-25000" dirty="0">
                <a:solidFill>
                  <a:srgbClr val="822433"/>
                </a:solidFill>
                <a:latin typeface="Palatino Linotype"/>
              </a:rPr>
              <a:t>0</a:t>
            </a:r>
            <a:r>
              <a:rPr lang="it-IT" sz="1400" b="1" dirty="0">
                <a:solidFill>
                  <a:srgbClr val="822433"/>
                </a:solidFill>
                <a:latin typeface="Palatino Linotype"/>
              </a:rPr>
              <a:t> = 4 bar</a:t>
            </a:r>
          </a:p>
        </p:txBody>
      </p:sp>
    </p:spTree>
    <p:extLst>
      <p:ext uri="{BB962C8B-B14F-4D97-AF65-F5344CB8AC3E}">
        <p14:creationId xmlns:p14="http://schemas.microsoft.com/office/powerpoint/2010/main" val="9670028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F1BBC-D24F-F29B-E30B-AA23C1183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o 6">
            <a:extLst>
              <a:ext uri="{FF2B5EF4-FFF2-40B4-BE49-F238E27FC236}">
                <a16:creationId xmlns:a16="http://schemas.microsoft.com/office/drawing/2014/main" id="{09E0AABF-D50A-A1DE-1DB6-B6F9C10D41B7}"/>
              </a:ext>
            </a:extLst>
          </p:cNvPr>
          <p:cNvGrpSpPr/>
          <p:nvPr/>
        </p:nvGrpSpPr>
        <p:grpSpPr>
          <a:xfrm>
            <a:off x="0" y="6108700"/>
            <a:ext cx="12191999" cy="741549"/>
            <a:chOff x="7950" y="6134100"/>
            <a:chExt cx="12184049" cy="741549"/>
          </a:xfrm>
        </p:grpSpPr>
        <p:grpSp>
          <p:nvGrpSpPr>
            <p:cNvPr id="4" name="Gruppo 3">
              <a:extLst>
                <a:ext uri="{FF2B5EF4-FFF2-40B4-BE49-F238E27FC236}">
                  <a16:creationId xmlns:a16="http://schemas.microsoft.com/office/drawing/2014/main" id="{A9CC74D8-764A-F9A1-1478-1A472A5B31B2}"/>
                </a:ext>
              </a:extLst>
            </p:cNvPr>
            <p:cNvGrpSpPr/>
            <p:nvPr/>
          </p:nvGrpSpPr>
          <p:grpSpPr>
            <a:xfrm>
              <a:off x="7950" y="6134100"/>
              <a:ext cx="12184049" cy="741549"/>
              <a:chOff x="0" y="6134100"/>
              <a:chExt cx="12192000" cy="741549"/>
            </a:xfrm>
          </p:grpSpPr>
          <p:sp>
            <p:nvSpPr>
              <p:cNvPr id="10" name="Rectangle 23">
                <a:extLst>
                  <a:ext uri="{FF2B5EF4-FFF2-40B4-BE49-F238E27FC236}">
                    <a16:creationId xmlns:a16="http://schemas.microsoft.com/office/drawing/2014/main" id="{CC4F1D95-9893-62F2-8870-B7B96403D812}"/>
                  </a:ext>
                </a:extLst>
              </p:cNvPr>
              <p:cNvSpPr/>
              <p:nvPr/>
            </p:nvSpPr>
            <p:spPr>
              <a:xfrm>
                <a:off x="0" y="6134100"/>
                <a:ext cx="12192000" cy="741549"/>
              </a:xfrm>
              <a:prstGeom prst="rect">
                <a:avLst/>
              </a:prstGeom>
              <a:solidFill>
                <a:srgbClr val="822333"/>
              </a:solidFill>
              <a:ln>
                <a:solidFill>
                  <a:srgbClr val="8223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4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Palatino"/>
                  </a:rPr>
                  <a:t>		                          HEM modeling for subcritical flows in liquid rocket engine cooling systems 			</a:t>
                </a:r>
                <a:endParaRPr lang="en-FR" sz="1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alatino"/>
                  <a:ea typeface="Palatino" pitchFamily="2" charset="77"/>
                  <a:cs typeface="FUTURA MEDIUM" panose="020B0602020204020303" pitchFamily="34" charset="-79"/>
                </a:endParaRPr>
              </a:p>
            </p:txBody>
          </p:sp>
          <p:pic>
            <p:nvPicPr>
              <p:cNvPr id="12" name="Picture 13" descr="logo +marchio">
                <a:extLst>
                  <a:ext uri="{FF2B5EF4-FFF2-40B4-BE49-F238E27FC236}">
                    <a16:creationId xmlns:a16="http://schemas.microsoft.com/office/drawing/2014/main" id="{29413F1F-C85A-F5A0-BE79-F1B2247990E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 cstate="print"/>
              <a:srcRect l="14831" r="54091"/>
              <a:stretch/>
            </p:blipFill>
            <p:spPr bwMode="auto">
              <a:xfrm>
                <a:off x="84996" y="6351184"/>
                <a:ext cx="1228478" cy="4953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" name="Rettangolo 2">
                <a:extLst>
                  <a:ext uri="{FF2B5EF4-FFF2-40B4-BE49-F238E27FC236}">
                    <a16:creationId xmlns:a16="http://schemas.microsoft.com/office/drawing/2014/main" id="{05C805E2-0CDB-C224-345B-06BACA704E6B}"/>
                  </a:ext>
                </a:extLst>
              </p:cNvPr>
              <p:cNvSpPr/>
              <p:nvPr/>
            </p:nvSpPr>
            <p:spPr>
              <a:xfrm>
                <a:off x="0" y="6134100"/>
                <a:ext cx="928464" cy="2057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Segnaposto numero diapositiva 6">
              <a:extLst>
                <a:ext uri="{FF2B5EF4-FFF2-40B4-BE49-F238E27FC236}">
                  <a16:creationId xmlns:a16="http://schemas.microsoft.com/office/drawing/2014/main" id="{0509004E-4AAB-1E6A-9CF7-851CFCCEEB16}"/>
                </a:ext>
              </a:extLst>
            </p:cNvPr>
            <p:cNvSpPr txBox="1">
              <a:spLocks/>
            </p:cNvSpPr>
            <p:nvPr/>
          </p:nvSpPr>
          <p:spPr>
            <a:xfrm>
              <a:off x="11270512" y="6276274"/>
              <a:ext cx="730988" cy="457200"/>
            </a:xfrm>
            <a:prstGeom prst="rect">
              <a:avLst/>
            </a:prstGeom>
            <a:noFill/>
          </p:spPr>
          <p:txBody>
            <a:bodyPr anchor="ctr"/>
            <a:lstStyle>
              <a:defPPr>
                <a:defRPr lang="en-US"/>
              </a:defPPr>
              <a:lvl1pPr algn="r" defTabSz="457200" rtl="0" eaLnBrk="1" fontAlgn="auto" hangingPunct="1">
                <a:spcBef>
                  <a:spcPct val="20000"/>
                </a:spcBef>
                <a:spcAft>
                  <a:spcPts val="0"/>
                </a:spcAft>
                <a:buClr>
                  <a:srgbClr val="822433"/>
                </a:buClr>
                <a:buChar char="•"/>
                <a:defRPr sz="24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1pPr>
              <a:lvl2pPr marL="742950" indent="-28575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2pPr>
              <a:lvl3pPr marL="11430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16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3pPr>
              <a:lvl4pPr marL="16002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4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4pPr>
              <a:lvl5pPr marL="20574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  <a:defRPr/>
              </a:pPr>
              <a:fld id="{BE037B56-838D-4EA9-A433-B420C86CBEEB}" type="slidenum">
                <a:rPr lang="it-IT" altLang="en-US" sz="1400" b="1" smtClean="0">
                  <a:solidFill>
                    <a:schemeClr val="bg1"/>
                  </a:solidFill>
                  <a:latin typeface="Palatino"/>
                </a:rPr>
                <a:pPr>
                  <a:spcBef>
                    <a:spcPct val="0"/>
                  </a:spcBef>
                  <a:buClrTx/>
                  <a:buFontTx/>
                  <a:buNone/>
                  <a:defRPr/>
                </a:pPr>
                <a:t>16</a:t>
              </a:fld>
              <a:r>
                <a:rPr lang="it-IT" altLang="en-US" sz="1400" b="1" dirty="0">
                  <a:solidFill>
                    <a:schemeClr val="bg1"/>
                  </a:solidFill>
                  <a:latin typeface="Palatino"/>
                </a:rPr>
                <a:t>/18</a:t>
              </a:r>
            </a:p>
          </p:txBody>
        </p:sp>
      </p:grpSp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271420ED-3C16-2C39-CFE5-4388EE59E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7F9DC0C5-9661-4678-1932-AA99A171B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Rotating Detonation Engine Activities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77961197-E4C1-4B81-7BEF-B81D6EA04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16/18</a:t>
            </a:r>
            <a:endParaRPr lang="en-US" dirty="0"/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BE7BC851-B723-1460-C274-03ED1A14BA6B}"/>
              </a:ext>
            </a:extLst>
          </p:cNvPr>
          <p:cNvSpPr txBox="1">
            <a:spLocks/>
          </p:cNvSpPr>
          <p:nvPr/>
        </p:nvSpPr>
        <p:spPr>
          <a:xfrm>
            <a:off x="295491" y="346384"/>
            <a:ext cx="10311549" cy="5048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3200" b="1" dirty="0">
                <a:solidFill>
                  <a:srgbClr val="8224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Supersonic Bladeless Turbines (with NCSU)</a:t>
            </a: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9F3C6F58-4C5E-66FD-EEBF-AE218B5618F0}"/>
              </a:ext>
            </a:extLst>
          </p:cNvPr>
          <p:cNvSpPr txBox="1"/>
          <p:nvPr/>
        </p:nvSpPr>
        <p:spPr>
          <a:xfrm>
            <a:off x="613541" y="1043731"/>
            <a:ext cx="11153009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Ongoing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Bladeless turbine shape optimization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CFD analysis and design of ejector-diffuser system for RDE testing</a:t>
            </a:r>
          </a:p>
          <a:p>
            <a:endParaRPr lang="en-A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WhatsApp Video 2026-05-05 at 21.40.14">
            <a:hlinkClick r:id="" action="ppaction://media"/>
            <a:extLst>
              <a:ext uri="{FF2B5EF4-FFF2-40B4-BE49-F238E27FC236}">
                <a16:creationId xmlns:a16="http://schemas.microsoft.com/office/drawing/2014/main" id="{D6D8CDE3-568D-6B42-2097-AB8E47A22FB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718203" y="2689228"/>
            <a:ext cx="5384800" cy="3035300"/>
          </a:xfrm>
          <a:prstGeom prst="rect">
            <a:avLst/>
          </a:prstGeom>
        </p:spPr>
      </p:pic>
      <p:pic>
        <p:nvPicPr>
          <p:cNvPr id="25" name="Immagine 24">
            <a:extLst>
              <a:ext uri="{FF2B5EF4-FFF2-40B4-BE49-F238E27FC236}">
                <a16:creationId xmlns:a16="http://schemas.microsoft.com/office/drawing/2014/main" id="{02C00D70-3A6C-A16B-4996-85B55D65ACB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96" y="2782120"/>
            <a:ext cx="6532880" cy="277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411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568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46B5C-5C35-19F0-5010-64D8833EB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o 6">
            <a:extLst>
              <a:ext uri="{FF2B5EF4-FFF2-40B4-BE49-F238E27FC236}">
                <a16:creationId xmlns:a16="http://schemas.microsoft.com/office/drawing/2014/main" id="{85F7E0B3-240E-70C9-A452-F7B1B431D66B}"/>
              </a:ext>
            </a:extLst>
          </p:cNvPr>
          <p:cNvGrpSpPr/>
          <p:nvPr/>
        </p:nvGrpSpPr>
        <p:grpSpPr>
          <a:xfrm>
            <a:off x="0" y="6108700"/>
            <a:ext cx="12191999" cy="741549"/>
            <a:chOff x="7950" y="6134100"/>
            <a:chExt cx="12184049" cy="741549"/>
          </a:xfrm>
        </p:grpSpPr>
        <p:grpSp>
          <p:nvGrpSpPr>
            <p:cNvPr id="4" name="Gruppo 3">
              <a:extLst>
                <a:ext uri="{FF2B5EF4-FFF2-40B4-BE49-F238E27FC236}">
                  <a16:creationId xmlns:a16="http://schemas.microsoft.com/office/drawing/2014/main" id="{800FFA65-967D-CEA5-ECD6-3F612F1D41D9}"/>
                </a:ext>
              </a:extLst>
            </p:cNvPr>
            <p:cNvGrpSpPr/>
            <p:nvPr/>
          </p:nvGrpSpPr>
          <p:grpSpPr>
            <a:xfrm>
              <a:off x="7950" y="6134100"/>
              <a:ext cx="12184049" cy="741549"/>
              <a:chOff x="0" y="6134100"/>
              <a:chExt cx="12192000" cy="741549"/>
            </a:xfrm>
          </p:grpSpPr>
          <p:sp>
            <p:nvSpPr>
              <p:cNvPr id="10" name="Rectangle 23">
                <a:extLst>
                  <a:ext uri="{FF2B5EF4-FFF2-40B4-BE49-F238E27FC236}">
                    <a16:creationId xmlns:a16="http://schemas.microsoft.com/office/drawing/2014/main" id="{2875220D-BE71-8464-27C8-461396277A0F}"/>
                  </a:ext>
                </a:extLst>
              </p:cNvPr>
              <p:cNvSpPr/>
              <p:nvPr/>
            </p:nvSpPr>
            <p:spPr>
              <a:xfrm>
                <a:off x="0" y="6134100"/>
                <a:ext cx="12192000" cy="741549"/>
              </a:xfrm>
              <a:prstGeom prst="rect">
                <a:avLst/>
              </a:prstGeom>
              <a:solidFill>
                <a:srgbClr val="822333"/>
              </a:solidFill>
              <a:ln>
                <a:solidFill>
                  <a:srgbClr val="8223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4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Palatino"/>
                  </a:rPr>
                  <a:t>		                          HEM modeling for subcritical flows in liquid rocket engine cooling systems 			</a:t>
                </a:r>
                <a:endParaRPr lang="en-FR" sz="1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alatino"/>
                  <a:ea typeface="Palatino" pitchFamily="2" charset="77"/>
                  <a:cs typeface="FUTURA MEDIUM" panose="020B0602020204020303" pitchFamily="34" charset="-79"/>
                </a:endParaRPr>
              </a:p>
            </p:txBody>
          </p:sp>
          <p:pic>
            <p:nvPicPr>
              <p:cNvPr id="12" name="Picture 13" descr="logo +marchio">
                <a:extLst>
                  <a:ext uri="{FF2B5EF4-FFF2-40B4-BE49-F238E27FC236}">
                    <a16:creationId xmlns:a16="http://schemas.microsoft.com/office/drawing/2014/main" id="{2B203C35-94DF-26A6-A898-FC0F41794CF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/>
              <a:srcRect l="14831" r="54091"/>
              <a:stretch/>
            </p:blipFill>
            <p:spPr bwMode="auto">
              <a:xfrm>
                <a:off x="84996" y="6351184"/>
                <a:ext cx="1228478" cy="4953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" name="Rettangolo 2">
                <a:extLst>
                  <a:ext uri="{FF2B5EF4-FFF2-40B4-BE49-F238E27FC236}">
                    <a16:creationId xmlns:a16="http://schemas.microsoft.com/office/drawing/2014/main" id="{B0F324A9-A253-5F15-36C2-7BAB1AACA3C1}"/>
                  </a:ext>
                </a:extLst>
              </p:cNvPr>
              <p:cNvSpPr/>
              <p:nvPr/>
            </p:nvSpPr>
            <p:spPr>
              <a:xfrm>
                <a:off x="0" y="6134100"/>
                <a:ext cx="928464" cy="2057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Segnaposto numero diapositiva 6">
              <a:extLst>
                <a:ext uri="{FF2B5EF4-FFF2-40B4-BE49-F238E27FC236}">
                  <a16:creationId xmlns:a16="http://schemas.microsoft.com/office/drawing/2014/main" id="{E0056019-45AD-4420-35F8-F7F9DA1CB5F6}"/>
                </a:ext>
              </a:extLst>
            </p:cNvPr>
            <p:cNvSpPr txBox="1">
              <a:spLocks/>
            </p:cNvSpPr>
            <p:nvPr/>
          </p:nvSpPr>
          <p:spPr>
            <a:xfrm>
              <a:off x="11270512" y="6276274"/>
              <a:ext cx="730988" cy="457200"/>
            </a:xfrm>
            <a:prstGeom prst="rect">
              <a:avLst/>
            </a:prstGeom>
            <a:noFill/>
          </p:spPr>
          <p:txBody>
            <a:bodyPr anchor="ctr"/>
            <a:lstStyle>
              <a:defPPr>
                <a:defRPr lang="en-US"/>
              </a:defPPr>
              <a:lvl1pPr algn="r" defTabSz="457200" rtl="0" eaLnBrk="1" fontAlgn="auto" hangingPunct="1">
                <a:spcBef>
                  <a:spcPct val="20000"/>
                </a:spcBef>
                <a:spcAft>
                  <a:spcPts val="0"/>
                </a:spcAft>
                <a:buClr>
                  <a:srgbClr val="822433"/>
                </a:buClr>
                <a:buChar char="•"/>
                <a:defRPr sz="24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1pPr>
              <a:lvl2pPr marL="742950" indent="-28575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2pPr>
              <a:lvl3pPr marL="11430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16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3pPr>
              <a:lvl4pPr marL="16002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4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4pPr>
              <a:lvl5pPr marL="20574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  <a:defRPr/>
              </a:pPr>
              <a:fld id="{BE037B56-838D-4EA9-A433-B420C86CBEEB}" type="slidenum">
                <a:rPr lang="it-IT" altLang="en-US" sz="1400" b="1" smtClean="0">
                  <a:solidFill>
                    <a:schemeClr val="bg1"/>
                  </a:solidFill>
                  <a:latin typeface="Palatino"/>
                </a:rPr>
                <a:pPr>
                  <a:spcBef>
                    <a:spcPct val="0"/>
                  </a:spcBef>
                  <a:buClrTx/>
                  <a:buFontTx/>
                  <a:buNone/>
                  <a:defRPr/>
                </a:pPr>
                <a:t>17</a:t>
              </a:fld>
              <a:r>
                <a:rPr lang="it-IT" altLang="en-US" sz="1400" b="1" dirty="0">
                  <a:solidFill>
                    <a:schemeClr val="bg1"/>
                  </a:solidFill>
                  <a:latin typeface="Palatino"/>
                </a:rPr>
                <a:t>/18</a:t>
              </a:r>
            </a:p>
          </p:txBody>
        </p:sp>
      </p:grpSp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43C8C632-33FB-8FF8-EC6F-41F8E9BB2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30AD5073-A893-5396-9B26-1B176E362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Rotating Detonation Engine Activities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26CE188F-DDE3-72F0-41E4-C0AEB18BA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17/18</a:t>
            </a:r>
            <a:endParaRPr lang="en-US" dirty="0"/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B26746E7-B213-E37F-E86D-02AC8C7EBF4F}"/>
              </a:ext>
            </a:extLst>
          </p:cNvPr>
          <p:cNvSpPr txBox="1">
            <a:spLocks/>
          </p:cNvSpPr>
          <p:nvPr/>
        </p:nvSpPr>
        <p:spPr>
          <a:xfrm>
            <a:off x="295491" y="346384"/>
            <a:ext cx="10311549" cy="5048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3200" b="1" dirty="0">
                <a:solidFill>
                  <a:srgbClr val="8224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Disk RDEs (with RMIT and ISAE-ENSMA)</a:t>
            </a:r>
          </a:p>
        </p:txBody>
      </p:sp>
      <p:sp>
        <p:nvSpPr>
          <p:cNvPr id="2" name="TextBox 10">
            <a:extLst>
              <a:ext uri="{FF2B5EF4-FFF2-40B4-BE49-F238E27FC236}">
                <a16:creationId xmlns:a16="http://schemas.microsoft.com/office/drawing/2014/main" id="{133FE453-ACDA-4C31-0088-3F768EF33C15}"/>
              </a:ext>
            </a:extLst>
          </p:cNvPr>
          <p:cNvSpPr txBox="1"/>
          <p:nvPr/>
        </p:nvSpPr>
        <p:spPr>
          <a:xfrm>
            <a:off x="613541" y="1043731"/>
            <a:ext cx="11153009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Collaboration with PPRIME lab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CFD lead on design and analysis of disk RDEs operating with H2/Air</a:t>
            </a:r>
          </a:p>
          <a:p>
            <a:r>
              <a:rPr lang="en-US" b="1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Palatino Linotype" panose="02040502050505030304" pitchFamily="18" charset="0"/>
              <a:cs typeface="Times New Roman" panose="02020603050405020304" pitchFamily="18" charset="0"/>
            </a:endParaRPr>
          </a:p>
          <a:p>
            <a:endParaRPr lang="en-A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0C2358F2-D3B4-A9FD-2F19-184835C9CA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6371" y="2349013"/>
            <a:ext cx="3678229" cy="3269946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490502E4-7595-9455-B0FC-6B19F65949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541" y="2063746"/>
            <a:ext cx="4320000" cy="3840480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18EA1DD2-55BB-0333-1788-83E7CBEF1B4F}"/>
              </a:ext>
            </a:extLst>
          </p:cNvPr>
          <p:cNvSpPr txBox="1"/>
          <p:nvPr/>
        </p:nvSpPr>
        <p:spPr>
          <a:xfrm>
            <a:off x="1534160" y="5618959"/>
            <a:ext cx="4064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it-IT" b="1" dirty="0">
                <a:latin typeface="Palatino Linotype"/>
              </a:rPr>
              <a:t>3D URANS (or Euler)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8238E467-20F8-5806-E9ED-2DB2E7477B61}"/>
              </a:ext>
            </a:extLst>
          </p:cNvPr>
          <p:cNvSpPr txBox="1"/>
          <p:nvPr/>
        </p:nvSpPr>
        <p:spPr>
          <a:xfrm>
            <a:off x="8127999" y="5618959"/>
            <a:ext cx="4064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it-IT" b="1" dirty="0">
                <a:latin typeface="Palatino Linotype"/>
              </a:rPr>
              <a:t>Q2D URANS (or Euler)</a:t>
            </a:r>
          </a:p>
        </p:txBody>
      </p:sp>
    </p:spTree>
    <p:extLst>
      <p:ext uri="{BB962C8B-B14F-4D97-AF65-F5344CB8AC3E}">
        <p14:creationId xmlns:p14="http://schemas.microsoft.com/office/powerpoint/2010/main" val="36134631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29E86-6D23-0163-E4E3-788CF108F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o 6">
            <a:extLst>
              <a:ext uri="{FF2B5EF4-FFF2-40B4-BE49-F238E27FC236}">
                <a16:creationId xmlns:a16="http://schemas.microsoft.com/office/drawing/2014/main" id="{DA7545C4-A2C2-3E77-A18E-EB20C36C4C5A}"/>
              </a:ext>
            </a:extLst>
          </p:cNvPr>
          <p:cNvGrpSpPr/>
          <p:nvPr/>
        </p:nvGrpSpPr>
        <p:grpSpPr>
          <a:xfrm>
            <a:off x="0" y="6108700"/>
            <a:ext cx="12191999" cy="741549"/>
            <a:chOff x="7950" y="6134100"/>
            <a:chExt cx="12184049" cy="741549"/>
          </a:xfrm>
        </p:grpSpPr>
        <p:grpSp>
          <p:nvGrpSpPr>
            <p:cNvPr id="4" name="Gruppo 3">
              <a:extLst>
                <a:ext uri="{FF2B5EF4-FFF2-40B4-BE49-F238E27FC236}">
                  <a16:creationId xmlns:a16="http://schemas.microsoft.com/office/drawing/2014/main" id="{B632468B-9BE7-344B-CFA8-EA8A6013C85E}"/>
                </a:ext>
              </a:extLst>
            </p:cNvPr>
            <p:cNvGrpSpPr/>
            <p:nvPr/>
          </p:nvGrpSpPr>
          <p:grpSpPr>
            <a:xfrm>
              <a:off x="7950" y="6134100"/>
              <a:ext cx="12184049" cy="741549"/>
              <a:chOff x="0" y="6134100"/>
              <a:chExt cx="12192000" cy="741549"/>
            </a:xfrm>
          </p:grpSpPr>
          <p:sp>
            <p:nvSpPr>
              <p:cNvPr id="10" name="Rectangle 23">
                <a:extLst>
                  <a:ext uri="{FF2B5EF4-FFF2-40B4-BE49-F238E27FC236}">
                    <a16:creationId xmlns:a16="http://schemas.microsoft.com/office/drawing/2014/main" id="{DA0B6767-EFF6-5C69-9DFC-A1F8F1603AA7}"/>
                  </a:ext>
                </a:extLst>
              </p:cNvPr>
              <p:cNvSpPr/>
              <p:nvPr/>
            </p:nvSpPr>
            <p:spPr>
              <a:xfrm>
                <a:off x="0" y="6134100"/>
                <a:ext cx="12192000" cy="741549"/>
              </a:xfrm>
              <a:prstGeom prst="rect">
                <a:avLst/>
              </a:prstGeom>
              <a:solidFill>
                <a:srgbClr val="822333"/>
              </a:solidFill>
              <a:ln>
                <a:solidFill>
                  <a:srgbClr val="8223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4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Palatino"/>
                  </a:rPr>
                  <a:t>		                          HEM modeling for subcritical flows in liquid rocket engine cooling systems 			</a:t>
                </a:r>
                <a:endParaRPr lang="en-FR" sz="1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Palatino"/>
                  <a:ea typeface="Palatino" pitchFamily="2" charset="77"/>
                  <a:cs typeface="FUTURA MEDIUM" panose="020B0602020204020303" pitchFamily="34" charset="-79"/>
                </a:endParaRPr>
              </a:p>
            </p:txBody>
          </p:sp>
          <p:pic>
            <p:nvPicPr>
              <p:cNvPr id="12" name="Picture 13" descr="logo +marchio">
                <a:extLst>
                  <a:ext uri="{FF2B5EF4-FFF2-40B4-BE49-F238E27FC236}">
                    <a16:creationId xmlns:a16="http://schemas.microsoft.com/office/drawing/2014/main" id="{853C52A7-1796-3D59-0FC6-7FCE19B9013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/>
              <a:srcRect l="14831" r="54091"/>
              <a:stretch/>
            </p:blipFill>
            <p:spPr bwMode="auto">
              <a:xfrm>
                <a:off x="84996" y="6351184"/>
                <a:ext cx="1228478" cy="4953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" name="Rettangolo 2">
                <a:extLst>
                  <a:ext uri="{FF2B5EF4-FFF2-40B4-BE49-F238E27FC236}">
                    <a16:creationId xmlns:a16="http://schemas.microsoft.com/office/drawing/2014/main" id="{1AE195C2-B70E-1DD0-7AC3-936B3E5C3C17}"/>
                  </a:ext>
                </a:extLst>
              </p:cNvPr>
              <p:cNvSpPr/>
              <p:nvPr/>
            </p:nvSpPr>
            <p:spPr>
              <a:xfrm>
                <a:off x="0" y="6134100"/>
                <a:ext cx="928464" cy="2057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Segnaposto numero diapositiva 6">
              <a:extLst>
                <a:ext uri="{FF2B5EF4-FFF2-40B4-BE49-F238E27FC236}">
                  <a16:creationId xmlns:a16="http://schemas.microsoft.com/office/drawing/2014/main" id="{CC28A8D9-A134-4C63-E62E-3DC4AE222245}"/>
                </a:ext>
              </a:extLst>
            </p:cNvPr>
            <p:cNvSpPr txBox="1">
              <a:spLocks/>
            </p:cNvSpPr>
            <p:nvPr/>
          </p:nvSpPr>
          <p:spPr>
            <a:xfrm>
              <a:off x="11270512" y="6276274"/>
              <a:ext cx="730988" cy="457200"/>
            </a:xfrm>
            <a:prstGeom prst="rect">
              <a:avLst/>
            </a:prstGeom>
            <a:noFill/>
          </p:spPr>
          <p:txBody>
            <a:bodyPr anchor="ctr"/>
            <a:lstStyle>
              <a:defPPr>
                <a:defRPr lang="en-US"/>
              </a:defPPr>
              <a:lvl1pPr algn="r" defTabSz="457200" rtl="0" eaLnBrk="1" fontAlgn="auto" hangingPunct="1">
                <a:spcBef>
                  <a:spcPct val="20000"/>
                </a:spcBef>
                <a:spcAft>
                  <a:spcPts val="0"/>
                </a:spcAft>
                <a:buClr>
                  <a:srgbClr val="822433"/>
                </a:buClr>
                <a:buChar char="•"/>
                <a:defRPr sz="24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1pPr>
              <a:lvl2pPr marL="742950" indent="-28575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2pPr>
              <a:lvl3pPr marL="11430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16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3pPr>
              <a:lvl4pPr marL="16002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14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4pPr>
              <a:lvl5pPr marL="2057400" indent="-228600" algn="l" defTabSz="457200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5pPr>
              <a:lvl6pPr marL="25146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6pPr>
              <a:lvl7pPr marL="29718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7pPr>
              <a:lvl8pPr marL="34290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8pPr>
              <a:lvl9pPr marL="3886200" indent="-228600" algn="l" defTabSz="914400" rtl="0" eaLnBrk="0" fontAlgn="base" latinLnBrk="0" hangingPunct="0">
                <a:spcBef>
                  <a:spcPct val="20000"/>
                </a:spcBef>
                <a:spcAft>
                  <a:spcPct val="0"/>
                </a:spcAft>
                <a:buChar char="»"/>
                <a:defRPr sz="1200" kern="12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  <a:defRPr/>
              </a:pPr>
              <a:fld id="{BE037B56-838D-4EA9-A433-B420C86CBEEB}" type="slidenum">
                <a:rPr lang="it-IT" altLang="en-US" sz="1400" b="1" smtClean="0">
                  <a:solidFill>
                    <a:schemeClr val="bg1"/>
                  </a:solidFill>
                  <a:latin typeface="Palatino"/>
                </a:rPr>
                <a:pPr>
                  <a:spcBef>
                    <a:spcPct val="0"/>
                  </a:spcBef>
                  <a:buClrTx/>
                  <a:buFontTx/>
                  <a:buNone/>
                  <a:defRPr/>
                </a:pPr>
                <a:t>18</a:t>
              </a:fld>
              <a:r>
                <a:rPr lang="it-IT" altLang="en-US" sz="1400" b="1" dirty="0">
                  <a:solidFill>
                    <a:schemeClr val="bg1"/>
                  </a:solidFill>
                  <a:latin typeface="Palatino"/>
                </a:rPr>
                <a:t>/18</a:t>
              </a:r>
            </a:p>
          </p:txBody>
        </p:sp>
      </p:grpSp>
      <p:sp>
        <p:nvSpPr>
          <p:cNvPr id="26" name="Segnaposto data 25">
            <a:extLst>
              <a:ext uri="{FF2B5EF4-FFF2-40B4-BE49-F238E27FC236}">
                <a16:creationId xmlns:a16="http://schemas.microsoft.com/office/drawing/2014/main" id="{530F0635-634A-549D-88F9-B88FE75D5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T(H)RUST team</a:t>
            </a:r>
            <a:endParaRPr lang="en-US" dirty="0"/>
          </a:p>
        </p:txBody>
      </p:sp>
      <p:sp>
        <p:nvSpPr>
          <p:cNvPr id="27" name="Segnaposto piè di pagina 26">
            <a:extLst>
              <a:ext uri="{FF2B5EF4-FFF2-40B4-BE49-F238E27FC236}">
                <a16:creationId xmlns:a16="http://schemas.microsoft.com/office/drawing/2014/main" id="{1D5C33F8-B0FE-258E-7797-596FDDA87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Rotating Detonation Engine Activities</a:t>
            </a:r>
            <a:endParaRPr lang="en-US" dirty="0"/>
          </a:p>
        </p:txBody>
      </p:sp>
      <p:sp>
        <p:nvSpPr>
          <p:cNvPr id="28" name="Segnaposto numero diapositiva 27">
            <a:extLst>
              <a:ext uri="{FF2B5EF4-FFF2-40B4-BE49-F238E27FC236}">
                <a16:creationId xmlns:a16="http://schemas.microsoft.com/office/drawing/2014/main" id="{D459933C-6500-837B-565A-59A32DA6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18/18</a:t>
            </a:r>
            <a:endParaRPr lang="en-US" dirty="0"/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B465A63E-2F26-CD01-967C-AEC3A3652828}"/>
              </a:ext>
            </a:extLst>
          </p:cNvPr>
          <p:cNvSpPr txBox="1">
            <a:spLocks/>
          </p:cNvSpPr>
          <p:nvPr/>
        </p:nvSpPr>
        <p:spPr>
          <a:xfrm>
            <a:off x="295491" y="346384"/>
            <a:ext cx="10311549" cy="5048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3200" b="1" dirty="0">
                <a:solidFill>
                  <a:srgbClr val="8224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alatino Linotype" panose="02040502050505030304" pitchFamily="18" charset="0"/>
              </a:rPr>
              <a:t>Nozzle Design for RDEs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CA86411-F246-5FF1-D161-AB8F682FF3F6}"/>
              </a:ext>
            </a:extLst>
          </p:cNvPr>
          <p:cNvSpPr txBox="1"/>
          <p:nvPr/>
        </p:nvSpPr>
        <p:spPr>
          <a:xfrm>
            <a:off x="457200" y="990600"/>
            <a:ext cx="7366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822433"/>
                </a:solidFill>
                <a:latin typeface="Palatino Linotype"/>
              </a:rPr>
              <a:t>•  </a:t>
            </a:r>
            <a:r>
              <a:rPr lang="en-US" sz="1800" b="1" dirty="0">
                <a:solidFill>
                  <a:srgbClr val="2B2B2B"/>
                </a:solidFill>
                <a:latin typeface="Palatino Linotype"/>
              </a:rPr>
              <a:t>Fully non-isentropic three-waves 2D / 2D-axisymmetric</a:t>
            </a:r>
            <a:r>
              <a:rPr lang="en-US" sz="1800" dirty="0">
                <a:solidFill>
                  <a:srgbClr val="2B2B2B"/>
                </a:solidFill>
                <a:latin typeface="Palatino Linotype"/>
              </a:rPr>
              <a:t> MoC solver developed as an in-house API</a:t>
            </a:r>
          </a:p>
          <a:p>
            <a:pPr algn="l">
              <a:buNone/>
            </a:pPr>
            <a:r>
              <a:rPr lang="en-US" sz="1800" dirty="0">
                <a:solidFill>
                  <a:srgbClr val="822433"/>
                </a:solidFill>
                <a:latin typeface="Palatino Linotype"/>
              </a:rPr>
              <a:t>•  </a:t>
            </a:r>
            <a:r>
              <a:rPr lang="en-US" sz="1800" dirty="0">
                <a:solidFill>
                  <a:srgbClr val="2B2B2B"/>
                </a:solidFill>
                <a:latin typeface="Palatino Linotype"/>
              </a:rPr>
              <a:t>Primary application: </a:t>
            </a:r>
            <a:r>
              <a:rPr lang="en-US" sz="1800" b="1" dirty="0">
                <a:solidFill>
                  <a:srgbClr val="2B2B2B"/>
                </a:solidFill>
                <a:latin typeface="Palatino Linotype"/>
              </a:rPr>
              <a:t>nozzle design</a:t>
            </a:r>
            <a:r>
              <a:rPr lang="en-US" sz="1800" dirty="0">
                <a:solidFill>
                  <a:srgbClr val="2B2B2B"/>
                </a:solidFill>
                <a:latin typeface="Palatino Linotype"/>
              </a:rPr>
              <a:t> for ideal, TIC and optimized configurations</a:t>
            </a:r>
          </a:p>
          <a:p>
            <a:pPr algn="l">
              <a:buNone/>
            </a:pPr>
            <a:r>
              <a:rPr lang="en-US" sz="1800" dirty="0">
                <a:solidFill>
                  <a:srgbClr val="822433"/>
                </a:solidFill>
                <a:latin typeface="Palatino Linotype"/>
              </a:rPr>
              <a:t>•  </a:t>
            </a:r>
            <a:r>
              <a:rPr lang="en-US" sz="1800" dirty="0">
                <a:solidFill>
                  <a:srgbClr val="2B2B2B"/>
                </a:solidFill>
                <a:latin typeface="Palatino Linotype"/>
              </a:rPr>
              <a:t>Implemented families: </a:t>
            </a:r>
            <a:r>
              <a:rPr lang="en-US" sz="1800" b="1" dirty="0">
                <a:solidFill>
                  <a:srgbClr val="2B2B2B"/>
                </a:solidFill>
                <a:latin typeface="Palatino Linotype"/>
              </a:rPr>
              <a:t>ideal</a:t>
            </a:r>
            <a:r>
              <a:rPr lang="en-US" sz="1800" dirty="0">
                <a:solidFill>
                  <a:srgbClr val="2B2B2B"/>
                </a:solidFill>
                <a:latin typeface="Palatino Linotype"/>
              </a:rPr>
              <a:t> (bell, plug, shrouded plug), </a:t>
            </a:r>
            <a:r>
              <a:rPr lang="en-US" sz="1800" b="1" dirty="0">
                <a:solidFill>
                  <a:srgbClr val="2B2B2B"/>
                </a:solidFill>
                <a:latin typeface="Palatino Linotype"/>
              </a:rPr>
              <a:t>Rao</a:t>
            </a:r>
            <a:r>
              <a:rPr lang="en-US" sz="1800" dirty="0">
                <a:solidFill>
                  <a:srgbClr val="2B2B2B"/>
                </a:solidFill>
                <a:latin typeface="Palatino Linotype"/>
              </a:rPr>
              <a:t> (optimal bell and plug) and </a:t>
            </a:r>
            <a:r>
              <a:rPr lang="en-US" sz="1800" b="1" dirty="0">
                <a:solidFill>
                  <a:srgbClr val="2B2B2B"/>
                </a:solidFill>
                <a:latin typeface="Palatino Linotype"/>
              </a:rPr>
              <a:t>Veen</a:t>
            </a:r>
            <a:r>
              <a:rPr lang="en-US" sz="1800" dirty="0">
                <a:solidFill>
                  <a:srgbClr val="2B2B2B"/>
                </a:solidFill>
                <a:latin typeface="Palatino Linotype"/>
              </a:rPr>
              <a:t> (optimal shrouded plug)</a:t>
            </a:r>
          </a:p>
          <a:p>
            <a:pPr algn="l">
              <a:buNone/>
            </a:pPr>
            <a:endParaRPr lang="en-US" dirty="0">
              <a:solidFill>
                <a:srgbClr val="2B2B2B"/>
              </a:solidFill>
              <a:latin typeface="Palatino Linotype"/>
            </a:endParaRPr>
          </a:p>
          <a:p>
            <a:pPr algn="l">
              <a:buNone/>
            </a:pPr>
            <a:endParaRPr lang="en-US" sz="1800" dirty="0">
              <a:solidFill>
                <a:srgbClr val="2B2B2B"/>
              </a:solidFill>
              <a:latin typeface="Palatino Linotype"/>
            </a:endParaRPr>
          </a:p>
          <a:p>
            <a:pPr algn="l">
              <a:buNone/>
            </a:pPr>
            <a:endParaRPr lang="en-US" dirty="0">
              <a:solidFill>
                <a:srgbClr val="2B2B2B"/>
              </a:solidFill>
              <a:latin typeface="Palatino Linotype"/>
            </a:endParaRPr>
          </a:p>
          <a:p>
            <a:pPr algn="l">
              <a:buNone/>
            </a:pPr>
            <a:endParaRPr lang="en-US" sz="1800" dirty="0">
              <a:solidFill>
                <a:srgbClr val="2B2B2B"/>
              </a:solidFill>
              <a:latin typeface="Palatino Linotype"/>
            </a:endParaRPr>
          </a:p>
          <a:p>
            <a:pPr algn="l">
              <a:buNone/>
            </a:pPr>
            <a:endParaRPr lang="en-US" sz="1000" dirty="0"/>
          </a:p>
          <a:p>
            <a:pPr algn="l">
              <a:buNone/>
            </a:pPr>
            <a:r>
              <a:rPr lang="en-US" sz="1800" b="1" dirty="0">
                <a:solidFill>
                  <a:srgbClr val="006778"/>
                </a:solidFill>
                <a:latin typeface="Palatino Linotype"/>
              </a:rPr>
              <a:t>Open questions (and possible research paths)</a:t>
            </a:r>
          </a:p>
          <a:p>
            <a:pPr algn="l">
              <a:buNone/>
            </a:pPr>
            <a:r>
              <a:rPr lang="en-US" sz="1800" dirty="0">
                <a:solidFill>
                  <a:srgbClr val="822433"/>
                </a:solidFill>
                <a:latin typeface="Palatino Linotype"/>
              </a:rPr>
              <a:t>•  </a:t>
            </a:r>
            <a:r>
              <a:rPr lang="en-US" sz="1800" b="1" dirty="0">
                <a:solidFill>
                  <a:srgbClr val="2B2B2B"/>
                </a:solidFill>
                <a:latin typeface="Palatino Linotype"/>
              </a:rPr>
              <a:t>Separation dynamics/topology</a:t>
            </a:r>
            <a:r>
              <a:rPr lang="en-US" sz="1800" dirty="0">
                <a:solidFill>
                  <a:srgbClr val="2B2B2B"/>
                </a:solidFill>
                <a:latin typeface="Palatino Linotype"/>
              </a:rPr>
              <a:t> in plug / shrouded plug (effect of rotating oblique shock on incipient separation </a:t>
            </a:r>
            <a:r>
              <a:rPr lang="en-US" sz="1800" b="1" dirty="0">
                <a:solidFill>
                  <a:srgbClr val="822433"/>
                </a:solidFill>
                <a:latin typeface="Palatino Linotype"/>
              </a:rPr>
              <a:t>[3]</a:t>
            </a:r>
            <a:r>
              <a:rPr lang="en-US" sz="1800" dirty="0">
                <a:solidFill>
                  <a:srgbClr val="2B2B2B"/>
                </a:solidFill>
                <a:latin typeface="Palatino Linotype"/>
              </a:rPr>
              <a:t>)</a:t>
            </a:r>
          </a:p>
          <a:p>
            <a:pPr algn="l">
              <a:buNone/>
            </a:pPr>
            <a:r>
              <a:rPr lang="en-US" sz="1800" dirty="0">
                <a:solidFill>
                  <a:srgbClr val="822433"/>
                </a:solidFill>
                <a:latin typeface="Palatino Linotype"/>
              </a:rPr>
              <a:t>•  </a:t>
            </a:r>
            <a:r>
              <a:rPr lang="en-US" sz="1800" dirty="0">
                <a:solidFill>
                  <a:srgbClr val="2B2B2B"/>
                </a:solidFill>
                <a:latin typeface="Palatino Linotype"/>
              </a:rPr>
              <a:t>Does an </a:t>
            </a:r>
            <a:r>
              <a:rPr lang="en-US" sz="1800" b="1" dirty="0">
                <a:solidFill>
                  <a:srgbClr val="2B2B2B"/>
                </a:solidFill>
                <a:latin typeface="Palatino Linotype"/>
              </a:rPr>
              <a:t>“optimal” profile</a:t>
            </a:r>
            <a:r>
              <a:rPr lang="en-US" sz="1800" dirty="0">
                <a:solidFill>
                  <a:srgbClr val="2B2B2B"/>
                </a:solidFill>
                <a:latin typeface="Palatino Linotype"/>
              </a:rPr>
              <a:t> exist for an RDE exhaust?</a:t>
            </a:r>
          </a:p>
          <a:p>
            <a:pPr algn="l">
              <a:buNone/>
            </a:pPr>
            <a:r>
              <a:rPr lang="en-US" sz="1800" dirty="0">
                <a:solidFill>
                  <a:srgbClr val="822433"/>
                </a:solidFill>
                <a:latin typeface="Palatino Linotype"/>
              </a:rPr>
              <a:t>•  </a:t>
            </a:r>
            <a:r>
              <a:rPr lang="en-US" sz="1800" dirty="0">
                <a:solidFill>
                  <a:srgbClr val="2B2B2B"/>
                </a:solidFill>
                <a:latin typeface="Palatino Linotype"/>
              </a:rPr>
              <a:t>CFD exploration of the theoretical findings in </a:t>
            </a:r>
            <a:r>
              <a:rPr lang="en-US" sz="1800" b="1" dirty="0">
                <a:solidFill>
                  <a:srgbClr val="822433"/>
                </a:solidFill>
                <a:latin typeface="Palatino Linotype"/>
              </a:rPr>
              <a:t>[4]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84737A5A-41F4-DF37-017D-37AD32A0E3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000" y="1778000"/>
            <a:ext cx="3581400" cy="317500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6D6767A-86F0-4C12-80A0-A021DEBED095}"/>
              </a:ext>
            </a:extLst>
          </p:cNvPr>
          <p:cNvSpPr txBox="1"/>
          <p:nvPr/>
        </p:nvSpPr>
        <p:spPr>
          <a:xfrm>
            <a:off x="8256873" y="5016500"/>
            <a:ext cx="3810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it-IT" b="1" dirty="0" err="1">
                <a:latin typeface="Palatino Linotype"/>
              </a:rPr>
              <a:t>Optimized</a:t>
            </a:r>
            <a:r>
              <a:rPr lang="it-IT" b="1" dirty="0">
                <a:latin typeface="Palatino Linotype"/>
              </a:rPr>
              <a:t> </a:t>
            </a:r>
            <a:r>
              <a:rPr lang="it-IT" b="1" dirty="0" err="1">
                <a:latin typeface="Palatino Linotype"/>
              </a:rPr>
              <a:t>shrouded</a:t>
            </a:r>
            <a:r>
              <a:rPr lang="it-IT" b="1" dirty="0">
                <a:latin typeface="Palatino Linotype"/>
              </a:rPr>
              <a:t> plug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A7B73F5D-7F6C-4B02-A038-A8F709D14D6E}"/>
              </a:ext>
            </a:extLst>
          </p:cNvPr>
          <p:cNvSpPr txBox="1"/>
          <p:nvPr/>
        </p:nvSpPr>
        <p:spPr>
          <a:xfrm>
            <a:off x="457200" y="5486400"/>
            <a:ext cx="112776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buNone/>
            </a:pPr>
            <a:r>
              <a:rPr lang="en-US" sz="1000" b="1" dirty="0">
                <a:solidFill>
                  <a:srgbClr val="822433"/>
                </a:solidFill>
                <a:latin typeface="Palatino Linotype"/>
              </a:rPr>
              <a:t>[3]  </a:t>
            </a:r>
            <a:r>
              <a:rPr lang="en-US" sz="1000" dirty="0">
                <a:solidFill>
                  <a:srgbClr val="2B2B2B"/>
                </a:solidFill>
                <a:latin typeface="Palatino Linotype"/>
              </a:rPr>
              <a:t>A. J. Harroun, S. D. Heister, J. H. Ruf, “</a:t>
            </a:r>
            <a:r>
              <a:rPr lang="en-US" sz="1000" i="1" dirty="0">
                <a:solidFill>
                  <a:srgbClr val="2B2B2B"/>
                </a:solidFill>
                <a:latin typeface="Palatino Linotype"/>
              </a:rPr>
              <a:t>Computational and experimental study of nozzle performance for rotating detonation rocket engines</a:t>
            </a:r>
            <a:r>
              <a:rPr lang="en-US" sz="1000" dirty="0">
                <a:solidFill>
                  <a:srgbClr val="2B2B2B"/>
                </a:solidFill>
                <a:latin typeface="Palatino Linotype"/>
              </a:rPr>
              <a:t>,” </a:t>
            </a:r>
            <a:r>
              <a:rPr lang="en-US" sz="1000" i="1" dirty="0">
                <a:solidFill>
                  <a:srgbClr val="2B2B2B"/>
                </a:solidFill>
                <a:latin typeface="Palatino Linotype"/>
              </a:rPr>
              <a:t>J. Propulsion and Power</a:t>
            </a:r>
            <a:r>
              <a:rPr lang="en-US" sz="1000" dirty="0">
                <a:solidFill>
                  <a:srgbClr val="2B2B2B"/>
                </a:solidFill>
                <a:latin typeface="Palatino Linotype"/>
              </a:rPr>
              <a:t> 37(5), 660–673, 2021.</a:t>
            </a:r>
          </a:p>
          <a:p>
            <a:pPr algn="l">
              <a:buNone/>
            </a:pPr>
            <a:r>
              <a:rPr lang="en-US" sz="1000" b="1" dirty="0">
                <a:solidFill>
                  <a:srgbClr val="822433"/>
                </a:solidFill>
                <a:latin typeface="Palatino Linotype"/>
              </a:rPr>
              <a:t>[4]  </a:t>
            </a:r>
            <a:r>
              <a:rPr lang="en-US" sz="1000" dirty="0">
                <a:solidFill>
                  <a:srgbClr val="2B2B2B"/>
                </a:solidFill>
                <a:latin typeface="Palatino Linotype"/>
              </a:rPr>
              <a:t>D. P. Stechmann, S. D. Heister, A. J. Harroun, “</a:t>
            </a:r>
            <a:r>
              <a:rPr lang="en-US" sz="1000" i="1" dirty="0">
                <a:solidFill>
                  <a:srgbClr val="2B2B2B"/>
                </a:solidFill>
                <a:latin typeface="Palatino Linotype"/>
              </a:rPr>
              <a:t>Rotating detonation engine performance model for rocket applications</a:t>
            </a:r>
            <a:r>
              <a:rPr lang="en-US" sz="1000" dirty="0">
                <a:solidFill>
                  <a:srgbClr val="2B2B2B"/>
                </a:solidFill>
                <a:latin typeface="Palatino Linotype"/>
              </a:rPr>
              <a:t>,” </a:t>
            </a:r>
            <a:r>
              <a:rPr lang="en-US" sz="1000" i="1" dirty="0">
                <a:solidFill>
                  <a:srgbClr val="2B2B2B"/>
                </a:solidFill>
                <a:latin typeface="Palatino Linotype"/>
              </a:rPr>
              <a:t>J. Spacecraft and Rockets</a:t>
            </a:r>
            <a:r>
              <a:rPr lang="en-US" sz="1000" dirty="0">
                <a:solidFill>
                  <a:srgbClr val="2B2B2B"/>
                </a:solidFill>
                <a:latin typeface="Palatino Linotype"/>
              </a:rPr>
              <a:t> 56(3), 887–898, 2019.</a:t>
            </a:r>
          </a:p>
        </p:txBody>
      </p:sp>
      <p:sp>
        <p:nvSpPr>
          <p:cNvPr id="13" name="Freccia in giù 12">
            <a:extLst>
              <a:ext uri="{FF2B5EF4-FFF2-40B4-BE49-F238E27FC236}">
                <a16:creationId xmlns:a16="http://schemas.microsoft.com/office/drawing/2014/main" id="{168B76E6-9F43-4FE4-864E-5F03C521EAB4}"/>
              </a:ext>
            </a:extLst>
          </p:cNvPr>
          <p:cNvSpPr/>
          <p:nvPr/>
        </p:nvSpPr>
        <p:spPr>
          <a:xfrm>
            <a:off x="3898900" y="2882900"/>
            <a:ext cx="482600" cy="977900"/>
          </a:xfrm>
          <a:prstGeom prst="downArrow">
            <a:avLst/>
          </a:prstGeom>
          <a:solidFill>
            <a:srgbClr val="82243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755260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Gradazioni di grigio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09" row="0">
    <wetp:webextensionref xmlns:r="http://schemas.openxmlformats.org/officeDocument/2006/relationships" r:id="rId1"/>
  </wetp:taskpane>
  <wetp:taskpane dockstate="right" visibility="0" width="322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096F0C90-87E7-4693-8BD7-89CC9317711A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f4c1ef11-a862-4ccc-8daf-c55226551079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117906AD-1CB3-427E-B59E-E96F5E1D5758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01a6e2c6-9f91-4d81-95e9-62ebebeb525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11093</TotalTime>
  <Words>1689</Words>
  <Application>Microsoft Office PowerPoint</Application>
  <PresentationFormat>Widescreen</PresentationFormat>
  <Paragraphs>242</Paragraphs>
  <Slides>18</Slides>
  <Notes>18</Notes>
  <HiddenSlides>0</HiddenSlides>
  <MMClips>2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18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Palatino</vt:lpstr>
      <vt:lpstr>Palatino Linotype</vt:lpstr>
      <vt:lpstr>Times New Roman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Matteo Fiore</dc:creator>
  <cp:lastModifiedBy>Alessandro Montanari</cp:lastModifiedBy>
  <cp:revision>174</cp:revision>
  <dcterms:created xsi:type="dcterms:W3CDTF">2022-03-14T17:39:05Z</dcterms:created>
  <dcterms:modified xsi:type="dcterms:W3CDTF">2026-05-13T14:23:23Z</dcterms:modified>
</cp:coreProperties>
</file>