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handoutMasterIdLst>
    <p:handoutMasterId r:id="rId21"/>
  </p:handoutMasterIdLst>
  <p:sldIdLst>
    <p:sldId id="585" r:id="rId2"/>
    <p:sldId id="797" r:id="rId3"/>
    <p:sldId id="843" r:id="rId27"/>
    <p:sldId id="844" r:id="rId28"/>
    <p:sldId id="827" r:id="rId4"/>
    <p:sldId id="823" r:id="rId5"/>
    <p:sldId id="838" r:id="rId6"/>
    <p:sldId id="660" r:id="rId7"/>
    <p:sldId id="840" r:id="rId8"/>
    <p:sldId id="829" r:id="rId9"/>
    <p:sldId id="830" r:id="rId10"/>
    <p:sldId id="831" r:id="rId11"/>
    <p:sldId id="653" r:id="rId12"/>
    <p:sldId id="659" r:id="rId13"/>
    <p:sldId id="832" r:id="rId14"/>
    <p:sldId id="655" r:id="rId15"/>
    <p:sldId id="834" r:id="rId16"/>
    <p:sldId id="833" r:id="rId17"/>
    <p:sldId id="656" r:id="rId18"/>
    <p:sldId id="842" r:id="rId19"/>
    <p:sldId id="845" r:id="rId29"/>
    <p:sldId id="846" r:id="rId30"/>
    <p:sldId id="847" r:id="rId31"/>
    <p:sldId id="848" r:id="rId32"/>
    <p:sldId id="849" r:id="rId33"/>
    <p:sldId id="850" r:id="rId34"/>
    <p:sldId id="851" r:id="rId35"/>
    <p:sldId id="852" r:id="rId36"/>
    <p:sldId id="853" r:id="rId37"/>
    <p:sldId id="854" r:id="rId38"/>
    <p:sldId id="855" r:id="rId39"/>
    <p:sldId id="856" r:id="rId40"/>
    <p:sldId id="857" r:id="rId41"/>
    <p:sldId id="858" r:id="rId42"/>
    <p:sldId id="859" r:id="rId43"/>
    <p:sldId id="860" r:id="rId44"/>
    <p:sldId id="861" r:id="rId45"/>
    <p:sldId id="862" r:id="rId46"/>
    <p:sldId id="863" r:id="rId47"/>
    <p:sldId id="864" r:id="rId48"/>
    <p:sldId id="865" r:id="rId49"/>
    <p:sldId id="866" r:id="rId50"/>
    <p:sldId id="867" r:id="rId51"/>
    <p:sldId id="868" r:id="rId52"/>
    <p:sldId id="869" r:id="rId53"/>
    <p:sldId id="870" r:id="rId54"/>
    <p:sldId id="871" r:id="rId55"/>
    <p:sldId id="872" r:id="rId56"/>
    <p:sldId id="873" r:id="rId57"/>
    <p:sldId id="874" r:id="rId58"/>
    <p:sldId id="875" r:id="rId59"/>
    <p:sldId id="876" r:id="rId60"/>
    <p:sldId id="877" r:id="rId61"/>
    <p:sldId id="878" r:id="rId62"/>
    <p:sldId id="879" r:id="rId63"/>
    <p:sldId id="880" r:id="rId64"/>
    <p:sldId id="881" r:id="rId65"/>
    <p:sldId id="882" r:id="rId66"/>
    <p:sldId id="883" r:id="rId67"/>
    <p:sldId id="884" r:id="rId68"/>
    <p:sldId id="885" r:id="rId69"/>
    <p:sldId id="886" r:id="rId70"/>
    <p:sldId id="887" r:id="rId71"/>
    <p:sldId id="888" r:id="rId72"/>
    <p:sldId id="889" r:id="rId73"/>
    <p:sldId id="890" r:id="rId74"/>
    <p:sldId id="891" r:id="rId75"/>
    <p:sldId id="892" r:id="rId76"/>
    <p:sldId id="893"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D5C90A-3E8E-614D-84F8-9882190274C6}" name="Maria Teresa Scelzo" initials="MTS" userId="S::maria.teresa.scelzo@vki.ac.be::37be6264-c88a-4c5c-bac6-5d9ddcdf17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433"/>
    <a:srgbClr val="0067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89" autoAdjust="0"/>
  </p:normalViewPr>
  <p:slideViewPr>
    <p:cSldViewPr snapToGrid="0">
      <p:cViewPr>
        <p:scale>
          <a:sx n="66" d="100"/>
          <a:sy n="66" d="100"/>
        </p:scale>
        <p:origin x="28" y="-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DEDE560A-8E8A-436E-813E-C270D46A31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a:extLst>
              <a:ext uri="{FF2B5EF4-FFF2-40B4-BE49-F238E27FC236}">
                <a16:creationId xmlns:a16="http://schemas.microsoft.com/office/drawing/2014/main" id="{9E196812-9494-4F25-9D79-3A4CFC21CD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089A48-AC6F-47D3-B40C-2C1B139D4F3F}" type="datetimeFigureOut">
              <a:rPr lang="en-US" smtClean="0"/>
              <a:t>5/11/2026</a:t>
            </a:fld>
            <a:endParaRPr lang="en-US"/>
          </a:p>
        </p:txBody>
      </p:sp>
      <p:sp>
        <p:nvSpPr>
          <p:cNvPr id="4" name="Segnaposto piè di pagina 3">
            <a:extLst>
              <a:ext uri="{FF2B5EF4-FFF2-40B4-BE49-F238E27FC236}">
                <a16:creationId xmlns:a16="http://schemas.microsoft.com/office/drawing/2014/main" id="{5A5800A6-55FA-485B-BD56-FFF84FBBA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egnaposto numero diapositiva 4">
            <a:extLst>
              <a:ext uri="{FF2B5EF4-FFF2-40B4-BE49-F238E27FC236}">
                <a16:creationId xmlns:a16="http://schemas.microsoft.com/office/drawing/2014/main" id="{D15E942F-7B43-43FE-9FE5-AC71F2AC37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2ABE69-0B93-43EB-83C2-51DA4849037F}" type="slidenum">
              <a:rPr lang="en-US" smtClean="0"/>
              <a:t>‹N›</a:t>
            </a:fld>
            <a:endParaRPr lang="en-US"/>
          </a:p>
        </p:txBody>
      </p:sp>
    </p:spTree>
    <p:extLst>
      <p:ext uri="{BB962C8B-B14F-4D97-AF65-F5344CB8AC3E}">
        <p14:creationId xmlns:p14="http://schemas.microsoft.com/office/powerpoint/2010/main" val="7169595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0841FC-F73E-4ED5-B83E-9A3C90B7F5BB}" type="datetimeFigureOut">
              <a:rPr lang="en-US" smtClean="0"/>
              <a:t>5/11/2026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2FDB6-CFFD-422B-8A27-F953604C2C26}" type="slidenum">
              <a:rPr lang="en-US" smtClean="0"/>
              <a:t>‹N›</a:t>
            </a:fld>
            <a:endParaRPr lang="en-US"/>
          </a:p>
        </p:txBody>
      </p:sp>
    </p:spTree>
    <p:extLst>
      <p:ext uri="{BB962C8B-B14F-4D97-AF65-F5344CB8AC3E}">
        <p14:creationId xmlns:p14="http://schemas.microsoft.com/office/powerpoint/2010/main" val="34016669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t>SCRIPT: Good morning. This is the rotating-detonation work of the T(H)RUST group at Sapienza - Montanari, Grossi, Falco, Nasuti. Today: the group's full-engine RDE activity, and then, in depth, the nozzle design programme and what we are asking of you.</a:t>
            </a:r>
          </a:p>
          <a:p>
            <a:r>
              <a:t>[PROVENANCE] Host-group title slide (Heister deck S1); form-only edits: frontmatter line with version/date/venue (audit criterion (n)); master defaults cleaned (fix 3).</a:t>
            </a:r>
          </a:p>
        </p:txBody>
      </p:sp>
      <p:sp>
        <p:nvSpPr>
          <p:cNvPr id="4" name="Segnaposto numero diapositiva 3"/>
          <p:cNvSpPr>
            <a:spLocks noGrp="1"/>
          </p:cNvSpPr>
          <p:nvPr>
            <p:ph type="sldNum" sz="quarter" idx="5"/>
          </p:nvPr>
        </p:nvSpPr>
        <p:spPr/>
        <p:txBody>
          <a:bodyPr/>
          <a:lstStyle/>
          <a:p>
            <a:fld id="{FE3AD0E9-89D2-F749-A052-0AC75C7B6866}" type="slidenum">
              <a:rPr lang="en-FR" smtClean="0"/>
              <a:t>1</a:t>
            </a:fld>
            <a:endParaRPr lang="en-FR"/>
          </a:p>
        </p:txBody>
      </p:sp>
    </p:spTree>
    <p:extLst>
      <p:ext uri="{BB962C8B-B14F-4D97-AF65-F5344CB8AC3E}">
        <p14:creationId xmlns:p14="http://schemas.microsoft.com/office/powerpoint/2010/main" val="86509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B532-27FC-218D-CF42-56B8B210169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8F38A66-6705-3060-C5F5-63F7D410E9B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FFB6477-4D0A-9F7A-E9BA-E2560044A847}"/>
              </a:ext>
            </a:extLst>
          </p:cNvPr>
          <p:cNvSpPr>
            <a:spLocks noGrp="1"/>
          </p:cNvSpPr>
          <p:nvPr>
            <p:ph type="body" idx="1"/>
          </p:nvPr>
        </p:nvSpPr>
        <p:spPr/>
        <p:txBody>
          <a:bodyPr/>
          <a:lstStyle/>
          <a:p>
            <a:r>
              <a:t>SCRIPT: Five research roads, one framework underneath. Everything you will hear today is numerical, oriented to industrially relevant questions, and run with an international network - NC State, RMIT, ISAE-ENSMA. The 'nozzle design' line in the open-research card is the one we expand today in a dedicated section.</a:t>
            </a:r>
          </a:p>
          <a:p>
            <a:r>
              <a:t>[PROVENANCE] Host-group slide (Heister S2), content invariant; form fixes: 'Belleonue'-&gt;'Bellenoue' (fix 6), open-lines card carries pointer to the nozzle section (fix 9).</a:t>
            </a:r>
          </a:p>
        </p:txBody>
      </p:sp>
      <p:sp>
        <p:nvSpPr>
          <p:cNvPr id="4" name="Segnaposto numero diapositiva 3">
            <a:extLst>
              <a:ext uri="{FF2B5EF4-FFF2-40B4-BE49-F238E27FC236}">
                <a16:creationId xmlns:a16="http://schemas.microsoft.com/office/drawing/2014/main" id="{4CAEC7DD-814F-91B0-0C3E-76648228F8C3}"/>
              </a:ext>
            </a:extLst>
          </p:cNvPr>
          <p:cNvSpPr>
            <a:spLocks noGrp="1"/>
          </p:cNvSpPr>
          <p:nvPr>
            <p:ph type="sldNum" sz="quarter" idx="5"/>
          </p:nvPr>
        </p:nvSpPr>
        <p:spPr/>
        <p:txBody>
          <a:bodyPr/>
          <a:lstStyle/>
          <a:p>
            <a:fld id="{4C02FDB6-CFFD-422B-8A27-F953604C2C26}" type="slidenum">
              <a:rPr lang="en-US" smtClean="0"/>
              <a:t>2</a:t>
            </a:fld>
            <a:endParaRPr lang="en-US"/>
          </a:p>
        </p:txBody>
      </p:sp>
    </p:spTree>
    <p:extLst>
      <p:ext uri="{BB962C8B-B14F-4D97-AF65-F5344CB8AC3E}">
        <p14:creationId xmlns:p14="http://schemas.microsoft.com/office/powerpoint/2010/main" val="2130843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t>SCRIPT: HYPERDE in one picture: each subsystem solved at its most informative dimensionality - 3D or unwrapped quasi-2D chamber, quasi-1D injectors when the coupling is longitudinal, 3D URANS expansion - inside one consistent formulation.</a:t>
            </a:r>
          </a:p>
          <a:p>
            <a:r>
              <a:t>[PROVENANCE] Host slide (Heister S3); form-only: card text lightened toward the ≤60-word budget, no content removed.</a:t>
            </a:r>
          </a:p>
        </p:txBody>
      </p:sp>
      <p:sp>
        <p:nvSpPr>
          <p:cNvPr id="4" name="Segnaposto numero diapositiva 3"/>
          <p:cNvSpPr>
            <a:spLocks noGrp="1"/>
          </p:cNvSpPr>
          <p:nvPr>
            <p:ph type="sldNum" sz="quarter" idx="5"/>
          </p:nvPr>
        </p:nvSpPr>
        <p:spPr/>
        <p:txBody>
          <a:bodyPr/>
          <a:lstStyle/>
          <a:p>
            <a:fld id="{4C02FDB6-CFFD-422B-8A27-F953604C2C26}" type="slidenum">
              <a:rPr lang="en-US" smtClean="0"/>
              <a:t>3</a:t>
            </a:fld>
            <a:endParaRPr lang="en-US"/>
          </a:p>
        </p:txBody>
      </p:sp>
    </p:spTree>
    <p:extLst>
      <p:ext uri="{BB962C8B-B14F-4D97-AF65-F5344CB8AC3E}">
        <p14:creationId xmlns:p14="http://schemas.microsoft.com/office/powerpoint/2010/main" val="1068185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4D91D-137B-C964-ACAA-263498ADB00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2A3EF6F-8699-8A90-C4D0-BF0A87AF307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D899C9B-8509-1355-996D-ECA13572DA68}"/>
              </a:ext>
            </a:extLst>
          </p:cNvPr>
          <p:cNvSpPr>
            <a:spLocks noGrp="1"/>
          </p:cNvSpPr>
          <p:nvPr>
            <p:ph type="body" idx="1"/>
          </p:nvPr>
        </p:nvSpPr>
        <p:spPr/>
        <p:txBody>
          <a:bodyPr/>
          <a:lstStyle/>
          <a:p>
            <a:r>
              <a:t>SCRIPT: The solver suite under it: finite volume, second order in space, up to third in time; tabulated thermally-perfect thermo; turbulence models swappable; OpenMP plus MPI; interfaces to the in-house solid, multiphase and real-fluid solvers.</a:t>
            </a:r>
          </a:p>
          <a:p>
            <a:r>
              <a:t>[PROVENANCE] Host slide (Heister S4), content invariant, text tightened (v1: 'testo asciugato').</a:t>
            </a:r>
          </a:p>
        </p:txBody>
      </p:sp>
      <p:sp>
        <p:nvSpPr>
          <p:cNvPr id="4" name="Segnaposto numero diapositiva 3">
            <a:extLst>
              <a:ext uri="{FF2B5EF4-FFF2-40B4-BE49-F238E27FC236}">
                <a16:creationId xmlns:a16="http://schemas.microsoft.com/office/drawing/2014/main" id="{714DFA63-35B1-E8FE-8288-0F67A860A2BB}"/>
              </a:ext>
            </a:extLst>
          </p:cNvPr>
          <p:cNvSpPr>
            <a:spLocks noGrp="1"/>
          </p:cNvSpPr>
          <p:nvPr>
            <p:ph type="sldNum" sz="quarter" idx="5"/>
          </p:nvPr>
        </p:nvSpPr>
        <p:spPr/>
        <p:txBody>
          <a:bodyPr/>
          <a:lstStyle/>
          <a:p>
            <a:fld id="{4C02FDB6-CFFD-422B-8A27-F953604C2C26}" type="slidenum">
              <a:rPr lang="en-US" smtClean="0"/>
              <a:t>4</a:t>
            </a:fld>
            <a:endParaRPr lang="en-US"/>
          </a:p>
        </p:txBody>
      </p:sp>
    </p:spTree>
    <p:extLst>
      <p:ext uri="{BB962C8B-B14F-4D97-AF65-F5344CB8AC3E}">
        <p14:creationId xmlns:p14="http://schemas.microsoft.com/office/powerpoint/2010/main" val="3580200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4457A-E992-80C7-0D78-6ECCB1ECCCB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5BFE78-9BCC-32B2-D4B5-1DECF150460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DF15644-3DD2-6D62-F3D1-753E012F2449}"/>
              </a:ext>
            </a:extLst>
          </p:cNvPr>
          <p:cNvSpPr>
            <a:spLocks noGrp="1"/>
          </p:cNvSpPr>
          <p:nvPr>
            <p:ph type="body" idx="1"/>
          </p:nvPr>
        </p:nvSpPr>
        <p:spPr/>
        <p:txBody>
          <a:bodyPr/>
          <a:lstStyle/>
          <a:p>
            <a:r>
              <a:t>SCRIPT: Where the quasi-2D solver goes beyond recent literature: rigorous diffusive fluxes and generic RANS closure, a general z(x,y) width law, and the non-isentropic backward-facing-step boundary condition adapted from Fievisohn &amp; Yu's method-of-characteristics analysis.</a:t>
            </a:r>
          </a:p>
          <a:p>
            <a:r>
              <a:t>[PROVENANCE] Host slide (Heister S5); citation [1] Fievisohn &amp; Yu JPP 33(1) 2017 already on slide. Note for Q&amp;A: Fievisohn's wave-frame MoC is also the closest ancestor of our per-phase view - that thread returns in the nozzle section (C7-bis-pre).</a:t>
            </a:r>
          </a:p>
        </p:txBody>
      </p:sp>
      <p:sp>
        <p:nvSpPr>
          <p:cNvPr id="4" name="Segnaposto numero diapositiva 3">
            <a:extLst>
              <a:ext uri="{FF2B5EF4-FFF2-40B4-BE49-F238E27FC236}">
                <a16:creationId xmlns:a16="http://schemas.microsoft.com/office/drawing/2014/main" id="{CC827623-1E5E-ECB1-3F60-FB2292446070}"/>
              </a:ext>
            </a:extLst>
          </p:cNvPr>
          <p:cNvSpPr>
            <a:spLocks noGrp="1"/>
          </p:cNvSpPr>
          <p:nvPr>
            <p:ph type="sldNum" sz="quarter" idx="5"/>
          </p:nvPr>
        </p:nvSpPr>
        <p:spPr/>
        <p:txBody>
          <a:bodyPr/>
          <a:lstStyle/>
          <a:p>
            <a:fld id="{4C02FDB6-CFFD-422B-8A27-F953604C2C26}" type="slidenum">
              <a:rPr lang="en-US" smtClean="0"/>
              <a:t>5</a:t>
            </a:fld>
            <a:endParaRPr lang="en-US"/>
          </a:p>
        </p:txBody>
      </p:sp>
    </p:spTree>
    <p:extLst>
      <p:ext uri="{BB962C8B-B14F-4D97-AF65-F5344CB8AC3E}">
        <p14:creationId xmlns:p14="http://schemas.microsoft.com/office/powerpoint/2010/main" val="2246381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542A-8F8B-A44C-BD65-8378AC168DA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5647-E57F-1AE7-BE6F-75AC4AF9C23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17B442C-7F1F-1BE3-6AB6-459946494A0F}"/>
              </a:ext>
            </a:extLst>
          </p:cNvPr>
          <p:cNvSpPr>
            <a:spLocks noGrp="1"/>
          </p:cNvSpPr>
          <p:nvPr>
            <p:ph type="body" idx="1"/>
          </p:nvPr>
        </p:nvSpPr>
        <p:spPr/>
        <p:txBody>
          <a:bodyPr/>
          <a:lstStyle/>
          <a:p>
            <a:r>
              <a:t>SCRIPT: Verification and validation, first rung: the chamber solver against 1-D ZND structure from the Shock &amp; Detonation Toolbox - overlaid profiles.</a:t>
            </a:r>
          </a:p>
          <a:p>
            <a:r>
              <a:t>[PROVENANCE] Host V&amp;V slide (Heister S6), invariant.</a:t>
            </a:r>
          </a:p>
        </p:txBody>
      </p:sp>
      <p:sp>
        <p:nvSpPr>
          <p:cNvPr id="4" name="Segnaposto numero diapositiva 3">
            <a:extLst>
              <a:ext uri="{FF2B5EF4-FFF2-40B4-BE49-F238E27FC236}">
                <a16:creationId xmlns:a16="http://schemas.microsoft.com/office/drawing/2014/main" id="{DC96272C-9C55-B863-2962-F027188CD7FC}"/>
              </a:ext>
            </a:extLst>
          </p:cNvPr>
          <p:cNvSpPr>
            <a:spLocks noGrp="1"/>
          </p:cNvSpPr>
          <p:nvPr>
            <p:ph type="sldNum" sz="quarter" idx="5"/>
          </p:nvPr>
        </p:nvSpPr>
        <p:spPr/>
        <p:txBody>
          <a:bodyPr/>
          <a:lstStyle/>
          <a:p>
            <a:fld id="{4C02FDB6-CFFD-422B-8A27-F953604C2C26}" type="slidenum">
              <a:rPr lang="en-US" smtClean="0"/>
              <a:t>6</a:t>
            </a:fld>
            <a:endParaRPr lang="en-US"/>
          </a:p>
        </p:txBody>
      </p:sp>
    </p:spTree>
    <p:extLst>
      <p:ext uri="{BB962C8B-B14F-4D97-AF65-F5344CB8AC3E}">
        <p14:creationId xmlns:p14="http://schemas.microsoft.com/office/powerpoint/2010/main" val="1285975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4C1-0D89-299A-7EBC-B0A6D1104B9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81970AF-D322-DFE7-5F00-5950AC0BCCD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1287849-52AC-1636-2471-FCF58FD0CE5B}"/>
              </a:ext>
            </a:extLst>
          </p:cNvPr>
          <p:cNvSpPr>
            <a:spLocks noGrp="1"/>
          </p:cNvSpPr>
          <p:nvPr>
            <p:ph type="body" idx="1"/>
          </p:nvPr>
        </p:nvSpPr>
        <p:spPr/>
        <p:txBody>
          <a:bodyPr/>
          <a:lstStyle/>
          <a:p>
            <a:r>
              <a:t>SCRIPT: Second rung: unwrapped literature test cases - Schwer &amp; Kailasanath's plenum-feedback configuration - reproduced.</a:t>
            </a:r>
          </a:p>
          <a:p>
            <a:r>
              <a:t>[PROVENANCE] Host V&amp;V slide (Heister S7), invariant; citation [2] on slide.</a:t>
            </a:r>
          </a:p>
        </p:txBody>
      </p:sp>
      <p:sp>
        <p:nvSpPr>
          <p:cNvPr id="4" name="Segnaposto numero diapositiva 3">
            <a:extLst>
              <a:ext uri="{FF2B5EF4-FFF2-40B4-BE49-F238E27FC236}">
                <a16:creationId xmlns:a16="http://schemas.microsoft.com/office/drawing/2014/main" id="{67657218-36B7-74A9-8F9D-0BA2617761D5}"/>
              </a:ext>
            </a:extLst>
          </p:cNvPr>
          <p:cNvSpPr>
            <a:spLocks noGrp="1"/>
          </p:cNvSpPr>
          <p:nvPr>
            <p:ph type="sldNum" sz="quarter" idx="5"/>
          </p:nvPr>
        </p:nvSpPr>
        <p:spPr/>
        <p:txBody>
          <a:bodyPr/>
          <a:lstStyle/>
          <a:p>
            <a:fld id="{4C02FDB6-CFFD-422B-8A27-F953604C2C26}" type="slidenum">
              <a:rPr lang="en-US" smtClean="0"/>
              <a:t>7</a:t>
            </a:fld>
            <a:endParaRPr lang="en-US"/>
          </a:p>
        </p:txBody>
      </p:sp>
    </p:spTree>
    <p:extLst>
      <p:ext uri="{BB962C8B-B14F-4D97-AF65-F5344CB8AC3E}">
        <p14:creationId xmlns:p14="http://schemas.microsoft.com/office/powerpoint/2010/main" val="304803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8DFAD-35DF-ED85-D768-96D7796E96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3FF421D-F78B-0CC2-E926-F5B6D8462D8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776E1E6-D554-32F3-9D2F-D86B4D418357}"/>
              </a:ext>
            </a:extLst>
          </p:cNvPr>
          <p:cNvSpPr>
            <a:spLocks noGrp="1"/>
          </p:cNvSpPr>
          <p:nvPr>
            <p:ph type="body" idx="1"/>
          </p:nvPr>
        </p:nvSpPr>
        <p:spPr/>
        <p:txBody>
          <a:bodyPr/>
          <a:lstStyle/>
          <a:p>
            <a:r>
              <a:t>SCRIPT: Third rung, HYPERDE-specific features. Here the quasi-2D source terms: Mach field and stagnation-pressure traces across aspect ratios against the resolved reference.</a:t>
            </a:r>
          </a:p>
          <a:p>
            <a:r>
              <a:t>[PROVENANCE] Host V&amp;V slide (Heister S8). DECLARED authoring decision (v1 A12 clause): the S8+S9 fusion was measured against the 3-metre legibility criterion and REJECTED - six dense plots on one 16:9 slide push axis labels below readable size; the two slides stay (A12a/A12b), the minute is recovered on the A14-A20 pace as budgeted in v3.1.</a:t>
            </a:r>
          </a:p>
        </p:txBody>
      </p:sp>
      <p:sp>
        <p:nvSpPr>
          <p:cNvPr id="4" name="Segnaposto numero diapositiva 3">
            <a:extLst>
              <a:ext uri="{FF2B5EF4-FFF2-40B4-BE49-F238E27FC236}">
                <a16:creationId xmlns:a16="http://schemas.microsoft.com/office/drawing/2014/main" id="{848DE09D-D939-DA7A-E31C-997C70FB93F5}"/>
              </a:ext>
            </a:extLst>
          </p:cNvPr>
          <p:cNvSpPr>
            <a:spLocks noGrp="1"/>
          </p:cNvSpPr>
          <p:nvPr>
            <p:ph type="sldNum" sz="quarter" idx="5"/>
          </p:nvPr>
        </p:nvSpPr>
        <p:spPr/>
        <p:txBody>
          <a:bodyPr/>
          <a:lstStyle/>
          <a:p>
            <a:fld id="{4C02FDB6-CFFD-422B-8A27-F953604C2C26}" type="slidenum">
              <a:rPr lang="en-US" smtClean="0"/>
              <a:t>8</a:t>
            </a:fld>
            <a:endParaRPr lang="en-US"/>
          </a:p>
        </p:txBody>
      </p:sp>
    </p:spTree>
    <p:extLst>
      <p:ext uri="{BB962C8B-B14F-4D97-AF65-F5344CB8AC3E}">
        <p14:creationId xmlns:p14="http://schemas.microsoft.com/office/powerpoint/2010/main" val="1132425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FD260-E597-7DFC-1EFE-468B383575B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618D9A6-397C-DF66-909D-E1B1753A58F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144E611-F6A6-696F-8E55-ABBD6CB581BC}"/>
              </a:ext>
            </a:extLst>
          </p:cNvPr>
          <p:cNvSpPr>
            <a:spLocks noGrp="1"/>
          </p:cNvSpPr>
          <p:nvPr>
            <p:ph type="body" idx="1"/>
          </p:nvPr>
        </p:nvSpPr>
        <p:spPr/>
        <p:txBody>
          <a:bodyPr/>
          <a:lstStyle/>
          <a:p>
            <a:r>
              <a:t>SCRIPT: And the quasi-1D injector-chamber coupling: temperature and velocity profiles, modelled versus resolved versus boundary-condition-only - the three collapse.</a:t>
            </a:r>
          </a:p>
          <a:p>
            <a:r>
              <a:t>[PROVENANCE] Host V&amp;V slide (Heister S9); see A12a note for the declared fusion decision.</a:t>
            </a:r>
          </a:p>
        </p:txBody>
      </p:sp>
      <p:sp>
        <p:nvSpPr>
          <p:cNvPr id="4" name="Segnaposto numero diapositiva 3">
            <a:extLst>
              <a:ext uri="{FF2B5EF4-FFF2-40B4-BE49-F238E27FC236}">
                <a16:creationId xmlns:a16="http://schemas.microsoft.com/office/drawing/2014/main" id="{4E33F12A-98F9-E215-380F-5FA0926B7892}"/>
              </a:ext>
            </a:extLst>
          </p:cNvPr>
          <p:cNvSpPr>
            <a:spLocks noGrp="1"/>
          </p:cNvSpPr>
          <p:nvPr>
            <p:ph type="sldNum" sz="quarter" idx="5"/>
          </p:nvPr>
        </p:nvSpPr>
        <p:spPr/>
        <p:txBody>
          <a:bodyPr/>
          <a:lstStyle/>
          <a:p>
            <a:fld id="{4C02FDB6-CFFD-422B-8A27-F953604C2C26}" type="slidenum">
              <a:rPr lang="en-US" smtClean="0"/>
              <a:t>9</a:t>
            </a:fld>
            <a:endParaRPr lang="en-US"/>
          </a:p>
        </p:txBody>
      </p:sp>
    </p:spTree>
    <p:extLst>
      <p:ext uri="{BB962C8B-B14F-4D97-AF65-F5344CB8AC3E}">
        <p14:creationId xmlns:p14="http://schemas.microsoft.com/office/powerpoint/2010/main" val="3212258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3455E-DA22-9608-8BB1-63B36CE30A5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3B19D96-9CEE-340D-FEF1-2A3086040D8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502CBBD-8639-F892-15C2-25817E0FA622}"/>
              </a:ext>
            </a:extLst>
          </p:cNvPr>
          <p:cNvSpPr>
            <a:spLocks noGrp="1"/>
          </p:cNvSpPr>
          <p:nvPr>
            <p:ph type="body" idx="1"/>
          </p:nvPr>
        </p:nvSpPr>
        <p:spPr/>
        <p:txBody>
          <a:bodyPr/>
          <a:lstStyle/>
          <a:p>
            <a:r>
              <a:t>SCRIPT: Fourth rung: quasi-2D to full-3D connection - and the 26-second video of the coupled solution. [PLAY VIDEO]</a:t>
            </a:r>
          </a:p>
          <a:p>
            <a:r>
              <a:t>[PROVENANCE] Host V&amp;V slide (Heister S10), media preserved.</a:t>
            </a:r>
          </a:p>
        </p:txBody>
      </p:sp>
      <p:sp>
        <p:nvSpPr>
          <p:cNvPr id="4" name="Segnaposto numero diapositiva 3">
            <a:extLst>
              <a:ext uri="{FF2B5EF4-FFF2-40B4-BE49-F238E27FC236}">
                <a16:creationId xmlns:a16="http://schemas.microsoft.com/office/drawing/2014/main" id="{2D6A3A76-5F04-CC65-4177-A950CAD41FEB}"/>
              </a:ext>
            </a:extLst>
          </p:cNvPr>
          <p:cNvSpPr>
            <a:spLocks noGrp="1"/>
          </p:cNvSpPr>
          <p:nvPr>
            <p:ph type="sldNum" sz="quarter" idx="5"/>
          </p:nvPr>
        </p:nvSpPr>
        <p:spPr/>
        <p:txBody>
          <a:bodyPr/>
          <a:lstStyle/>
          <a:p>
            <a:fld id="{4C02FDB6-CFFD-422B-8A27-F953604C2C26}" type="slidenum">
              <a:rPr lang="en-US" smtClean="0"/>
              <a:t>10</a:t>
            </a:fld>
            <a:endParaRPr lang="en-US"/>
          </a:p>
        </p:txBody>
      </p:sp>
    </p:spTree>
    <p:extLst>
      <p:ext uri="{BB962C8B-B14F-4D97-AF65-F5344CB8AC3E}">
        <p14:creationId xmlns:p14="http://schemas.microsoft.com/office/powerpoint/2010/main" val="3748182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ACFF7-09AC-CB9F-D7EE-285F3CE392B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BBE7BDC-EC2C-2545-CDC1-C0FCFFF0847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F9BE48F-6420-BFC4-529F-E8272F4780B4}"/>
              </a:ext>
            </a:extLst>
          </p:cNvPr>
          <p:cNvSpPr>
            <a:spLocks noGrp="1"/>
          </p:cNvSpPr>
          <p:nvPr>
            <p:ph type="body" idx="1"/>
          </p:nvPr>
        </p:nvSpPr>
        <p:spPr/>
        <p:txBody>
          <a:bodyPr/>
          <a:lstStyle/>
          <a:p>
            <a:r>
              <a:t>SCRIPT: The refill region, with RMIT and NC State: four questions on how geometry shapes the refill expansion - and the counter-intuitive datum that diverging inlets, introduced to cut step losses, degrade overall performance instead.</a:t>
            </a:r>
          </a:p>
          <a:p>
            <a:r>
              <a:t>[PROVENANCE] Host slide (Heister S11); form fix 5: the off-canvas text box ('Inlet extension added for supersonic cases') removed from the canvas - its content preserved here: the inlet extension is added for the supersonic cases of the sweep.</a:t>
            </a:r>
          </a:p>
        </p:txBody>
      </p:sp>
      <p:sp>
        <p:nvSpPr>
          <p:cNvPr id="4" name="Segnaposto numero diapositiva 3">
            <a:extLst>
              <a:ext uri="{FF2B5EF4-FFF2-40B4-BE49-F238E27FC236}">
                <a16:creationId xmlns:a16="http://schemas.microsoft.com/office/drawing/2014/main" id="{2CE90DE3-148C-62D6-DFAD-62329E484D14}"/>
              </a:ext>
            </a:extLst>
          </p:cNvPr>
          <p:cNvSpPr>
            <a:spLocks noGrp="1"/>
          </p:cNvSpPr>
          <p:nvPr>
            <p:ph type="sldNum" sz="quarter" idx="5"/>
          </p:nvPr>
        </p:nvSpPr>
        <p:spPr/>
        <p:txBody>
          <a:bodyPr/>
          <a:lstStyle/>
          <a:p>
            <a:fld id="{4C02FDB6-CFFD-422B-8A27-F953604C2C26}" type="slidenum">
              <a:rPr lang="en-US" smtClean="0"/>
              <a:t>11</a:t>
            </a:fld>
            <a:endParaRPr lang="en-US"/>
          </a:p>
        </p:txBody>
      </p:sp>
    </p:spTree>
    <p:extLst>
      <p:ext uri="{BB962C8B-B14F-4D97-AF65-F5344CB8AC3E}">
        <p14:creationId xmlns:p14="http://schemas.microsoft.com/office/powerpoint/2010/main" val="2760453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EC58E-3939-E631-1877-F617663B91C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48DC821-A493-6D73-3FD4-82F565898F0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FA24320-946B-6770-6B20-4388CB0D6D4F}"/>
              </a:ext>
            </a:extLst>
          </p:cNvPr>
          <p:cNvSpPr>
            <a:spLocks noGrp="1"/>
          </p:cNvSpPr>
          <p:nvPr>
            <p:ph type="body" idx="1"/>
          </p:nvPr>
        </p:nvSpPr>
        <p:spPr/>
        <p:txBody>
          <a:bodyPr/>
          <a:lstStyle/>
          <a:p>
            <a:r>
              <a:t>SCRIPT: The wave-number sweep: stagnation-pressure losses grow with Λ; at Λ = 2.9 the inlet turns entirely supersonic and the pressure gain goes negative.</a:t>
            </a:r>
          </a:p>
          <a:p>
            <a:r>
              <a:t>[PROVENANCE] Host slide (Heister S12); form fix 4: native heading added (Λ as native text in the template font - no raster heading).</a:t>
            </a:r>
          </a:p>
        </p:txBody>
      </p:sp>
      <p:sp>
        <p:nvSpPr>
          <p:cNvPr id="4" name="Segnaposto numero diapositiva 3">
            <a:extLst>
              <a:ext uri="{FF2B5EF4-FFF2-40B4-BE49-F238E27FC236}">
                <a16:creationId xmlns:a16="http://schemas.microsoft.com/office/drawing/2014/main" id="{DA40097E-59F7-6D77-D564-F9FC227BE682}"/>
              </a:ext>
            </a:extLst>
          </p:cNvPr>
          <p:cNvSpPr>
            <a:spLocks noGrp="1"/>
          </p:cNvSpPr>
          <p:nvPr>
            <p:ph type="sldNum" sz="quarter" idx="5"/>
          </p:nvPr>
        </p:nvSpPr>
        <p:spPr/>
        <p:txBody>
          <a:bodyPr/>
          <a:lstStyle/>
          <a:p>
            <a:fld id="{4C02FDB6-CFFD-422B-8A27-F953604C2C26}" type="slidenum">
              <a:rPr lang="en-US" smtClean="0"/>
              <a:t>12</a:t>
            </a:fld>
            <a:endParaRPr lang="en-US"/>
          </a:p>
        </p:txBody>
      </p:sp>
    </p:spTree>
    <p:extLst>
      <p:ext uri="{BB962C8B-B14F-4D97-AF65-F5344CB8AC3E}">
        <p14:creationId xmlns:p14="http://schemas.microsoft.com/office/powerpoint/2010/main" val="2373413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7BAD1-0D28-E2D6-21D6-BE57681BDD3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AEAAF97-76D5-AED5-420F-AF7282427DC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36D7F03-0DE7-F5F6-0751-769A8BECB75A}"/>
              </a:ext>
            </a:extLst>
          </p:cNvPr>
          <p:cNvSpPr>
            <a:spLocks noGrp="1"/>
          </p:cNvSpPr>
          <p:nvPr>
            <p:ph type="body" idx="1"/>
          </p:nvPr>
        </p:nvSpPr>
        <p:spPr/>
        <p:txBody>
          <a:bodyPr/>
          <a:lstStyle/>
          <a:p>
            <a:r>
              <a:t>SCRIPT: The group's synthesis model of the refill region: the subsonic/supersonic expansion picture in one figure.</a:t>
            </a:r>
          </a:p>
          <a:p>
            <a:r>
              <a:t>[PROVENANCE] Host slide (Heister S13), invariant.</a:t>
            </a:r>
          </a:p>
        </p:txBody>
      </p:sp>
      <p:sp>
        <p:nvSpPr>
          <p:cNvPr id="4" name="Segnaposto numero diapositiva 3">
            <a:extLst>
              <a:ext uri="{FF2B5EF4-FFF2-40B4-BE49-F238E27FC236}">
                <a16:creationId xmlns:a16="http://schemas.microsoft.com/office/drawing/2014/main" id="{6CE53429-20C8-AE08-2014-D5756E0EAFE2}"/>
              </a:ext>
            </a:extLst>
          </p:cNvPr>
          <p:cNvSpPr>
            <a:spLocks noGrp="1"/>
          </p:cNvSpPr>
          <p:nvPr>
            <p:ph type="sldNum" sz="quarter" idx="5"/>
          </p:nvPr>
        </p:nvSpPr>
        <p:spPr/>
        <p:txBody>
          <a:bodyPr/>
          <a:lstStyle/>
          <a:p>
            <a:fld id="{4C02FDB6-CFFD-422B-8A27-F953604C2C26}" type="slidenum">
              <a:rPr lang="en-US" smtClean="0"/>
              <a:t>13</a:t>
            </a:fld>
            <a:endParaRPr lang="en-US"/>
          </a:p>
        </p:txBody>
      </p:sp>
    </p:spTree>
    <p:extLst>
      <p:ext uri="{BB962C8B-B14F-4D97-AF65-F5344CB8AC3E}">
        <p14:creationId xmlns:p14="http://schemas.microsoft.com/office/powerpoint/2010/main" val="3264200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814F-9755-CC48-C689-ADA50A96959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7EFA9FC-CCE5-A9FF-8ABF-15A9C0517E8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4C09565-B116-D978-9751-09131F8821ED}"/>
              </a:ext>
            </a:extLst>
          </p:cNvPr>
          <p:cNvSpPr>
            <a:spLocks noGrp="1"/>
          </p:cNvSpPr>
          <p:nvPr>
            <p:ph type="body" idx="1"/>
          </p:nvPr>
        </p:nvSpPr>
        <p:spPr/>
        <p:txBody>
          <a:bodyPr/>
          <a:lstStyle/>
          <a:p>
            <a:r>
              <a:t>SCRIPT: Supersonic bladeless turbines with NC State: CFD-designed Mach-4 wind tunnel, swappable nozzle and second-throat diffuser - real hardware, real photographs.</a:t>
            </a:r>
          </a:p>
          <a:p>
            <a:r>
              <a:t>[PROVENANCE] Host slide (Heister S14), invariant.</a:t>
            </a:r>
          </a:p>
        </p:txBody>
      </p:sp>
      <p:sp>
        <p:nvSpPr>
          <p:cNvPr id="4" name="Segnaposto numero diapositiva 3">
            <a:extLst>
              <a:ext uri="{FF2B5EF4-FFF2-40B4-BE49-F238E27FC236}">
                <a16:creationId xmlns:a16="http://schemas.microsoft.com/office/drawing/2014/main" id="{963176E2-BCBF-1F09-076E-267D57E57A3F}"/>
              </a:ext>
            </a:extLst>
          </p:cNvPr>
          <p:cNvSpPr>
            <a:spLocks noGrp="1"/>
          </p:cNvSpPr>
          <p:nvPr>
            <p:ph type="sldNum" sz="quarter" idx="5"/>
          </p:nvPr>
        </p:nvSpPr>
        <p:spPr/>
        <p:txBody>
          <a:bodyPr/>
          <a:lstStyle/>
          <a:p>
            <a:fld id="{4C02FDB6-CFFD-422B-8A27-F953604C2C26}" type="slidenum">
              <a:rPr lang="en-US" smtClean="0"/>
              <a:t>14</a:t>
            </a:fld>
            <a:endParaRPr lang="en-US"/>
          </a:p>
        </p:txBody>
      </p:sp>
    </p:spTree>
    <p:extLst>
      <p:ext uri="{BB962C8B-B14F-4D97-AF65-F5344CB8AC3E}">
        <p14:creationId xmlns:p14="http://schemas.microsoft.com/office/powerpoint/2010/main" val="2263004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F305D-8F78-CB7D-CC38-71936D585A0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27FA471-5174-3BD9-55C4-B0DDCDAD239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D459DC4-F9C9-6763-FD41-9FCCD9E00EE8}"/>
              </a:ext>
            </a:extLst>
          </p:cNvPr>
          <p:cNvSpPr>
            <a:spLocks noGrp="1"/>
          </p:cNvSpPr>
          <p:nvPr>
            <p:ph type="body" idx="1"/>
          </p:nvPr>
        </p:nvSpPr>
        <p:spPr/>
        <p:txBody>
          <a:bodyPr/>
          <a:lstStyle/>
          <a:p>
            <a:r>
              <a:t>SCRIPT: Tunnel validation: isentropic prediction versus experiment versus CFD at 3 and 4 bar feed.</a:t>
            </a:r>
          </a:p>
          <a:p>
            <a:r>
              <a:t>[PROVENANCE] Host slide (Heister S15), invariant.</a:t>
            </a:r>
          </a:p>
        </p:txBody>
      </p:sp>
      <p:sp>
        <p:nvSpPr>
          <p:cNvPr id="4" name="Segnaposto numero diapositiva 3">
            <a:extLst>
              <a:ext uri="{FF2B5EF4-FFF2-40B4-BE49-F238E27FC236}">
                <a16:creationId xmlns:a16="http://schemas.microsoft.com/office/drawing/2014/main" id="{E43BD465-FE27-2800-E864-90C13FED62C4}"/>
              </a:ext>
            </a:extLst>
          </p:cNvPr>
          <p:cNvSpPr>
            <a:spLocks noGrp="1"/>
          </p:cNvSpPr>
          <p:nvPr>
            <p:ph type="sldNum" sz="quarter" idx="5"/>
          </p:nvPr>
        </p:nvSpPr>
        <p:spPr/>
        <p:txBody>
          <a:bodyPr/>
          <a:lstStyle/>
          <a:p>
            <a:fld id="{4C02FDB6-CFFD-422B-8A27-F953604C2C26}" type="slidenum">
              <a:rPr lang="en-US" smtClean="0"/>
              <a:t>15</a:t>
            </a:fld>
            <a:endParaRPr lang="en-US"/>
          </a:p>
        </p:txBody>
      </p:sp>
    </p:spTree>
    <p:extLst>
      <p:ext uri="{BB962C8B-B14F-4D97-AF65-F5344CB8AC3E}">
        <p14:creationId xmlns:p14="http://schemas.microsoft.com/office/powerpoint/2010/main" val="754315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930D3-3401-56DA-8DEA-B589146CAFE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C414DEE-E7E8-3262-1D7D-F203810FB3E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5F32464-AE25-C536-EAC4-B3434F36FABC}"/>
              </a:ext>
            </a:extLst>
          </p:cNvPr>
          <p:cNvSpPr>
            <a:spLocks noGrp="1"/>
          </p:cNvSpPr>
          <p:nvPr>
            <p:ph type="body" idx="1"/>
          </p:nvPr>
        </p:nvSpPr>
        <p:spPr/>
        <p:txBody>
          <a:bodyPr/>
          <a:lstStyle/>
          <a:p>
            <a:r>
              <a:t>SCRIPT: Ongoing: bladeless-turbine shape optimization and the ejector-diffuser system for RDE testing - 14-second video. [PLAY VIDEO]</a:t>
            </a:r>
          </a:p>
          <a:p>
            <a:r>
              <a:t>[PROVENANCE] Host slide (Heister S16), media preserved.</a:t>
            </a:r>
          </a:p>
        </p:txBody>
      </p:sp>
      <p:sp>
        <p:nvSpPr>
          <p:cNvPr id="4" name="Segnaposto numero diapositiva 3">
            <a:extLst>
              <a:ext uri="{FF2B5EF4-FFF2-40B4-BE49-F238E27FC236}">
                <a16:creationId xmlns:a16="http://schemas.microsoft.com/office/drawing/2014/main" id="{062D93D4-39B9-D6F9-73BB-1D95DE23CB4C}"/>
              </a:ext>
            </a:extLst>
          </p:cNvPr>
          <p:cNvSpPr>
            <a:spLocks noGrp="1"/>
          </p:cNvSpPr>
          <p:nvPr>
            <p:ph type="sldNum" sz="quarter" idx="5"/>
          </p:nvPr>
        </p:nvSpPr>
        <p:spPr/>
        <p:txBody>
          <a:bodyPr/>
          <a:lstStyle/>
          <a:p>
            <a:fld id="{4C02FDB6-CFFD-422B-8A27-F953604C2C26}" type="slidenum">
              <a:rPr lang="en-US" smtClean="0"/>
              <a:t>16</a:t>
            </a:fld>
            <a:endParaRPr lang="en-US"/>
          </a:p>
        </p:txBody>
      </p:sp>
    </p:spTree>
    <p:extLst>
      <p:ext uri="{BB962C8B-B14F-4D97-AF65-F5344CB8AC3E}">
        <p14:creationId xmlns:p14="http://schemas.microsoft.com/office/powerpoint/2010/main" val="1094967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E907-8934-7DD5-FCB8-EC3DE9FCAC4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CF7C934-0F6F-54C2-E07F-7A50E9158E3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79A101A-3592-D95D-AD6A-070354C4E6AD}"/>
              </a:ext>
            </a:extLst>
          </p:cNvPr>
          <p:cNvSpPr>
            <a:spLocks noGrp="1"/>
          </p:cNvSpPr>
          <p:nvPr>
            <p:ph type="body" idx="1"/>
          </p:nvPr>
        </p:nvSpPr>
        <p:spPr/>
        <p:txBody>
          <a:bodyPr/>
          <a:lstStyle/>
          <a:p>
            <a:r>
              <a:t>SCRIPT: Disk RDEs with RMIT, ISAE-ENSMA and PPRIME: 3D URANS versus quasi-2D on the same disk configuration.</a:t>
            </a:r>
          </a:p>
          <a:p>
            <a:r>
              <a:t>[PROVENANCE] Host slide (Heister S17), invariant.</a:t>
            </a:r>
          </a:p>
        </p:txBody>
      </p:sp>
      <p:sp>
        <p:nvSpPr>
          <p:cNvPr id="4" name="Segnaposto numero diapositiva 3">
            <a:extLst>
              <a:ext uri="{FF2B5EF4-FFF2-40B4-BE49-F238E27FC236}">
                <a16:creationId xmlns:a16="http://schemas.microsoft.com/office/drawing/2014/main" id="{6047928C-13D0-07E0-E590-A74EF07110D3}"/>
              </a:ext>
            </a:extLst>
          </p:cNvPr>
          <p:cNvSpPr>
            <a:spLocks noGrp="1"/>
          </p:cNvSpPr>
          <p:nvPr>
            <p:ph type="sldNum" sz="quarter" idx="5"/>
          </p:nvPr>
        </p:nvSpPr>
        <p:spPr/>
        <p:txBody>
          <a:bodyPr/>
          <a:lstStyle/>
          <a:p>
            <a:fld id="{4C02FDB6-CFFD-422B-8A27-F953604C2C26}" type="slidenum">
              <a:rPr lang="en-US" smtClean="0"/>
              <a:t>17</a:t>
            </a:fld>
            <a:endParaRPr lang="en-US"/>
          </a:p>
        </p:txBody>
      </p:sp>
    </p:spTree>
    <p:extLst>
      <p:ext uri="{BB962C8B-B14F-4D97-AF65-F5344CB8AC3E}">
        <p14:creationId xmlns:p14="http://schemas.microsoft.com/office/powerpoint/2010/main" val="2701265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BE6CB-A7BB-C3FD-A303-DCB4997B21B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8FB779B-6751-0F52-D3E7-F3613E89E7F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9158C7F-1FD5-F6A6-B229-4CA6BE620C37}"/>
              </a:ext>
            </a:extLst>
          </p:cNvPr>
          <p:cNvSpPr>
            <a:spLocks noGrp="1"/>
          </p:cNvSpPr>
          <p:nvPr>
            <p:ph type="body" idx="1"/>
          </p:nvPr>
        </p:nvSpPr>
        <p:spPr/>
        <p:txBody>
          <a:bodyPr/>
          <a:lstStyle/>
          <a:p>
            <a:r>
              <a:t>SIGNPOST: agenda point 2 - the real RDE exhaust. SPEECH DUTY: read the open question aloud - 'Does an optimal profile exist for an RDE exhaust?' - as the question of the rest of this talk.</a:t>
            </a:r>
          </a:p>
          <a:p>
            <a:r>
              <a:t>SIGNPOST: agenda point 2 - the real RDE exhaust. SPEECH DUTY: read the open question aloud - 'Does an optimal profile exist for an RDE exhaust?' - as the question of the rest of this talk.</a:t>
            </a:r>
          </a:p>
          <a:p>
            <a:r>
              <a:t>SCRIPT: This slide closed the group deck; today it opens the main act. We have an in-house method-of-characteristics API - fully non-isentropic, three-wave, 2D and axisymmetric - with the ideal, Rao and Vander-Veen families implemented. And one open question: does an optimal profile exist for an RDE exhaust? Two published numbers say the stakes are real - four to seven percent of Isp on the choked-interface lever, and thirteen points of ideal from a shroud at fixed area ratio, unexplained by its own authors. The rest of this talk is the group's answer.</a:t>
            </a:r>
          </a:p>
          <a:p>
            <a:r>
              <a:t>[PROVENANCE - guard 15] '+4-7% Isp choked lever' -&gt; CH5 CT-1 (SYN:75-94): 'the largest published performance lever lives OUTSIDE the fixed-interface design class' - their numbers, CT-6; decider CFD-1. '58.1-&gt;71.5% at fixed AR' -&gt; Paxson-Miki [REP page-verified] (findings_registry:2026; CH3 forchetta row). The two extremes stay SEPARATE with their own anchors - the unadjudicated '4-13 points' composite is banned (WA_A3 critic row 2, DISPOSED-VERIFIED). Citations [3][4] on slide + Paxson-Miki added to the reference line.</a:t>
            </a:r>
          </a:p>
          <a:p>
            <a:r>
              <a:t>[GUARD 18] numbers on slide are physical/paper numbers (allowed); threat-ledger names (CT-1) live here only.</a:t>
            </a:r>
          </a:p>
        </p:txBody>
      </p:sp>
      <p:sp>
        <p:nvSpPr>
          <p:cNvPr id="4" name="Segnaposto numero diapositiva 3">
            <a:extLst>
              <a:ext uri="{FF2B5EF4-FFF2-40B4-BE49-F238E27FC236}">
                <a16:creationId xmlns:a16="http://schemas.microsoft.com/office/drawing/2014/main" id="{32290D2C-75E2-1338-4AB3-409AD911CB12}"/>
              </a:ext>
            </a:extLst>
          </p:cNvPr>
          <p:cNvSpPr>
            <a:spLocks noGrp="1"/>
          </p:cNvSpPr>
          <p:nvPr>
            <p:ph type="sldNum" sz="quarter" idx="5"/>
          </p:nvPr>
        </p:nvSpPr>
        <p:spPr/>
        <p:txBody>
          <a:bodyPr/>
          <a:lstStyle/>
          <a:p>
            <a:fld id="{4C02FDB6-CFFD-422B-8A27-F953604C2C26}" type="slidenum">
              <a:rPr lang="en-US" smtClean="0"/>
              <a:t>18</a:t>
            </a:fld>
            <a:endParaRPr lang="en-US"/>
          </a:p>
        </p:txBody>
      </p:sp>
    </p:spTree>
    <p:extLst>
      <p:ext uri="{BB962C8B-B14F-4D97-AF65-F5344CB8AC3E}">
        <p14:creationId xmlns:p14="http://schemas.microsoft.com/office/powerpoint/2010/main" val="2940773735"/>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For anyone new to detonation engines: a deflagration burns at roughly constant pressure - you pay a compressor for every bar. A detonation burns so fast the volume cannot follow: the burn itself compresses. On the p-v plane the detonation cycle encloses more work at the same pre-compression. That thermodynamic premium - pressure-gain combustion - is what the whole field is chasing.</a:t>
            </a:r>
          </a:p>
          <a:p>
            <a:r>
              <a:t>[PROVENANCE] Primer class: standard literature material already validated in the group's CVA lecture deck (figures of the house pipeline: fig_cycles_pv, fig_ucj_bar; every number in them traced to committed scripts in that pipeline). Zero new claims (v1 A6 NOTA CLASSE).</a:t>
            </a:r>
          </a:p>
          <a:p>
            <a:r>
              <a:t>[GUARD 18] cycle-efficiency numbers live in the figure annotations (physical numbers), none of our programme accounting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RDE traps that premium in a ring. The front rotates at nearly the Chapman-Jouguet speed - several kilohertz around a typical annulus - while injection refills continuously behind it. In the frame rotating with the wave the picture is steady. Keep that sentence: it is the seed of everything in the nozzle section.</a:t>
            </a:r>
          </a:p>
          <a:p>
            <a:r>
              <a:t>[PROVENANCE] Primer class, standard material validated in the CVA deck. Right figure: paper crop, full citation on slide, CT-6 (shown for discussion, not re-derived). The 'steady in the rotating frame' seed anticipates C8's exact-quotient claim - stated here only phenomenologically (fluency seeding, CKP-S2-4).</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(S4v2): Before the designs, one fact to hold. This exhaust is periodic, not steady: a detonation front rotates at kilohertz, and every quantity the nozzle sees swings within each cycle. The literature designs its nozzles by first replacing that flow with a steady time-average - every published route does. And the authors of the accepted average published the warning themselves: average the total pressure naively and you mis-state performance. Whether designing on ANY average is even the right problem - that is the question this section answers, formally. Keep it in mind for every slide that follows.</a:t>
            </a:r>
          </a:p>
          <a:p>
            <a:r>
              <a:t>[CKP-S3-2 wired] A6 MOVED from primer-3 to post-B1 hinge (user order at the Block-1 loop: in the primer the averaging warning had no visible link; here it is the bridge into the nozzle section - declared deviation from v3.1 slide order, BUILD_LOG).</a:t>
            </a:r>
          </a:p>
          <a:p>
            <a:r>
              <a:t>[PROVENANCE - guard 15] 'EAP caution by the metric's own authors' -&gt; CH1-feed-5 + CH5-feed-7, [IO] remark of record, M0:2526-2544. 'No error bar on the mean' -&gt; CH1-feed-7 NOT-FOUND(q) (search-proven; wording lives here). 'Our programme constructs it' -&gt; P4 corrector (FD-1: sigla here only; owner F2). CT-6 citation on slide. 'Every design route starts from an averaged flow' -&gt; C3/C3-bis record (declared anticipation, resolved two slides later).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(S4v2, absorbs C7): Does the averaging matter? Check it on the literature's own data - same solver, paired runs. The steady, average-designed companion differs from the periodic flow; the steady curve is flat exactly where the true flow has a real optimum at forty percent truncation and a real cliff at eighty - the true optimum is invisible to the curve the literature designs on. And the ranking of five cowl-and-spike settings inverts between the two. Numbers on the slide: plus half a percent at the peak, minus five point eight at the cliff. No published work quantifies this error. The literature itself has reached the honest verdict: classical maximum-thrust theory is - their word - 'approximately' applicable: sizing is supported at the one-percent level, but WHICH geometry is best is open. Quantifying that adverb is this programme.</a:t>
            </a:r>
          </a:p>
          <a:p>
            <a:r>
              <a:t>[S4v2 MERGE] C7 verdict band absorbed as step 3 (C7 full quote card in backup); 'approximately'/sizing-vs-ranking anchors = C7's notes (CH5-feed-3, [REP] quote page-verified; sizing ~1% [REP] Paxson-Miki 6.54 vs ~6.5).</a:t>
            </a:r>
          </a:p>
          <a:p>
            <a:r>
              <a:t>[PROVENANCE - guard 15] Fig.15/Fig.13 -&gt; CH5-feed-2 ([ADV], CT-6, page-verified pp.10-11); Fig.16 feedback -&gt; CH5-feed-4 ([ADV-FIG], threat CT-1 adjacency). GUARD 17 (binding, user pin CKP-S2-1): NO decoupling/one-way-BC claim without the choking condition stated - upstream decoupling only under convergent pre-throat AND fully sonic/supersonic throat along cycle and azimuth; subsonic patches (even throatless) are the information channels upstream - binds the spoken line and every Q&amp;A answer on this slide. Their steady companion is GLOBAL-averaged - cruder than our per-phase (honesty note, spoken if asked).</a:t>
            </a:r>
          </a:p>
          <a:p>
            <a:r>
              <a:t>[GUARD 18] paper numbers on slide (allowed); threat ids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DUTY (F-10): stop and read the theorem band verbatim; then give the room its take-away: 'the cycle-optimal nozzle is optimal at no single operating point'.</a:t>
            </a:r>
          </a:p>
          <a:p>
            <a:r>
              <a:t>SPEECH DUTY (F-10): stop and read the theorem band verbatim; then give the room its take-away: 'the cycle-optimal nozzle is optimal at no single operating point'.</a:t>
            </a:r>
          </a:p>
          <a:p>
            <a:r>
              <a:t>SCRIPT: The heart slide. Left, the field's route - including the best of those four papers: collapse the cycle into one mean field, then apply to it the steady optimality conditions of the fifties. You solve the optimum of a SUBSTITUTE. Right, ours: keep the phases separate as a family sharing one wall, define the cycle-averaged thrust functional, and derive ITS optimality conditions - transversality and corner conditions, averaged. To our census, never written. And the theorem that decides it: no single phase satisfies its own wall condition - the weighted mean does. The cycle-optimal nozzle is nobody's single-point optimal nozzle.</a:t>
            </a:r>
          </a:p>
          <a:p>
            <a:r>
              <a:t>[PROVENANCE - guard 15] Ladder I4 vs I2/I3 -&gt; CH1-feed-1; '(**') weighted-mean wall condition necessary; no phase satisfies its own' -&gt; CH2-feed-1 (THEOREM* T-T7FS(b)); boxed warning (substitute problem) -&gt; CH1-feed-4; 'three ways to average, one survives; collapse class' -&gt; CH2-feed-2 (THEOREM* [T-T3], degenerate case = pressure-scaling similarity class). 'Never written' -&gt; litmap C2 NOT-FOUND(q) 'averaged Rao-type wall/corner conditions - zero hits' (query-bounded, guard 9).</a:t>
            </a:r>
          </a:p>
          <a:p>
            <a:r>
              <a:t>[GUARD 18] class sigle (THEOREM*, ids) and 'zero hits' in notes only; on-slide says 'proven / never written before' in plain engineering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Honesty about where this is a theorem. Rung one: no contouring, only the area ratio - not a Rao nozzle - there the two problems coincide by construction; and even there, using the wrong mean moves the optimum area ratio by up to eighty-seven percent and costs up to ten seconds of Isp, measured on our numerical test bench with rejecting checks. Same pattern as Humphreys: mobile argmax at flat value - a pattern, not the proof of the general case. Full adapted plug: still coincide - peak-phase design is optimal, perimeter declared. Truncated plug - OUR configuration: the coincidence breaks, proven, and the first genuinely averaged shape problem opens. Its size at contouring is open, the record does not call it small, and no expectation of smallness is anywhere in our records. The machine is ready; that comparison is the first campaign of the phase opening now.</a:t>
            </a:r>
          </a:p>
          <a:p>
            <a:r>
              <a:t>[PROVENANCE - guard 15] Coincidence/breaks map -&gt; CH1-feed-3 (THEOREM [T-T7RED] rung; THEOREM* [T-T4] nesting + break; sharpness clause declared); primacy claims in locked form D-06 -&gt; CH1-feed-10 (notes+Q&amp;A only). Bench inset -&gt; CH2-feed-3 (PRACTICE with rejector; dIsp +3.33..+9.71 s on 6 cases, carrier suite, measured 2026-08-22; stage: verified). Cycle-wall 2-D -&gt; CH2-feed-8 (OPEN, owner F2). Strictness clause -&gt; CH6-feed-8 (carrier PB-2 OPEN). Excursions 10:1/6:1/20:1 -&gt; CH5-feed-9 (CT-6, their BCs/data). Panel quote -&gt; swirl5f panel of record ('single-digit % plausible on-ray, &gt;10% not excluded off-ray; could be large - not refutable by theory today').</a:t>
            </a:r>
          </a:p>
          <a:p>
            <a:r>
              <a:t>[GATE DECISION WIRED] Twin PB-2 = (b) honest form (user decision of record, S2 gate): NO pre-milestone number; the slide carries 'machine ready, first campaign of the phase opening now' - the bifurcation declared at the S2 gate is RESOLVED here; C17's twin card carries the same form.</a:t>
            </a:r>
          </a:p>
          <a:p>
            <a:r>
              <a:t>[GUARDS] 2/3 wired in the panel-1 wording (pattern-only, never '1-DOF nozzle case'); FD-5(i) wired ('numerical test bench'). Guard 18: 'PB-2', class sigle here 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(rebuilt per CKP-S3-5(d) - explain, not enumerate): Imagine two inlet flows and one pressure gauge. The gauge reads exactly the same for both. But one flow goes straight in and the other arrives swirling - and they give different thrust, because swirl carries momentum the gauge cannot see. No CFD run is needed to establish this: it is a counting argument on the states compatible with one pressure trace. Consequence: any design method fed only pressure at the boundary cannot rank designs - the boundary must carry the full state: pressure, temperature, all velocity components. Stakes: one-and-a-half to three percent of thrust. Feasibility - and this matters: taking the CHAMBER state and imposing it at the nozzle inlet is established field practice. NASA recorded a full periodic state - total pressure, total temperature, velocities, species - from their Q2D chamber code and replayed it as the nozzle inlet condition (Miki 2020); the same architecture drives the shrouded-plug redesign of Paxson and Miki 2022; Harroun imposes an analytic pressure-only law. We stand on that practice with two upgrades: the data must be FULL-state (exactly what pressure-only imposition throws away), and it enters through a contract with rejecting checks instead of being fed in unaudited. And the source is in house: our group's validated Q2D chamber solver - the one shown in the code section - produces precisely this class of data.</a:t>
            </a:r>
          </a:p>
          <a:p>
            <a:r>
              <a:t>[PROVENANCE - guard 15] Fiber non-degeneracy + separation -&gt; CH3-feed-3, REPAIRED FORM of record (REFUTE_CH10 F1, classes PER LEG): T-DISC-1 THEOREM* (fibers non-degenerate); T-DISC-2 split-grade SCOPED (in-fiber separation, booking-level, physical-h0-fixed); T-DISC-3(b) SCHEMA with premise (DR) - never bare 'THEOREM'. Exoneration -&gt; CH10-feed-5 (T-DISC-4(b) SCHEMA). Stakes 1.5-3% / up to 9% -&gt; [SE] scaling estimates (M0:1140-1151; swirl5f B1/B2). Weights -&gt; CH7-feed-2 ([SE]). Imposed-BC precedent -&gt; CH10 lineage LL-24 (Miki 2020 = operative ancestor: recorded Q2D limit-cycle replayed as unsteady inlet BC, THROAT_HARVEST A.6 [REP p.5]); LL-5 (Paxson-Miki 2022 same architecture, 'unsteady (but periodic) inlet boundary condition', radially uniform, A.8); LL-6 (Harroun Eq.7 analytic p-only end-member, A.5). In-house Q2D source = host credential A9 (HYPERDE Q2D, V&amp;V A10-A13); capability claim is CLASS-level (same data class as Miki's Q2D source), no campaign promised - user order 2026-08-23 in-window (S4 lot 2).</a:t>
            </a:r>
          </a:p>
          <a:p>
            <a:r>
              <a:t>[GUARD 18] internal names (T-DISC legs, LL-*, harvest ids) live here; on-slide only author-year forms.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agenda point 4 - the design machine.</a:t>
            </a:r>
          </a:p>
          <a:p>
            <a:r>
              <a:t>SIGNPOST: agenda point 4 - the design machine.</a:t>
            </a:r>
          </a:p>
          <a:p>
            <a:r>
              <a:t>SCRIPT: The machine, end to end. Engine data give the cycle at the interface - one state per phase. We form the cycle-averaged thrust of the shared contour: that integral IS the objective. A fast supersonic march solves each phase. Then the adjoint - and here is why: ONE extra backward solve returns the exact gradient of the objective with respect to ALL wall parameters at once; it is Hoffman's 1967 multiplier fields, made exact for the discrete problem (identity verified at machine precision). A trust-region Newton with measured curvature updates the contour - robust where curvature is irregular, with steps you can certify. And nothing ships alone: independent checks that can reject, error bars attached. Iterations take seconds.</a:t>
            </a:r>
          </a:p>
          <a:p>
            <a:r>
              <a:t>[CKP-S3-3/-4 wired] C13-pre MERGED here (user cut order): its four concepts (adjoint / discrete-exact / optimizer / certificate) live in the flow blocks and this script; its provenance rows absorbed below. Status-graphs -&gt; backup only.</a:t>
            </a:r>
          </a:p>
          <a:p>
            <a:r>
              <a:t>[PROVENANCE - absorbed from C13-pre] reverse-AD = transposed adjoint -&gt; CH9-feed-4 (THEOREM T-LEMB; mesh-limit SCHEMA S-LBML); continuous-first / per-role AD -&gt; CH2-feed-5 (C56 CLOSED; O3.1 PRACTICE); optimizer adjudication -&gt; C31 card (full card in backup).</a:t>
            </a:r>
          </a:p>
          <a:p>
            <a:r>
              <a:t>[PROVENANCE - guard 15] 62 typed choices, tally 12 DECIDED / 36 MIXED / 12 NEVER / 2 SINGLE-AUTHOR, 48 adjudicated -&gt; CH4-feed-1 ([REP]; the WHOLE tally lives here and in backup, never on slide - CKP-S2-3). STATUS SEMANTICS of record (choice_ledger.yaml:20-27, user challenge 2026-08-23): DECIDED = converged-panel/constructional/measured verdict (12); MIXED = operative branch DECIDED, a sibling branch NEVER (36) - so rows with a convergence-adjudicated branch = 48 (12+36), never say bare '12 decided' as the machine's state, and never 'each with alternatives+falsifier' (the 12 NEVER rows are open, owner+trigger). 'No rejecting chain in the field' -&gt; CH9-feed-8 (NOT-FOUND(q), query-bounded - wording here). Graph = extracted from pipeline_graph.json, assert-gated 18/18 at build (DERISK §1-§4; C46 footnote on render; never hand-typed). CH4 W2-R2 form preserved in the document for retro-audit (WA_A3 critic 3).</a:t>
            </a:r>
          </a:p>
          <a:p>
            <a:r>
              <a:t>[GUARD 18] tally numbers and NOT-FOUND(q) here 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Before trusting a machine where no benchmark exists, ask it to pass the benchmark that does. On the classical maximum-thrust problem - the reduced case - our optimizer, by a route completely independent of Rao's construction, finds Rao's contour: maximum deviation two parts in a thousand of the throat radius, inside the error band we derived from the cross-code comparison. The picture is ours, of record. This is the credibility bridge: the method goes where Rao cannot, standing on a machine that reproduces Rao where he can.</a:t>
            </a:r>
          </a:p>
          <a:p>
            <a:r>
              <a:t>[F-6] On-slide figure = fig_c13val_clean.png: presentation relabel of the record figure (title + legend text plain-English; internal ids GENO/S18/K_RICH and the 91/91 count moved here; DATA PIXELS UNTOUCHED - relabel script relabel_c13val.py, declared in BUILD_LOG).</a:t>
            </a:r>
          </a:p>
          <a:p>
            <a:r>
              <a:t>[PROVENANCE - guard 15] Source figure = validation/brick2_profiles_record.png, record run S18 [X-TOCV] (carrier validation/PROGRESS_2026-08-06_S18_brick2run.md). Run verification counts (oracle 91/91, KKT vs derived threshold) live HERE, not on slide (guard 18). Used AS-IS (record figure; light restyle only if visual QA demands, no regeneration outside contract - BUILD_LOG decision).</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 rework): This is our error budget: every source of error we know, its best and worst case, and how each number was obtained - a theorem, an order estimate, or a published datum. Start with the two rows that have no number yet: for the jumps at the wave fronts, the derivation that will produce the number is already laid out; for the shift of the optimum, the measurement is in the plan two slides ahead. These sources do not add into a single figure - they are different physics at different confidence levels - so the summary is a band: best case, with weak swirl, single-digit percent overall is plausible; with strong swirl, more than ten percent is not excluded. One computed case of ours gained +0.51 percent - and the uncertainty on that figure is about thirty percent of the value itself, relative, so read it as roughly half a percent, not as a promise of more. And that case sits in a design class where the certification boundary binds before the periodic physics can differentiate the contours - a property of that class, measured as such, not a ceiling of the method: at the simplest rung the wrong mean already moves the optimum area ratio by 44 to 87 percent, worth 3 to 10 seconds of Isp. For scale: Rao's classical method is credited with 0.04 to 0.34 percent - their numbers, in their regime. The largest published signal in the adverse direction: Paxson and Miki, 2022, add a shroud at fixed area ratio and the plug gains thirteen points of ideal - unexplained by the authors; if swirl content is doing that, it is exactly the worst row of this table. And note what the literature does not contain: no published benchmark separates a phase-averaged prediction like ours from the true unsteady three-dimensional flow. So nobody else can settle this table for us - the measurements that fill it are ours to make, and they come next.</a:t>
            </a:r>
          </a:p>
          <a:p>
            <a:r>
              <a:t>[PROVENANCE - guard 15] Table cells -&gt; CH3-feed-4 (classes per cell, forchetta §; CH7 PART 5 headline :1731-1743): mean channel THEOREM* (K-bar=0, perimeter H-RED-2); swirl-thrust row (was 'booking debt', plain-word relabel, same 1.5-3% [SE]); input bias 0.6-9% p [SE]+lit; wave-front jumps (was 'heel') delta/L_H UNDERIVED -&gt; CH3-feed-5 (SCHEMA + derivers named: five-field -&gt; route-B -&gt; M-RED -&gt; R22-CFD - the 'derivation planned' cell; NO forward pointer to the plan slide for this row); 'Designing the nozzle alone' (was 'sizing level', same ~1% [REP], substitution reading cross-consistent with C17 card 3); optimum-shift row -&gt; C17 card 2 head-to-head (:1506), the only row resolving there. +0.51%+-~30% -&gt; CH1-feed-9 (band-underinclusion declared; +-30% RELATIVE, said in script). Class-diagnosis sentence -&gt; [C-O33] quantified, cause = design class (cert-limited, margin inactive; 3 instances S20/S22/S24 of record; M0 tier ladder) - context weld, weakens the small number's reading, adds no claim; rung-1 44-87% / 3-10 s -&gt; CH2-feed-3 (PRACTICE with rejector, same anchor as C7-ter panel 1). Rao 0.04-0.34% their numbers (CT-6). No-benchmark bullet -&gt; CH5-feed-10 + CT-3 STRICT form: no published referee THAT DISCRIMINATES the per-phase-averaged prediction against 3D-unsteady truth (restrictive clause on-slide: 'this prediction ... from the true unsteady flow'). Conditional spine C-D25U -&gt; CH2-feed-7 (here only). Guard 6 / D-44: the slide shows a band, never claims adequacy.</a:t>
            </a:r>
          </a:p>
          <a:p>
            <a:r>
              <a:t>[S4 BUDGET NOTE] honesty_table sits near the ~100 declared cap after trims - measured at build; exemption declared in BUILD_LOG if exceeded, never silent.</a:t>
            </a:r>
          </a:p>
          <a:p>
            <a:r>
              <a:t>[GUARD 18] class sigle/registry ids here; table uses plain words only.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 rework): This is the measurement plan, and the order is the content: four steps, each with its two possible outcomes and what each outcome triggers - fixed now, before any data arrive. Step one, the cheapest: measure the residual - take nozzle families the machine has already solved and checked, put them back into the full phase-averaged equations, and read how much is missed. Small residual: the error bars tighten and the family is promoted with a stated bar; large residual: it names which error source dominates - either outcome is informative, and it also builds the referee that the literature does not contain. Step two, the head-to-head - the reason this programme exists: our per-phase design against the classical variational design built on cycle-mean stagnation pressure and temperature, identical constraints, swirl bracketed out - does the optimal contour move, and how much thrust does the difference carry? Today no such number exists, on any side; a material gap pays for the method, a small gap proves standard practice right at that rank and we would be the first to prove it - both results are publishable. Step three: a paired simulation of the same nozzle with and without the combustor coupled, on the kind of template the field already uses - it prices what we give up by designing the nozzle alone. If the literature's roughly one-percent estimate holds, that row of the error table stands; if it is exceeded, the big reference run moves up the queue. Step four, the largest: a twelve-million-cell unsteady reference simulation - the benchmark the field lacks; today we choose only how to procure it, partner or purchase - whether to commit the run is decided after step one. One distance we can measure entirely in-house - ours against the time-averaged design; the other - the distance to the true three-dimensional optimum - no one can compute, so we bound it. And the stop criterion is fixed in advance: if the measured gain falls below about one percent of Isp, we stop pushing performance and pivot to certification and operability. The campaign has just opened: none of these results is promised as acquired.</a:t>
            </a:r>
          </a:p>
          <a:p>
            <a:r>
              <a:t>[S4 HEAD-TO-HEAD FORM] card 2 comparator = atlas CH6 :440 (I4 = Rao/GENO design on cycle-mean (&lt;Pc&gt;, T0, gamma)) + :490 (twin PB-2 at IDENTICAL constraints: same eps, L, closure); 'ZERO computed instances' of the comparator in the record (CH6 :712). Twin-first = kill-or-validate (CH6 :223-225). Internal names (I4, twin PB-2) here only.</a:t>
            </a:r>
          </a:p>
          <a:p>
            <a:r>
              <a:t>[GATE DECISION WIRED] Twin (b): card 2 reads 'first campaign' - NOT 'if ordered'; consistent with C7-ter and the backup open-decisions slide.</a:t>
            </a:r>
          </a:p>
          <a:p>
            <a:r>
              <a:t>[PROVENANCE - guard 15] Order of the four steps -&gt; CH6-feed-9 (on-slide word 'roadmap' dropped, order kept); G2 value gate -&gt; CH6-feed-6; value condition armed-rejector, today undecidable -&gt; CH6-feed-7 (D-44 gated; 'consequences fixed before the data' = plain form of the pre-registration of record); M-RED derived bands B-1..B-4 -&gt; CH3-feed-6; twin kill-or-validate both-informative -&gt; CH6-feed-4; B-lite cheap lever -&gt; CH3-feed-10 + CH1-feed-8 (notes only). Card 4 'inside its band -&gt; the error band closes' = Guard 6 / D-44 form (band closure, never a validation verdict). Internal names (M-RED / CFD-2 / CFD-1 / twin PB-2 / I4) live HERE; slides carry speaking forms (guard 18).</a:t>
            </a:r>
          </a:p>
          <a:p>
            <a:r>
              <a:t>[GAP-LETTERS MAP - FD-4/CW-4, S4 UPDATE] Gap letters A/B appear NOWHERE on slide or in speech anymore (S4 rework): band 1 says the two distances in words ('ours vs time-averaged' / 'the true 3D optimum'). Historical namespace (A = distance to true 3D optimum; B = ours vs mean-state) kept HERE for Q&amp;A cross-reference only; C17-pre's frame letters are inverted vs this namespace - always words, never letters.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backup section begins (S4 order: main-only numbering; backup slides carry B-n).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1.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2.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3.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4.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5.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6.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7.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L1 graph, stage 8. Populated from pipeline_graph.json (assert-gated extraction, never hand-typed). Stage 6 carries the 3-panel split of record (DERISK §3.1); long-range edges E9/E28/E29 stub-labelled (DERISK §5). Serve on drill-down questions about the machine; L2 card slides follow.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(CH1-feed-6).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(CH2-feed-4).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(CH3-feed-8).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(CH9-feed-9).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(CH10-feed-8).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L2 node card (CH4-feed-9 + CH4-feed-1). Declared to-backup consumption of the storyboard join table [F-des-4]: this card is the landing site of a feed consumed at backup-with-reason. Compression is cite-only from the atlas/pipeline_graph fields (≤40 words per field). Q&amp;A mapping to be refined by the Block-2 red-team pass (edits, never silent drops).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FORCHETTA (6 rows, verbatim cells with classes) -&gt; CH3-feed-4 / CH7-feed-4 (CH7 PART 5 of record, :1458-1743 anchors). Cells carry bound-or-estimate declared + class + provenance + 'what tightens it'. Serve when C11 highlights are challenged; also home of C2/C12 integral versions if cut from main.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Reuse manifest -&gt; deck_build/FIGS_MANIFEST.md (crops, full citations, CT-6 standing rule) + host-pipeline provenance discipline (validate_reused_figs pattern). Serve on any figure-rights / provenance question (audit criterion (e)).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Annex-B ladder moved from C18 (F-4: three asks = three cards; ladder legibility). Source: CH10-feed-1 specs ladder; entry gate G6 loud-reject (never exercised - said in C18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plan for the hour: the group and its tools; then one research line in depth - what the RDE exhaust really is, how we formulate its design problem, the machine we built for it, and an honest account of limits; we close with three concrete requests.</a:t>
            </a:r>
          </a:p>
          <a:p>
            <a:r>
              <a:t>[CKP-S3-2 wired] A2 = agenda only: no per-section minutes, no group-intro repetition (A3 does that better), no nozzle emphasis in the intro (user order at the Block-1 loop, 2026-08-23; supersedes the v3.1 mini-map-with-minutes form - declared deviation, BUILD_LOG).</a:t>
            </a:r>
          </a:p>
          <a:p>
            <a:r>
              <a:t>[PROVENANCE] Ask preview -&gt; MESSAGE_ARCHITECTURE §BLUF (asks return decision-ready in C18).</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Start from what the exhaust actually is. Freeze time: a rotating oblique shock, a helix through the nozzle - Jourdaine's Fig. 9. Average over a cycle: a clean, steady-looking axisymmetric plume - their Fig. 4. Both pictures are true; they are different fields. And the large figure shows a THIRD field: on its right panels, not the time-average but the reference STEADY state - the flow the field actually designs on. Keep the three apart: instantaneous, time-averaged, steady-equivalent. Four independent codes show the same phenomenology.</a:t>
            </a:r>
          </a:p>
          <a:p>
            <a:r>
              <a:t>[USER CATCH 2026-08-23 - source-verified] P-C Fig.10 caption verbatim (pdf p.9): 'Mach numbers ... for transient (left) and reference steady states (right)' - the right panels are the STEADY COMPANION, not a time-average. Slide caption and bullets repaired accordingly; P-D Fig.4 caption verbatim: 'Time-averaged exhaust flow structure' (true average), Fig.9: instantaneous internal flow. FINDING vs frozen atlas (pending mint at R3 close, BUILD_LOG): CH5 §1 lists P-C Fig.10 among the 'istantaneo vs medio' dichotomy instances - at source it is transient-vs-reference-steady; P-B Fig.14 likely same class (to check at mint).</a:t>
            </a:r>
          </a:p>
          <a:p>
            <a:r>
              <a:t>[PROVENANCE - guard 15] Dichotomy instances -&gt; CH5 §1 anchors (with the correction above); class [ADV], CT-6 (their figures, full citations on slide). Convergence: 4-paper campaign, 0 BREAK (S-FOUNDATIONS-C4).</a:t>
            </a:r>
          </a:p>
          <a:p>
            <a:r>
              <a:t>[GUARD 18] no process language on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 rework, user order): Here is what the nozzle actually receives, in the field's own data. Not just a pressure trace: EVERY quantity varies across the cycle - total pressure four to one, total temperature by forty percent, axial Mach from zero-point-eight-five to one-point-three. And look at the sonic line: it is corrugated - subsonic and supersonic bands COEXIST at the same station; 'choked' is an average statement, not a uniform state. Whether any subsonic band survives depends on the geometry AND the operating point: at high stagnation pressure and mass flow the interface tends fully sonic-supersonic even WITHOUT a physical throat - the published NASA shrouded-plug case has no chamber throat and is supersonic at every phase (M 1.1-1.4) - while a low-contraction case keeps subsonic bands even when effectively choked, and a hard throat on a micro-scale chamber can drive the whole chamber subsonic with shocks running back upstream. No published study sweeps that transition - so our data contract MEASURES the phase-resolved Mach sign at the interface instead of assuming it, and we design at the station that is axially supersonic with margin, downstream of the heat release.</a:t>
            </a:r>
          </a:p>
          <a:p>
            <a:r>
              <a:t>[PROVENANCE - guard 15] All-quantities spread + sonic corrugation -&gt; KP18 Table 1 / Fig. 6 (THROAT_HARVEST A.7 [FIG/REP]: Pt 4.07/0.67/1.43, Tt 41%, Mx 0.86-1.33, sonic line crossed twice; 'both subsonic and supersonic portions' verbatim p. 10). Operating-point discriminator -&gt; harvest B(c) operational monitor (i): 'configuration-dependent, must be measured, not assumed' (KP18-F6 yes-subsonic at low contraction vs PM22-F3 no-subsonic, throatless, M 1.1-1.4 at all phases, A.8 [REP/FIG]); high-p0 tendency SUPPORTED not proven: Jourdaine OPEN config 'principally sonic or supersonic' vs CHOKED micro config chamber 'mainly subsonic' + upstream reflected shock (A.1 [REP]); Liu M_t=1.0 even throatless = ASSERTION of record (A-L6, A.2). No sweep of the transition = gap G6/G7 (search-proven, harvest D). Guard 11: design interface = margin station per L4-DEFAULT, NOT the geometric throat; subsonic patches = declared case-class (D1 4.3bis O1-O4). CT-6: on-slide numbers are figure/table readings with author-year captions, no band inputs.</a:t>
            </a:r>
          </a:p>
          <a:p>
            <a:r>
              <a:t>[GUARD 18] harvest ids, 'search-proven', class names in notes only.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four published design routes, each with its own plot. Peking University: an Angelino-style ramp built on averaged flow. Nanjing: classical maximum-thrust surfaces - Rao, Vander Veen - fed with averaged inflow. KIT and Aoyama: a cone, declaredly not optimized. NASA Glenn: manual, CFD-guided redesign. All legitimate engineering - and none closes the loop: the best of a sweep is not an argmax.</a:t>
            </a:r>
          </a:p>
          <a:p>
            <a:r>
              <a:t>[PROVENANCE - guard 15] The 4 methods -&gt; v1 C3 rows + CH5 §1 (P-A/P-B/P-D/NASA-Glenn method attributions, id registry verbatim: PKU liu_2022; NUAA li_xu_lv_lv_song_2023; KIT/Aoyama jourdaine_2019; NASA-Glenn paxson_miki_2022). Best-of-sweep != argmax rule -&gt; CH8-feed-5 (guard 8: sweep numbers presented as certified best-of-sweep, never global optimum without M1-M5 mechanism). Guard 4: field ALWAYS instantiated (PKU/NUAA/KIT-Aoyama/NASA-Glenn named, never 'the field' bare). CT-6 on all four crops.</a:t>
            </a:r>
          </a:p>
          <a:p>
            <a:r>
              <a:t>[GUARD 18] guards cited here, not on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Sharper: who optimizes what. Nanjing deserves precision: that work DOES use classical variational calculus - what is missing is the optimization of the true problem. The two nearest works outside the quartet: Kraiko-Egoryan's ideal bound - a bound, not a design - and Levin's direct search without optimality conditions. Our central claim, within a systematic census: nobody poses the optimum on the real exhaust, and nobody prices the substitution.</a:t>
            </a:r>
          </a:p>
          <a:p>
            <a:r>
              <a:t>[PROVENANCE - guard 15] Central claim -&gt; CH5-feed-1, BINDING FORM WB1-C3-10 (never bare 'nobody optimizes'; ISABE [SE] caveat lives here, recallable aloud: ISABE-2003-117 near-miss named in litmap; claim query-bounded per guard 9 - three adversarial passes, G5 residual declared). P-B caveat -&gt; CH4-feed-8 ([ADV]+[REP]: absorbed in the table cell 'does use variational calculus'). No globality mechanism in the four -&gt; CH8-feed-6. Nearest neighbours -&gt; v1 C3-bis (Kraiko-Egoryan 2020 bound; Levin et al. 2010 direct search).</a:t>
            </a:r>
          </a:p>
          <a:p>
            <a:r>
              <a:t>[GUARD 18] 'NOT-FOUND(q)/query-bounded' wording in notes only; on-slide phrasing = 'as far as a systematic census allows us to verify'.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fragility is not new. Nineteen seventy-one, Humphreys: change nothing but the base-pressure closure and the optimum moves by a factor two point four five, while the value moves a quarter of a percent. Flat value, mobile argmax - exactly the regime you just saw in the modern plots. The same closure - Veen's equation nine IS Humphreys' five-one - is still in today's papers, and the AGARD-class working group that re-evaluated it called it unreliable. And the RDE case is not hypothetical: the only hot-fire base-pressure data in the field - Harroun, Purdue - sit at zero-point-five-nine atmospheres where the steady-equivalent computation at the same mass flow says zero-point-nine-five: roughly an eightfold increase in base drag, with five hot fires following the detonation-wave curve. The mechanism is the RDE's own ejector action: the wave replenishes faster than the base region can adjust. So the closure is fragile AND the RDE sits far from where the inherited steady closure was calibrated - which is exactly why we refuse to let an uncertified closure pick the argmax.</a:t>
            </a:r>
          </a:p>
          <a:p>
            <a:r>
              <a:t>[FIG ADD - user order 2026-08-23] Harroun Fig.13 on-slide: base pressure vs radius, constant-pressure CFD (solid) vs detonation-wave CFD (dashed) + 5 hot-fire tests following the RDE curve - the visual for the 0.59-vs-0.95 bullet (crop harroun_fig13_base.png, journal p.667, CT-6 full citation on slide).</a:t>
            </a:r>
          </a:p>
          <a:p>
            <a:r>
              <a:t>[PROVENANCE - guard 15] x2.45/+0.26% -&gt; CH5-feed-8 ([REP] primary source, pages verified 1586-87; WG10-FAILED verdict on the Veen-fit closure, choice_ledger:830 evidence note). Contract unimodality -&gt; CH8-feed-7 (target M3 mechanism; CT-6 on their numbers). Harroun 0.59-vs-0.95 atm / ~8x base drag / 5 hot fires on the detonation-wave curve / ejector mechanism -&gt; BASE_PRESSURE_HARVEST_c4.md:79-92 [ADV-CFD, experimentally refereed; atlas H21-F12/F13], Harroun-Heister-Ruf JPP 37(5) pp.666-667 page-verified. CAVEAT (binding, BPH:100-105): the departure is CONFIGURATION-DEPENDENT - Schwer et al. (AIAA 2018-4968) found NO substantial steady-vs-RDE base difference on a truncated airbreathing aerospike; Harroun attributes the disparity to feed pressure, wave strength, plug area ('an area demanding more focused study'). The datum is NOZZLELESS rocket-condition: it does not transfer to truncated plugs even directionally without the analogy label (R8: no hot-fire base measurement on truncated plug exists - our procurement ask). If asked 'so RDE base pressure is always lower': answer with the Schwer counter-finding, never overclaim.</a:t>
            </a:r>
          </a:p>
          <a:p>
            <a:r>
              <a:t>[AUTHORING ENRICHMENT - declared] This Harroun link was added at authoring (S3 window, user catch 2026-08-23): the storyboard C5 join (CH5-feed-8 + CH8-feed-7) did not carry it; anchored to the committed harvest (b3da86d), consumed here because C5's argument (closure moves argmax) is load-bearing exactly where the RDE-vs-steady base departure is measured.</a:t>
            </a:r>
          </a:p>
          <a:p>
            <a:r>
              <a:t>[F-19] Third bullet moved to speech: 'this is why our design contract demands unimodality of the working variable, not flatness' - the flatness-to-fragility link is spoken, not printed.</a:t>
            </a:r>
          </a:p>
          <a:p>
            <a:r>
              <a:t>[GLOSS - FD-3] 'truncated plug' = plug nozzle with the spike cut at a declared fraction of full length (the programme's configuration, default cut 0.20); 'working variable' = the scalar design variable swept in that family (the truncation/area parameter the contract monitors) - gloss at first use, design space proper arrives in C8-bis.</a:t>
            </a:r>
          </a:p>
          <a:p>
            <a:r>
              <a:t>[GUARD 18] closure names (Veen Eq.9/Humphreys 5.1, WG10) spoken, kept off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We are not inventing a genre; we inherit one. Rao fifty-eight - the optimal contour where the control surface itself is an output. Hoffman sixty-seven - multiplier fields along the characteristics: the adjoint before the name existed; you will meet those fields again inside our machine. Allman-Hoffman for the direct route; the Kraiko-Tillyaeva school for the field adjoint with non-uniform vortical inflow. And the ancestor we always cite: Kraiko-Osipov nineteen-seventy, a wall weighted in time - missing the cycle measure, the quotient and the certificates. We extend this line to the periodic system. One Russian 1975 paper is still in procurement: we say so and do not summarize what we have not read.</a:t>
            </a:r>
          </a:p>
          <a:p>
            <a:r>
              <a:t>[PROVENANCE - guard 15] K-O 1970 mandatory citation -&gt; CH2-feed-6 (LL-1, ADJUDICATED); classical school -&gt; CH5-feed-6 (LL-7/14/27); Tillyaeva 1975 -&gt; CH7-feed-6 PENDING-PROCUREMENT (honest form on slide). Lineage claims ONLY from LINEAGE_LEDGER (guard 10; lint 7). 'No family-averaged classical contouring found' = query-bounded (guard 9) - wording lives here.</a:t>
            </a:r>
          </a:p>
          <a:p>
            <a:r>
              <a:t>[GUARD 18] LL-ids and 'query-bounded' in notes only.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agenda point 3 - our formulation.</a:t>
            </a:r>
          </a:p>
          <a:p>
            <a:r>
              <a:t>SCRIPT: After that chain, read the field's own conclusion - verbatim: approximately applicable. No error bar accompanies the adverb, and in the whole literature the validity regime of the average used for design is never priced. Our thesis in one line: approximately is an adverb to be quantified. Two levels: at sizing, the error is about one percent - supported. At ranking between geometries - fractions of a point, where design decisions live - the question is open, and nobody today can answer it. This talk is about building the instrument that can.</a:t>
            </a:r>
          </a:p>
          <a:p>
            <a:r>
              <a:t>[PROVENANCE - guard 15] Verbatim quote -&gt; P-C p.11/16 concl.(3) (page-verified [IO]); 'regime never priced' -&gt; CH1-feed-7 (NOT-FOUND(q), search-proven; K-O footnote unpriced) + carrier :178-180. Level-1 sizing ~1% -&gt; [REP] (Paxson-Miki 6.54 vs ~6.5, CH3 forchetta row (v)); Level-2 ranking threshold -&gt; OPEN R26 of record. Convergence: S-FOUNDATIONS lit campaign + refuter pass.</a:t>
            </a:r>
          </a:p>
          <a:p>
            <a:r>
              <a:t>[GUARD 18] 'NOT-FOUND(q)', 'R26' in notes only.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Before the heart of the method, the ancestry - declared by us before you ask, and both ancestors come from this very group's collaborators at Purdue. Stechmann: evaluate each phase with a zero-D blowdown, then a declared mass-weighted mean - but nozzle families are fixed. Harroun: two-D axisymmetric at the cycle's pressure ratios, then average the thrust coefficients - except the mean of a ratio does not commute, on ten-to-one cycles the bias is first order in the variance, and the paper does not declare its weight - a question we pose formally, with the source verification assigned. Fievisohn - whose boundary condition you saw in our code section - is the closest cousin: wave-frame characteristics, but never design, never a family. The quotient exists in the field; the edifice does not. We pose the variational optimum ON the family - and our simplest rung is exactly Stechmann's REDUCTION level, with the right mean proven.</a:t>
            </a:r>
          </a:p>
          <a:p>
            <a:r>
              <a:t>[PROVENANCE - guard 15] -&gt; checkpoint C-1 (:131-145); lineage LL-2/LL-3/LL-13 (guard 10, ledger ADJUDICATED); CH7-feed-7 (Fievisohn); Harroun weight/denominator UNDECLARED -&gt; W-B.0 matrix (source pp.670-671, verification assigned). WA_A3 borderline fix incorporated: 'Stechmann's REDUCTION level', never 'rung-1 = a 1-DOF optimal nozzle' (guard 3). T1c (which mean, proven) stays in notes: pattern-level, guard 2.</a:t>
            </a:r>
          </a:p>
          <a:p>
            <a:r>
              <a:t>[GUARD 18] LL-ids here; on-slide language engineering-only. Q&amp;A: THE pre-cooked answer to the Purdue/Heister front (REFUTE_LINEAGE :549).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Why is the family the right object and not an approximation? Remember the primer: in the frame rotating with the wave, this flow is steady. Within the declared data class - pure periodic rotating wave, monitored on the flatness of stagnation temperature - passing to the per-phase family is a change of coordinates, a quotient: exact, with one declared Strouhal-order approximation whose hypotheses are printed. The field's global time average MIXES phases - that is the crudest reduction, not ours. And the honest tag, on the slide by explicit order: this step has a declared proof structure - the equivariance route - not yet the complete proof.</a:t>
            </a:r>
          </a:p>
          <a:p>
            <a:r>
              <a:t>[PROVENANCE - guard 15] Quotient + O(St) -&gt; CH1-feed-2 (SCHEMA with route S1 named + [T-T0P-E] THEOREM leg); three-floor organizer -&gt; CH7-feed-1 (what enters the state / what is lost / what climbing costs). On-slide tag = user decision :1450 (checkpoint :95-97, guard 12): two-stage claim at DECLARED SCHEMA class, proof route named, spoken form - the tag is the slide's honesty device, verbatim-stable.</a:t>
            </a:r>
          </a:p>
          <a:p>
            <a:r>
              <a:t>[GUARD 18] 'SCHEMA', 'S1', ':1450' in notes; slide says it in words.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What do we actually optimize over? A solid body inside an envelope. Bell, plug, shrouded plug, expansion-deflection are not menu choices - they are topological classes of the RESULT. The admissible classes are finitely many, so the global optimum is the winner of a finite tournament among sector optima - and whenever we say 'optimum' we attach which mechanism guarantees it and how strong it is. One tournament verdict already exists at the reduced rung: the plug weakly dominates the bell pointwise under certified closures, with the tie region characterized - mind: a ranking between closures at equal area ratio, never between hardware. On parameterization we chose certified splines per sector and refused topological derivatives: an infinitesimal body in supersonic flow pays only wave drag, so you compare whole sectors. Honest state: the discrete driver exercises one sector today - bell, nine degrees of freedom; plug truncated and shrouded are the named campaigns.</a:t>
            </a:r>
          </a:p>
          <a:p>
            <a:r>
              <a:t>[PROVENANCE - guard 15] Configuration-free formulation -&gt; CH8-feed-1 (flagship feed; problem book §5; uniform-cone pin, user 2026-08-02: cono/Chenais, Λ=cerchi); finite sectors + tournament -&gt; CH8-feed-2 (THEOREM leg, carriers X-GRP10/12) + CH8-feed-3 (THEOREM* existence per sector); mechanism contract -&gt; CH8-feed-4 (M1-M5: sigla here, concept on slide; guard 8); driver one-sector state -&gt; CH8-feed-8; spline route + no-TD caution + classical datum -&gt; CH8-feed-9 (LL-29).</a:t>
            </a:r>
          </a:p>
          <a:p>
            <a:r>
              <a:t>[F-14] Qualifier prose moved OFF-slide (spoken): the tournament verdict is a ranking between CLOSURES at equal area ratio, never between hardware; every delivered optimum declares its guarantee mechanism and strength; the no-level-set reason: an infinitesimal body in supersonic flow pays only wave drag, so whole sectors are compared.</a:t>
            </a:r>
          </a:p>
          <a:p>
            <a:r>
              <a:t>[GUARD 18] M1-M5/X-GRP ids in notes.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What exactly does the reduction throw away? Not a vague 'unsteadiness': an explicit operator - six advective lines plus front atoms - with identities verified by computer algebra. Its mean channel is exactly zero: proven. What survives at first order is exactly two channels: the jumps at the fronts - our declared heel, no number yet - and the covariance. So the residual is measurable, and measuring it is the first campaign of the phase opening now. The published face of the zero-mean theorem: the lateral force is a quarter to a third of axial instantaneously, rotates at wave frequency, and averages to zero.</a:t>
            </a:r>
          </a:p>
          <a:p>
            <a:r>
              <a:t>[PROVENANCE - guard 15] Operator K explicit -&gt; CH3-feed-1 (DEFINITION + THEOREM* identities, sympy witnesses); K-bar=0 + two channels (J)/(H) -&gt; CH3-feed-2 (THEOREM* minted at record grade BV; SBV-conditional clause H-RED-2 declared); heel always co-stated -&gt; CH7-feed-3 (guards 1/16: hierarchy never without the (J) heel; suppression-claim perimeter rule). Fig.21 -&gt; CH5-feed-3 ([FIG]+[INFER], CT-6). M-RED consumption -&gt; C17.</a:t>
            </a:r>
          </a:p>
          <a:p>
            <a:r>
              <a:t>[GUARD 18] channel letters (J)/(H) and class names here; slide says 'jumps at the fronts' and 'covariance' in words.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largest signal in the worst direction is published: Paxson and Miki add a shroud at fixed area ratio and the plug jumps thirteen points of ideal - more than their whole area-ratio line buys - and the authors do not explain it. We register it as a candidate swirl-breaker: if swirl content is doing that, it is exactly the off-axis channel our bracket flags.</a:t>
            </a:r>
          </a:p>
          <a:p>
            <a:r>
              <a:t>[PROVENANCE - guard 15] 58.1-&gt;71.5 at fixed AR, unexplained -&gt; [REP] page-verified (findings_registry:2026; M0:1345, 1350-1353); shroud prediction pre-registered F2a; S-5F decision at F2-entry (user, of record). LL-5 note for Q&amp;A: Paxson-Miki's metric IS our cycle-time-averaged thrust - published as a metric, never posed as a design functional (affilata form).</a:t>
            </a:r>
          </a:p>
          <a:p>
            <a:r>
              <a:t>[GUARD 18] registry ids here.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(first-encounter language, user order): Before showing the machine, the one idea it runs on. Everything we optimize is a single number: J, the cycle-averaged thrust delivered by the shared nozzle wall. To improve a shape you need to know which way to move it - the slope of J with respect to every wall parameter, and there are hundreds. The obvious route: wiggle one parameter, re-solve the flow, repeat - hundreds of flow solutions for a single design step. The adjoint route: solve the flow once forward, then solve ONE auxiliary problem backward - the adjoint - and it returns the derivative with respect to ALL parameters at once, exactly, for the price of roughly one extra solve. That exact gradient is what the trust-region Newton optimizer climbs, a few seconds per iteration. That is the entire trick - the rest of the machine is discipline around it.</a:t>
            </a:r>
          </a:p>
          <a:p>
            <a:r>
              <a:t>[PROVENANCE - guard 15] Pedagogical slide: no new record claims. Adjoint-exactness anchor = same as C14 card 2 (discrete-exact gradient; CH9-feed-4 THEOREM T-LEMB, reverse-AD = transposed adjoint); cost structure (1 forward + 1 backward per gradient) = standard adjoint identity, program carrier X-TOCV first dJ/dW (S17/S18, of record). Figure = home schematic fig_cadj_cost.png (no data).</a:t>
            </a:r>
          </a:p>
          <a:p>
            <a:r>
              <a:t>[GUARD 18] internal names (X-TOCV, T-LEMB) here only.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Zoom into the optimizer stage - three panels: the engine and driver, the numerics and tolerances, the design basis. Two things to read. First, the driver choice you already met. Second - and this is deliberate - the re-examination flag: at the next phase entry this cluster is re-adjudicated against a named 2026 candidate from the literature, with a pre-registered comparison at equal constraints. Our solver census has a date on it, and we say so.</a:t>
            </a:r>
          </a:p>
          <a:p>
            <a:r>
              <a:t>[PROVENANCE - guard 15] C31 6-field card (incumbent TR-Newton; candidate Uno / MPC-2026; falsifier; re-exam window F2-entry) -&gt; CH4-feed-9 - the COMPLETE card lives here and in backup (guard 14 satisfied in the layer); panel split of record -&gt; DERISK §3.1 (24 nodes measured, 3 panels, ≤12 cards each); LL-15/LL-30.</a:t>
            </a:r>
          </a:p>
          <a:p>
            <a:r>
              <a:t>[GUARD 18] cluster ids (C31/C57/C58/C60) in notes/backup; slide says 'this cluster', 'a 2026 candidate'.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Certification, stages four and five. The gradient: exact for the discrete problem, machine-precision verified, cross-checked against a second code with negative controls that actually reject. Thresholds: derived, and they bite - halve one and the verdict flips; a certificate that cannot fail is not a certificate. Errors are never mixed: discretization has its estimator and an independent referee; model error has the per-channel bracket you saw. The shock front is treated with the only scheme that can carry a gradient certificate - Giles and Ulbrich published why. And nothing ships alone: contour, certificates, bars, verdict travel together.</a:t>
            </a:r>
          </a:p>
          <a:p>
            <a:r>
              <a:t>[PROVENANCE - guard 15] 52/52 + 218/218 checks -&gt; CH4-feed-2 (numbers HERE); KKT 7.7e-2 vs derived 1.156e-1, oracle 91/91, stage V0 -&gt; CH4-feed-3 (numbers here; guard 7: engine-level claims declare evidence stage); NTF threshold bites (η·κ_q; GAP-29) -&gt; CH4-feed-5; DWR vs model-form separation -&gt; CH3-feed-9 (C11 DWR); fitted-front for gradient certificate -&gt; CH4-feed-10 (C49, LL-12; Giles-Ulbrich negative theorem, published reason); Verdict format -&gt; CH9-feed-2; G1 absolute gate -&gt; CH9-feed-3 (here only).</a:t>
            </a:r>
          </a:p>
          <a:p>
            <a:r>
              <a:t>[GUARD 18] all counts in notes; slide keeps qualitative engineering statements + the Giles-Ulbrich name (published reason = a citation, allowed).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Speed, because it changes what validation costs. Every acceleration lever had to pass an invariance gate - same results, same certificates - before adoption. Where we are: under half a second for an evaluation with gradient; a design segment in fifteen to twenty seconds against a thirty-second target; a full campaign in ten to fourteen minutes against twenty-five; eighteen times the reference run. Our measurements, host declared. The consequence is programmatic: validation campaigns become economic acts.</a:t>
            </a:r>
          </a:p>
          <a:p>
            <a:r>
              <a:t>[PROVENANCE - guard 15] Speed chain -&gt; CH4-feed-4 ([REP], host caveat; record chain 100.84 -&gt; 32.09 -&gt; 5.58 s lives here); targets MET formal (S25-bis, pessimistic-end criterion pre-registered). Suite state and [X-SPDB] ids in notes only (accounting, guard 18); stage 'verified' said aloud, P34 tag here (guard 7).</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FIRST (speech duty, F-13): the audit judged our CERTIFIER, not the flow solutions - and it found the certifier wanting.</a:t>
            </a:r>
          </a:p>
          <a:p>
            <a:r>
              <a:t>SCOPE FIRST (speech duty, F-13): the audit judged our CERTIFIER, not the flow solutions - and it found the certifier wanting.</a:t>
            </a:r>
          </a:p>
          <a:p>
            <a:r>
              <a:t>SCRIPT: The slide I most want you to remember. We commissioned a hostile audit of our own certification chain - and the chain failed us: not certifiable, two named defects; one repaired in the same window and declared, one with an owner and a deadline. Before that, we had constructed ourselves the way our self-check could lie, exhibited it with a negative control, and closed it with a verification independent of the solver. Our audits are two-sided: they pass only if they confirm truth AND reject falsehood - a decoy built for the purpose was rejected before any verdict counted. We never treat agreement between our two codes as truth. And across the audits the defects moved from the certified object to the certifier itself - the floor rose. The system works because it fails us.</a:t>
            </a:r>
          </a:p>
          <a:p>
            <a:r>
              <a:t>[PROVENANCE - guard 15] Chain-said-NO -&gt; CH9-feed-1 (S-CERT verdict NON-CERTIFIABLE, 2 P0: (vii) repaired in-window; staleness import-closure owner F2 - internal audit names in notes only); claim-before-evidence incident caught by recount -&gt; CH4-feed-6+CH4-feed-7 (paired as per feed); self-check-could-lie + dual-seed canary -&gt; CH9-feed-5 + CH9-feed-7 (SEED-OMIT caught, SEED-DECOY not flagged - the decoy line); agreement != truth -&gt; CH9-feed-6 (MoC-critical standing: independent invariants); progress across audits -&gt; CH9-feed-10. '23/23', '2 P0' and audit names (S-CERT etc.) in notes only (guard 18).</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 rework): Three designs on one axis: a design built on the time-averaged flow; ours, built phase by phase; and the true three-dimensional optimum, which nobody can compute. Between them, two gaps in series - a formulation gap: you asked the wrong question of the flow; and a model gap: you kept the wrong physics - and the end-to-end distance to the truth is their composition, the third thing on the map. The value question of the whole enterprise is which of these dominates. Note the left comparison first: nobody has ever computed a time-averaged design against a phase-resolved one at equal constraints - us included; it is the first measurement on our plan. Our working hypothesis - a hypothesis, not a theorem, and it can be proven wrong: at fixed constraints, the formulation gap dominates. The grounds: three of the results you have already seen close pieces of the model gap on its smooth part - the exact change of coordinates, the vanishing mean equation, the cleared full-state average - while nothing yet bounds the formulation gap. The weak point travels with the hypothesis, on the same slide: the jumps at the wave fronts are the one unbounded first-order piece of the model gap - if they turn out large, the model gap can dominate anyway. And the programme fails only if two independent measurements both go against it - the head-to-head and the residual measurement; each of them is on the plan that follows.</a:t>
            </a:r>
          </a:p>
          <a:p>
            <a:r>
              <a:t>[FD-5(ii) wired] the spoken back-pointer to C8/C9/C10 is in the script above ('the three results you saw').</a:t>
            </a:r>
          </a:p>
          <a:p>
            <a:r>
              <a:t>[PROVENANCE - guard 15] Three designs / three gaps -&gt; CH6-feed-1 (scope 'in the record', repair WB1-C3-14) + CH6-feed-2 (hierarchy hypothesis); heel CO-PRESENCE on the SAME slide -&gt; CH6-feed-3 (binding print in feeds; guard 1: hierarchy NEVER without the (J) heel - THIS slide is the enforcement site); two-failure death -&gt; CH6-feed-4; field does not separate the gaps -&gt; CH6-feed-5 (NOT-FOUND in notes).</a:t>
            </a:r>
          </a:p>
          <a:p>
            <a:r>
              <a:t>[GAP-LETTERS MAP - FD-4 enforcement, CW-4] gap(A)=formulation / gap(B)=model of the three-design frame DO NOT coincide with the historical namespace Gap A / Gap B (inverted): on-slide and in speech use ONLY the words 'formulation'/'model', never bare letters. (S4: C17 no longer shows letters either - historical namespace lives in C17's note for Q&amp;A only.)</a:t>
            </a:r>
          </a:p>
          <a:p>
            <a:r>
              <a:t>[GUARD 18] channel letters and NOT-FOUND here.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What we have NOT decided - said before you ask. The head-to-head choice we HAVE taken: no pre-milestone number; the machine is ready and it runs as the first campaign. Still open, deliberately: the treatment of mean swirl and the priority of one wall closure - both presented with alternatives and a decision criterion; the data contract - one physical hypothesis, full choking of the RDE interface, is open with an owner (and remember the condition from the feedback slide: decoupling is only assertable under verified choking); and one acceptance gate still lacks a rejecting threshold - we will derive it as a number.</a:t>
            </a:r>
          </a:p>
          <a:p>
            <a:r>
              <a:t>[PROVENANCE - guard 15] S-5F path A/B/C + C51 priority -&gt; CH7-feed-8 (non-adjudicated cards of record, F2-entry per user decision at gate - names in notes); U3' PREMISE-OPEN -&gt; CH10-feed-7 (owner F2a); G3 without rejector -&gt; CH3-feed-7 (F5b); twin cross-ref -&gt; C7-ter (RESOLVED (b) at the S2 gate - intro line reflects the decision, no open bifurcation remains). Guard 17 rider on the choking hypothesis line (spoken).</a:t>
            </a:r>
          </a:p>
          <a:p>
            <a:r>
              <a:t>[GUARD 18] internal names (S-5F, C51, U3', G3, PB-2) in notes only; cards carry speaking forms.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[F-4] Open-items card moved OFF-slide (three asks means three cards): still open, said if asked - mean-swirl route; one wall closure; data contract (choking hypothesis, named lead); one gate threshold to be derived as a number. Full open-items slide in backup. Reliability ladder: backup slide (moved off the band per F-4 option b, S4).</a:t>
            </a:r>
          </a:p>
          <a:p>
            <a:r>
              <a:t>SCRIPT (S4 rework): Three requests - for each: what we ask, what you would need to decide, and when. First, the reference simulation: today we ask only for the route - a collaboration or a procurement; the decision to actually run it comes after the residual measurement, exactly in the order of the plan you just saw. Second, engine test data in the class the method needs: high-speed pressure traces or hot-fire imaging, sufficient to verify that stagnation temperature is flat over a cycle and to read the cycle frequency. One property to be aware of: the input screen decides, it does not bless - it is built to reject data outside that class, and we expect real data to exercise it. That screening has not yet been tried on a real dataset. Third: publication venues for the method papers, and three key papers we currently cannot access. And the question every panel asks - what input does your method need: engine specifications alone are enough to produce a design; every additional measurement raises the confidence grade of the result, on a scale spelled out in the backup.</a:t>
            </a:r>
          </a:p>
          <a:p>
            <a:r>
              <a:t>[PROVENANCE - guard 15] Specs-ladder Annex B -&gt; CH10-feed-1 (the most valuable feed; stage P34 'prediction' declared - tag here, words on slide); G6 loud-reject never exercised -&gt; CH10-feed-2 (spoken form on slide); TRIPLE monitor -&gt; CH7-feed-5 (detail 'a Γ-only monitor would license the false' here, recallable); procurement Tier-1 names (Fotia/Goto/Ma) -&gt; MESSAGE_ARCHITECTURE §ASK (notes).</a:t>
            </a:r>
          </a:p>
          <a:p>
            <a:r>
              <a:t>[GUARD 18] P34/G6/monitor names in notes; card language engineering-only.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(S4 rework): Two things to retain. For the engineers: this is, as far as our search of the literature has found, the first per-phase variational design method for RDE nozzles. What the reduction throws away is not hand-waved - it is an explicit operator you can evaluate, so the approximation itself is measurable. The error budget is stated source by source, each entry with how it was estimated - a theorem, an order estimate, or a published datum - and where there is no number yet, the way to get one is named. For the decision-makers: the machine validates a design in minutes, not weeks - so testing this method is cheap. The plan is stepwise, its costs are known, and the consequence of each possible outcome is fixed before the data arrive - including the point where we would stop: below about one percent of measured Isp gain, effort pivots to certification and operability. How much better a nozzle designed this way will fly, nobody yet knows - no number exists, on any side, until the head-to-head runs; it is the first measurement of the campaign. That number is what we came here to go and get. Thank you.</a:t>
            </a:r>
          </a:p>
          <a:p>
            <a:r>
              <a:t>[PROVENANCE - guard 15] Closing band = per-limit claim, verified at build (heel: road named on C11; optimum shift: campaign on C17; input screen: real data on C18; formulation gap: head-to-head on C17); the open-decisions backup slide is NOT claimed by the main slides. Instrumented honesty -&gt; CH6-feed-10 (D-44 / P34 / card discipline - shown by the band's content, the word 'honesty' never said; sigle here; guard 18); dual takeaway -&gt; MESSAGE_ARCHITECTURE. 'First' SPOKEN in the D-06 locked, query-bounded form (guard 9), rendered in the script verbatim ('as far as our search of the literature has found') - POINTER RECONCILED S4: A2 as built is agenda-only (CKP-S3-2) and carries no primacy sentence; the old note 'spoken as in A2' is superseded by this in-script rendering. Closing question answered by abstention (no gain number claimed) -&gt; C17 card 2 anchor.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E2FCED-7A8F-4213-8062-920B248DE19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US"/>
          </a:p>
        </p:txBody>
      </p:sp>
      <p:sp>
        <p:nvSpPr>
          <p:cNvPr id="3" name="Sottotitolo 2">
            <a:extLst>
              <a:ext uri="{FF2B5EF4-FFF2-40B4-BE49-F238E27FC236}">
                <a16:creationId xmlns:a16="http://schemas.microsoft.com/office/drawing/2014/main" id="{DC82E15E-C40A-4632-A032-D4E91F7EBE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4" name="Segnaposto data 3">
            <a:extLst>
              <a:ext uri="{FF2B5EF4-FFF2-40B4-BE49-F238E27FC236}">
                <a16:creationId xmlns:a16="http://schemas.microsoft.com/office/drawing/2014/main" id="{6175D8A6-B7A4-4A4E-8F7A-B9C6CE2E0C1B}"/>
              </a:ext>
            </a:extLst>
          </p:cNvPr>
          <p:cNvSpPr>
            <a:spLocks noGrp="1"/>
          </p:cNvSpPr>
          <p:nvPr>
            <p:ph type="dt" sz="half" idx="10"/>
          </p:nvPr>
        </p:nvSpPr>
        <p:spPr/>
        <p:txBody>
          <a:bodyPr/>
          <a:lstStyle/>
          <a:p>
            <a:r>
              <a:rPr lang="it-IT"/>
              <a:t>T(H)RUST team</a:t>
            </a:r>
            <a:endParaRPr lang="en-US"/>
          </a:p>
        </p:txBody>
      </p:sp>
      <p:sp>
        <p:nvSpPr>
          <p:cNvPr id="5" name="Segnaposto piè di pagina 4">
            <a:extLst>
              <a:ext uri="{FF2B5EF4-FFF2-40B4-BE49-F238E27FC236}">
                <a16:creationId xmlns:a16="http://schemas.microsoft.com/office/drawing/2014/main" id="{E17D2831-435D-4149-BD88-53D94E9813A1}"/>
              </a:ext>
            </a:extLst>
          </p:cNvPr>
          <p:cNvSpPr>
            <a:spLocks noGrp="1"/>
          </p:cNvSpPr>
          <p:nvPr>
            <p:ph type="ftr" sz="quarter" idx="11"/>
          </p:nvPr>
        </p:nvSpPr>
        <p:spPr>
          <a:xfrm>
            <a:off x="1808921" y="6356350"/>
            <a:ext cx="7732643" cy="501650"/>
          </a:xfrm>
          <a:solidFill>
            <a:srgbClr val="822433"/>
          </a:solidFill>
        </p:spPr>
        <p:txBody>
          <a:bodyPr/>
          <a:lstStyle>
            <a:lvl1pPr>
              <a:defRPr sz="1800" b="1">
                <a:solidFill>
                  <a:schemeClr val="bg1"/>
                </a:solidFill>
              </a:defRPr>
            </a:lvl1pPr>
          </a:lstStyle>
          <a:p>
            <a:r>
              <a:rPr lang="en-US"/>
              <a:t>Rotating Detonation Engine Activities</a:t>
            </a:r>
            <a:endParaRPr lang="en-US" dirty="0"/>
          </a:p>
        </p:txBody>
      </p:sp>
      <p:sp>
        <p:nvSpPr>
          <p:cNvPr id="6" name="Segnaposto numero diapositiva 5">
            <a:extLst>
              <a:ext uri="{FF2B5EF4-FFF2-40B4-BE49-F238E27FC236}">
                <a16:creationId xmlns:a16="http://schemas.microsoft.com/office/drawing/2014/main" id="{AA936056-34A5-4B1C-B2FC-32779661B2A9}"/>
              </a:ext>
            </a:extLst>
          </p:cNvPr>
          <p:cNvSpPr>
            <a:spLocks noGrp="1"/>
          </p:cNvSpPr>
          <p:nvPr>
            <p:ph type="sldNum" sz="quarter" idx="12"/>
          </p:nvPr>
        </p:nvSpPr>
        <p:spPr>
          <a:xfrm>
            <a:off x="8610600" y="6356350"/>
            <a:ext cx="2743200" cy="501650"/>
          </a:xfrm>
        </p:spPr>
        <p:txBody>
          <a:bodyPr/>
          <a:lstStyle/>
          <a:p>
            <a:fld id="{10A70FEB-7381-4ECC-98C1-1C73F7199FA0}" type="slidenum">
              <a:rPr lang="en-US" smtClean="0"/>
              <a:t>‹N›</a:t>
            </a:fld>
            <a:endParaRPr lang="en-US"/>
          </a:p>
        </p:txBody>
      </p:sp>
    </p:spTree>
    <p:extLst>
      <p:ext uri="{BB962C8B-B14F-4D97-AF65-F5344CB8AC3E}">
        <p14:creationId xmlns:p14="http://schemas.microsoft.com/office/powerpoint/2010/main" val="4254246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E2E9DF3-20EB-4487-9E07-B1602535E462}"/>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BE3A624C-D652-4830-9048-BA901CC176E4}"/>
              </a:ext>
            </a:extLst>
          </p:cNvPr>
          <p:cNvSpPr>
            <a:spLocks noGrp="1"/>
          </p:cNvSpPr>
          <p:nvPr>
            <p:ph idx="1"/>
          </p:nvPr>
        </p:nvSpPr>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a:extLst>
              <a:ext uri="{FF2B5EF4-FFF2-40B4-BE49-F238E27FC236}">
                <a16:creationId xmlns:a16="http://schemas.microsoft.com/office/drawing/2014/main" id="{ED35F0B2-D273-4D5B-ABB0-668682A98DDB}"/>
              </a:ext>
            </a:extLst>
          </p:cNvPr>
          <p:cNvSpPr>
            <a:spLocks noGrp="1"/>
          </p:cNvSpPr>
          <p:nvPr>
            <p:ph type="dt" sz="half" idx="10"/>
          </p:nvPr>
        </p:nvSpPr>
        <p:spPr>
          <a:xfrm>
            <a:off x="8279999" y="6177600"/>
            <a:ext cx="2016000" cy="680400"/>
          </a:xfrm>
          <a:solidFill>
            <a:srgbClr val="822433"/>
          </a:solidFill>
        </p:spPr>
        <p:txBody>
          <a:bodyPr/>
          <a:lstStyle>
            <a:lvl1pPr algn="ctr">
              <a:defRPr sz="1400">
                <a:latin typeface="Palatino Linotype" panose="02040502050505030304" pitchFamily="18" charset="0"/>
              </a:defRPr>
            </a:lvl1pPr>
          </a:lstStyle>
          <a:p>
            <a:r>
              <a:rPr lang="it-IT"/>
              <a:t>T(H)RUST team</a:t>
            </a:r>
            <a:endParaRPr lang="en-US" dirty="0"/>
          </a:p>
        </p:txBody>
      </p:sp>
      <p:sp>
        <p:nvSpPr>
          <p:cNvPr id="5" name="Segnaposto piè di pagina 4">
            <a:extLst>
              <a:ext uri="{FF2B5EF4-FFF2-40B4-BE49-F238E27FC236}">
                <a16:creationId xmlns:a16="http://schemas.microsoft.com/office/drawing/2014/main" id="{5527BA9F-6563-49CA-90AB-013BAD0059C9}"/>
              </a:ext>
            </a:extLst>
          </p:cNvPr>
          <p:cNvSpPr>
            <a:spLocks noGrp="1"/>
          </p:cNvSpPr>
          <p:nvPr>
            <p:ph type="ftr" sz="quarter" idx="11"/>
          </p:nvPr>
        </p:nvSpPr>
        <p:spPr>
          <a:xfrm>
            <a:off x="1440000" y="6176963"/>
            <a:ext cx="6840000" cy="681038"/>
          </a:xfrm>
          <a:solidFill>
            <a:srgbClr val="822433"/>
          </a:solidFill>
        </p:spPr>
        <p:txBody>
          <a:bodyPr/>
          <a:lstStyle>
            <a:lvl1pPr>
              <a:lnSpc>
                <a:spcPct val="120000"/>
              </a:lnSpc>
              <a:defRPr sz="1400" b="1">
                <a:solidFill>
                  <a:schemeClr val="bg1"/>
                </a:solidFill>
              </a:defRPr>
            </a:lvl1pPr>
          </a:lstStyle>
          <a:p>
            <a:r>
              <a:rPr lang="en-US"/>
              <a:t>Rotating Detonation Engine Activities</a:t>
            </a:r>
            <a:endParaRPr lang="en-US" dirty="0"/>
          </a:p>
        </p:txBody>
      </p:sp>
      <p:sp>
        <p:nvSpPr>
          <p:cNvPr id="6" name="Segnaposto numero diapositiva 5">
            <a:extLst>
              <a:ext uri="{FF2B5EF4-FFF2-40B4-BE49-F238E27FC236}">
                <a16:creationId xmlns:a16="http://schemas.microsoft.com/office/drawing/2014/main" id="{55315FF2-043A-40FE-8279-54E0FCD27262}"/>
              </a:ext>
            </a:extLst>
          </p:cNvPr>
          <p:cNvSpPr>
            <a:spLocks noGrp="1"/>
          </p:cNvSpPr>
          <p:nvPr>
            <p:ph type="sldNum" sz="quarter" idx="12"/>
          </p:nvPr>
        </p:nvSpPr>
        <p:spPr>
          <a:xfrm>
            <a:off x="10296000" y="6176961"/>
            <a:ext cx="1897200" cy="681039"/>
          </a:xfrm>
        </p:spPr>
        <p:txBody>
          <a:bodyPr/>
          <a:lstStyle>
            <a:lvl1pPr algn="r">
              <a:defRPr sz="1400"/>
            </a:lvl1pPr>
          </a:lstStyle>
          <a:p>
            <a:fld id="{10A70FEB-7381-4ECC-98C1-1C73F7199FA0}" type="slidenum">
              <a:rPr lang="en-US" smtClean="0"/>
              <a:pPr/>
              <a:t>‹N›</a:t>
            </a:fld>
            <a:r>
              <a:rPr lang="en-US" dirty="0"/>
              <a:t/>
            </a:r>
          </a:p>
        </p:txBody>
      </p:sp>
    </p:spTree>
    <p:extLst>
      <p:ext uri="{BB962C8B-B14F-4D97-AF65-F5344CB8AC3E}">
        <p14:creationId xmlns:p14="http://schemas.microsoft.com/office/powerpoint/2010/main" val="27015761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44FAC27-EA79-44D6-9B85-DFE1A563A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8AA1DBE4-757F-4E0E-B092-37A45C3C0A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a:extLst>
              <a:ext uri="{FF2B5EF4-FFF2-40B4-BE49-F238E27FC236}">
                <a16:creationId xmlns:a16="http://schemas.microsoft.com/office/drawing/2014/main" id="{DB7A7E12-A927-4257-ABE4-819175D095F8}"/>
              </a:ext>
            </a:extLst>
          </p:cNvPr>
          <p:cNvSpPr>
            <a:spLocks noGrp="1"/>
          </p:cNvSpPr>
          <p:nvPr>
            <p:ph type="dt" sz="half" idx="2"/>
          </p:nvPr>
        </p:nvSpPr>
        <p:spPr>
          <a:xfrm>
            <a:off x="8280000" y="6179586"/>
            <a:ext cx="2016000" cy="678414"/>
          </a:xfrm>
          <a:prstGeom prst="rect">
            <a:avLst/>
          </a:prstGeom>
          <a:solidFill>
            <a:srgbClr val="822433"/>
          </a:solidFill>
        </p:spPr>
        <p:txBody>
          <a:bodyPr vert="horz" lIns="91440" tIns="45720" rIns="91440" bIns="45720" rtlCol="0" anchor="ctr"/>
          <a:lstStyle>
            <a:lvl1pPr algn="ctr">
              <a:defRPr sz="1600" b="1">
                <a:solidFill>
                  <a:schemeClr val="bg1"/>
                </a:solidFill>
                <a:latin typeface="Palatino Linotype" panose="02040502050505030304" pitchFamily="18" charset="0"/>
              </a:defRPr>
            </a:lvl1pPr>
          </a:lstStyle>
          <a:p>
            <a:r>
              <a:rPr lang="it-IT"/>
              <a:t>T(H)RUST team</a:t>
            </a:r>
            <a:endParaRPr lang="en-US" dirty="0"/>
          </a:p>
        </p:txBody>
      </p:sp>
      <p:sp>
        <p:nvSpPr>
          <p:cNvPr id="5" name="Segnaposto piè di pagina 4">
            <a:extLst>
              <a:ext uri="{FF2B5EF4-FFF2-40B4-BE49-F238E27FC236}">
                <a16:creationId xmlns:a16="http://schemas.microsoft.com/office/drawing/2014/main" id="{61F9DB2F-1127-42B6-B6C6-6336317F6C15}"/>
              </a:ext>
            </a:extLst>
          </p:cNvPr>
          <p:cNvSpPr>
            <a:spLocks noGrp="1"/>
          </p:cNvSpPr>
          <p:nvPr>
            <p:ph type="ftr" sz="quarter" idx="3"/>
          </p:nvPr>
        </p:nvSpPr>
        <p:spPr>
          <a:xfrm>
            <a:off x="1440000" y="6177600"/>
            <a:ext cx="6840000" cy="680400"/>
          </a:xfrm>
          <a:prstGeom prst="rect">
            <a:avLst/>
          </a:prstGeom>
          <a:solidFill>
            <a:srgbClr val="822433"/>
          </a:solidFill>
        </p:spPr>
        <p:txBody>
          <a:bodyPr vert="horz" lIns="91440" tIns="45720" rIns="91440" bIns="45720" rtlCol="0" anchor="ctr"/>
          <a:lstStyle>
            <a:lvl1pPr algn="ctr">
              <a:lnSpc>
                <a:spcPct val="120000"/>
              </a:lnSpc>
              <a:defRPr sz="1400" b="1">
                <a:solidFill>
                  <a:schemeClr val="bg1"/>
                </a:solidFill>
                <a:latin typeface="Palatino Linotype" panose="02040502050505030304" pitchFamily="18" charset="0"/>
              </a:defRPr>
            </a:lvl1pPr>
          </a:lstStyle>
          <a:p>
            <a:r>
              <a:rPr lang="en-US"/>
              <a:t>Rotating Detonation Engine Activities</a:t>
            </a:r>
            <a:endParaRPr lang="en-US" dirty="0"/>
          </a:p>
        </p:txBody>
      </p:sp>
      <p:sp>
        <p:nvSpPr>
          <p:cNvPr id="6" name="Segnaposto numero diapositiva 5">
            <a:extLst>
              <a:ext uri="{FF2B5EF4-FFF2-40B4-BE49-F238E27FC236}">
                <a16:creationId xmlns:a16="http://schemas.microsoft.com/office/drawing/2014/main" id="{EDCF867E-6C77-4503-9F28-E3AAFB25E98C}"/>
              </a:ext>
            </a:extLst>
          </p:cNvPr>
          <p:cNvSpPr>
            <a:spLocks noGrp="1"/>
          </p:cNvSpPr>
          <p:nvPr>
            <p:ph type="sldNum" sz="quarter" idx="4"/>
          </p:nvPr>
        </p:nvSpPr>
        <p:spPr>
          <a:xfrm>
            <a:off x="10296000" y="6177600"/>
            <a:ext cx="1896000" cy="680400"/>
          </a:xfrm>
          <a:prstGeom prst="rect">
            <a:avLst/>
          </a:prstGeom>
          <a:solidFill>
            <a:srgbClr val="822433"/>
          </a:solidFill>
        </p:spPr>
        <p:txBody>
          <a:bodyPr vert="horz" lIns="91440" tIns="45720" rIns="396000" bIns="45720" rtlCol="0" anchor="ctr"/>
          <a:lstStyle>
            <a:lvl1pPr algn="r">
              <a:defRPr sz="1400" b="1">
                <a:solidFill>
                  <a:schemeClr val="bg1"/>
                </a:solidFill>
                <a:latin typeface="Palatino Linotype" panose="02040502050505030304" pitchFamily="18" charset="0"/>
              </a:defRPr>
            </a:lvl1pPr>
          </a:lstStyle>
          <a:p>
            <a:fld id="{10A70FEB-7381-4ECC-98C1-1C73F7199FA0}" type="slidenum">
              <a:rPr lang="en-US" smtClean="0"/>
              <a:pPr/>
              <a:t>‹N›</a:t>
            </a:fld>
            <a:r>
              <a:rPr lang="en-US" dirty="0"/>
              <a:t> </a:t>
            </a:r>
          </a:p>
        </p:txBody>
      </p:sp>
    </p:spTree>
    <p:extLst>
      <p:ext uri="{BB962C8B-B14F-4D97-AF65-F5344CB8AC3E}">
        <p14:creationId xmlns:p14="http://schemas.microsoft.com/office/powerpoint/2010/main" val="196805657"/>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jpeg"/><Relationship Id="rId5" Type="http://schemas.openxmlformats.org/officeDocument/2006/relationships/image" Target="../media/image5.jp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jpe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jpe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notesSlide" Target="../notesSlides/notesSlide10.xml"/><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2.jpe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e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9" Type="http://schemas.openxmlformats.org/officeDocument/2006/relationships/image" Target="../media/image200.png"/><Relationship Id="rId10" Type="http://schemas.openxmlformats.org/officeDocument/2006/relationships/image" Target="../media/image210.png"/><Relationship Id="rId11"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e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image" Target="../media/image35.png"/><Relationship Id="rId17"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eg"/><Relationship Id="rId4" Type="http://schemas.openxmlformats.org/officeDocument/2006/relationships/image" Target="../media/image38.png"/><Relationship Id="rId5"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eg"/><Relationship Id="rId4" Type="http://schemas.openxmlformats.org/officeDocument/2006/relationships/image" Target="../media/image40.png"/><Relationship Id="rId5"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2.xml"/><Relationship Id="rId4" Type="http://schemas.openxmlformats.org/officeDocument/2006/relationships/notesSlide" Target="../notesSlides/notesSlide16.xml"/><Relationship Id="rId5" Type="http://schemas.openxmlformats.org/officeDocument/2006/relationships/image" Target="../media/image2.jpeg"/><Relationship Id="rId6" Type="http://schemas.openxmlformats.org/officeDocument/2006/relationships/image" Target="../media/image42.png"/><Relationship Id="rId7"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e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8.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3.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4.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5.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8.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89.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90.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91.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58.png"/><Relationship Id="rId4"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D76859-E634-F149-8469-CE8DA113AA84}"/>
              </a:ext>
            </a:extLst>
          </p:cNvPr>
          <p:cNvSpPr txBox="1"/>
          <p:nvPr/>
        </p:nvSpPr>
        <p:spPr>
          <a:xfrm>
            <a:off x="2089149" y="479090"/>
            <a:ext cx="9361633" cy="1077218"/>
          </a:xfrm>
          <a:prstGeom prst="rect">
            <a:avLst/>
          </a:prstGeom>
          <a:noFill/>
        </p:spPr>
        <p:txBody>
          <a:bodyPr wrap="square" rtlCol="0">
            <a:spAutoFit/>
          </a:bodyPr>
          <a:lstStyle/>
          <a:p>
            <a:r>
              <a:rPr lang="en-US" sz="3200" b="1" dirty="0">
                <a:solidFill>
                  <a:srgbClr val="822433"/>
                </a:solidFill>
                <a:effectLst>
                  <a:outerShdw blurRad="38100" dist="38100" dir="2700000" algn="tl">
                    <a:srgbClr val="000000">
                      <a:alpha val="43137"/>
                    </a:srgbClr>
                  </a:outerShdw>
                </a:effectLst>
                <a:latin typeface="Palatino"/>
              </a:rPr>
              <a:t>Rotating Detonation Engine Activities – T(H)RUST</a:t>
            </a:r>
            <a:endParaRPr lang="en-FR" sz="3200" b="1" dirty="0">
              <a:solidFill>
                <a:srgbClr val="822433"/>
              </a:solidFill>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9" name="Picture 15" descr="Fondino">
            <a:extLst>
              <a:ext uri="{FF2B5EF4-FFF2-40B4-BE49-F238E27FC236}">
                <a16:creationId xmlns:a16="http://schemas.microsoft.com/office/drawing/2014/main" id="{891D5A5A-D4A6-43B4-A4E9-D59B20E99C7F}"/>
              </a:ext>
            </a:extLst>
          </p:cNvPr>
          <p:cNvPicPr>
            <a:picLocks noChangeAspect="1" noChangeArrowheads="1"/>
          </p:cNvPicPr>
          <p:nvPr/>
        </p:nvPicPr>
        <p:blipFill>
          <a:blip r:embed="rId3" cstate="print"/>
          <a:srcRect/>
          <a:stretch>
            <a:fillRect/>
          </a:stretch>
        </p:blipFill>
        <p:spPr bwMode="auto">
          <a:xfrm>
            <a:off x="0" y="4447905"/>
            <a:ext cx="12192000" cy="2410095"/>
          </a:xfrm>
          <a:prstGeom prst="rect">
            <a:avLst/>
          </a:prstGeom>
          <a:noFill/>
          <a:ln w="9525">
            <a:noFill/>
            <a:miter lim="800000"/>
            <a:headEnd/>
            <a:tailEnd/>
          </a:ln>
        </p:spPr>
      </p:pic>
      <p:pic>
        <p:nvPicPr>
          <p:cNvPr id="10" name="Picture 13" descr="logo +marchio">
            <a:extLst>
              <a:ext uri="{FF2B5EF4-FFF2-40B4-BE49-F238E27FC236}">
                <a16:creationId xmlns:a16="http://schemas.microsoft.com/office/drawing/2014/main" id="{E14A9313-1B86-4722-B9FF-AE715CC70BF6}"/>
              </a:ext>
            </a:extLst>
          </p:cNvPr>
          <p:cNvPicPr>
            <a:picLocks noChangeAspect="1" noChangeArrowheads="1"/>
          </p:cNvPicPr>
          <p:nvPr/>
        </p:nvPicPr>
        <p:blipFill>
          <a:blip r:embed="rId4" cstate="print"/>
          <a:srcRect/>
          <a:stretch>
            <a:fillRect/>
          </a:stretch>
        </p:blipFill>
        <p:spPr bwMode="auto">
          <a:xfrm>
            <a:off x="0" y="4447905"/>
            <a:ext cx="9145588" cy="1146175"/>
          </a:xfrm>
          <a:prstGeom prst="rect">
            <a:avLst/>
          </a:prstGeom>
          <a:noFill/>
          <a:ln w="9525">
            <a:noFill/>
            <a:miter lim="800000"/>
            <a:headEnd/>
            <a:tailEnd/>
          </a:ln>
        </p:spPr>
      </p:pic>
      <p:pic>
        <p:nvPicPr>
          <p:cNvPr id="11" name="Picture 16" descr="fascia">
            <a:extLst>
              <a:ext uri="{FF2B5EF4-FFF2-40B4-BE49-F238E27FC236}">
                <a16:creationId xmlns:a16="http://schemas.microsoft.com/office/drawing/2014/main" id="{7BC0591E-068E-4752-8525-6A05CA7166C5}"/>
              </a:ext>
            </a:extLst>
          </p:cNvPr>
          <p:cNvPicPr>
            <a:picLocks noChangeAspect="1" noChangeArrowheads="1"/>
          </p:cNvPicPr>
          <p:nvPr/>
        </p:nvPicPr>
        <p:blipFill>
          <a:blip r:embed="rId5" cstate="print"/>
          <a:srcRect/>
          <a:stretch>
            <a:fillRect/>
          </a:stretch>
        </p:blipFill>
        <p:spPr bwMode="auto">
          <a:xfrm>
            <a:off x="2089150" y="3777991"/>
            <a:ext cx="10102850" cy="669925"/>
          </a:xfrm>
          <a:prstGeom prst="rect">
            <a:avLst/>
          </a:prstGeom>
          <a:noFill/>
          <a:ln w="9525">
            <a:noFill/>
            <a:miter lim="800000"/>
            <a:headEnd/>
            <a:tailEnd/>
          </a:ln>
        </p:spPr>
      </p:pic>
      <p:sp>
        <p:nvSpPr>
          <p:cNvPr id="3" name="TextBox 13">
            <a:extLst>
              <a:ext uri="{FF2B5EF4-FFF2-40B4-BE49-F238E27FC236}">
                <a16:creationId xmlns:a16="http://schemas.microsoft.com/office/drawing/2014/main" id="{8DCCD7BE-F6E3-9F09-733C-1ED1242ECBF5}"/>
              </a:ext>
            </a:extLst>
          </p:cNvPr>
          <p:cNvSpPr txBox="1"/>
          <p:nvPr/>
        </p:nvSpPr>
        <p:spPr>
          <a:xfrm>
            <a:off x="2089149" y="2113558"/>
            <a:ext cx="9966313" cy="400110"/>
          </a:xfrm>
          <a:prstGeom prst="rect">
            <a:avLst/>
          </a:prstGeom>
          <a:noFill/>
        </p:spPr>
        <p:txBody>
          <a:bodyPr wrap="square" rtlCol="0">
            <a:spAutoFit/>
          </a:bodyPr>
          <a:lstStyle/>
          <a:p>
            <a:r>
              <a:rPr lang="it-IT" sz="2000" b="1" dirty="0">
                <a:latin typeface="Palatino"/>
              </a:rPr>
              <a:t>Alessandro Montanari, Marco Grossi, Alex Falco, Francesco Nasuti</a:t>
            </a:r>
            <a:endParaRPr lang="en-US" sz="1050" dirty="0">
              <a:latin typeface="Palatino"/>
            </a:endParaRPr>
          </a:p>
        </p:txBody>
      </p:sp>
      <p:sp>
        <p:nvSpPr>
          <p:cNvPr id="12" name="TextBox 11"/>
          <p:cNvSpPr txBox="1"/>
          <p:nvPr/>
        </p:nvSpPr>
        <p:spPr>
          <a:xfrm>
            <a:off x="2084831" y="2788920"/>
            <a:ext cx="9363456" cy="365760"/>
          </a:xfrm>
          <a:prstGeom prst="rect">
            <a:avLst/>
          </a:prstGeom>
          <a:noFill/>
        </p:spPr>
        <p:txBody>
          <a:bodyPr wrap="square" anchor="t" lIns="0" rIns="0" tIns="0" bIns="0">
            <a:spAutoFit/>
          </a:bodyPr>
          <a:lstStyle/>
          <a:p>
            <a:pPr algn="l">
              <a:lnSpc>
                <a:spcPct val="100000"/>
              </a:lnSpc>
              <a:spcBef>
                <a:spcPts val="0"/>
              </a:spcBef>
              <a:spcAft>
                <a:spcPts val="400"/>
              </a:spcAft>
            </a:pPr>
            <a:r>
              <a:rPr b="0" i="1" sz="1600">
                <a:solidFill>
                  <a:srgbClr val="808080"/>
                </a:solidFill>
                <a:latin typeface="Palatino Linotype"/>
              </a:rPr>
              <a:t>ESA Technical Briefing — September 2026 — v1.0</a:t>
            </a:r>
          </a:p>
        </p:txBody>
      </p:sp>
    </p:spTree>
    <p:extLst>
      <p:ext uri="{BB962C8B-B14F-4D97-AF65-F5344CB8AC3E}">
        <p14:creationId xmlns:p14="http://schemas.microsoft.com/office/powerpoint/2010/main" val="3990502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FC86B-EBFD-93C9-77B4-5E8725CBD39D}"/>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874C94C2-DEC5-0A92-C343-B7BD5EC77EA7}"/>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473A7EC8-0FD3-29CD-FDE7-74D379E88FDA}"/>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5CC36CA2-08BA-B084-1659-8D5ED4535D8D}"/>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4C9FA66B-FC61-4B2B-8506-0E75ED2AAFB9}"/>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C4ECF365-6E2D-EE13-B782-4F4AC92022B0}"/>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37090B0E-D758-D290-115C-AA796D46CCA1}"/>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p:txBody>
        </p:sp>
      </p:grpSp>
      <p:sp>
        <p:nvSpPr>
          <p:cNvPr id="26" name="Segnaposto data 25">
            <a:extLst>
              <a:ext uri="{FF2B5EF4-FFF2-40B4-BE49-F238E27FC236}">
                <a16:creationId xmlns:a16="http://schemas.microsoft.com/office/drawing/2014/main" id="{AA5FA9FD-7298-168A-922E-6BEE8EDB0AFC}"/>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63898351-0E96-F95D-6880-94ADB3E8889A}"/>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p>
        </p:txBody>
      </p:sp>
      <p:sp>
        <p:nvSpPr>
          <p:cNvPr id="28" name="Segnaposto numero diapositiva 27">
            <a:extLst>
              <a:ext uri="{FF2B5EF4-FFF2-40B4-BE49-F238E27FC236}">
                <a16:creationId xmlns:a16="http://schemas.microsoft.com/office/drawing/2014/main" id="{D7AD9770-D714-5BFE-6856-E71D0D5C54F0}"/>
              </a:ext>
            </a:extLst>
          </p:cNvPr>
          <p:cNvSpPr>
            <a:spLocks noGrp="1"/>
          </p:cNvSpPr>
          <p:nvPr>
            <p:ph type="sldNum" sz="quarter" idx="12"/>
          </p:nvPr>
        </p:nvSpPr>
        <p:spPr/>
        <p:txBody>
          <a:bodyPr/>
          <a:lstStyle/>
          <a:p>
            <a:r>
              <a:rPr sz="1400" b="1">
                <a:solidFill>
                  <a:srgbClr val="FFFFFF"/>
                </a:solidFill>
                <a:latin typeface="Palatino Linotype"/>
              </a:rPr>
              <a:t>2/29</a:t>
            </a:r>
            <a:endParaRPr lang="en-US" dirty="0"/>
          </a:p>
        </p:txBody>
      </p:sp>
      <p:sp>
        <p:nvSpPr>
          <p:cNvPr id="2" name="CasellaDiTesto 1">
            <a:extLst>
              <a:ext uri="{FF2B5EF4-FFF2-40B4-BE49-F238E27FC236}">
                <a16:creationId xmlns:a16="http://schemas.microsoft.com/office/drawing/2014/main" id="{104437D1-2CA7-46DC-935E-BA9D3A2AB9BC}"/>
              </a:ext>
            </a:extLst>
          </p:cNvPr>
          <p:cNvSpPr txBox="1"/>
          <p:nvPr/>
        </p:nvSpPr>
        <p:spPr>
          <a:xfrm>
            <a:off x="292608" y="347472"/>
            <a:ext cx="11612880" cy="868680"/>
          </a:xfrm>
          <a:prstGeom prst="rect">
            <a:avLst/>
          </a:prstGeom>
          <a:noFill/>
        </p:spPr>
        <p:txBody>
          <a:bodyPr vertOverflow="overflow" vert="horz" wrap="square" rtlCol="0" anchor="t" lIns="0" rIns="0" tIns="0" bIns="0">
            <a:noAutofit/>
          </a:body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Research Roads</a:t>
            </a:r>
          </a:p>
        </p:txBody>
      </p:sp>
      <p:sp>
        <p:nvSpPr>
          <p:cNvPr id="5" name="CasellaDiTesto 4">
            <a:extLst>
              <a:ext uri="{FF2B5EF4-FFF2-40B4-BE49-F238E27FC236}">
                <a16:creationId xmlns:a16="http://schemas.microsoft.com/office/drawing/2014/main" id="{61B1FA26-5121-4EF0-AD6C-1B11AC198522}"/>
              </a:ext>
            </a:extLst>
          </p:cNvPr>
          <p:cNvSpPr txBox="1"/>
          <p:nvPr/>
        </p:nvSpPr>
        <p:spPr>
          <a:xfrm>
            <a:off x="330200" y="762000"/>
            <a:ext cx="7620000" cy="520700"/>
          </a:xfrm>
          <a:prstGeom prst="rect">
            <a:avLst/>
          </a:prstGeom>
          <a:noFill/>
        </p:spPr>
        <p:txBody>
          <a:bodyPr vertOverflow="overflow" vert="horz" wrap="square" rtlCol="0" anchor="t">
            <a:noAutofit/>
          </a:bodyPr>
          <a:lstStyle/>
          <a:p>
            <a:pPr>
              <a:spcBef>
                <a:spcPct val="0"/>
              </a:spcBef>
              <a:buClrTx/>
              <a:buNone/>
            </a:pPr>
            <a:r>
              <a:rPr lang="en-US" altLang="en-US" sz="2800" dirty="0" b="1">
                <a:solidFill>
                  <a:srgbClr val="006778"/>
                </a:solidFill>
                <a:effectLst>
                  <a:outerShdw blurRad="38100" dist="38100" dir="2700000" algn="tl">
                    <a:srgbClr val="000000">
                      <a:alpha val="43137"/>
                    </a:srgbClr>
                  </a:outerShdw>
                </a:effectLst>
                <a:latin typeface="Palatino Linotype" panose="02040502050505030304" pitchFamily="18" charset="0"/>
              </a:rPr>
              <a:t>Group Overview</a:t>
            </a:r>
          </a:p>
        </p:txBody>
      </p:sp>
      <p:sp>
        <p:nvSpPr>
          <p:cNvPr id="32" name="CasellaDiTesto 31">
            <a:extLst>
              <a:ext uri="{FF2B5EF4-FFF2-40B4-BE49-F238E27FC236}">
                <a16:creationId xmlns:a16="http://schemas.microsoft.com/office/drawing/2014/main" id="{81B5345C-DC48-4DDD-9412-596AB61F74C6}"/>
              </a:ext>
            </a:extLst>
          </p:cNvPr>
          <p:cNvSpPr txBox="1"/>
          <p:nvPr/>
        </p:nvSpPr>
        <p:spPr>
          <a:xfrm>
            <a:off x="457200" y="1905000"/>
            <a:ext cx="3657600" cy="330200"/>
          </a:xfrm>
          <a:prstGeom prst="rect">
            <a:avLst/>
          </a:prstGeom>
          <a:noFill/>
        </p:spPr>
        <p:txBody>
          <a:bodyPr vertOverflow="overflow" vert="horz" wrap="square" rtlCol="0" anchor="t">
            <a:noAutofit/>
          </a:bodyPr>
          <a:lstStyle/>
          <a:p>
            <a:pPr algn="l">
              <a:buNone/>
            </a:pPr>
            <a:r>
              <a:rPr lang="en-US" b="1" dirty="0">
                <a:solidFill>
                  <a:srgbClr val="006778"/>
                </a:solidFill>
                <a:latin typeface="Palatino Linotype"/>
              </a:rPr>
              <a:t>“Newborn” RDE activity</a:t>
            </a:r>
          </a:p>
        </p:txBody>
      </p:sp>
      <p:sp>
        <p:nvSpPr>
          <p:cNvPr id="33" name="CasellaDiTesto 32">
            <a:extLst>
              <a:ext uri="{FF2B5EF4-FFF2-40B4-BE49-F238E27FC236}">
                <a16:creationId xmlns:a16="http://schemas.microsoft.com/office/drawing/2014/main" id="{D1E12D0C-914F-4EE2-B558-09F043259B0D}"/>
              </a:ext>
            </a:extLst>
          </p:cNvPr>
          <p:cNvSpPr txBox="1"/>
          <p:nvPr/>
        </p:nvSpPr>
        <p:spPr>
          <a:xfrm>
            <a:off x="457200" y="2311400"/>
            <a:ext cx="3657600" cy="1397000"/>
          </a:xfrm>
          <a:prstGeom prst="rect">
            <a:avLst/>
          </a:prstGeom>
          <a:noFill/>
        </p:spPr>
        <p:txBody>
          <a:bodyPr vertOverflow="overflow" vert="horz" wrap="square" rtlCol="0" anchor="t">
            <a:noAutofit/>
          </a:bodyPr>
          <a:lstStyle/>
          <a:p>
            <a:pPr algn="l">
              <a:buNone/>
            </a:pPr>
            <a:r>
              <a:rPr lang="en-US" sz="1800" dirty="0">
                <a:solidFill>
                  <a:srgbClr val="2B2B2B"/>
                </a:solidFill>
                <a:latin typeface="Palatino Linotype"/>
              </a:rPr>
              <a:t>About 1.5 years of active R&amp;D on Rotating Detonation Engines</a:t>
            </a:r>
          </a:p>
        </p:txBody>
      </p:sp>
      <p:sp>
        <p:nvSpPr>
          <p:cNvPr id="34" name="CasellaDiTesto 33">
            <a:extLst>
              <a:ext uri="{FF2B5EF4-FFF2-40B4-BE49-F238E27FC236}">
                <a16:creationId xmlns:a16="http://schemas.microsoft.com/office/drawing/2014/main" id="{5D8E388A-C21D-42E7-B2B7-51013BC20EE0}"/>
              </a:ext>
            </a:extLst>
          </p:cNvPr>
          <p:cNvSpPr txBox="1"/>
          <p:nvPr/>
        </p:nvSpPr>
        <p:spPr>
          <a:xfrm>
            <a:off x="4267200" y="1905000"/>
            <a:ext cx="3657600" cy="330200"/>
          </a:xfrm>
          <a:prstGeom prst="rect">
            <a:avLst/>
          </a:prstGeom>
          <a:noFill/>
        </p:spPr>
        <p:txBody>
          <a:bodyPr vertOverflow="overflow" vert="horz" wrap="square" rtlCol="0" anchor="t">
            <a:noAutofit/>
          </a:bodyPr>
          <a:lstStyle/>
          <a:p>
            <a:pPr algn="l">
              <a:buNone/>
            </a:pPr>
            <a:r>
              <a:rPr lang="en-US" b="1" dirty="0">
                <a:solidFill>
                  <a:srgbClr val="006778"/>
                </a:solidFill>
                <a:latin typeface="Palatino Linotype"/>
              </a:rPr>
              <a:t>Numerical focus</a:t>
            </a:r>
          </a:p>
        </p:txBody>
      </p:sp>
      <p:sp>
        <p:nvSpPr>
          <p:cNvPr id="35" name="CasellaDiTesto 34">
            <a:extLst>
              <a:ext uri="{FF2B5EF4-FFF2-40B4-BE49-F238E27FC236}">
                <a16:creationId xmlns:a16="http://schemas.microsoft.com/office/drawing/2014/main" id="{5E035F9E-8D37-4F0B-9DEC-C74A16B18E21}"/>
              </a:ext>
            </a:extLst>
          </p:cNvPr>
          <p:cNvSpPr txBox="1"/>
          <p:nvPr/>
        </p:nvSpPr>
        <p:spPr>
          <a:xfrm>
            <a:off x="4267200" y="2311400"/>
            <a:ext cx="3657600" cy="1397000"/>
          </a:xfrm>
          <a:prstGeom prst="rect">
            <a:avLst/>
          </a:prstGeom>
          <a:noFill/>
        </p:spPr>
        <p:txBody>
          <a:bodyPr vertOverflow="overflow" vert="horz" wrap="square" rtlCol="0" anchor="t">
            <a:noAutofit/>
          </a:bodyPr>
          <a:lstStyle/>
          <a:p>
            <a:pPr algn="l">
              <a:buNone/>
            </a:pPr>
            <a:r>
              <a:rPr lang="en-US" sz="1800" b="1" dirty="0">
                <a:solidFill>
                  <a:srgbClr val="2B2B2B"/>
                </a:solidFill>
                <a:latin typeface="Palatino Linotype"/>
              </a:rPr>
              <a:t>URANS / low-order in-house modelling of RDEs</a:t>
            </a:r>
            <a:r>
              <a:rPr lang="en-US" sz="1800" dirty="0">
                <a:solidFill>
                  <a:srgbClr val="2B2B2B"/>
                </a:solidFill>
                <a:latin typeface="Palatino Linotype"/>
              </a:rPr>
              <a:t>, oriented to industrially-relevant challenges</a:t>
            </a:r>
          </a:p>
        </p:txBody>
      </p:sp>
      <p:sp>
        <p:nvSpPr>
          <p:cNvPr id="36" name="CasellaDiTesto 35">
            <a:extLst>
              <a:ext uri="{FF2B5EF4-FFF2-40B4-BE49-F238E27FC236}">
                <a16:creationId xmlns:a16="http://schemas.microsoft.com/office/drawing/2014/main" id="{6FC5B8C2-9469-4463-BD8A-E4CB46257960}"/>
              </a:ext>
            </a:extLst>
          </p:cNvPr>
          <p:cNvSpPr txBox="1"/>
          <p:nvPr/>
        </p:nvSpPr>
        <p:spPr>
          <a:xfrm>
            <a:off x="8077200" y="1905000"/>
            <a:ext cx="3657600" cy="330200"/>
          </a:xfrm>
          <a:prstGeom prst="rect">
            <a:avLst/>
          </a:prstGeom>
          <a:noFill/>
        </p:spPr>
        <p:txBody>
          <a:bodyPr vertOverflow="overflow" vert="horz" wrap="square" rtlCol="0" anchor="t">
            <a:noAutofit/>
          </a:bodyPr>
          <a:lstStyle/>
          <a:p>
            <a:pPr algn="l">
              <a:buNone/>
            </a:pPr>
            <a:r>
              <a:rPr lang="en-US" sz="1800" b="1" dirty="0">
                <a:solidFill>
                  <a:srgbClr val="006778"/>
                </a:solidFill>
                <a:latin typeface="Palatino Linotype"/>
              </a:rPr>
              <a:t>International network</a:t>
            </a:r>
          </a:p>
        </p:txBody>
      </p:sp>
      <p:sp>
        <p:nvSpPr>
          <p:cNvPr id="37" name="CasellaDiTesto 36">
            <a:extLst>
              <a:ext uri="{FF2B5EF4-FFF2-40B4-BE49-F238E27FC236}">
                <a16:creationId xmlns:a16="http://schemas.microsoft.com/office/drawing/2014/main" id="{6E273A01-4215-4B72-B8C4-F60896766791}"/>
              </a:ext>
            </a:extLst>
          </p:cNvPr>
          <p:cNvSpPr txBox="1"/>
          <p:nvPr/>
        </p:nvSpPr>
        <p:spPr>
          <a:xfrm>
            <a:off x="8077200" y="2311400"/>
            <a:ext cx="3657600" cy="1397000"/>
          </a:xfrm>
          <a:prstGeom prst="rect">
            <a:avLst/>
          </a:prstGeom>
          <a:noFill/>
        </p:spPr>
        <p:txBody>
          <a:bodyPr vertOverflow="overflow" vert="horz" wrap="square" rtlCol="0" anchor="t">
            <a:noAutofit/>
          </a:bodyPr>
          <a:lstStyle/>
          <a:p>
            <a:pPr algn="l">
              <a:buNone/>
            </a:pPr>
            <a:r>
              <a:rPr lang="en-US" sz="1800" dirty="0">
                <a:solidFill>
                  <a:srgbClr val="2B2B2B"/>
                </a:solidFill>
                <a:latin typeface="Palatino Linotype"/>
              </a:rPr>
              <a:t>Joint RDE activities with </a:t>
            </a:r>
            <a:r>
              <a:rPr lang="en-US" sz="1800" b="1" dirty="0">
                <a:latin typeface="Palatino Linotype"/>
              </a:rPr>
              <a:t>BEFAST Lab</a:t>
            </a:r>
            <a:r>
              <a:rPr lang="en-US" sz="1800" dirty="0">
                <a:latin typeface="Palatino Linotype"/>
              </a:rPr>
              <a:t> </a:t>
            </a:r>
            <a:r>
              <a:rPr lang="en-US" sz="1800" dirty="0">
                <a:solidFill>
                  <a:srgbClr val="2B2B2B"/>
                </a:solidFill>
                <a:latin typeface="Palatino Linotype"/>
              </a:rPr>
              <a:t>(NC State, Prof. James Braun), </a:t>
            </a:r>
            <a:r>
              <a:rPr lang="en-US" sz="1800" b="1" dirty="0">
                <a:solidFill>
                  <a:srgbClr val="2B2B2B"/>
                </a:solidFill>
                <a:latin typeface="Palatino Linotype"/>
              </a:rPr>
              <a:t>RMIT</a:t>
            </a:r>
            <a:r>
              <a:rPr lang="en-US" sz="1800" dirty="0">
                <a:solidFill>
                  <a:srgbClr val="2B2B2B"/>
                </a:solidFill>
                <a:latin typeface="Palatino Linotype"/>
              </a:rPr>
              <a:t> (Quentin Michalski) and </a:t>
            </a:r>
            <a:r>
              <a:rPr lang="en-US" sz="1800" b="1" dirty="0">
                <a:solidFill>
                  <a:srgbClr val="2B2B2B"/>
                </a:solidFill>
                <a:latin typeface="Palatino Linotype"/>
              </a:rPr>
              <a:t>ISAE-ENSMA </a:t>
            </a:r>
            <a:r>
              <a:rPr lang="en-US" sz="1800" dirty="0">
                <a:solidFill>
                  <a:srgbClr val="2B2B2B"/>
                </a:solidFill>
                <a:latin typeface="Palatino Linotype"/>
              </a:rPr>
              <a:t>(Prof. Marc </a:t>
            </a:r>
            <a:r>
              <a:rPr lang="en-US" sz="1800" dirty="0" err="1">
                <a:solidFill>
                  <a:srgbClr val="2B2B2B"/>
                </a:solidFill>
                <a:latin typeface="Palatino Linotype"/>
              </a:rPr>
              <a:t>Bellenoue</a:t>
            </a:r>
            <a:r>
              <a:rPr lang="en-US" sz="1800" dirty="0">
                <a:solidFill>
                  <a:srgbClr val="2B2B2B"/>
                </a:solidFill>
                <a:latin typeface="Palatino Linotype"/>
              </a:rPr>
              <a:t>)</a:t>
            </a:r>
          </a:p>
        </p:txBody>
      </p:sp>
      <p:sp>
        <p:nvSpPr>
          <p:cNvPr id="42" name="CasellaDiTesto 41">
            <a:extLst>
              <a:ext uri="{FF2B5EF4-FFF2-40B4-BE49-F238E27FC236}">
                <a16:creationId xmlns:a16="http://schemas.microsoft.com/office/drawing/2014/main" id="{4141DE4F-1101-4A0E-B36E-8F42D84AA111}"/>
              </a:ext>
            </a:extLst>
          </p:cNvPr>
          <p:cNvSpPr txBox="1"/>
          <p:nvPr/>
        </p:nvSpPr>
        <p:spPr>
          <a:xfrm>
            <a:off x="660400" y="4419600"/>
            <a:ext cx="4800600" cy="381000"/>
          </a:xfrm>
          <a:prstGeom prst="rect">
            <a:avLst/>
          </a:prstGeom>
          <a:noFill/>
        </p:spPr>
        <p:txBody>
          <a:bodyPr vertOverflow="overflow" vert="horz" wrap="square" rtlCol="0" anchor="t">
            <a:noAutofit/>
          </a:bodyPr>
          <a:lstStyle/>
          <a:p>
            <a:pPr algn="l">
              <a:buNone/>
            </a:pPr>
            <a:r>
              <a:rPr lang="en-US" sz="2000" b="1" dirty="0">
                <a:solidFill>
                  <a:srgbClr val="822433"/>
                </a:solidFill>
                <a:latin typeface="Palatino Linotype"/>
              </a:rPr>
              <a:t>HYPERDE</a:t>
            </a:r>
          </a:p>
        </p:txBody>
      </p:sp>
      <p:sp>
        <p:nvSpPr>
          <p:cNvPr id="43" name="CasellaDiTesto 42">
            <a:extLst>
              <a:ext uri="{FF2B5EF4-FFF2-40B4-BE49-F238E27FC236}">
                <a16:creationId xmlns:a16="http://schemas.microsoft.com/office/drawing/2014/main" id="{1570289B-E665-4F47-AD94-3E5CA28119A6}"/>
              </a:ext>
            </a:extLst>
          </p:cNvPr>
          <p:cNvSpPr txBox="1"/>
          <p:nvPr/>
        </p:nvSpPr>
        <p:spPr>
          <a:xfrm>
            <a:off x="660400" y="4838700"/>
            <a:ext cx="4800600" cy="1193800"/>
          </a:xfrm>
          <a:prstGeom prst="rect">
            <a:avLst/>
          </a:prstGeom>
          <a:noFill/>
        </p:spPr>
        <p:txBody>
          <a:bodyPr vertOverflow="overflow" vert="horz" wrap="square" rtlCol="0" anchor="t">
            <a:noAutofit/>
          </a:bodyPr>
          <a:lstStyle/>
          <a:p>
            <a:pPr algn="l">
              <a:buNone/>
            </a:pPr>
            <a:r>
              <a:rPr lang="en-US" sz="1800" dirty="0">
                <a:solidFill>
                  <a:srgbClr val="2B2B2B"/>
                </a:solidFill>
                <a:latin typeface="Palatino Linotype"/>
              </a:rPr>
              <a:t>A </a:t>
            </a:r>
            <a:r>
              <a:rPr lang="en-US" sz="1800" b="1" dirty="0">
                <a:solidFill>
                  <a:srgbClr val="2B2B2B"/>
                </a:solidFill>
                <a:latin typeface="Palatino Linotype"/>
              </a:rPr>
              <a:t>hybrid-dimensional CFD</a:t>
            </a:r>
            <a:r>
              <a:rPr lang="en-US" sz="1800" dirty="0">
                <a:solidFill>
                  <a:srgbClr val="2B2B2B"/>
                </a:solidFill>
                <a:latin typeface="Palatino Linotype"/>
              </a:rPr>
              <a:t> modelling framework that solves chamber, injector, plenum and expansion with a consistent </a:t>
            </a:r>
            <a:r>
              <a:rPr lang="en-US" sz="1800" b="1" dirty="0">
                <a:solidFill>
                  <a:srgbClr val="2B2B2B"/>
                </a:solidFill>
                <a:latin typeface="Palatino Linotype"/>
              </a:rPr>
              <a:t>low-order</a:t>
            </a:r>
            <a:r>
              <a:rPr lang="en-US" sz="1800" dirty="0">
                <a:solidFill>
                  <a:srgbClr val="2B2B2B"/>
                </a:solidFill>
                <a:latin typeface="Palatino Linotype"/>
              </a:rPr>
              <a:t> formulation</a:t>
            </a:r>
          </a:p>
        </p:txBody>
      </p:sp>
      <p:sp>
        <p:nvSpPr>
          <p:cNvPr id="48" name="CasellaDiTesto 47">
            <a:extLst>
              <a:ext uri="{FF2B5EF4-FFF2-40B4-BE49-F238E27FC236}">
                <a16:creationId xmlns:a16="http://schemas.microsoft.com/office/drawing/2014/main" id="{F283DF72-A498-4C1C-BA11-B3FD01A6F63A}"/>
              </a:ext>
            </a:extLst>
          </p:cNvPr>
          <p:cNvSpPr txBox="1"/>
          <p:nvPr/>
        </p:nvSpPr>
        <p:spPr>
          <a:xfrm>
            <a:off x="6426200" y="4419600"/>
            <a:ext cx="5105400" cy="330200"/>
          </a:xfrm>
          <a:prstGeom prst="rect">
            <a:avLst/>
          </a:prstGeom>
          <a:noFill/>
        </p:spPr>
        <p:txBody>
          <a:bodyPr vertOverflow="overflow" vert="horz" wrap="square" rtlCol="0" anchor="t">
            <a:noAutofit/>
          </a:bodyPr>
          <a:lstStyle/>
          <a:p>
            <a:pPr algn="l">
              <a:buNone/>
            </a:pPr>
            <a:r>
              <a:rPr lang="en-US" sz="2000" b="1" dirty="0">
                <a:solidFill>
                  <a:srgbClr val="822433"/>
                </a:solidFill>
                <a:latin typeface="Palatino Linotype"/>
              </a:rPr>
              <a:t>Open research lines</a:t>
            </a:r>
          </a:p>
        </p:txBody>
      </p:sp>
      <p:sp>
        <p:nvSpPr>
          <p:cNvPr id="49" name="CasellaDiTesto 48">
            <a:extLst>
              <a:ext uri="{FF2B5EF4-FFF2-40B4-BE49-F238E27FC236}">
                <a16:creationId xmlns:a16="http://schemas.microsoft.com/office/drawing/2014/main" id="{2576A007-D839-4FF2-98EF-C8DE48169D49}"/>
              </a:ext>
            </a:extLst>
          </p:cNvPr>
          <p:cNvSpPr txBox="1"/>
          <p:nvPr/>
        </p:nvSpPr>
        <p:spPr>
          <a:xfrm>
            <a:off x="6426200" y="4838700"/>
            <a:ext cx="5105400" cy="1143000"/>
          </a:xfrm>
          <a:prstGeom prst="rect">
            <a:avLst/>
          </a:prstGeom>
          <a:noFill/>
        </p:spPr>
        <p:txBody>
          <a:bodyPr vertOverflow="overflow" vert="horz" wrap="square" rtlCol="0" anchor="t">
            <a:noAutofit/>
          </a:bodyPr>
          <a:lstStyle/>
          <a:p>
            <a:pPr algn="l">
              <a:buNone/>
            </a:pPr>
            <a:r>
              <a:rPr lang="en-US" sz="1800" dirty="0">
                <a:solidFill>
                  <a:srgbClr val="2B2B2B"/>
                </a:solidFill>
                <a:latin typeface="Palatino Linotype"/>
              </a:rPr>
              <a:t>Study of </a:t>
            </a:r>
            <a:r>
              <a:rPr lang="en-US" sz="1800" b="1" dirty="0">
                <a:solidFill>
                  <a:srgbClr val="2B2B2B"/>
                </a:solidFill>
                <a:latin typeface="Palatino Linotype"/>
              </a:rPr>
              <a:t>hot topics</a:t>
            </a:r>
            <a:r>
              <a:rPr lang="en-US" sz="1800" dirty="0">
                <a:solidFill>
                  <a:srgbClr val="2B2B2B"/>
                </a:solidFill>
                <a:latin typeface="Palatino Linotype"/>
              </a:rPr>
              <a:t> of the RDE community: </a:t>
            </a:r>
            <a:r>
              <a:rPr lang="en-US" sz="1800" b="1" dirty="0">
                <a:solidFill>
                  <a:srgbClr val="2B2B2B"/>
                </a:solidFill>
                <a:latin typeface="Palatino Linotype"/>
              </a:rPr>
              <a:t>refill region, supersonic bladeless turbines, disk RDEs, nozzle design (→ dedicated section today), heat flux</a:t>
            </a:r>
          </a:p>
        </p:txBody>
      </p:sp>
      <p:sp>
        <p:nvSpPr>
          <p:cNvPr id="8" name="Freccia bidirezionale orizzontale 7">
            <a:extLst>
              <a:ext uri="{FF2B5EF4-FFF2-40B4-BE49-F238E27FC236}">
                <a16:creationId xmlns:a16="http://schemas.microsoft.com/office/drawing/2014/main" id="{580875B1-6291-4AE6-99F0-44CE030A9D96}"/>
              </a:ext>
            </a:extLst>
          </p:cNvPr>
          <p:cNvSpPr/>
          <p:nvPr/>
        </p:nvSpPr>
        <p:spPr>
          <a:xfrm>
            <a:off x="5605780" y="4902200"/>
            <a:ext cx="482600" cy="330200"/>
          </a:xfrm>
          <a:prstGeom prst="leftRightArrow">
            <a:avLst/>
          </a:prstGeom>
          <a:solidFill>
            <a:srgbClr val="82243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9" name="Rettangolo 8">
            <a:extLst>
              <a:ext uri="{FF2B5EF4-FFF2-40B4-BE49-F238E27FC236}">
                <a16:creationId xmlns:a16="http://schemas.microsoft.com/office/drawing/2014/main" id="{9D2B3C86-520F-4F3F-9CA6-C429A92058F3}"/>
              </a:ext>
            </a:extLst>
          </p:cNvPr>
          <p:cNvSpPr/>
          <p:nvPr/>
        </p:nvSpPr>
        <p:spPr>
          <a:xfrm>
            <a:off x="457200" y="3962400"/>
            <a:ext cx="11277600" cy="12700"/>
          </a:xfrm>
          <a:prstGeom prst="rect">
            <a:avLst/>
          </a:prstGeom>
          <a:solidFill>
            <a:srgbClr val="82243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Tree>
    <p:extLst>
      <p:ext uri="{BB962C8B-B14F-4D97-AF65-F5344CB8AC3E}">
        <p14:creationId xmlns:p14="http://schemas.microsoft.com/office/powerpoint/2010/main" val="1630728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o 6">
            <a:extLst>
              <a:ext uri="{FF2B5EF4-FFF2-40B4-BE49-F238E27FC236}">
                <a16:creationId xmlns:a16="http://schemas.microsoft.com/office/drawing/2014/main" id="{1F84AA2B-C0DA-46D0-99FC-44CBA2D0FEFE}"/>
              </a:ext>
            </a:extLst>
          </p:cNvPr>
          <p:cNvGrpSpPr/>
          <p:nvPr/>
        </p:nvGrpSpPr>
        <p:grpSpPr>
          <a:xfrm>
            <a:off x="0" y="6108700"/>
            <a:ext cx="12191995" cy="741549"/>
            <a:chOff x="7950" y="6134100"/>
            <a:chExt cx="12184045" cy="741549"/>
          </a:xfrm>
        </p:grpSpPr>
        <p:grpSp>
          <p:nvGrpSpPr>
            <p:cNvPr id="4" name="Gruppo 3">
              <a:extLst>
                <a:ext uri="{FF2B5EF4-FFF2-40B4-BE49-F238E27FC236}">
                  <a16:creationId xmlns:a16="http://schemas.microsoft.com/office/drawing/2014/main" id="{4A3AFDE9-682F-432A-B9A1-CA5AD8BFEB74}"/>
                </a:ext>
              </a:extLst>
            </p:cNvPr>
            <p:cNvGrpSpPr/>
            <p:nvPr/>
          </p:nvGrpSpPr>
          <p:grpSpPr>
            <a:xfrm>
              <a:off x="7950" y="6134100"/>
              <a:ext cx="12184045" cy="741549"/>
              <a:chOff x="0" y="6134100"/>
              <a:chExt cx="12192000" cy="741549"/>
            </a:xfrm>
          </p:grpSpPr>
          <p:sp>
            <p:nvSpPr>
              <p:cNvPr id="10" name="Rectangle 23">
                <a:extLst>
                  <a:ext uri="{FF2B5EF4-FFF2-40B4-BE49-F238E27FC236}">
                    <a16:creationId xmlns:a16="http://schemas.microsoft.com/office/drawing/2014/main" id="{D59BAA97-5D78-47BC-8B68-8FCE3C2E807E}"/>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93E522A-FDF1-4841-8AA7-61343D7133EA}"/>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8DFF130E-DAC8-41F8-8F41-E25BF02D81F4}"/>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A884649D-C4B6-437F-9DD4-3F312512391D}"/>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3</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6CAC7D4E-C999-4B37-B5EC-2B1C5ABAE6EF}"/>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8" name="Segnaposto numero diapositiva 27">
            <a:extLst>
              <a:ext uri="{FF2B5EF4-FFF2-40B4-BE49-F238E27FC236}">
                <a16:creationId xmlns:a16="http://schemas.microsoft.com/office/drawing/2014/main" id="{DF6BED3D-2820-4F77-9CA6-572921EC8FAF}"/>
              </a:ext>
            </a:extLst>
          </p:cNvPr>
          <p:cNvSpPr>
            <a:spLocks noGrp="1"/>
          </p:cNvSpPr>
          <p:nvPr>
            <p:ph type="sldNum" sz="quarter" idx="12"/>
          </p:nvPr>
        </p:nvSpPr>
        <p:spPr/>
        <p:txBody>
          <a:bodyPr/>
          <a:lstStyle/>
          <a:p>
            <a:r>
              <a:rPr sz="1400" b="1">
                <a:solidFill>
                  <a:srgbClr val="FFFFFF"/>
                </a:solidFill>
                <a:latin typeface="Palatino Linotype"/>
              </a:rPr>
              <a:t>5/29</a:t>
            </a:r>
            <a:endParaRPr lang="en-US" dirty="0"/>
          </a:p>
        </p:txBody>
      </p:sp>
      <p:sp>
        <p:nvSpPr>
          <p:cNvPr id="6" name="Titolo 1">
            <a:extLst>
              <a:ext uri="{FF2B5EF4-FFF2-40B4-BE49-F238E27FC236}">
                <a16:creationId xmlns:a16="http://schemas.microsoft.com/office/drawing/2014/main" id="{7DBC8FCA-716A-C751-D6AA-382B065DE7EE}"/>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2" name="CasellaDiTesto 1">
            <a:extLst>
              <a:ext uri="{FF2B5EF4-FFF2-40B4-BE49-F238E27FC236}">
                <a16:creationId xmlns:a16="http://schemas.microsoft.com/office/drawing/2014/main" id="{08CD1154-C830-0734-7691-BC44324DF6AB}"/>
              </a:ext>
            </a:extLst>
          </p:cNvPr>
          <p:cNvSpPr txBox="1"/>
          <p:nvPr/>
        </p:nvSpPr>
        <p:spPr>
          <a:xfrm>
            <a:off x="469900" y="952500"/>
            <a:ext cx="11531600" cy="830997"/>
          </a:xfrm>
          <a:prstGeom prst="rect">
            <a:avLst/>
          </a:prstGeom>
          <a:noFill/>
        </p:spPr>
        <p:txBody>
          <a:bodyPr wrap="square">
            <a:spAutoFit/>
          </a:bodyPr>
          <a:lstStyle/>
          <a:p>
            <a:pPr algn="l">
              <a:buNone/>
            </a:pPr>
            <a:r>
              <a:rPr lang="en-US" sz="2800" b="1" dirty="0">
                <a:solidFill>
                  <a:srgbClr val="006778"/>
                </a:solidFill>
                <a:effectLst>
                  <a:outerShdw blurRad="38100" dist="38100" dir="2700000" algn="tl">
                    <a:srgbClr val="000000">
                      <a:alpha val="43137"/>
                    </a:srgbClr>
                  </a:outerShdw>
                </a:effectLst>
                <a:latin typeface="Palatino Linotype"/>
              </a:rPr>
              <a:t>HYPERDE</a:t>
            </a:r>
            <a:r>
              <a:rPr lang="en-US" sz="2800" dirty="0" b="1">
                <a:solidFill>
                  <a:srgbClr val="006778"/>
                </a:solidFill>
                <a:effectLst>
                  <a:outerShdw blurRad="38100" dist="38100" dir="2700000" algn="tl">
                    <a:srgbClr val="000000">
                      <a:alpha val="43137"/>
                    </a:srgbClr>
                  </a:outerShdw>
                </a:effectLst>
                <a:latin typeface="Palatino Linotype"/>
              </a:rPr>
              <a:t>  (</a:t>
            </a:r>
            <a:r>
              <a:rPr lang="en-US" sz="2800" b="1" dirty="0">
                <a:solidFill>
                  <a:srgbClr val="006778"/>
                </a:solidFill>
                <a:effectLst>
                  <a:outerShdw blurRad="38100" dist="38100" dir="2700000" algn="tl">
                    <a:srgbClr val="000000">
                      <a:alpha val="43137"/>
                    </a:srgbClr>
                  </a:outerShdw>
                </a:effectLst>
                <a:latin typeface="Palatino Linotype"/>
              </a:rPr>
              <a:t>HY</a:t>
            </a:r>
            <a:r>
              <a:rPr lang="en-US" sz="2800" dirty="0" b="1">
                <a:solidFill>
                  <a:srgbClr val="006778"/>
                </a:solidFill>
                <a:effectLst>
                  <a:outerShdw blurRad="38100" dist="38100" dir="2700000" algn="tl">
                    <a:srgbClr val="000000">
                      <a:alpha val="43137"/>
                    </a:srgbClr>
                  </a:outerShdw>
                </a:effectLst>
                <a:latin typeface="Palatino Linotype"/>
              </a:rPr>
              <a:t>brid-dimensional </a:t>
            </a:r>
            <a:r>
              <a:rPr lang="en-US" sz="2800" b="1" dirty="0">
                <a:solidFill>
                  <a:srgbClr val="006778"/>
                </a:solidFill>
                <a:effectLst>
                  <a:outerShdw blurRad="38100" dist="38100" dir="2700000" algn="tl">
                    <a:srgbClr val="000000">
                      <a:alpha val="43137"/>
                    </a:srgbClr>
                  </a:outerShdw>
                </a:effectLst>
                <a:latin typeface="Palatino Linotype"/>
              </a:rPr>
              <a:t>PER</a:t>
            </a:r>
            <a:r>
              <a:rPr lang="en-US" sz="2800" dirty="0" b="1">
                <a:solidFill>
                  <a:srgbClr val="006778"/>
                </a:solidFill>
                <a:effectLst>
                  <a:outerShdw blurRad="38100" dist="38100" dir="2700000" algn="tl">
                    <a:srgbClr val="000000">
                      <a:alpha val="43137"/>
                    </a:srgbClr>
                  </a:outerShdw>
                </a:effectLst>
                <a:latin typeface="Palatino Linotype"/>
              </a:rPr>
              <a:t>formance-predictive numerical framework for </a:t>
            </a:r>
            <a:r>
              <a:rPr lang="en-US" sz="2800" b="1" dirty="0">
                <a:solidFill>
                  <a:srgbClr val="006778"/>
                </a:solidFill>
                <a:effectLst>
                  <a:outerShdw blurRad="38100" dist="38100" dir="2700000" algn="tl">
                    <a:srgbClr val="000000">
                      <a:alpha val="43137"/>
                    </a:srgbClr>
                  </a:outerShdw>
                </a:effectLst>
                <a:latin typeface="Palatino Linotype"/>
              </a:rPr>
              <a:t>R</a:t>
            </a:r>
            <a:r>
              <a:rPr lang="en-US" sz="2800" dirty="0" b="1">
                <a:solidFill>
                  <a:srgbClr val="006778"/>
                </a:solidFill>
                <a:effectLst>
                  <a:outerShdw blurRad="38100" dist="38100" dir="2700000" algn="tl">
                    <a:srgbClr val="000000">
                      <a:alpha val="43137"/>
                    </a:srgbClr>
                  </a:outerShdw>
                </a:effectLst>
                <a:latin typeface="Palatino Linotype"/>
              </a:rPr>
              <a:t>otating </a:t>
            </a:r>
            <a:r>
              <a:rPr lang="en-US" sz="2800" b="1" dirty="0">
                <a:solidFill>
                  <a:srgbClr val="006778"/>
                </a:solidFill>
                <a:effectLst>
                  <a:outerShdw blurRad="38100" dist="38100" dir="2700000" algn="tl">
                    <a:srgbClr val="000000">
                      <a:alpha val="43137"/>
                    </a:srgbClr>
                  </a:outerShdw>
                </a:effectLst>
                <a:latin typeface="Palatino Linotype"/>
              </a:rPr>
              <a:t>D</a:t>
            </a:r>
            <a:r>
              <a:rPr lang="en-US" sz="2800" dirty="0" b="1">
                <a:solidFill>
                  <a:srgbClr val="006778"/>
                </a:solidFill>
                <a:effectLst>
                  <a:outerShdw blurRad="38100" dist="38100" dir="2700000" algn="tl">
                    <a:srgbClr val="000000">
                      <a:alpha val="43137"/>
                    </a:srgbClr>
                  </a:outerShdw>
                </a:effectLst>
                <a:latin typeface="Palatino Linotype"/>
              </a:rPr>
              <a:t>etonation </a:t>
            </a:r>
            <a:r>
              <a:rPr lang="en-US" sz="2800" b="1" dirty="0">
                <a:solidFill>
                  <a:srgbClr val="006778"/>
                </a:solidFill>
                <a:effectLst>
                  <a:outerShdw blurRad="38100" dist="38100" dir="2700000" algn="tl">
                    <a:srgbClr val="000000">
                      <a:alpha val="43137"/>
                    </a:srgbClr>
                  </a:outerShdw>
                </a:effectLst>
                <a:latin typeface="Palatino Linotype"/>
              </a:rPr>
              <a:t>E</a:t>
            </a:r>
            <a:r>
              <a:rPr lang="en-US" sz="2800" dirty="0" b="1">
                <a:solidFill>
                  <a:srgbClr val="006778"/>
                </a:solidFill>
                <a:effectLst>
                  <a:outerShdw blurRad="38100" dist="38100" dir="2700000" algn="tl">
                    <a:srgbClr val="000000">
                      <a:alpha val="43137"/>
                    </a:srgbClr>
                  </a:outerShdw>
                </a:effectLst>
                <a:latin typeface="Palatino Linotype"/>
              </a:rPr>
              <a:t>ngines)</a:t>
            </a:r>
          </a:p>
        </p:txBody>
      </p:sp>
      <p:sp>
        <p:nvSpPr>
          <p:cNvPr id="9" name="Segnaposto piè di pagina 26">
            <a:extLst>
              <a:ext uri="{FF2B5EF4-FFF2-40B4-BE49-F238E27FC236}">
                <a16:creationId xmlns:a16="http://schemas.microsoft.com/office/drawing/2014/main" id="{DA64EF43-31BE-FA45-3220-C9F37CE91BF0}"/>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p>
        </p:txBody>
      </p:sp>
      <p:sp>
        <p:nvSpPr>
          <p:cNvPr id="11" name="CasellaDiTesto 10">
            <a:extLst>
              <a:ext uri="{FF2B5EF4-FFF2-40B4-BE49-F238E27FC236}">
                <a16:creationId xmlns:a16="http://schemas.microsoft.com/office/drawing/2014/main" id="{E29A7C46-483F-4D38-8459-ECA98CD31A29}"/>
              </a:ext>
            </a:extLst>
          </p:cNvPr>
          <p:cNvSpPr txBox="1"/>
          <p:nvPr/>
        </p:nvSpPr>
        <p:spPr>
          <a:xfrm>
            <a:off x="457200" y="2540000"/>
            <a:ext cx="5207000" cy="406400"/>
          </a:xfrm>
          <a:prstGeom prst="rect">
            <a:avLst/>
          </a:prstGeom>
          <a:noFill/>
        </p:spPr>
        <p:txBody>
          <a:bodyPr vertOverflow="overflow" vert="horz" wrap="none" rtlCol="0" anchor="t">
            <a:noAutofit/>
          </a:bodyPr>
          <a:lstStyle/>
          <a:p>
            <a:pPr algn="l">
              <a:buNone/>
            </a:pPr>
            <a:r>
              <a:rPr lang="en-US" sz="2200" b="1" dirty="0">
                <a:solidFill>
                  <a:srgbClr val="822433"/>
                </a:solidFill>
                <a:latin typeface="Palatino Linotype"/>
              </a:rPr>
              <a:t>Chamber</a:t>
            </a:r>
          </a:p>
        </p:txBody>
      </p:sp>
      <p:sp>
        <p:nvSpPr>
          <p:cNvPr id="13" name="CasellaDiTesto 12">
            <a:extLst>
              <a:ext uri="{FF2B5EF4-FFF2-40B4-BE49-F238E27FC236}">
                <a16:creationId xmlns:a16="http://schemas.microsoft.com/office/drawing/2014/main" id="{4C25D3B0-3F30-4C41-88C7-D144BB1C3455}"/>
              </a:ext>
            </a:extLst>
          </p:cNvPr>
          <p:cNvSpPr txBox="1"/>
          <p:nvPr/>
        </p:nvSpPr>
        <p:spPr>
          <a:xfrm>
            <a:off x="457200" y="2946400"/>
            <a:ext cx="5207000" cy="228600"/>
          </a:xfrm>
          <a:prstGeom prst="rect">
            <a:avLst/>
          </a:prstGeom>
          <a:noFill/>
        </p:spPr>
        <p:txBody>
          <a:bodyPr vertOverflow="overflow" vert="horz" wrap="none" rtlCol="0" anchor="t">
            <a:noAutofit/>
          </a:bodyPr>
          <a:lstStyle/>
          <a:p>
            <a:pPr algn="l">
              <a:buNone/>
            </a:pPr>
            <a:r>
              <a:rPr lang="en-US" sz="1400" b="1" dirty="0">
                <a:solidFill>
                  <a:srgbClr val="822433"/>
                </a:solidFill>
                <a:latin typeface="Palatino Linotype"/>
              </a:rPr>
              <a:t>3D  /  Q2D (unwrapped)</a:t>
            </a:r>
          </a:p>
        </p:txBody>
      </p:sp>
      <p:sp>
        <p:nvSpPr>
          <p:cNvPr id="14" name="CasellaDiTesto 13">
            <a:extLst>
              <a:ext uri="{FF2B5EF4-FFF2-40B4-BE49-F238E27FC236}">
                <a16:creationId xmlns:a16="http://schemas.microsoft.com/office/drawing/2014/main" id="{060A9ED3-DC00-4080-ADD8-6CA812E9EFC4}"/>
              </a:ext>
            </a:extLst>
          </p:cNvPr>
          <p:cNvSpPr txBox="1"/>
          <p:nvPr/>
        </p:nvSpPr>
        <p:spPr>
          <a:xfrm>
            <a:off x="457200" y="3175000"/>
            <a:ext cx="5207000" cy="1079500"/>
          </a:xfrm>
          <a:prstGeom prst="rect">
            <a:avLst/>
          </a:prstGeom>
          <a:noFill/>
        </p:spPr>
        <p:txBody>
          <a:bodyPr vertOverflow="overflow" vert="horz" wrap="square" rtlCol="0" anchor="t">
            <a:noAutofit/>
          </a:bodyPr>
          <a:lstStyle/>
          <a:p>
            <a:pPr algn="l">
              <a:buNone/>
            </a:pPr>
            <a:r>
              <a:rPr lang="en-US" sz="1800" b="1" dirty="0">
                <a:solidFill>
                  <a:srgbClr val="2B2B2B"/>
                </a:solidFill>
                <a:latin typeface="Palatino Linotype"/>
              </a:rPr>
              <a:t>Fully 3D</a:t>
            </a:r>
            <a:r>
              <a:rPr lang="en-US" sz="1800" dirty="0">
                <a:solidFill>
                  <a:srgbClr val="2B2B2B"/>
                </a:solidFill>
                <a:latin typeface="Palatino Linotype"/>
              </a:rPr>
              <a:t> or </a:t>
            </a:r>
            <a:r>
              <a:rPr lang="en-US" sz="1800" b="1" dirty="0">
                <a:solidFill>
                  <a:srgbClr val="2B2B2B"/>
                </a:solidFill>
                <a:latin typeface="Palatino Linotype"/>
              </a:rPr>
              <a:t>“unwrapped” Q2D</a:t>
            </a:r>
            <a:r>
              <a:rPr lang="en-US" sz="1800" dirty="0">
                <a:solidFill>
                  <a:srgbClr val="2B2B2B"/>
                </a:solidFill>
                <a:latin typeface="Palatino Linotype"/>
              </a:rPr>
              <a:t> URANS/Eulerian solver for the annular chamber</a:t>
            </a:r>
          </a:p>
        </p:txBody>
      </p:sp>
      <p:sp>
        <p:nvSpPr>
          <p:cNvPr id="16" name="CasellaDiTesto 15">
            <a:extLst>
              <a:ext uri="{FF2B5EF4-FFF2-40B4-BE49-F238E27FC236}">
                <a16:creationId xmlns:a16="http://schemas.microsoft.com/office/drawing/2014/main" id="{03F92AC0-7F97-4B89-9548-0DAC469F2BF4}"/>
              </a:ext>
            </a:extLst>
          </p:cNvPr>
          <p:cNvSpPr txBox="1"/>
          <p:nvPr/>
        </p:nvSpPr>
        <p:spPr>
          <a:xfrm>
            <a:off x="6527800" y="2540000"/>
            <a:ext cx="5207000" cy="406400"/>
          </a:xfrm>
          <a:prstGeom prst="rect">
            <a:avLst/>
          </a:prstGeom>
          <a:noFill/>
        </p:spPr>
        <p:txBody>
          <a:bodyPr vertOverflow="overflow" vert="horz" wrap="none" rtlCol="0" anchor="t">
            <a:noAutofit/>
          </a:bodyPr>
          <a:lstStyle/>
          <a:p>
            <a:pPr algn="l">
              <a:buNone/>
            </a:pPr>
            <a:r>
              <a:rPr lang="en-US" sz="2200" b="1" dirty="0">
                <a:solidFill>
                  <a:srgbClr val="006778"/>
                </a:solidFill>
                <a:latin typeface="Palatino Linotype"/>
              </a:rPr>
              <a:t>Plenum</a:t>
            </a:r>
          </a:p>
        </p:txBody>
      </p:sp>
      <p:sp>
        <p:nvSpPr>
          <p:cNvPr id="17" name="CasellaDiTesto 16">
            <a:extLst>
              <a:ext uri="{FF2B5EF4-FFF2-40B4-BE49-F238E27FC236}">
                <a16:creationId xmlns:a16="http://schemas.microsoft.com/office/drawing/2014/main" id="{2B0F40AC-75F6-4BC6-A14F-6D9F099661F6}"/>
              </a:ext>
            </a:extLst>
          </p:cNvPr>
          <p:cNvSpPr txBox="1"/>
          <p:nvPr/>
        </p:nvSpPr>
        <p:spPr>
          <a:xfrm>
            <a:off x="6527800" y="2946400"/>
            <a:ext cx="5207000" cy="228600"/>
          </a:xfrm>
          <a:prstGeom prst="rect">
            <a:avLst/>
          </a:prstGeom>
          <a:noFill/>
        </p:spPr>
        <p:txBody>
          <a:bodyPr vertOverflow="overflow" vert="horz" wrap="none" rtlCol="0" anchor="t">
            <a:noAutofit/>
          </a:bodyPr>
          <a:lstStyle/>
          <a:p>
            <a:pPr algn="l">
              <a:buNone/>
            </a:pPr>
            <a:r>
              <a:rPr lang="en-US" sz="1400" b="1" dirty="0">
                <a:solidFill>
                  <a:srgbClr val="006778"/>
                </a:solidFill>
                <a:latin typeface="Palatino Linotype"/>
              </a:rPr>
              <a:t>3D  /  Q2D</a:t>
            </a:r>
          </a:p>
        </p:txBody>
      </p:sp>
      <p:sp>
        <p:nvSpPr>
          <p:cNvPr id="18" name="CasellaDiTesto 17">
            <a:extLst>
              <a:ext uri="{FF2B5EF4-FFF2-40B4-BE49-F238E27FC236}">
                <a16:creationId xmlns:a16="http://schemas.microsoft.com/office/drawing/2014/main" id="{80EDD2AE-DF7D-40A2-8DC4-B7470EB8CEB5}"/>
              </a:ext>
            </a:extLst>
          </p:cNvPr>
          <p:cNvSpPr txBox="1"/>
          <p:nvPr/>
        </p:nvSpPr>
        <p:spPr>
          <a:xfrm>
            <a:off x="6527800" y="3175000"/>
            <a:ext cx="5207000" cy="1079500"/>
          </a:xfrm>
          <a:prstGeom prst="rect">
            <a:avLst/>
          </a:prstGeom>
          <a:noFill/>
        </p:spPr>
        <p:txBody>
          <a:bodyPr vertOverflow="overflow" vert="horz" wrap="square" rtlCol="0" anchor="t">
            <a:noAutofit/>
          </a:bodyPr>
          <a:lstStyle/>
          <a:p>
            <a:pPr algn="l">
              <a:buNone/>
            </a:pPr>
            <a:r>
              <a:rPr lang="en-US" sz="1800" b="1" dirty="0">
                <a:solidFill>
                  <a:srgbClr val="2B2B2B"/>
                </a:solidFill>
                <a:latin typeface="Palatino Linotype"/>
              </a:rPr>
              <a:t>Fully 3D</a:t>
            </a:r>
            <a:r>
              <a:rPr lang="en-US" sz="1800" dirty="0">
                <a:solidFill>
                  <a:srgbClr val="2B2B2B"/>
                </a:solidFill>
                <a:latin typeface="Palatino Linotype"/>
              </a:rPr>
              <a:t> (2D for unwrapped) solver for the upstream feed plenum</a:t>
            </a:r>
          </a:p>
        </p:txBody>
      </p:sp>
      <p:sp>
        <p:nvSpPr>
          <p:cNvPr id="19" name="CasellaDiTesto 18">
            <a:extLst>
              <a:ext uri="{FF2B5EF4-FFF2-40B4-BE49-F238E27FC236}">
                <a16:creationId xmlns:a16="http://schemas.microsoft.com/office/drawing/2014/main" id="{67FF628A-91DD-4E3D-93BE-86A1B9CBF725}"/>
              </a:ext>
            </a:extLst>
          </p:cNvPr>
          <p:cNvSpPr txBox="1"/>
          <p:nvPr/>
        </p:nvSpPr>
        <p:spPr>
          <a:xfrm>
            <a:off x="457200" y="4381500"/>
            <a:ext cx="5207000" cy="406400"/>
          </a:xfrm>
          <a:prstGeom prst="rect">
            <a:avLst/>
          </a:prstGeom>
          <a:noFill/>
        </p:spPr>
        <p:txBody>
          <a:bodyPr vertOverflow="overflow" vert="horz" wrap="none" rtlCol="0" anchor="t">
            <a:noAutofit/>
          </a:bodyPr>
          <a:lstStyle/>
          <a:p>
            <a:pPr algn="l">
              <a:buNone/>
            </a:pPr>
            <a:r>
              <a:rPr lang="en-US" sz="2200" b="1" dirty="0">
                <a:solidFill>
                  <a:srgbClr val="006778"/>
                </a:solidFill>
                <a:latin typeface="Palatino Linotype"/>
              </a:rPr>
              <a:t>Injectors</a:t>
            </a:r>
          </a:p>
        </p:txBody>
      </p:sp>
      <p:sp>
        <p:nvSpPr>
          <p:cNvPr id="20" name="CasellaDiTesto 19">
            <a:extLst>
              <a:ext uri="{FF2B5EF4-FFF2-40B4-BE49-F238E27FC236}">
                <a16:creationId xmlns:a16="http://schemas.microsoft.com/office/drawing/2014/main" id="{4ECA1ED1-C9A8-4B9E-B456-D48A843AA112}"/>
              </a:ext>
            </a:extLst>
          </p:cNvPr>
          <p:cNvSpPr txBox="1"/>
          <p:nvPr/>
        </p:nvSpPr>
        <p:spPr>
          <a:xfrm>
            <a:off x="457200" y="4762500"/>
            <a:ext cx="5207000" cy="228600"/>
          </a:xfrm>
          <a:prstGeom prst="rect">
            <a:avLst/>
          </a:prstGeom>
          <a:noFill/>
        </p:spPr>
        <p:txBody>
          <a:bodyPr vertOverflow="overflow" vert="horz" wrap="none" rtlCol="0" anchor="t">
            <a:noAutofit/>
          </a:bodyPr>
          <a:lstStyle/>
          <a:p>
            <a:pPr algn="l">
              <a:buNone/>
            </a:pPr>
            <a:r>
              <a:rPr lang="en-US" sz="1400" b="1" dirty="0">
                <a:solidFill>
                  <a:srgbClr val="006778"/>
                </a:solidFill>
                <a:latin typeface="Palatino Linotype"/>
              </a:rPr>
              <a:t>3D  /  Q2D  /  Eulerian quasi-1D</a:t>
            </a:r>
          </a:p>
        </p:txBody>
      </p:sp>
      <p:sp>
        <p:nvSpPr>
          <p:cNvPr id="24" name="CasellaDiTesto 23">
            <a:extLst>
              <a:ext uri="{FF2B5EF4-FFF2-40B4-BE49-F238E27FC236}">
                <a16:creationId xmlns:a16="http://schemas.microsoft.com/office/drawing/2014/main" id="{01646756-38C0-4842-945F-E3E0C8A400A1}"/>
              </a:ext>
            </a:extLst>
          </p:cNvPr>
          <p:cNvSpPr txBox="1"/>
          <p:nvPr/>
        </p:nvSpPr>
        <p:spPr>
          <a:xfrm>
            <a:off x="457200" y="5016500"/>
            <a:ext cx="5207000" cy="1079500"/>
          </a:xfrm>
          <a:prstGeom prst="rect">
            <a:avLst/>
          </a:prstGeom>
          <a:noFill/>
        </p:spPr>
        <p:txBody>
          <a:bodyPr vertOverflow="overflow" vert="horz" wrap="square" rtlCol="0" anchor="t">
            <a:noAutofit/>
          </a:bodyPr>
          <a:lstStyle/>
          <a:p>
            <a:pPr algn="l">
              <a:buNone/>
            </a:pPr>
            <a:r>
              <a:rPr lang="en-US" sz="1800" b="1" dirty="0">
                <a:solidFill>
                  <a:srgbClr val="2B2B2B"/>
                </a:solidFill>
                <a:latin typeface="Palatino Linotype"/>
              </a:rPr>
              <a:t>Quasi-1D</a:t>
            </a:r>
            <a:r>
              <a:rPr lang="en-US" sz="1800" dirty="0">
                <a:solidFill>
                  <a:srgbClr val="2B2B2B"/>
                </a:solidFill>
                <a:latin typeface="Palatino Linotype"/>
              </a:rPr>
              <a:t> solver captures the </a:t>
            </a:r>
            <a:r>
              <a:rPr lang="en-US" sz="1800" b="1" dirty="0">
                <a:solidFill>
                  <a:srgbClr val="2B2B2B"/>
                </a:solidFill>
                <a:latin typeface="Palatino Linotype"/>
              </a:rPr>
              <a:t>longitudinal transient response</a:t>
            </a:r>
            <a:r>
              <a:rPr lang="en-US" sz="1800" dirty="0">
                <a:solidFill>
                  <a:srgbClr val="2B2B2B"/>
                </a:solidFill>
                <a:latin typeface="Palatino Linotype"/>
              </a:rPr>
              <a:t> in strongly injector-coupled cases</a:t>
            </a:r>
          </a:p>
        </p:txBody>
      </p:sp>
      <p:sp>
        <p:nvSpPr>
          <p:cNvPr id="25" name="CasellaDiTesto 24">
            <a:extLst>
              <a:ext uri="{FF2B5EF4-FFF2-40B4-BE49-F238E27FC236}">
                <a16:creationId xmlns:a16="http://schemas.microsoft.com/office/drawing/2014/main" id="{9863DF74-AFAF-44DC-9E34-36FFB753CD33}"/>
              </a:ext>
            </a:extLst>
          </p:cNvPr>
          <p:cNvSpPr txBox="1"/>
          <p:nvPr/>
        </p:nvSpPr>
        <p:spPr>
          <a:xfrm>
            <a:off x="6527800" y="4381500"/>
            <a:ext cx="5207000" cy="406400"/>
          </a:xfrm>
          <a:prstGeom prst="rect">
            <a:avLst/>
          </a:prstGeom>
          <a:noFill/>
        </p:spPr>
        <p:txBody>
          <a:bodyPr vertOverflow="overflow" vert="horz" wrap="none" rtlCol="0" anchor="t">
            <a:noAutofit/>
          </a:bodyPr>
          <a:lstStyle/>
          <a:p>
            <a:pPr algn="l">
              <a:buNone/>
            </a:pPr>
            <a:r>
              <a:rPr lang="en-US" sz="2200" b="1" dirty="0">
                <a:solidFill>
                  <a:srgbClr val="822433"/>
                </a:solidFill>
                <a:latin typeface="Palatino Linotype"/>
              </a:rPr>
              <a:t>Expansion System</a:t>
            </a:r>
          </a:p>
        </p:txBody>
      </p:sp>
      <p:sp>
        <p:nvSpPr>
          <p:cNvPr id="27" name="CasellaDiTesto 26">
            <a:extLst>
              <a:ext uri="{FF2B5EF4-FFF2-40B4-BE49-F238E27FC236}">
                <a16:creationId xmlns:a16="http://schemas.microsoft.com/office/drawing/2014/main" id="{E4073B55-3DE6-44EC-8A3E-88BB40840A97}"/>
              </a:ext>
            </a:extLst>
          </p:cNvPr>
          <p:cNvSpPr txBox="1"/>
          <p:nvPr/>
        </p:nvSpPr>
        <p:spPr>
          <a:xfrm>
            <a:off x="6527800" y="4762500"/>
            <a:ext cx="5207000" cy="228600"/>
          </a:xfrm>
          <a:prstGeom prst="rect">
            <a:avLst/>
          </a:prstGeom>
          <a:noFill/>
        </p:spPr>
        <p:txBody>
          <a:bodyPr vertOverflow="overflow" vert="horz" wrap="none" rtlCol="0" anchor="t">
            <a:noAutofit/>
          </a:bodyPr>
          <a:lstStyle/>
          <a:p>
            <a:pPr algn="l">
              <a:buNone/>
            </a:pPr>
            <a:r>
              <a:rPr lang="en-US" sz="1400" b="1" dirty="0">
                <a:solidFill>
                  <a:srgbClr val="822433"/>
                </a:solidFill>
                <a:latin typeface="Palatino Linotype"/>
              </a:rPr>
              <a:t>3D URANS  /  Q2D chamber coupling</a:t>
            </a:r>
          </a:p>
        </p:txBody>
      </p:sp>
      <p:sp>
        <p:nvSpPr>
          <p:cNvPr id="29" name="CasellaDiTesto 28">
            <a:extLst>
              <a:ext uri="{FF2B5EF4-FFF2-40B4-BE49-F238E27FC236}">
                <a16:creationId xmlns:a16="http://schemas.microsoft.com/office/drawing/2014/main" id="{A256502E-34D7-404C-B7A2-7AE02D6940F4}"/>
              </a:ext>
            </a:extLst>
          </p:cNvPr>
          <p:cNvSpPr txBox="1"/>
          <p:nvPr/>
        </p:nvSpPr>
        <p:spPr>
          <a:xfrm>
            <a:off x="6527800" y="5016500"/>
            <a:ext cx="5207000" cy="1079500"/>
          </a:xfrm>
          <a:prstGeom prst="rect">
            <a:avLst/>
          </a:prstGeom>
          <a:noFill/>
        </p:spPr>
        <p:txBody>
          <a:bodyPr vertOverflow="overflow" vert="horz" wrap="square" rtlCol="0" anchor="t">
            <a:noAutofit/>
          </a:bodyPr>
          <a:lstStyle/>
          <a:p>
            <a:pPr algn="l">
              <a:buNone/>
            </a:pPr>
            <a:r>
              <a:rPr lang="en-US" sz="1800" b="1" dirty="0">
                <a:solidFill>
                  <a:srgbClr val="2B2B2B"/>
                </a:solidFill>
                <a:latin typeface="Palatino Linotype"/>
              </a:rPr>
              <a:t>3D URANS</a:t>
            </a:r>
            <a:r>
              <a:rPr lang="en-US" sz="1800" dirty="0">
                <a:solidFill>
                  <a:srgbClr val="2B2B2B"/>
                </a:solidFill>
                <a:latin typeface="Palatino Linotype"/>
              </a:rPr>
              <a:t> solver coupled with the </a:t>
            </a:r>
            <a:r>
              <a:rPr lang="en-US" sz="1800" b="1" dirty="0">
                <a:solidFill>
                  <a:srgbClr val="2B2B2B"/>
                </a:solidFill>
                <a:latin typeface="Palatino Linotype"/>
              </a:rPr>
              <a:t>chamber 3D/Q2D exhaust</a:t>
            </a:r>
            <a:r>
              <a:rPr lang="en-US" sz="1800" dirty="0">
                <a:solidFill>
                  <a:srgbClr val="2B2B2B"/>
                </a:solidFill>
                <a:latin typeface="Palatino Linotype"/>
              </a:rPr>
              <a:t> (choked and unchoked outflows)</a:t>
            </a:r>
          </a:p>
        </p:txBody>
      </p:sp>
      <p:sp>
        <p:nvSpPr>
          <p:cNvPr id="21" name="CasellaDiTesto 20">
            <a:extLst>
              <a:ext uri="{FF2B5EF4-FFF2-40B4-BE49-F238E27FC236}">
                <a16:creationId xmlns:a16="http://schemas.microsoft.com/office/drawing/2014/main" id="{E5849DCE-4072-4450-B14B-8B442E3AE3EE}"/>
              </a:ext>
            </a:extLst>
          </p:cNvPr>
          <p:cNvSpPr txBox="1"/>
          <p:nvPr/>
        </p:nvSpPr>
        <p:spPr>
          <a:xfrm>
            <a:off x="469900" y="1905000"/>
            <a:ext cx="11531600" cy="279400"/>
          </a:xfrm>
          <a:prstGeom prst="rect">
            <a:avLst/>
          </a:prstGeom>
          <a:noFill/>
        </p:spPr>
        <p:txBody>
          <a:bodyPr vertOverflow="overflow" vert="horz" wrap="square" rtlCol="0" anchor="t">
            <a:noAutofit/>
          </a:bodyPr>
          <a:lstStyle/>
          <a:p>
            <a:pPr algn="l">
              <a:buNone/>
            </a:pPr>
            <a:r>
              <a:rPr lang="en-US" sz="1800" dirty="0">
                <a:solidFill>
                  <a:srgbClr val="2B2B2B"/>
                </a:solidFill>
                <a:latin typeface="Palatino Linotype"/>
              </a:rPr>
              <a:t>Rationale: each engine subsystem is solved at its most informative </a:t>
            </a:r>
            <a:r>
              <a:rPr lang="en-US" sz="1800" b="1" dirty="0">
                <a:solidFill>
                  <a:srgbClr val="2B2B2B"/>
                </a:solidFill>
                <a:latin typeface="Palatino Linotype"/>
              </a:rPr>
              <a:t>dimensionality</a:t>
            </a:r>
            <a:endParaRPr lang="en-US" sz="1800" dirty="0">
              <a:solidFill>
                <a:srgbClr val="2B2B2B"/>
              </a:solidFill>
              <a:latin typeface="Palatino Linotype"/>
            </a:endParaRPr>
          </a:p>
        </p:txBody>
      </p:sp>
    </p:spTree>
    <p:extLst>
      <p:ext uri="{BB962C8B-B14F-4D97-AF65-F5344CB8AC3E}">
        <p14:creationId xmlns:p14="http://schemas.microsoft.com/office/powerpoint/2010/main" val="1894365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E1956-C10E-31DC-C69D-0BA4B1FCB47B}"/>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7775C41D-A8B7-9CB1-3F47-40BD149ED641}"/>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B4E67923-A8FF-7540-E478-E5D021D7A335}"/>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476BC24B-0105-84F2-9D3A-A7FD5595FF6A}"/>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9245820D-63D5-3B15-E719-A0133B8E9030}"/>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096478C4-6580-3505-1E76-533811A41CED}"/>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3ED05F7-2429-A1F9-DC00-9F576A2AE468}"/>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4</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EFB09B4E-9557-CB36-EE9B-9FE3AD5B2276}"/>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3A071666-A57E-2425-9B37-AF0B70349251}"/>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5800F593-CC30-47D9-9CBB-DBFC2B21FEFF}"/>
              </a:ext>
            </a:extLst>
          </p:cNvPr>
          <p:cNvSpPr>
            <a:spLocks noGrp="1"/>
          </p:cNvSpPr>
          <p:nvPr>
            <p:ph type="sldNum" sz="quarter" idx="12"/>
          </p:nvPr>
        </p:nvSpPr>
        <p:spPr/>
        <p:txBody>
          <a:bodyPr/>
          <a:lstStyle/>
          <a:p>
            <a:r>
              <a:rPr sz="1400" b="1">
                <a:solidFill>
                  <a:srgbClr val="FFFFFF"/>
                </a:solidFill>
                <a:latin typeface="Palatino Linotype"/>
              </a:rPr>
              <a:t>6/29</a:t>
            </a:r>
            <a:endParaRPr lang="en-US" dirty="0"/>
          </a:p>
        </p:txBody>
      </p:sp>
      <p:sp>
        <p:nvSpPr>
          <p:cNvPr id="6" name="Titolo 1">
            <a:extLst>
              <a:ext uri="{FF2B5EF4-FFF2-40B4-BE49-F238E27FC236}">
                <a16:creationId xmlns:a16="http://schemas.microsoft.com/office/drawing/2014/main" id="{5674E355-36FC-27CD-7843-AB215FDDD42E}"/>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CasellaDiTesto 7">
            <a:extLst>
              <a:ext uri="{FF2B5EF4-FFF2-40B4-BE49-F238E27FC236}">
                <a16:creationId xmlns:a16="http://schemas.microsoft.com/office/drawing/2014/main" id="{3D31F0BA-5BCA-173F-235B-27E3A865E4AC}"/>
              </a:ext>
            </a:extLst>
          </p:cNvPr>
          <p:cNvSpPr txBox="1">
            <a:spLocks noChangeArrowheads="1"/>
          </p:cNvSpPr>
          <p:nvPr/>
        </p:nvSpPr>
        <p:spPr bwMode="auto">
          <a:xfrm>
            <a:off x="296774" y="756223"/>
            <a:ext cx="6632346"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spcBef>
                <a:spcPct val="0"/>
              </a:spcBef>
              <a:buClrTx/>
              <a:buNone/>
            </a:pPr>
            <a:r>
              <a:rPr lang="en-US" altLang="en-US" sz="2800" dirty="0" b="1">
                <a:solidFill>
                  <a:srgbClr val="006778"/>
                </a:solidFill>
                <a:effectLst>
                  <a:outerShdw blurRad="38100" dist="38100" dir="2700000" algn="tl">
                    <a:srgbClr val="000000">
                      <a:alpha val="43137"/>
                    </a:srgbClr>
                  </a:outerShdw>
                </a:effectLst>
                <a:latin typeface="Palatino Linotype" panose="02040502050505030304" pitchFamily="18" charset="0"/>
              </a:rPr>
              <a:t>General features of the solvers’ suite</a:t>
            </a:r>
          </a:p>
        </p:txBody>
      </p:sp>
      <p:sp>
        <p:nvSpPr>
          <p:cNvPr id="2" name="CasellaDiTesto 1">
            <a:extLst>
              <a:ext uri="{FF2B5EF4-FFF2-40B4-BE49-F238E27FC236}">
                <a16:creationId xmlns:a16="http://schemas.microsoft.com/office/drawing/2014/main" id="{CC975C6C-F765-496D-8247-1E5123A3DA42}"/>
              </a:ext>
            </a:extLst>
          </p:cNvPr>
          <p:cNvSpPr txBox="1"/>
          <p:nvPr/>
        </p:nvSpPr>
        <p:spPr>
          <a:xfrm>
            <a:off x="457200" y="1879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Finite volume method</a:t>
            </a:r>
          </a:p>
        </p:txBody>
      </p:sp>
      <p:sp>
        <p:nvSpPr>
          <p:cNvPr id="5" name="CasellaDiTesto 4">
            <a:extLst>
              <a:ext uri="{FF2B5EF4-FFF2-40B4-BE49-F238E27FC236}">
                <a16:creationId xmlns:a16="http://schemas.microsoft.com/office/drawing/2014/main" id="{17B1A796-DBA1-4D43-B381-8FB88EE0C279}"/>
              </a:ext>
            </a:extLst>
          </p:cNvPr>
          <p:cNvSpPr txBox="1"/>
          <p:nvPr/>
        </p:nvSpPr>
        <p:spPr>
          <a:xfrm>
            <a:off x="457200" y="2514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II order in space, up to III order in time</a:t>
            </a:r>
          </a:p>
        </p:txBody>
      </p:sp>
      <p:sp>
        <p:nvSpPr>
          <p:cNvPr id="11" name="CasellaDiTesto 10">
            <a:extLst>
              <a:ext uri="{FF2B5EF4-FFF2-40B4-BE49-F238E27FC236}">
                <a16:creationId xmlns:a16="http://schemas.microsoft.com/office/drawing/2014/main" id="{FD9C4EB3-FC53-447E-83E9-901819AD76D7}"/>
              </a:ext>
            </a:extLst>
          </p:cNvPr>
          <p:cNvSpPr txBox="1"/>
          <p:nvPr/>
        </p:nvSpPr>
        <p:spPr>
          <a:xfrm>
            <a:off x="457200" y="3149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Several turbulence models</a:t>
            </a:r>
            <a:r>
              <a:rPr lang="en-US" sz="1800" dirty="0">
                <a:solidFill>
                  <a:srgbClr val="2B2B2B"/>
                </a:solidFill>
                <a:latin typeface="Palatino Linotype"/>
              </a:rPr>
              <a:t> (easily extendable; strong modularity)</a:t>
            </a:r>
          </a:p>
        </p:txBody>
      </p:sp>
      <p:sp>
        <p:nvSpPr>
          <p:cNvPr id="14" name="CasellaDiTesto 13">
            <a:extLst>
              <a:ext uri="{FF2B5EF4-FFF2-40B4-BE49-F238E27FC236}">
                <a16:creationId xmlns:a16="http://schemas.microsoft.com/office/drawing/2014/main" id="{AAE778C0-12BD-464D-B9A2-81C7A2170408}"/>
              </a:ext>
            </a:extLst>
          </p:cNvPr>
          <p:cNvSpPr txBox="1"/>
          <p:nvPr/>
        </p:nvSpPr>
        <p:spPr>
          <a:xfrm>
            <a:off x="457200" y="3784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Tabulated thermo properties</a:t>
            </a:r>
            <a:r>
              <a:rPr lang="en-US" sz="1800" dirty="0">
                <a:solidFill>
                  <a:srgbClr val="2B2B2B"/>
                </a:solidFill>
                <a:latin typeface="Palatino Linotype"/>
              </a:rPr>
              <a:t>, thermally perfect gas</a:t>
            </a:r>
          </a:p>
        </p:txBody>
      </p:sp>
      <p:sp>
        <p:nvSpPr>
          <p:cNvPr id="33" name="CasellaDiTesto 32">
            <a:extLst>
              <a:ext uri="{FF2B5EF4-FFF2-40B4-BE49-F238E27FC236}">
                <a16:creationId xmlns:a16="http://schemas.microsoft.com/office/drawing/2014/main" id="{3B4CD73B-A363-41AA-BB9A-C3E22744F49E}"/>
              </a:ext>
            </a:extLst>
          </p:cNvPr>
          <p:cNvSpPr txBox="1"/>
          <p:nvPr/>
        </p:nvSpPr>
        <p:spPr>
          <a:xfrm>
            <a:off x="6273800" y="1879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Flexible pre-processing tool</a:t>
            </a:r>
            <a:r>
              <a:rPr lang="en-US" sz="1800" dirty="0">
                <a:solidFill>
                  <a:srgbClr val="2B2B2B"/>
                </a:solidFill>
                <a:latin typeface="Palatino Linotype"/>
              </a:rPr>
              <a:t>, full integration with .yaml chemical datasets</a:t>
            </a:r>
          </a:p>
        </p:txBody>
      </p:sp>
      <p:sp>
        <p:nvSpPr>
          <p:cNvPr id="34" name="CasellaDiTesto 33">
            <a:extLst>
              <a:ext uri="{FF2B5EF4-FFF2-40B4-BE49-F238E27FC236}">
                <a16:creationId xmlns:a16="http://schemas.microsoft.com/office/drawing/2014/main" id="{DDF1297E-10CA-40B4-AB7C-4A25D8EBE104}"/>
              </a:ext>
            </a:extLst>
          </p:cNvPr>
          <p:cNvSpPr txBox="1"/>
          <p:nvPr/>
        </p:nvSpPr>
        <p:spPr>
          <a:xfrm>
            <a:off x="6273800" y="2514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Strong CPU parallelization</a:t>
            </a:r>
            <a:r>
              <a:rPr lang="en-US" sz="1800" dirty="0">
                <a:solidFill>
                  <a:srgbClr val="2B2B2B"/>
                </a:solidFill>
                <a:latin typeface="Palatino Linotype"/>
              </a:rPr>
              <a:t> (OpenMP + MPI)</a:t>
            </a:r>
          </a:p>
        </p:txBody>
      </p:sp>
      <p:sp>
        <p:nvSpPr>
          <p:cNvPr id="35" name="CasellaDiTesto 34">
            <a:extLst>
              <a:ext uri="{FF2B5EF4-FFF2-40B4-BE49-F238E27FC236}">
                <a16:creationId xmlns:a16="http://schemas.microsoft.com/office/drawing/2014/main" id="{62CCFCAD-F7D7-4B5A-BEF9-C6024A150319}"/>
              </a:ext>
            </a:extLst>
          </p:cNvPr>
          <p:cNvSpPr txBox="1"/>
          <p:nvPr/>
        </p:nvSpPr>
        <p:spPr>
          <a:xfrm>
            <a:off x="6273800" y="3149600"/>
            <a:ext cx="5461000" cy="558800"/>
          </a:xfrm>
          <a:prstGeom prst="rect">
            <a:avLst/>
          </a:prstGeom>
          <a:noFill/>
        </p:spPr>
        <p:txBody>
          <a:bodyPr vertOverflow="overflow" vert="horz" wrap="square" rtlCol="0" anchor="t" anchorCtr="0">
            <a:no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Lots of degrees of freedom</a:t>
            </a:r>
            <a:r>
              <a:rPr lang="en-US" sz="1800" dirty="0">
                <a:solidFill>
                  <a:srgbClr val="2B2B2B"/>
                </a:solidFill>
                <a:latin typeface="Palatino Linotype"/>
              </a:rPr>
              <a:t> on numerics: Riemann solvers, integrated quantities, stiff chemical ODE solver, …</a:t>
            </a:r>
          </a:p>
        </p:txBody>
      </p:sp>
      <p:sp>
        <p:nvSpPr>
          <p:cNvPr id="36" name="Rettangolo 35">
            <a:extLst>
              <a:ext uri="{FF2B5EF4-FFF2-40B4-BE49-F238E27FC236}">
                <a16:creationId xmlns:a16="http://schemas.microsoft.com/office/drawing/2014/main" id="{AD8A9DD5-E0FC-470A-B2EE-4A171CA97211}"/>
              </a:ext>
            </a:extLst>
          </p:cNvPr>
          <p:cNvSpPr/>
          <p:nvPr/>
        </p:nvSpPr>
        <p:spPr>
          <a:xfrm>
            <a:off x="457200" y="4635500"/>
            <a:ext cx="5359400" cy="12700"/>
          </a:xfrm>
          <a:prstGeom prst="rect">
            <a:avLst/>
          </a:prstGeom>
          <a:solidFill>
            <a:srgbClr val="82243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7" name="Rettangolo 36">
            <a:extLst>
              <a:ext uri="{FF2B5EF4-FFF2-40B4-BE49-F238E27FC236}">
                <a16:creationId xmlns:a16="http://schemas.microsoft.com/office/drawing/2014/main" id="{B53B0872-5F1E-496E-9E3C-88D0E3C5840C}"/>
              </a:ext>
            </a:extLst>
          </p:cNvPr>
          <p:cNvSpPr/>
          <p:nvPr/>
        </p:nvSpPr>
        <p:spPr>
          <a:xfrm>
            <a:off x="6375400" y="4635500"/>
            <a:ext cx="5359400" cy="12700"/>
          </a:xfrm>
          <a:prstGeom prst="rect">
            <a:avLst/>
          </a:prstGeom>
          <a:solidFill>
            <a:srgbClr val="82243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38" name="CasellaDiTesto 37">
            <a:extLst>
              <a:ext uri="{FF2B5EF4-FFF2-40B4-BE49-F238E27FC236}">
                <a16:creationId xmlns:a16="http://schemas.microsoft.com/office/drawing/2014/main" id="{61F6F3DB-E895-46F3-9605-900CB2E4A49D}"/>
              </a:ext>
            </a:extLst>
          </p:cNvPr>
          <p:cNvSpPr txBox="1"/>
          <p:nvPr/>
        </p:nvSpPr>
        <p:spPr>
          <a:xfrm>
            <a:off x="5816600" y="4445000"/>
            <a:ext cx="558800" cy="406400"/>
          </a:xfrm>
          <a:prstGeom prst="rect">
            <a:avLst/>
          </a:prstGeom>
          <a:noFill/>
        </p:spPr>
        <p:txBody>
          <a:bodyPr vertOverflow="overflow" vert="horz" wrap="none" rtlCol="0" anchor="ctr" anchorCtr="0">
            <a:noAutofit/>
          </a:bodyPr>
          <a:lstStyle/>
          <a:p>
            <a:pPr algn="ctr">
              <a:buNone/>
            </a:pPr>
            <a:r>
              <a:rPr lang="en-US" sz="2600" b="1" dirty="0">
                <a:solidFill>
                  <a:srgbClr val="822433"/>
                </a:solidFill>
                <a:latin typeface="Palatino Linotype"/>
              </a:rPr>
              <a:t>+</a:t>
            </a:r>
          </a:p>
        </p:txBody>
      </p:sp>
      <p:sp>
        <p:nvSpPr>
          <p:cNvPr id="39" name="CasellaDiTesto 38">
            <a:extLst>
              <a:ext uri="{FF2B5EF4-FFF2-40B4-BE49-F238E27FC236}">
                <a16:creationId xmlns:a16="http://schemas.microsoft.com/office/drawing/2014/main" id="{486C566E-80ED-46D9-A877-792ED3786064}"/>
              </a:ext>
            </a:extLst>
          </p:cNvPr>
          <p:cNvSpPr txBox="1"/>
          <p:nvPr/>
        </p:nvSpPr>
        <p:spPr>
          <a:xfrm>
            <a:off x="1016000" y="5016500"/>
            <a:ext cx="10160000" cy="558800"/>
          </a:xfrm>
          <a:prstGeom prst="rect">
            <a:avLst/>
          </a:prstGeom>
          <a:noFill/>
        </p:spPr>
        <p:txBody>
          <a:bodyPr vertOverflow="overflow" vert="horz" wrap="square" rtlCol="0" anchor="t">
            <a:noAutofit/>
          </a:bodyPr>
          <a:lstStyle/>
          <a:p>
            <a:pPr algn="ctr">
              <a:buNone/>
            </a:pPr>
            <a:r>
              <a:rPr lang="en-US" sz="1800" dirty="0">
                <a:solidFill>
                  <a:srgbClr val="822433"/>
                </a:solidFill>
                <a:latin typeface="Palatino Linotype"/>
              </a:rPr>
              <a:t>•  </a:t>
            </a:r>
            <a:r>
              <a:rPr lang="en-US" sz="1800" b="1" dirty="0">
                <a:solidFill>
                  <a:srgbClr val="2B2B2B"/>
                </a:solidFill>
                <a:latin typeface="Palatino Linotype"/>
              </a:rPr>
              <a:t>Interface with other in-house solvers</a:t>
            </a:r>
            <a:r>
              <a:rPr lang="en-US" sz="1800" dirty="0">
                <a:solidFill>
                  <a:srgbClr val="2B2B2B"/>
                </a:solidFill>
                <a:latin typeface="Palatino Linotype"/>
              </a:rPr>
              <a:t> (solid, multiphase, real-fluid)</a:t>
            </a:r>
          </a:p>
        </p:txBody>
      </p:sp>
    </p:spTree>
    <p:extLst>
      <p:ext uri="{BB962C8B-B14F-4D97-AF65-F5344CB8AC3E}">
        <p14:creationId xmlns:p14="http://schemas.microsoft.com/office/powerpoint/2010/main" val="1192435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B381D-1E8A-0E95-962E-BCFD85F70F2A}"/>
            </a:ext>
          </a:extLst>
        </p:cNvPr>
        <p:cNvGrpSpPr/>
        <p:nvPr/>
      </p:nvGrpSpPr>
      <p:grpSpPr>
        <a:xfrm>
          <a:off x="0" y="0"/>
          <a:ext cx="0" cy="0"/>
          <a:chOff x="0" y="0"/>
          <a:chExt cx="0" cy="0"/>
        </a:xfrm>
      </p:grpSpPr>
      <p:pic>
        <p:nvPicPr>
          <p:cNvPr id="29" name="Immagine 28">
            <a:extLst>
              <a:ext uri="{FF2B5EF4-FFF2-40B4-BE49-F238E27FC236}">
                <a16:creationId xmlns:a16="http://schemas.microsoft.com/office/drawing/2014/main" id="{31787FA7-053A-EB7D-41CE-BA3D965B5B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7653" y="2540000"/>
            <a:ext cx="1308100" cy="3048000"/>
          </a:xfrm>
          <a:prstGeom prst="rect">
            <a:avLst/>
          </a:prstGeom>
        </p:spPr>
      </p:pic>
      <p:grpSp>
        <p:nvGrpSpPr>
          <p:cNvPr id="7" name="Gruppo 6">
            <a:extLst>
              <a:ext uri="{FF2B5EF4-FFF2-40B4-BE49-F238E27FC236}">
                <a16:creationId xmlns:a16="http://schemas.microsoft.com/office/drawing/2014/main" id="{7782177A-FFAE-928A-6C1A-992BF7E43D5B}"/>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94022773-2481-50B5-9C31-483B3379D0A6}"/>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433B353-1922-636B-29FB-E0935281F23A}"/>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03A477B4-EF3C-E39B-B28E-263C31DC85D1}"/>
                  </a:ext>
                </a:extLst>
              </p:cNvPr>
              <p:cNvPicPr>
                <a:picLocks noChangeAspect="1" noChangeArrowheads="1"/>
              </p:cNvPicPr>
              <p:nvPr/>
            </p:nvPicPr>
            <p:blipFill rotWithShape="1">
              <a:blip r:embed="rId4"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5F66407E-601C-A41B-D27B-9455409A858E}"/>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E6DF11E5-C28B-AD20-0578-9C0B746F889B}"/>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5</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4D1B927A-97A4-9704-AB22-F487FE4B48BF}"/>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AFFB8E59-B28E-1D56-5AE9-2F50BA61F6C1}"/>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E8FCEB04-9081-4332-B69B-DA7DE17C09A5}"/>
              </a:ext>
            </a:extLst>
          </p:cNvPr>
          <p:cNvSpPr>
            <a:spLocks noGrp="1"/>
          </p:cNvSpPr>
          <p:nvPr>
            <p:ph type="sldNum" sz="quarter" idx="12"/>
          </p:nvPr>
        </p:nvSpPr>
        <p:spPr/>
        <p:txBody>
          <a:bodyPr/>
          <a:lstStyle/>
          <a:p>
            <a:r>
              <a:rPr sz="1400" b="1">
                <a:solidFill>
                  <a:srgbClr val="FFFFFF"/>
                </a:solidFill>
                <a:latin typeface="Palatino Linotype"/>
              </a:rPr>
              <a:t>7/29</a:t>
            </a:r>
            <a:endParaRPr lang="en-US" dirty="0"/>
          </a:p>
        </p:txBody>
      </p:sp>
      <p:sp>
        <p:nvSpPr>
          <p:cNvPr id="6" name="Titolo 1">
            <a:extLst>
              <a:ext uri="{FF2B5EF4-FFF2-40B4-BE49-F238E27FC236}">
                <a16:creationId xmlns:a16="http://schemas.microsoft.com/office/drawing/2014/main" id="{77E2D8BF-3006-A055-53E2-B105DF5A2CB0}"/>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pic>
        <p:nvPicPr>
          <p:cNvPr id="9" name="Immagine 8">
            <a:extLst>
              <a:ext uri="{FF2B5EF4-FFF2-40B4-BE49-F238E27FC236}">
                <a16:creationId xmlns:a16="http://schemas.microsoft.com/office/drawing/2014/main" id="{7A394608-3731-336D-8CD4-E2C51D77D9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62" y="2540000"/>
            <a:ext cx="5397500" cy="3048000"/>
          </a:xfrm>
          <a:prstGeom prst="rect">
            <a:avLst/>
          </a:prstGeom>
        </p:spPr>
      </p:pic>
      <p:sp>
        <p:nvSpPr>
          <p:cNvPr id="22" name="TextBox 10">
            <a:extLst>
              <a:ext uri="{FF2B5EF4-FFF2-40B4-BE49-F238E27FC236}">
                <a16:creationId xmlns:a16="http://schemas.microsoft.com/office/drawing/2014/main" id="{9681C8BD-DA5B-7C2A-B11A-2FE53B343B2E}"/>
              </a:ext>
            </a:extLst>
          </p:cNvPr>
          <p:cNvSpPr txBox="1"/>
          <p:nvPr/>
        </p:nvSpPr>
        <p:spPr>
          <a:xfrm>
            <a:off x="457200" y="990600"/>
            <a:ext cx="11277600" cy="1477328"/>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Q2D solver — innovation w.r.t. recent literature</a:t>
            </a:r>
          </a:p>
          <a:p>
            <a:pPr algn="l">
              <a:buNone/>
            </a:pPr>
            <a:endParaRPr lang="en-US" sz="800" dirty="0"/>
          </a:p>
          <a:p>
            <a:pPr algn="l">
              <a:buNone/>
            </a:pPr>
            <a:r>
              <a:rPr lang="en-US" sz="1800" dirty="0">
                <a:solidFill>
                  <a:srgbClr val="822433"/>
                </a:solidFill>
                <a:latin typeface="Palatino Linotype"/>
              </a:rPr>
              <a:t>•  </a:t>
            </a:r>
            <a:r>
              <a:rPr lang="en-US" sz="1800" b="1" dirty="0">
                <a:solidFill>
                  <a:srgbClr val="2B2B2B"/>
                </a:solidFill>
                <a:latin typeface="Palatino Linotype"/>
              </a:rPr>
              <a:t>Rigorous treatment</a:t>
            </a:r>
            <a:r>
              <a:rPr lang="en-US" sz="1800" dirty="0">
                <a:solidFill>
                  <a:srgbClr val="2B2B2B"/>
                </a:solidFill>
                <a:latin typeface="Palatino Linotype"/>
              </a:rPr>
              <a:t> of diffusive fluxes and generic RANS equations</a:t>
            </a:r>
          </a:p>
          <a:p>
            <a:pPr algn="l">
              <a:buNone/>
            </a:pPr>
            <a:r>
              <a:rPr lang="en-US" sz="1800" dirty="0">
                <a:solidFill>
                  <a:srgbClr val="822433"/>
                </a:solidFill>
                <a:latin typeface="Palatino Linotype"/>
              </a:rPr>
              <a:t>•  </a:t>
            </a:r>
            <a:r>
              <a:rPr lang="en-US" sz="1800" b="1" dirty="0">
                <a:solidFill>
                  <a:srgbClr val="2B2B2B"/>
                </a:solidFill>
                <a:latin typeface="Palatino Linotype"/>
              </a:rPr>
              <a:t>General derivation</a:t>
            </a:r>
            <a:r>
              <a:rPr lang="en-US" sz="1800" dirty="0">
                <a:solidFill>
                  <a:srgbClr val="2B2B2B"/>
                </a:solidFill>
                <a:latin typeface="Palatino Linotype"/>
              </a:rPr>
              <a:t> with </a:t>
            </a:r>
            <a:r>
              <a:rPr lang="en-US" sz="1800" i="1" dirty="0">
                <a:solidFill>
                  <a:srgbClr val="2B2B2B"/>
                </a:solidFill>
                <a:latin typeface="Palatino Linotype"/>
              </a:rPr>
              <a:t>z = z(x,y)</a:t>
            </a:r>
            <a:r>
              <a:rPr lang="en-US" sz="1800" dirty="0">
                <a:solidFill>
                  <a:srgbClr val="2B2B2B"/>
                </a:solidFill>
                <a:latin typeface="Palatino Linotype"/>
              </a:rPr>
              <a:t> — valid for generic width variations</a:t>
            </a:r>
          </a:p>
          <a:p>
            <a:pPr algn="l">
              <a:buNone/>
            </a:pPr>
            <a:r>
              <a:rPr lang="en-US" sz="1800" dirty="0">
                <a:solidFill>
                  <a:srgbClr val="822433"/>
                </a:solidFill>
                <a:latin typeface="Palatino Linotype"/>
              </a:rPr>
              <a:t>•  </a:t>
            </a:r>
            <a:r>
              <a:rPr lang="en-US" sz="1800" b="1" dirty="0">
                <a:solidFill>
                  <a:srgbClr val="2B2B2B"/>
                </a:solidFill>
                <a:latin typeface="Palatino Linotype"/>
              </a:rPr>
              <a:t>Adaptation to CFD</a:t>
            </a:r>
            <a:r>
              <a:rPr lang="en-US" sz="1800" dirty="0">
                <a:solidFill>
                  <a:srgbClr val="2B2B2B"/>
                </a:solidFill>
                <a:latin typeface="Palatino Linotype"/>
              </a:rPr>
              <a:t> of the non-isentropic BFS boundary condition </a:t>
            </a:r>
            <a:r>
              <a:rPr lang="en-US" sz="1800" b="1" dirty="0">
                <a:solidFill>
                  <a:srgbClr val="822433"/>
                </a:solidFill>
                <a:latin typeface="Palatino Linotype"/>
              </a:rPr>
              <a:t>[1]</a:t>
            </a:r>
          </a:p>
        </p:txBody>
      </p:sp>
      <p:pic>
        <p:nvPicPr>
          <p:cNvPr id="24" name="Immagine 23">
            <a:extLst>
              <a:ext uri="{FF2B5EF4-FFF2-40B4-BE49-F238E27FC236}">
                <a16:creationId xmlns:a16="http://schemas.microsoft.com/office/drawing/2014/main" id="{2A43754D-FE96-1805-9BB5-6D7C40EAEC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8925" y="2540000"/>
            <a:ext cx="3441700" cy="3048000"/>
          </a:xfrm>
          <a:prstGeom prst="rect">
            <a:avLst/>
          </a:prstGeom>
        </p:spPr>
      </p:pic>
      <p:sp>
        <p:nvSpPr>
          <p:cNvPr id="2" name="CasellaDiTesto 1">
            <a:extLst>
              <a:ext uri="{FF2B5EF4-FFF2-40B4-BE49-F238E27FC236}">
                <a16:creationId xmlns:a16="http://schemas.microsoft.com/office/drawing/2014/main" id="{F0D652AB-A482-48C5-A464-30C149331299}"/>
              </a:ext>
            </a:extLst>
          </p:cNvPr>
          <p:cNvSpPr txBox="1"/>
          <p:nvPr/>
        </p:nvSpPr>
        <p:spPr>
          <a:xfrm>
            <a:off x="457200" y="5842000"/>
            <a:ext cx="11277600" cy="203200"/>
          </a:xfrm>
          <a:prstGeom prst="rect">
            <a:avLst/>
          </a:prstGeom>
          <a:noFill/>
        </p:spPr>
        <p:txBody>
          <a:bodyPr vertOverflow="overflow" vert="horz" wrap="square" rtlCol="0" anchor="t" anchorCtr="0">
            <a:noAutofit/>
          </a:bodyPr>
          <a:lstStyle/>
          <a:p>
            <a:pPr algn="l">
              <a:buNone/>
            </a:pPr>
            <a:r>
              <a:rPr lang="en-US" sz="1000" b="1" dirty="0">
                <a:solidFill>
                  <a:srgbClr val="822433"/>
                </a:solidFill>
                <a:latin typeface="Palatino Linotype"/>
              </a:rPr>
              <a:t>[1]  </a:t>
            </a:r>
            <a:r>
              <a:rPr lang="en-US" sz="1000" dirty="0">
                <a:solidFill>
                  <a:srgbClr val="2B2B2B"/>
                </a:solidFill>
                <a:latin typeface="Palatino Linotype"/>
              </a:rPr>
              <a:t>Fievisohn &amp; Yu, “</a:t>
            </a:r>
            <a:r>
              <a:rPr lang="en-US" sz="1000" i="1" dirty="0">
                <a:solidFill>
                  <a:srgbClr val="2B2B2B"/>
                </a:solidFill>
                <a:latin typeface="Palatino Linotype"/>
              </a:rPr>
              <a:t>Steady-state analysis of RDE flowfields with the method of characteristics</a:t>
            </a:r>
            <a:r>
              <a:rPr lang="en-US" sz="1000" dirty="0">
                <a:solidFill>
                  <a:srgbClr val="2B2B2B"/>
                </a:solidFill>
                <a:latin typeface="Palatino Linotype"/>
              </a:rPr>
              <a:t>,” </a:t>
            </a:r>
            <a:r>
              <a:rPr lang="en-US" sz="1000" i="1" dirty="0">
                <a:solidFill>
                  <a:srgbClr val="2B2B2B"/>
                </a:solidFill>
                <a:latin typeface="Palatino Linotype"/>
              </a:rPr>
              <a:t>J. Propulsion and Power</a:t>
            </a:r>
            <a:r>
              <a:rPr lang="en-US" sz="1000" dirty="0">
                <a:solidFill>
                  <a:srgbClr val="2B2B2B"/>
                </a:solidFill>
                <a:latin typeface="Palatino Linotype"/>
              </a:rPr>
              <a:t> 33(1), 89–99, 2017.</a:t>
            </a:r>
          </a:p>
        </p:txBody>
      </p:sp>
    </p:spTree>
    <p:extLst>
      <p:ext uri="{BB962C8B-B14F-4D97-AF65-F5344CB8AC3E}">
        <p14:creationId xmlns:p14="http://schemas.microsoft.com/office/powerpoint/2010/main" val="361008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A3EF8-7EB3-3699-5555-14ED5283C248}"/>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4879D2CD-1EEB-BA34-6827-D8CE34E0B2C5}"/>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0A0DF907-BB74-E4E8-6A69-CB341EC93172}"/>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F127293D-E39F-8824-1086-24E4D6E53454}"/>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191B3D40-B4BE-A276-8385-77DE2CC655EA}"/>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AA01081C-D3F3-AFEF-2AD2-E5DA7ABDA78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0EE8264F-6A99-8994-B2F7-E7491908C45D}"/>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6</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2BB8700E-CBCD-AE57-BBB6-6E5BD1F9FEF0}"/>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23C73235-6DEF-7214-2C6F-E39848042190}"/>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037ADD42-C863-F9A6-A8BF-EA857E2184F7}"/>
              </a:ext>
            </a:extLst>
          </p:cNvPr>
          <p:cNvSpPr>
            <a:spLocks noGrp="1"/>
          </p:cNvSpPr>
          <p:nvPr>
            <p:ph type="sldNum" sz="quarter" idx="12"/>
          </p:nvPr>
        </p:nvSpPr>
        <p:spPr/>
        <p:txBody>
          <a:bodyPr/>
          <a:lstStyle/>
          <a:p>
            <a:r>
              <a:rPr sz="1400" b="1">
                <a:solidFill>
                  <a:srgbClr val="FFFFFF"/>
                </a:solidFill>
                <a:latin typeface="Palatino Linotype"/>
              </a:rPr>
              <a:t>8/29</a:t>
            </a:r>
            <a:endParaRPr lang="en-US" dirty="0"/>
          </a:p>
        </p:txBody>
      </p:sp>
      <p:sp>
        <p:nvSpPr>
          <p:cNvPr id="6" name="Titolo 1">
            <a:extLst>
              <a:ext uri="{FF2B5EF4-FFF2-40B4-BE49-F238E27FC236}">
                <a16:creationId xmlns:a16="http://schemas.microsoft.com/office/drawing/2014/main" id="{0F82F0F3-CF27-3A40-9AB2-17A39CF2B09E}"/>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TextBox 10">
            <a:extLst>
              <a:ext uri="{FF2B5EF4-FFF2-40B4-BE49-F238E27FC236}">
                <a16:creationId xmlns:a16="http://schemas.microsoft.com/office/drawing/2014/main" id="{6745A92B-242C-16FB-05F6-D35F1F46642D}"/>
              </a:ext>
            </a:extLst>
          </p:cNvPr>
          <p:cNvSpPr txBox="1"/>
          <p:nvPr/>
        </p:nvSpPr>
        <p:spPr>
          <a:xfrm>
            <a:off x="457200" y="990600"/>
            <a:ext cx="11277600" cy="923330"/>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V&amp;V</a:t>
            </a:r>
          </a:p>
          <a:p>
            <a:pPr algn="l">
              <a:buNone/>
            </a:pPr>
            <a:endParaRPr lang="en-US" sz="800" dirty="0"/>
          </a:p>
          <a:p>
            <a:pPr algn="l">
              <a:buNone/>
            </a:pPr>
            <a:r>
              <a:rPr lang="en-US" sz="1800" dirty="0">
                <a:solidFill>
                  <a:srgbClr val="822433"/>
                </a:solidFill>
                <a:latin typeface="Palatino Linotype"/>
              </a:rPr>
              <a:t>•  </a:t>
            </a:r>
            <a:r>
              <a:rPr lang="en-US" sz="1800" dirty="0">
                <a:solidFill>
                  <a:srgbClr val="2B2B2B"/>
                </a:solidFill>
                <a:latin typeface="Palatino Linotype"/>
              </a:rPr>
              <a:t>Validation against </a:t>
            </a:r>
            <a:r>
              <a:rPr lang="en-US" b="1" dirty="0">
                <a:solidFill>
                  <a:srgbClr val="2B2B2B"/>
                </a:solidFill>
                <a:latin typeface="Palatino Linotype"/>
              </a:rPr>
              <a:t>1D ZND H2/Air detonation from SDT </a:t>
            </a:r>
            <a:endParaRPr lang="en-US" sz="1800" b="1" dirty="0">
              <a:solidFill>
                <a:srgbClr val="2B2B2B"/>
              </a:solidFill>
              <a:latin typeface="Palatino Linotype"/>
            </a:endParaRPr>
          </a:p>
        </p:txBody>
      </p:sp>
      <p:pic>
        <p:nvPicPr>
          <p:cNvPr id="14" name="Immagine 13">
            <a:extLst>
              <a:ext uri="{FF2B5EF4-FFF2-40B4-BE49-F238E27FC236}">
                <a16:creationId xmlns:a16="http://schemas.microsoft.com/office/drawing/2014/main" id="{4266980B-EB05-48CD-C498-5D1647A7C2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464" y="1913930"/>
            <a:ext cx="4591567" cy="4081903"/>
          </a:xfrm>
          <a:prstGeom prst="rect">
            <a:avLst/>
          </a:prstGeom>
        </p:spPr>
      </p:pic>
      <p:pic>
        <p:nvPicPr>
          <p:cNvPr id="17" name="Immagine 16">
            <a:extLst>
              <a:ext uri="{FF2B5EF4-FFF2-40B4-BE49-F238E27FC236}">
                <a16:creationId xmlns:a16="http://schemas.microsoft.com/office/drawing/2014/main" id="{E5DCFA41-02D5-2F3B-698E-A111D4F04D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1971" y="1913929"/>
            <a:ext cx="4591567" cy="4081903"/>
          </a:xfrm>
          <a:prstGeom prst="rect">
            <a:avLst/>
          </a:prstGeom>
        </p:spPr>
      </p:pic>
    </p:spTree>
    <p:extLst>
      <p:ext uri="{BB962C8B-B14F-4D97-AF65-F5344CB8AC3E}">
        <p14:creationId xmlns:p14="http://schemas.microsoft.com/office/powerpoint/2010/main" val="2990845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92B86-FD6D-68C3-A0A5-E0C7D16C6BD6}"/>
            </a:ext>
          </a:extLst>
        </p:cNvPr>
        <p:cNvGrpSpPr/>
        <p:nvPr/>
      </p:nvGrpSpPr>
      <p:grpSpPr>
        <a:xfrm>
          <a:off x="0" y="0"/>
          <a:ext cx="0" cy="0"/>
          <a:chOff x="0" y="0"/>
          <a:chExt cx="0" cy="0"/>
        </a:xfrm>
      </p:grpSpPr>
      <p:pic>
        <p:nvPicPr>
          <p:cNvPr id="11" name="Immagine 10">
            <a:extLst>
              <a:ext uri="{FF2B5EF4-FFF2-40B4-BE49-F238E27FC236}">
                <a16:creationId xmlns:a16="http://schemas.microsoft.com/office/drawing/2014/main" id="{D54C9E42-D1A6-9F60-59E9-0602A675B0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99" y="1994619"/>
            <a:ext cx="4314707" cy="3832141"/>
          </a:xfrm>
          <a:prstGeom prst="rect">
            <a:avLst/>
          </a:prstGeom>
        </p:spPr>
      </p:pic>
      <p:grpSp>
        <p:nvGrpSpPr>
          <p:cNvPr id="7" name="Gruppo 6">
            <a:extLst>
              <a:ext uri="{FF2B5EF4-FFF2-40B4-BE49-F238E27FC236}">
                <a16:creationId xmlns:a16="http://schemas.microsoft.com/office/drawing/2014/main" id="{F753F246-F067-EA20-8922-963EC4614E0B}"/>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24951730-A336-7CAC-4FF2-DED9BD9ABB65}"/>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F3A62D8B-50C7-B1DB-EFE0-45A5DD6ACC5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621F03D2-BD79-D450-7C3E-930226976E9A}"/>
                  </a:ext>
                </a:extLst>
              </p:cNvPr>
              <p:cNvPicPr>
                <a:picLocks noChangeAspect="1" noChangeArrowheads="1"/>
              </p:cNvPicPr>
              <p:nvPr/>
            </p:nvPicPr>
            <p:blipFill rotWithShape="1">
              <a:blip r:embed="rId4"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DC8D9D94-73E3-ACBE-83C3-D87CA9F69F4B}"/>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E72F1986-0692-D0EA-4E39-E20056068F78}"/>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7</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9CD52ADF-0561-C77D-3789-5675EA5D4C29}"/>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AF981D20-6E20-E42E-A2D9-58419ED1A17E}"/>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1B0469C0-01B0-F40A-A197-1269BE46432A}"/>
              </a:ext>
            </a:extLst>
          </p:cNvPr>
          <p:cNvSpPr>
            <a:spLocks noGrp="1"/>
          </p:cNvSpPr>
          <p:nvPr>
            <p:ph type="sldNum" sz="quarter" idx="12"/>
          </p:nvPr>
        </p:nvSpPr>
        <p:spPr/>
        <p:txBody>
          <a:bodyPr/>
          <a:lstStyle/>
          <a:p>
            <a:r>
              <a:rPr sz="1400" b="1">
                <a:solidFill>
                  <a:srgbClr val="FFFFFF"/>
                </a:solidFill>
                <a:latin typeface="Palatino Linotype"/>
              </a:rPr>
              <a:t>9/29</a:t>
            </a:r>
            <a:endParaRPr lang="en-US" dirty="0"/>
          </a:p>
        </p:txBody>
      </p:sp>
      <p:sp>
        <p:nvSpPr>
          <p:cNvPr id="6" name="Titolo 1">
            <a:extLst>
              <a:ext uri="{FF2B5EF4-FFF2-40B4-BE49-F238E27FC236}">
                <a16:creationId xmlns:a16="http://schemas.microsoft.com/office/drawing/2014/main" id="{CED25826-5628-9FAA-C086-5DB13B2EE142}"/>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TextBox 10">
            <a:extLst>
              <a:ext uri="{FF2B5EF4-FFF2-40B4-BE49-F238E27FC236}">
                <a16:creationId xmlns:a16="http://schemas.microsoft.com/office/drawing/2014/main" id="{BB200273-8605-F1C2-B1B2-4A2B8B14906A}"/>
              </a:ext>
            </a:extLst>
          </p:cNvPr>
          <p:cNvSpPr txBox="1"/>
          <p:nvPr/>
        </p:nvSpPr>
        <p:spPr>
          <a:xfrm>
            <a:off x="457200" y="990600"/>
            <a:ext cx="11277600" cy="923330"/>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V&amp;V</a:t>
            </a:r>
          </a:p>
          <a:p>
            <a:pPr algn="l">
              <a:buNone/>
            </a:pPr>
            <a:endParaRPr lang="en-US" sz="800" dirty="0"/>
          </a:p>
          <a:p>
            <a:pPr algn="l">
              <a:buNone/>
            </a:pPr>
            <a:r>
              <a:rPr lang="en-US" sz="1800" dirty="0">
                <a:solidFill>
                  <a:srgbClr val="822433"/>
                </a:solidFill>
                <a:latin typeface="Palatino Linotype"/>
              </a:rPr>
              <a:t>•  </a:t>
            </a:r>
            <a:r>
              <a:rPr lang="en-US" sz="1800" dirty="0">
                <a:solidFill>
                  <a:srgbClr val="2B2B2B"/>
                </a:solidFill>
                <a:latin typeface="Palatino Linotype"/>
              </a:rPr>
              <a:t>Validation against </a:t>
            </a:r>
            <a:r>
              <a:rPr lang="en-US" sz="1800" b="1" dirty="0">
                <a:solidFill>
                  <a:srgbClr val="2B2B2B"/>
                </a:solidFill>
                <a:latin typeface="Palatino Linotype"/>
              </a:rPr>
              <a:t>“unwrapped” literature test cases</a:t>
            </a:r>
            <a:r>
              <a:rPr lang="en-US" sz="1800" dirty="0">
                <a:solidFill>
                  <a:srgbClr val="2B2B2B"/>
                </a:solidFill>
                <a:latin typeface="Palatino Linotype"/>
              </a:rPr>
              <a:t> </a:t>
            </a:r>
            <a:r>
              <a:rPr lang="en-US" sz="1800" b="1" dirty="0">
                <a:solidFill>
                  <a:srgbClr val="822433"/>
                </a:solidFill>
                <a:latin typeface="Palatino Linotype"/>
              </a:rPr>
              <a:t>[2]</a:t>
            </a:r>
          </a:p>
        </p:txBody>
      </p:sp>
      <p:pic>
        <p:nvPicPr>
          <p:cNvPr id="19" name="Immagine 18">
            <a:extLst>
              <a:ext uri="{FF2B5EF4-FFF2-40B4-BE49-F238E27FC236}">
                <a16:creationId xmlns:a16="http://schemas.microsoft.com/office/drawing/2014/main" id="{95277E88-6BC0-64DD-9885-AA2AF68B6B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9835" y="1913930"/>
            <a:ext cx="4314707" cy="3832141"/>
          </a:xfrm>
          <a:prstGeom prst="rect">
            <a:avLst/>
          </a:prstGeom>
        </p:spPr>
      </p:pic>
      <p:sp>
        <p:nvSpPr>
          <p:cNvPr id="20" name="CasellaDiTesto 19">
            <a:extLst>
              <a:ext uri="{FF2B5EF4-FFF2-40B4-BE49-F238E27FC236}">
                <a16:creationId xmlns:a16="http://schemas.microsoft.com/office/drawing/2014/main" id="{6F292980-4C71-45ED-8482-1AE3A7F5FFE2}"/>
              </a:ext>
            </a:extLst>
          </p:cNvPr>
          <p:cNvSpPr txBox="1"/>
          <p:nvPr/>
        </p:nvSpPr>
        <p:spPr>
          <a:xfrm>
            <a:off x="457200" y="5842000"/>
            <a:ext cx="11277600" cy="203200"/>
          </a:xfrm>
          <a:prstGeom prst="rect">
            <a:avLst/>
          </a:prstGeom>
          <a:noFill/>
        </p:spPr>
        <p:txBody>
          <a:bodyPr vertOverflow="overflow" vert="horz" wrap="square" rtlCol="0" anchor="t" anchorCtr="0">
            <a:noAutofit/>
          </a:bodyPr>
          <a:lstStyle/>
          <a:p>
            <a:pPr algn="l">
              <a:buNone/>
            </a:pPr>
            <a:r>
              <a:rPr lang="en-US" sz="1000" b="1" dirty="0">
                <a:solidFill>
                  <a:srgbClr val="822433"/>
                </a:solidFill>
                <a:latin typeface="Palatino Linotype"/>
              </a:rPr>
              <a:t>[2]  </a:t>
            </a:r>
            <a:r>
              <a:rPr lang="en-US" sz="1000" dirty="0">
                <a:solidFill>
                  <a:srgbClr val="2B2B2B"/>
                </a:solidFill>
                <a:latin typeface="Palatino Linotype"/>
              </a:rPr>
              <a:t>D. Schwer and K. Kailasanath, “</a:t>
            </a:r>
            <a:r>
              <a:rPr lang="en-US" sz="1000" i="1" dirty="0">
                <a:solidFill>
                  <a:srgbClr val="2B2B2B"/>
                </a:solidFill>
                <a:latin typeface="Palatino Linotype"/>
              </a:rPr>
              <a:t>Feedback into mixture plenums in rotating detonation engines</a:t>
            </a:r>
            <a:r>
              <a:rPr lang="en-US" sz="1000" dirty="0">
                <a:solidFill>
                  <a:srgbClr val="2B2B2B"/>
                </a:solidFill>
                <a:latin typeface="Palatino Linotype"/>
              </a:rPr>
              <a:t>,” </a:t>
            </a:r>
            <a:r>
              <a:rPr lang="en-US" sz="1000" i="1" dirty="0">
                <a:solidFill>
                  <a:srgbClr val="2B2B2B"/>
                </a:solidFill>
                <a:latin typeface="Palatino Linotype"/>
              </a:rPr>
              <a:t>50th AIAA Aerospace Sciences Meeting</a:t>
            </a:r>
            <a:r>
              <a:rPr lang="en-US" sz="1000" dirty="0">
                <a:solidFill>
                  <a:srgbClr val="2B2B2B"/>
                </a:solidFill>
                <a:latin typeface="Palatino Linotype"/>
              </a:rPr>
              <a:t>, 2012.</a:t>
            </a:r>
          </a:p>
        </p:txBody>
      </p:sp>
      <p:sp>
        <p:nvSpPr>
          <p:cNvPr id="2" name="CasellaDiTesto 1">
            <a:extLst>
              <a:ext uri="{FF2B5EF4-FFF2-40B4-BE49-F238E27FC236}">
                <a16:creationId xmlns:a16="http://schemas.microsoft.com/office/drawing/2014/main" id="{E92687A4-8078-D85E-A83A-1137FE085EB8}"/>
              </a:ext>
            </a:extLst>
          </p:cNvPr>
          <p:cNvSpPr txBox="1"/>
          <p:nvPr/>
        </p:nvSpPr>
        <p:spPr>
          <a:xfrm>
            <a:off x="6381549" y="1975368"/>
            <a:ext cx="462013" cy="3872781"/>
          </a:xfrm>
          <a:prstGeom prst="rect">
            <a:avLst/>
          </a:prstGeom>
          <a:solidFill>
            <a:schemeClr val="bg1"/>
          </a:solidFill>
          <a:ln>
            <a:solidFill>
              <a:schemeClr val="bg1"/>
            </a:solidFill>
          </a:ln>
        </p:spPr>
        <p:txBody>
          <a:bodyPr wrap="square" rtlCol="0">
            <a:spAutoFit/>
          </a:bodyPr>
          <a:lstStyle/>
          <a:p>
            <a:endParaRPr lang="it-IT" dirty="0"/>
          </a:p>
        </p:txBody>
      </p:sp>
      <p:sp>
        <p:nvSpPr>
          <p:cNvPr id="5" name="CasellaDiTesto 4">
            <a:extLst>
              <a:ext uri="{FF2B5EF4-FFF2-40B4-BE49-F238E27FC236}">
                <a16:creationId xmlns:a16="http://schemas.microsoft.com/office/drawing/2014/main" id="{735F9CCC-60B5-635E-1D37-E07BF2C9CB94}"/>
              </a:ext>
            </a:extLst>
          </p:cNvPr>
          <p:cNvSpPr txBox="1"/>
          <p:nvPr/>
        </p:nvSpPr>
        <p:spPr>
          <a:xfrm rot="16200000">
            <a:off x="8531047" y="-313794"/>
            <a:ext cx="636043" cy="4478468"/>
          </a:xfrm>
          <a:prstGeom prst="rect">
            <a:avLst/>
          </a:prstGeom>
          <a:solidFill>
            <a:schemeClr val="bg1"/>
          </a:solidFill>
          <a:ln>
            <a:solidFill>
              <a:schemeClr val="bg1"/>
            </a:solidFill>
          </a:ln>
        </p:spPr>
        <p:txBody>
          <a:bodyPr wrap="square" rtlCol="0">
            <a:spAutoFit/>
          </a:bodyPr>
          <a:lstStyle/>
          <a:p>
            <a:endParaRPr lang="it-IT" dirty="0"/>
          </a:p>
        </p:txBody>
      </p:sp>
    </p:spTree>
    <p:extLst>
      <p:ext uri="{BB962C8B-B14F-4D97-AF65-F5344CB8AC3E}">
        <p14:creationId xmlns:p14="http://schemas.microsoft.com/office/powerpoint/2010/main" val="1724525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52404-B5FF-D88C-0DD6-027F52479AD7}"/>
            </a:ext>
          </a:extLst>
        </p:cNvPr>
        <p:cNvGrpSpPr/>
        <p:nvPr/>
      </p:nvGrpSpPr>
      <p:grpSpPr>
        <a:xfrm>
          <a:off x="0" y="0"/>
          <a:ext cx="0" cy="0"/>
          <a:chOff x="0" y="0"/>
          <a:chExt cx="0" cy="0"/>
        </a:xfrm>
      </p:grpSpPr>
      <p:pic>
        <p:nvPicPr>
          <p:cNvPr id="18" name="Immagine 17">
            <a:extLst>
              <a:ext uri="{FF2B5EF4-FFF2-40B4-BE49-F238E27FC236}">
                <a16:creationId xmlns:a16="http://schemas.microsoft.com/office/drawing/2014/main" id="{F6DE30D0-1BAB-CBA4-715A-7640908FD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4200" y="2222499"/>
            <a:ext cx="3784600" cy="3360951"/>
          </a:xfrm>
          <a:prstGeom prst="rect">
            <a:avLst/>
          </a:prstGeom>
        </p:spPr>
      </p:pic>
      <p:pic>
        <p:nvPicPr>
          <p:cNvPr id="5" name="Immagine 4">
            <a:extLst>
              <a:ext uri="{FF2B5EF4-FFF2-40B4-BE49-F238E27FC236}">
                <a16:creationId xmlns:a16="http://schemas.microsoft.com/office/drawing/2014/main" id="{6F942C87-6119-0A05-256E-811612A564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19" y="2222500"/>
            <a:ext cx="3903855" cy="3466856"/>
          </a:xfrm>
          <a:prstGeom prst="rect">
            <a:avLst/>
          </a:prstGeom>
        </p:spPr>
      </p:pic>
      <p:sp>
        <p:nvSpPr>
          <p:cNvPr id="24" name="Rettangolo 23">
            <a:extLst>
              <a:ext uri="{FF2B5EF4-FFF2-40B4-BE49-F238E27FC236}">
                <a16:creationId xmlns:a16="http://schemas.microsoft.com/office/drawing/2014/main" id="{8AA0A19D-3DDC-45E9-8E74-B40B5C2C5DD6}"/>
              </a:ext>
            </a:extLst>
          </p:cNvPr>
          <p:cNvSpPr/>
          <p:nvPr/>
        </p:nvSpPr>
        <p:spPr>
          <a:xfrm>
            <a:off x="4399280" y="2120900"/>
            <a:ext cx="7670800" cy="3708400"/>
          </a:xfrm>
          <a:prstGeom prst="rect">
            <a:avLst/>
          </a:prstGeom>
          <a:noFill/>
          <a:ln w="12700" cap="flat" cmpd="sng" algn="ctr">
            <a:solidFill>
              <a:srgbClr val="8224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grpSp>
        <p:nvGrpSpPr>
          <p:cNvPr id="7" name="Gruppo 6">
            <a:extLst>
              <a:ext uri="{FF2B5EF4-FFF2-40B4-BE49-F238E27FC236}">
                <a16:creationId xmlns:a16="http://schemas.microsoft.com/office/drawing/2014/main" id="{CA8CC812-1DB6-C328-ABB5-8D4D02A22A8B}"/>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F3E26C88-9EEA-9E2D-85E9-FD7945DC4CE6}"/>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447AA13A-5657-ED7D-0483-BF7B4F7B50F4}"/>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3D35975-8796-78D5-96FF-764F974090D7}"/>
                  </a:ext>
                </a:extLst>
              </p:cNvPr>
              <p:cNvPicPr>
                <a:picLocks noChangeAspect="1" noChangeArrowheads="1"/>
              </p:cNvPicPr>
              <p:nvPr/>
            </p:nvPicPr>
            <p:blipFill rotWithShape="1">
              <a:blip r:embed="rId5"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BAA7DBC-3A77-EABB-70AA-655997632D6B}"/>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2A95F984-03DB-0788-FB25-4F08F1A65738}"/>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8</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BCAEEEB5-D60A-46D4-B969-C536BB3EADE4}"/>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AF19B5EB-B4BF-0BB6-7E12-75EA7D75F633}"/>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1A7A2CDC-ACC0-182C-04F8-F0C0A0940B3C}"/>
              </a:ext>
            </a:extLst>
          </p:cNvPr>
          <p:cNvSpPr>
            <a:spLocks noGrp="1"/>
          </p:cNvSpPr>
          <p:nvPr>
            <p:ph type="sldNum" sz="quarter" idx="12"/>
          </p:nvPr>
        </p:nvSpPr>
        <p:spPr/>
        <p:txBody>
          <a:bodyPr/>
          <a:lstStyle/>
          <a:p>
            <a:r>
              <a:rPr sz="1400" b="1">
                <a:solidFill>
                  <a:srgbClr val="FFFFFF"/>
                </a:solidFill>
                <a:latin typeface="Palatino Linotype"/>
              </a:rPr>
              <a:t>10/29</a:t>
            </a:r>
            <a:endParaRPr lang="en-US" dirty="0"/>
          </a:p>
        </p:txBody>
      </p:sp>
      <p:sp>
        <p:nvSpPr>
          <p:cNvPr id="6" name="Titolo 1">
            <a:extLst>
              <a:ext uri="{FF2B5EF4-FFF2-40B4-BE49-F238E27FC236}">
                <a16:creationId xmlns:a16="http://schemas.microsoft.com/office/drawing/2014/main" id="{BA76D260-6925-43A3-9EFD-834FEBF54EC0}"/>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TextBox 10">
            <a:extLst>
              <a:ext uri="{FF2B5EF4-FFF2-40B4-BE49-F238E27FC236}">
                <a16:creationId xmlns:a16="http://schemas.microsoft.com/office/drawing/2014/main" id="{3E8A140B-47E1-8343-DDC8-3F7507B77C9E}"/>
              </a:ext>
            </a:extLst>
          </p:cNvPr>
          <p:cNvSpPr txBox="1"/>
          <p:nvPr/>
        </p:nvSpPr>
        <p:spPr>
          <a:xfrm>
            <a:off x="457199" y="990600"/>
            <a:ext cx="12024911" cy="923330"/>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V&amp;V</a:t>
            </a:r>
          </a:p>
          <a:p>
            <a:pPr algn="l">
              <a:buNone/>
            </a:pPr>
            <a:endParaRPr lang="en-US" sz="800" dirty="0"/>
          </a:p>
          <a:p>
            <a:pPr algn="l">
              <a:buNone/>
            </a:pPr>
            <a:r>
              <a:rPr lang="en-US" sz="1800" dirty="0">
                <a:solidFill>
                  <a:srgbClr val="822433"/>
                </a:solidFill>
                <a:latin typeface="Palatino Linotype"/>
              </a:rPr>
              <a:t>•  </a:t>
            </a:r>
            <a:r>
              <a:rPr lang="en-US" sz="1800" dirty="0">
                <a:solidFill>
                  <a:srgbClr val="2B2B2B"/>
                </a:solidFill>
                <a:latin typeface="Palatino Linotype"/>
              </a:rPr>
              <a:t>Extensive assessment of HYPERDE features (</a:t>
            </a:r>
            <a:r>
              <a:rPr lang="en-US" sz="1800" b="1" dirty="0">
                <a:solidFill>
                  <a:srgbClr val="2B2B2B"/>
                </a:solidFill>
                <a:latin typeface="Palatino Linotype"/>
              </a:rPr>
              <a:t>Q2D source terms</a:t>
            </a:r>
            <a:r>
              <a:rPr lang="en-US" sz="1800" dirty="0">
                <a:solidFill>
                  <a:srgbClr val="2B2B2B"/>
                </a:solidFill>
                <a:latin typeface="Palatino Linotype"/>
              </a:rPr>
              <a:t>, Q1D injectors-chamber, Q2D-3D connection)</a:t>
            </a:r>
          </a:p>
        </p:txBody>
      </p:sp>
      <p:pic>
        <p:nvPicPr>
          <p:cNvPr id="21" name="Immagine 20">
            <a:extLst>
              <a:ext uri="{FF2B5EF4-FFF2-40B4-BE49-F238E27FC236}">
                <a16:creationId xmlns:a16="http://schemas.microsoft.com/office/drawing/2014/main" id="{31C33D19-DD6A-649E-5ECB-C8346E46C1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55280" y="2222499"/>
            <a:ext cx="3903856" cy="3466857"/>
          </a:xfrm>
          <a:prstGeom prst="rect">
            <a:avLst/>
          </a:prstGeom>
        </p:spPr>
      </p:pic>
      <p:sp>
        <p:nvSpPr>
          <p:cNvPr id="23" name="CasellaDiTesto 22">
            <a:extLst>
              <a:ext uri="{FF2B5EF4-FFF2-40B4-BE49-F238E27FC236}">
                <a16:creationId xmlns:a16="http://schemas.microsoft.com/office/drawing/2014/main" id="{3A540A39-6259-48B4-9B71-2C4CFB40AE64}"/>
              </a:ext>
            </a:extLst>
          </p:cNvPr>
          <p:cNvSpPr txBox="1"/>
          <p:nvPr/>
        </p:nvSpPr>
        <p:spPr>
          <a:xfrm>
            <a:off x="5816756" y="5541275"/>
            <a:ext cx="3403600" cy="279400"/>
          </a:xfrm>
          <a:prstGeom prst="rect">
            <a:avLst/>
          </a:prstGeom>
          <a:noFill/>
        </p:spPr>
        <p:txBody>
          <a:bodyPr vertOverflow="overflow" vert="horz" wrap="none" rtlCol="0" anchor="t">
            <a:noAutofit/>
          </a:bodyPr>
          <a:lstStyle/>
          <a:p>
            <a:pPr algn="l"/>
            <a:r>
              <a:rPr lang="it-IT" sz="1400" b="1" dirty="0">
                <a:solidFill>
                  <a:srgbClr val="822433"/>
                </a:solidFill>
                <a:latin typeface="Palatino Linotype"/>
              </a:rPr>
              <a:t>AR = 0.4</a:t>
            </a:r>
          </a:p>
        </p:txBody>
      </p:sp>
    </p:spTree>
    <p:extLst>
      <p:ext uri="{BB962C8B-B14F-4D97-AF65-F5344CB8AC3E}">
        <p14:creationId xmlns:p14="http://schemas.microsoft.com/office/powerpoint/2010/main" val="450732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693CA-FF31-0ECB-20D8-DE0CBCEE2FF0}"/>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7E726380-ACC1-1BAD-3699-960265B66EEC}"/>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FAE93331-F67A-4C27-51C9-FD522F5326FB}"/>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93A7402E-CAB3-8A42-C492-B97A82188C8C}"/>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65EBCAF6-0745-FEB0-D728-50E63D8E239F}"/>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285FF4B1-0EE7-D815-6162-2401D18C35B1}"/>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33FB19B0-77C7-9D55-A696-9E8712785E11}"/>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9</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496C55C5-1AFC-0EB5-3787-11D5961AF480}"/>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BF9D3AB5-56CC-A245-AC07-1287F5E409E1}"/>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80F25540-93E7-ED90-EFA3-D5C5E8265B8D}"/>
              </a:ext>
            </a:extLst>
          </p:cNvPr>
          <p:cNvSpPr>
            <a:spLocks noGrp="1"/>
          </p:cNvSpPr>
          <p:nvPr>
            <p:ph type="sldNum" sz="quarter" idx="12"/>
          </p:nvPr>
        </p:nvSpPr>
        <p:spPr/>
        <p:txBody>
          <a:bodyPr/>
          <a:lstStyle/>
          <a:p>
            <a:r>
              <a:rPr sz="1400" b="1">
                <a:solidFill>
                  <a:srgbClr val="FFFFFF"/>
                </a:solidFill>
                <a:latin typeface="Palatino Linotype"/>
              </a:rPr>
              <a:t>11/29</a:t>
            </a:r>
            <a:endParaRPr lang="en-US" dirty="0"/>
          </a:p>
        </p:txBody>
      </p:sp>
      <p:sp>
        <p:nvSpPr>
          <p:cNvPr id="6" name="Titolo 1">
            <a:extLst>
              <a:ext uri="{FF2B5EF4-FFF2-40B4-BE49-F238E27FC236}">
                <a16:creationId xmlns:a16="http://schemas.microsoft.com/office/drawing/2014/main" id="{4CB67A35-62FF-05B5-E20B-EA5410CFA0F1}"/>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TextBox 10">
            <a:extLst>
              <a:ext uri="{FF2B5EF4-FFF2-40B4-BE49-F238E27FC236}">
                <a16:creationId xmlns:a16="http://schemas.microsoft.com/office/drawing/2014/main" id="{587E9AA8-F671-F2C2-C956-DAED753B645F}"/>
              </a:ext>
            </a:extLst>
          </p:cNvPr>
          <p:cNvSpPr txBox="1"/>
          <p:nvPr/>
        </p:nvSpPr>
        <p:spPr>
          <a:xfrm>
            <a:off x="457199" y="990600"/>
            <a:ext cx="12024911" cy="923330"/>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V&amp;V</a:t>
            </a:r>
          </a:p>
          <a:p>
            <a:pPr algn="l">
              <a:buNone/>
            </a:pPr>
            <a:endParaRPr lang="en-US" sz="800" dirty="0"/>
          </a:p>
          <a:p>
            <a:pPr algn="l">
              <a:buNone/>
            </a:pPr>
            <a:r>
              <a:rPr lang="en-US" sz="1800" dirty="0">
                <a:solidFill>
                  <a:srgbClr val="822433"/>
                </a:solidFill>
                <a:latin typeface="Palatino Linotype"/>
              </a:rPr>
              <a:t>•  </a:t>
            </a:r>
            <a:r>
              <a:rPr lang="en-US" sz="1800" dirty="0">
                <a:solidFill>
                  <a:srgbClr val="2B2B2B"/>
                </a:solidFill>
                <a:latin typeface="Palatino Linotype"/>
              </a:rPr>
              <a:t>Extensive assessment of HYPERDE features (Q2D source terms, </a:t>
            </a:r>
            <a:r>
              <a:rPr lang="en-US" sz="1800" b="1" dirty="0">
                <a:solidFill>
                  <a:srgbClr val="2B2B2B"/>
                </a:solidFill>
                <a:latin typeface="Palatino Linotype"/>
              </a:rPr>
              <a:t>Q1D injectors-chamber</a:t>
            </a:r>
            <a:r>
              <a:rPr lang="en-US" sz="1800" dirty="0">
                <a:solidFill>
                  <a:srgbClr val="2B2B2B"/>
                </a:solidFill>
                <a:latin typeface="Palatino Linotype"/>
              </a:rPr>
              <a:t>, Q2D-3D connection)</a:t>
            </a:r>
          </a:p>
        </p:txBody>
      </p:sp>
      <p:pic>
        <p:nvPicPr>
          <p:cNvPr id="5" name="Immagine 4">
            <a:extLst>
              <a:ext uri="{FF2B5EF4-FFF2-40B4-BE49-F238E27FC236}">
                <a16:creationId xmlns:a16="http://schemas.microsoft.com/office/drawing/2014/main" id="{EBCAABF1-58C7-B0F7-6C5C-BEA74376AB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2939" y="2246558"/>
            <a:ext cx="4072939" cy="3620842"/>
          </a:xfrm>
          <a:prstGeom prst="rect">
            <a:avLst/>
          </a:prstGeom>
        </p:spPr>
      </p:pic>
      <p:pic>
        <p:nvPicPr>
          <p:cNvPr id="11" name="Immagine 10">
            <a:extLst>
              <a:ext uri="{FF2B5EF4-FFF2-40B4-BE49-F238E27FC236}">
                <a16:creationId xmlns:a16="http://schemas.microsoft.com/office/drawing/2014/main" id="{B83C7E8A-D085-00DE-373F-017474D04A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19060" y="2256773"/>
            <a:ext cx="4072939" cy="3620843"/>
          </a:xfrm>
          <a:prstGeom prst="rect">
            <a:avLst/>
          </a:prstGeom>
        </p:spPr>
      </p:pic>
      <p:pic>
        <p:nvPicPr>
          <p:cNvPr id="13" name="Immagine 12">
            <a:extLst>
              <a:ext uri="{FF2B5EF4-FFF2-40B4-BE49-F238E27FC236}">
                <a16:creationId xmlns:a16="http://schemas.microsoft.com/office/drawing/2014/main" id="{B24026F3-0875-75A8-A1AD-0D3C30F07D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248594"/>
            <a:ext cx="4072939" cy="3616770"/>
          </a:xfrm>
          <a:prstGeom prst="rect">
            <a:avLst/>
          </a:prstGeom>
        </p:spPr>
      </p:pic>
    </p:spTree>
    <p:extLst>
      <p:ext uri="{BB962C8B-B14F-4D97-AF65-F5344CB8AC3E}">
        <p14:creationId xmlns:p14="http://schemas.microsoft.com/office/powerpoint/2010/main" val="1477357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C025D-7026-D625-546A-5A6D10A413D8}"/>
            </a:ext>
          </a:extLst>
        </p:cNvPr>
        <p:cNvGrpSpPr/>
        <p:nvPr/>
      </p:nvGrpSpPr>
      <p:grpSpPr>
        <a:xfrm>
          <a:off x="0" y="0"/>
          <a:ext cx="0" cy="0"/>
          <a:chOff x="0" y="0"/>
          <a:chExt cx="0" cy="0"/>
        </a:xfrm>
      </p:grpSpPr>
      <p:pic>
        <p:nvPicPr>
          <p:cNvPr id="9" name="video">
            <a:hlinkClick r:id="" action="ppaction://media"/>
            <a:extLst>
              <a:ext uri="{FF2B5EF4-FFF2-40B4-BE49-F238E27FC236}">
                <a16:creationId xmlns:a16="http://schemas.microsoft.com/office/drawing/2014/main" id="{38B1E48B-4710-D50E-12EA-2954116B984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851460" y="2248594"/>
            <a:ext cx="4072939" cy="3621135"/>
          </a:xfrm>
          <a:prstGeom prst="rect">
            <a:avLst/>
          </a:prstGeom>
        </p:spPr>
      </p:pic>
      <p:pic>
        <p:nvPicPr>
          <p:cNvPr id="18" name="Immagine 17">
            <a:extLst>
              <a:ext uri="{FF2B5EF4-FFF2-40B4-BE49-F238E27FC236}">
                <a16:creationId xmlns:a16="http://schemas.microsoft.com/office/drawing/2014/main" id="{CF8E9154-6F2B-B7B2-63DD-CAAF776435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08443" y="2336800"/>
            <a:ext cx="3806343" cy="3383838"/>
          </a:xfrm>
          <a:prstGeom prst="rect">
            <a:avLst/>
          </a:prstGeom>
        </p:spPr>
      </p:pic>
      <p:grpSp>
        <p:nvGrpSpPr>
          <p:cNvPr id="7" name="Gruppo 6">
            <a:extLst>
              <a:ext uri="{FF2B5EF4-FFF2-40B4-BE49-F238E27FC236}">
                <a16:creationId xmlns:a16="http://schemas.microsoft.com/office/drawing/2014/main" id="{CCE53F78-8AF7-0507-6434-60F5B14DF36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2BA2C0E6-BB74-27F1-9FB2-EDD44E446922}"/>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5F982B8F-9F74-4685-FBCA-81156E0F5B73}"/>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B3A75CF2-8787-E91D-BB67-B73DDEAE226E}"/>
                  </a:ext>
                </a:extLst>
              </p:cNvPr>
              <p:cNvPicPr>
                <a:picLocks noChangeAspect="1" noChangeArrowheads="1"/>
              </p:cNvPicPr>
              <p:nvPr/>
            </p:nvPicPr>
            <p:blipFill rotWithShape="1">
              <a:blip r:embed="rId7"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EF3B0930-1CC7-5D68-B027-832559F41D47}"/>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7FD40A69-0EFF-C6EC-52C5-179F219E9183}"/>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10</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DCF9F0DF-139F-026F-69D2-B4BC6F1437D1}"/>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2B1A86FF-D265-3602-8FCF-0CB3B2C47EE8}"/>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3B62513B-137F-E1FA-420D-0A6B1764C613}"/>
              </a:ext>
            </a:extLst>
          </p:cNvPr>
          <p:cNvSpPr>
            <a:spLocks noGrp="1"/>
          </p:cNvSpPr>
          <p:nvPr>
            <p:ph type="sldNum" sz="quarter" idx="12"/>
          </p:nvPr>
        </p:nvSpPr>
        <p:spPr/>
        <p:txBody>
          <a:bodyPr/>
          <a:lstStyle/>
          <a:p>
            <a:r>
              <a:rPr sz="1400" b="1">
                <a:solidFill>
                  <a:srgbClr val="FFFFFF"/>
                </a:solidFill>
                <a:latin typeface="Palatino Linotype"/>
              </a:rPr>
              <a:t>12/29</a:t>
            </a:r>
            <a:endParaRPr lang="en-US" dirty="0"/>
          </a:p>
        </p:txBody>
      </p:sp>
      <p:sp>
        <p:nvSpPr>
          <p:cNvPr id="6" name="Titolo 1">
            <a:extLst>
              <a:ext uri="{FF2B5EF4-FFF2-40B4-BE49-F238E27FC236}">
                <a16:creationId xmlns:a16="http://schemas.microsoft.com/office/drawing/2014/main" id="{EC5F14D1-AD94-53AB-91FC-CBE59C1BCE97}"/>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Code Development and Capabilities</a:t>
            </a:r>
          </a:p>
        </p:txBody>
      </p:sp>
      <p:sp>
        <p:nvSpPr>
          <p:cNvPr id="8" name="TextBox 10">
            <a:extLst>
              <a:ext uri="{FF2B5EF4-FFF2-40B4-BE49-F238E27FC236}">
                <a16:creationId xmlns:a16="http://schemas.microsoft.com/office/drawing/2014/main" id="{7E575883-EB93-C287-067E-9F1C13665753}"/>
              </a:ext>
            </a:extLst>
          </p:cNvPr>
          <p:cNvSpPr txBox="1"/>
          <p:nvPr/>
        </p:nvSpPr>
        <p:spPr>
          <a:xfrm>
            <a:off x="457199" y="990600"/>
            <a:ext cx="12024911" cy="923330"/>
          </a:xfrm>
          <a:prstGeom prst="rect">
            <a:avLst/>
          </a:prstGeom>
          <a:noFill/>
        </p:spPr>
        <p:txBody>
          <a:bodyPr wrap="square" rtlCol="0">
            <a:spAutoFit/>
          </a:bodyPr>
          <a:lstStyle/>
          <a:p>
            <a:pPr algn="l">
              <a:buNone/>
            </a:pPr>
            <a:r>
              <a:rPr lang="en-US" sz="2800" dirty="0" b="1">
                <a:solidFill>
                  <a:srgbClr val="006778"/>
                </a:solidFill>
                <a:effectLst>
                  <a:outerShdw blurRad="38100" dist="38100" dir="2700000" algn="tl">
                    <a:srgbClr val="000000">
                      <a:alpha val="43137"/>
                    </a:srgbClr>
                  </a:outerShdw>
                </a:effectLst>
                <a:latin typeface="Palatino Linotype"/>
              </a:rPr>
              <a:t>V&amp;V</a:t>
            </a:r>
          </a:p>
          <a:p>
            <a:pPr algn="l">
              <a:buNone/>
            </a:pPr>
            <a:endParaRPr lang="en-US" sz="800" dirty="0"/>
          </a:p>
          <a:p>
            <a:pPr algn="l">
              <a:buNone/>
            </a:pPr>
            <a:r>
              <a:rPr lang="en-US" sz="1800" dirty="0">
                <a:solidFill>
                  <a:srgbClr val="822433"/>
                </a:solidFill>
                <a:latin typeface="Palatino Linotype"/>
              </a:rPr>
              <a:t>•  </a:t>
            </a:r>
            <a:r>
              <a:rPr lang="en-US" sz="1800" dirty="0">
                <a:solidFill>
                  <a:srgbClr val="2B2B2B"/>
                </a:solidFill>
                <a:latin typeface="Palatino Linotype"/>
              </a:rPr>
              <a:t>Extensive assessment of HYPERDE features (Q2D source terms, Q1D injectors-chamber, </a:t>
            </a:r>
            <a:r>
              <a:rPr lang="en-US" sz="1800" b="1" dirty="0">
                <a:solidFill>
                  <a:srgbClr val="2B2B2B"/>
                </a:solidFill>
                <a:latin typeface="Palatino Linotype"/>
              </a:rPr>
              <a:t>Q2D-3D connection</a:t>
            </a:r>
            <a:r>
              <a:rPr lang="en-US" sz="1800" dirty="0">
                <a:solidFill>
                  <a:srgbClr val="2B2B2B"/>
                </a:solidFill>
                <a:latin typeface="Palatino Linotype"/>
              </a:rPr>
              <a:t>)</a:t>
            </a:r>
          </a:p>
        </p:txBody>
      </p:sp>
      <p:pic>
        <p:nvPicPr>
          <p:cNvPr id="5" name="Immagine 4">
            <a:extLst>
              <a:ext uri="{FF2B5EF4-FFF2-40B4-BE49-F238E27FC236}">
                <a16:creationId xmlns:a16="http://schemas.microsoft.com/office/drawing/2014/main" id="{EF0E99DC-CC07-7553-AD46-D011847711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2248594"/>
            <a:ext cx="4072939" cy="3616770"/>
          </a:xfrm>
          <a:prstGeom prst="rect">
            <a:avLst/>
          </a:prstGeom>
        </p:spPr>
      </p:pic>
      <p:sp>
        <p:nvSpPr>
          <p:cNvPr id="11" name="Rettangolo 10">
            <a:extLst>
              <a:ext uri="{FF2B5EF4-FFF2-40B4-BE49-F238E27FC236}">
                <a16:creationId xmlns:a16="http://schemas.microsoft.com/office/drawing/2014/main" id="{1675CFBD-0B69-A0AC-AEAB-F82271DD7107}"/>
              </a:ext>
            </a:extLst>
          </p:cNvPr>
          <p:cNvSpPr/>
          <p:nvPr/>
        </p:nvSpPr>
        <p:spPr>
          <a:xfrm>
            <a:off x="2316480" y="2120900"/>
            <a:ext cx="223520" cy="3708400"/>
          </a:xfrm>
          <a:prstGeom prst="rect">
            <a:avLst/>
          </a:prstGeom>
          <a:noFill/>
          <a:ln w="3810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3" name="Rettangolo 12">
            <a:extLst>
              <a:ext uri="{FF2B5EF4-FFF2-40B4-BE49-F238E27FC236}">
                <a16:creationId xmlns:a16="http://schemas.microsoft.com/office/drawing/2014/main" id="{854DBED5-9116-D677-BE46-FA665DDA3F78}"/>
              </a:ext>
            </a:extLst>
          </p:cNvPr>
          <p:cNvSpPr/>
          <p:nvPr/>
        </p:nvSpPr>
        <p:spPr>
          <a:xfrm>
            <a:off x="2846841" y="2336800"/>
            <a:ext cx="668519" cy="1351280"/>
          </a:xfrm>
          <a:prstGeom prst="rect">
            <a:avLst/>
          </a:prstGeom>
          <a:solidFill>
            <a:schemeClr val="bg1"/>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19" name="Freccia in giù 18">
            <a:extLst>
              <a:ext uri="{FF2B5EF4-FFF2-40B4-BE49-F238E27FC236}">
                <a16:creationId xmlns:a16="http://schemas.microsoft.com/office/drawing/2014/main" id="{AA58FC08-002A-00F2-879D-E6BC75E5CBE1}"/>
              </a:ext>
            </a:extLst>
          </p:cNvPr>
          <p:cNvSpPr/>
          <p:nvPr/>
        </p:nvSpPr>
        <p:spPr>
          <a:xfrm rot="16200000">
            <a:off x="2999544" y="3628151"/>
            <a:ext cx="484632" cy="731520"/>
          </a:xfrm>
          <a:prstGeom prst="downArrow">
            <a:avLst/>
          </a:prstGeom>
          <a:solidFill>
            <a:srgbClr val="822433"/>
          </a:solidFill>
          <a:ln>
            <a:solidFill>
              <a:srgbClr val="8224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Freccia in giù 20">
            <a:extLst>
              <a:ext uri="{FF2B5EF4-FFF2-40B4-BE49-F238E27FC236}">
                <a16:creationId xmlns:a16="http://schemas.microsoft.com/office/drawing/2014/main" id="{DE91EC6A-0F3C-9DFF-FDAB-ABE4B41C84A0}"/>
              </a:ext>
            </a:extLst>
          </p:cNvPr>
          <p:cNvSpPr/>
          <p:nvPr/>
        </p:nvSpPr>
        <p:spPr>
          <a:xfrm rot="16200000">
            <a:off x="8018183" y="3662959"/>
            <a:ext cx="484632" cy="731520"/>
          </a:xfrm>
          <a:prstGeom prst="downArrow">
            <a:avLst/>
          </a:prstGeom>
          <a:solidFill>
            <a:srgbClr val="822433"/>
          </a:solidFill>
          <a:ln>
            <a:solidFill>
              <a:srgbClr val="8224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0810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3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3BAB-2B61-5C21-22B8-DA5F01961EC3}"/>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8774C85A-1182-D3FF-D019-C37F290086B4}"/>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5AFED1ED-BDA5-1854-6E01-47D6B005AEE0}"/>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E881DB14-421D-7F5C-B3AA-1786A16D5979}"/>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C4897A6E-62E0-1DAD-75A7-DCEEE5293010}"/>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0297B6E1-55B6-ED38-07C4-9C209768DFFA}"/>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3F7AE62F-008C-86D8-8708-DDD552DAD902}"/>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11</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75901BDA-B025-8B5A-5412-CA84283BC3E6}"/>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19C03B4D-1439-C5E7-0BF2-CBCDFCB27C4A}"/>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CB21CCED-EA68-57D1-A98F-53A7F5CEB627}"/>
              </a:ext>
            </a:extLst>
          </p:cNvPr>
          <p:cNvSpPr>
            <a:spLocks noGrp="1"/>
          </p:cNvSpPr>
          <p:nvPr>
            <p:ph type="sldNum" sz="quarter" idx="12"/>
          </p:nvPr>
        </p:nvSpPr>
        <p:spPr/>
        <p:txBody>
          <a:bodyPr/>
          <a:lstStyle/>
          <a:p>
            <a:r>
              <a:rPr sz="1400" b="1">
                <a:solidFill>
                  <a:srgbClr val="FFFFFF"/>
                </a:solidFill>
                <a:latin typeface="Palatino Linotype"/>
              </a:rPr>
              <a:t>13/29</a:t>
            </a:r>
            <a:endParaRPr lang="en-US" dirty="0"/>
          </a:p>
        </p:txBody>
      </p:sp>
      <p:sp>
        <p:nvSpPr>
          <p:cNvPr id="6" name="Titolo 1">
            <a:extLst>
              <a:ext uri="{FF2B5EF4-FFF2-40B4-BE49-F238E27FC236}">
                <a16:creationId xmlns:a16="http://schemas.microsoft.com/office/drawing/2014/main" id="{A62A83BA-43F7-1233-0E31-666A27FDB3EC}"/>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Characterization of Refill Region Dynamics (with RMIT and NCSU) </a:t>
            </a:r>
          </a:p>
        </p:txBody>
      </p:sp>
      <p:grpSp>
        <p:nvGrpSpPr>
          <p:cNvPr id="8" name="Group 58">
            <a:extLst>
              <a:ext uri="{FF2B5EF4-FFF2-40B4-BE49-F238E27FC236}">
                <a16:creationId xmlns:a16="http://schemas.microsoft.com/office/drawing/2014/main" id="{C9056756-626D-C42B-E59A-5FA16F82163E}"/>
              </a:ext>
            </a:extLst>
          </p:cNvPr>
          <p:cNvGrpSpPr>
            <a:grpSpLocks noChangeAspect="1"/>
          </p:cNvGrpSpPr>
          <p:nvPr/>
        </p:nvGrpSpPr>
        <p:grpSpPr>
          <a:xfrm>
            <a:off x="821248" y="2448064"/>
            <a:ext cx="3389649" cy="1070153"/>
            <a:chOff x="821248" y="2446387"/>
            <a:chExt cx="4864842" cy="1535889"/>
          </a:xfrm>
        </p:grpSpPr>
        <p:pic>
          <p:nvPicPr>
            <p:cNvPr id="9" name="Picture 54">
              <a:extLst>
                <a:ext uri="{FF2B5EF4-FFF2-40B4-BE49-F238E27FC236}">
                  <a16:creationId xmlns:a16="http://schemas.microsoft.com/office/drawing/2014/main" id="{7C4CEB72-3F3B-7046-7F94-1CE616B89B83}"/>
                </a:ext>
              </a:extLst>
            </p:cNvPr>
            <p:cNvPicPr>
              <a:picLocks noChangeAspect="1"/>
            </p:cNvPicPr>
            <p:nvPr/>
          </p:nvPicPr>
          <p:blipFill>
            <a:blip r:embed="rId4"/>
            <a:srcRect t="13925" b="15261"/>
            <a:stretch>
              <a:fillRect/>
            </a:stretch>
          </p:blipFill>
          <p:spPr>
            <a:xfrm>
              <a:off x="821248" y="2446387"/>
              <a:ext cx="4864842" cy="1386025"/>
            </a:xfrm>
            <a:prstGeom prst="rect">
              <a:avLst/>
            </a:prstGeom>
          </p:spPr>
        </p:pic>
        <p:sp>
          <p:nvSpPr>
            <p:cNvPr id="14" name="Rectangle 56">
              <a:extLst>
                <a:ext uri="{FF2B5EF4-FFF2-40B4-BE49-F238E27FC236}">
                  <a16:creationId xmlns:a16="http://schemas.microsoft.com/office/drawing/2014/main" id="{8CF97A06-30AA-99F2-8998-6BD5FBD0F1AB}"/>
                </a:ext>
              </a:extLst>
            </p:cNvPr>
            <p:cNvSpPr/>
            <p:nvPr/>
          </p:nvSpPr>
          <p:spPr>
            <a:xfrm>
              <a:off x="821248" y="2621651"/>
              <a:ext cx="429702" cy="3505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57">
              <a:extLst>
                <a:ext uri="{FF2B5EF4-FFF2-40B4-BE49-F238E27FC236}">
                  <a16:creationId xmlns:a16="http://schemas.microsoft.com/office/drawing/2014/main" id="{06D02E51-850F-2997-C0E2-C88B01B604BC}"/>
                </a:ext>
              </a:extLst>
            </p:cNvPr>
            <p:cNvSpPr/>
            <p:nvPr/>
          </p:nvSpPr>
          <p:spPr>
            <a:xfrm>
              <a:off x="2948886" y="3794135"/>
              <a:ext cx="391214" cy="188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19" name="Picture 69">
            <a:extLst>
              <a:ext uri="{FF2B5EF4-FFF2-40B4-BE49-F238E27FC236}">
                <a16:creationId xmlns:a16="http://schemas.microsoft.com/office/drawing/2014/main" id="{BF859A48-F590-FCBE-A65B-32987771A5F3}"/>
              </a:ext>
            </a:extLst>
          </p:cNvPr>
          <p:cNvPicPr>
            <a:picLocks noChangeAspect="1"/>
          </p:cNvPicPr>
          <p:nvPr/>
        </p:nvPicPr>
        <p:blipFill>
          <a:blip r:embed="rId5"/>
          <a:stretch>
            <a:fillRect/>
          </a:stretch>
        </p:blipFill>
        <p:spPr>
          <a:xfrm>
            <a:off x="4752986" y="2293051"/>
            <a:ext cx="2624689" cy="1344721"/>
          </a:xfrm>
          <a:prstGeom prst="rect">
            <a:avLst/>
          </a:prstGeom>
        </p:spPr>
      </p:pic>
      <p:pic>
        <p:nvPicPr>
          <p:cNvPr id="20" name="Picture 69">
            <a:extLst>
              <a:ext uri="{FF2B5EF4-FFF2-40B4-BE49-F238E27FC236}">
                <a16:creationId xmlns:a16="http://schemas.microsoft.com/office/drawing/2014/main" id="{3F5828A9-6B19-02E4-EF31-546A39D54ADA}"/>
              </a:ext>
            </a:extLst>
          </p:cNvPr>
          <p:cNvPicPr>
            <a:picLocks noChangeAspect="1"/>
          </p:cNvPicPr>
          <p:nvPr/>
        </p:nvPicPr>
        <p:blipFill>
          <a:blip r:embed="rId5"/>
          <a:stretch>
            <a:fillRect/>
          </a:stretch>
        </p:blipFill>
        <p:spPr>
          <a:xfrm>
            <a:off x="4752986" y="2293051"/>
            <a:ext cx="2624689" cy="1344721"/>
          </a:xfrm>
          <a:prstGeom prst="rect">
            <a:avLst/>
          </a:prstGeom>
        </p:spPr>
      </p:pic>
      <p:pic>
        <p:nvPicPr>
          <p:cNvPr id="21" name="Picture 72">
            <a:extLst>
              <a:ext uri="{FF2B5EF4-FFF2-40B4-BE49-F238E27FC236}">
                <a16:creationId xmlns:a16="http://schemas.microsoft.com/office/drawing/2014/main" id="{AE8CD984-8BD0-8EA8-70E7-D769775460E0}"/>
              </a:ext>
            </a:extLst>
          </p:cNvPr>
          <p:cNvPicPr>
            <a:picLocks noChangeAspect="1"/>
          </p:cNvPicPr>
          <p:nvPr/>
        </p:nvPicPr>
        <p:blipFill>
          <a:blip r:embed="rId6"/>
          <a:stretch>
            <a:fillRect/>
          </a:stretch>
        </p:blipFill>
        <p:spPr>
          <a:xfrm>
            <a:off x="7481693" y="2253350"/>
            <a:ext cx="2318178" cy="1567946"/>
          </a:xfrm>
          <a:prstGeom prst="rect">
            <a:avLst/>
          </a:prstGeom>
        </p:spPr>
      </p:pic>
      <p:pic>
        <p:nvPicPr>
          <p:cNvPr id="22" name="Picture 69">
            <a:extLst>
              <a:ext uri="{FF2B5EF4-FFF2-40B4-BE49-F238E27FC236}">
                <a16:creationId xmlns:a16="http://schemas.microsoft.com/office/drawing/2014/main" id="{66B3DD08-FAE1-E9D6-425A-CACC39FBD865}"/>
              </a:ext>
            </a:extLst>
          </p:cNvPr>
          <p:cNvPicPr>
            <a:picLocks noChangeAspect="1"/>
          </p:cNvPicPr>
          <p:nvPr/>
        </p:nvPicPr>
        <p:blipFill>
          <a:blip r:embed="rId5"/>
          <a:stretch>
            <a:fillRect/>
          </a:stretch>
        </p:blipFill>
        <p:spPr>
          <a:xfrm>
            <a:off x="4752986" y="2293051"/>
            <a:ext cx="2624689" cy="1344721"/>
          </a:xfrm>
          <a:prstGeom prst="rect">
            <a:avLst/>
          </a:prstGeom>
        </p:spPr>
      </p:pic>
      <p:pic>
        <p:nvPicPr>
          <p:cNvPr id="23" name="Picture 72">
            <a:extLst>
              <a:ext uri="{FF2B5EF4-FFF2-40B4-BE49-F238E27FC236}">
                <a16:creationId xmlns:a16="http://schemas.microsoft.com/office/drawing/2014/main" id="{981AE3D5-CBF2-1568-67A4-52E768FBEEF4}"/>
              </a:ext>
            </a:extLst>
          </p:cNvPr>
          <p:cNvPicPr>
            <a:picLocks noChangeAspect="1"/>
          </p:cNvPicPr>
          <p:nvPr/>
        </p:nvPicPr>
        <p:blipFill>
          <a:blip r:embed="rId6"/>
          <a:stretch>
            <a:fillRect/>
          </a:stretch>
        </p:blipFill>
        <p:spPr>
          <a:xfrm>
            <a:off x="7481693" y="2253350"/>
            <a:ext cx="2318178" cy="1567946"/>
          </a:xfrm>
          <a:prstGeom prst="rect">
            <a:avLst/>
          </a:prstGeom>
        </p:spPr>
      </p:pic>
      <p:pic>
        <p:nvPicPr>
          <p:cNvPr id="24" name="Picture 74">
            <a:extLst>
              <a:ext uri="{FF2B5EF4-FFF2-40B4-BE49-F238E27FC236}">
                <a16:creationId xmlns:a16="http://schemas.microsoft.com/office/drawing/2014/main" id="{6AD4937B-924E-AE78-4382-13717AC2DB28}"/>
              </a:ext>
            </a:extLst>
          </p:cNvPr>
          <p:cNvPicPr>
            <a:picLocks noChangeAspect="1"/>
          </p:cNvPicPr>
          <p:nvPr/>
        </p:nvPicPr>
        <p:blipFill>
          <a:blip r:embed="rId7"/>
          <a:stretch>
            <a:fillRect/>
          </a:stretch>
        </p:blipFill>
        <p:spPr>
          <a:xfrm>
            <a:off x="9854232" y="2373376"/>
            <a:ext cx="2279720" cy="1047585"/>
          </a:xfrm>
          <a:prstGeom prst="rect">
            <a:avLst/>
          </a:prstGeom>
        </p:spPr>
      </p:pic>
      <p:sp>
        <p:nvSpPr>
          <p:cNvPr id="25" name="TextBox 1">
            <a:extLst>
              <a:ext uri="{FF2B5EF4-FFF2-40B4-BE49-F238E27FC236}">
                <a16:creationId xmlns:a16="http://schemas.microsoft.com/office/drawing/2014/main" id="{80362398-2D95-63F9-22B1-ED2D35C9EC82}"/>
              </a:ext>
            </a:extLst>
          </p:cNvPr>
          <p:cNvSpPr txBox="1"/>
          <p:nvPr/>
        </p:nvSpPr>
        <p:spPr>
          <a:xfrm>
            <a:off x="613541" y="4310515"/>
            <a:ext cx="11153009" cy="1200329"/>
          </a:xfrm>
          <a:prstGeom prst="rect">
            <a:avLst/>
          </a:prstGeom>
          <a:noFill/>
        </p:spPr>
        <p:txBody>
          <a:bodyPr wrap="square" rtlCol="0">
            <a:spAutoFit/>
          </a:bodyPr>
          <a:lstStyle/>
          <a:p>
            <a:pPr marL="457200" indent="-457200">
              <a:buFontTx/>
              <a:buChar char="-"/>
            </a:pPr>
            <a:r>
              <a:rPr lang="en-US" b="1" dirty="0">
                <a:latin typeface="Palatino Linotype" panose="02040502050505030304" pitchFamily="18" charset="0"/>
                <a:cs typeface="Times New Roman" panose="02020603050405020304" pitchFamily="18" charset="0"/>
              </a:rPr>
              <a:t>How does the geometry affect the refill region expansion process?</a:t>
            </a:r>
          </a:p>
          <a:p>
            <a:pPr marL="457200" indent="-457200">
              <a:buFontTx/>
              <a:buChar char="-"/>
            </a:pPr>
            <a:r>
              <a:rPr lang="en-US" b="1" dirty="0">
                <a:latin typeface="Palatino Linotype" panose="02040502050505030304" pitchFamily="18" charset="0"/>
                <a:cs typeface="Times New Roman" panose="02020603050405020304" pitchFamily="18" charset="0"/>
              </a:rPr>
              <a:t>What happens if/when expansion yields supersonic Mach number in the layer?</a:t>
            </a:r>
          </a:p>
          <a:p>
            <a:pPr marL="457200" indent="-457200">
              <a:buFontTx/>
              <a:buChar char="-"/>
            </a:pPr>
            <a:r>
              <a:rPr lang="en-US" b="1" dirty="0">
                <a:latin typeface="Palatino Linotype" panose="02040502050505030304" pitchFamily="18" charset="0"/>
                <a:cs typeface="Times New Roman" panose="02020603050405020304" pitchFamily="18" charset="0"/>
              </a:rPr>
              <a:t>Can the process be modelled?</a:t>
            </a:r>
          </a:p>
          <a:p>
            <a:pPr marL="457200" indent="-457200">
              <a:buFontTx/>
              <a:buChar char="-"/>
            </a:pPr>
            <a:r>
              <a:rPr lang="en-US" b="1" dirty="0">
                <a:latin typeface="Palatino Linotype" panose="02040502050505030304" pitchFamily="18" charset="0"/>
                <a:cs typeface="Times New Roman" panose="02020603050405020304" pitchFamily="18" charset="0"/>
              </a:rPr>
              <a:t>How does the overall phenomenology impact the stagnation pressure losses?</a:t>
            </a:r>
            <a:endParaRPr lang="en-US" dirty="0">
              <a:latin typeface="Palatino Linotype" panose="02040502050505030304" pitchFamily="18" charset="0"/>
              <a:cs typeface="Times New Roman" panose="02020603050405020304" pitchFamily="18" charset="0"/>
            </a:endParaRPr>
          </a:p>
        </p:txBody>
      </p:sp>
      <p:sp>
        <p:nvSpPr>
          <p:cNvPr id="5" name="TextBox 10">
            <a:extLst>
              <a:ext uri="{FF2B5EF4-FFF2-40B4-BE49-F238E27FC236}">
                <a16:creationId xmlns:a16="http://schemas.microsoft.com/office/drawing/2014/main" id="{4C0DF9BD-134A-F943-937D-3F4A0A416EB1}"/>
              </a:ext>
            </a:extLst>
          </p:cNvPr>
          <p:cNvSpPr txBox="1"/>
          <p:nvPr/>
        </p:nvSpPr>
        <p:spPr>
          <a:xfrm>
            <a:off x="613541" y="1114851"/>
            <a:ext cx="11153009" cy="1600438"/>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Understanding physics of RDE refill regions with diverging inlets</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Introduced to </a:t>
            </a:r>
            <a:r>
              <a:rPr lang="en-US" b="1" dirty="0">
                <a:latin typeface="Palatino Linotype" panose="02040502050505030304" pitchFamily="18" charset="0"/>
                <a:cs typeface="Times New Roman" panose="02020603050405020304" pitchFamily="18" charset="0"/>
              </a:rPr>
              <a:t>mitigate separation losses </a:t>
            </a:r>
            <a:r>
              <a:rPr lang="en-US" dirty="0">
                <a:latin typeface="Palatino Linotype" panose="02040502050505030304" pitchFamily="18" charset="0"/>
                <a:cs typeface="Times New Roman" panose="02020603050405020304" pitchFamily="18" charset="0"/>
              </a:rPr>
              <a:t>associated with </a:t>
            </a:r>
            <a:r>
              <a:rPr lang="en-US" b="1" dirty="0">
                <a:latin typeface="Palatino Linotype" panose="02040502050505030304" pitchFamily="18" charset="0"/>
                <a:cs typeface="Times New Roman" panose="02020603050405020304" pitchFamily="18" charset="0"/>
              </a:rPr>
              <a:t>backward-facing steps</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Experimental and numerical evidence instead reports </a:t>
            </a:r>
            <a:r>
              <a:rPr lang="en-US" b="1" dirty="0">
                <a:latin typeface="Palatino Linotype" panose="02040502050505030304" pitchFamily="18" charset="0"/>
                <a:cs typeface="Times New Roman" panose="02020603050405020304" pitchFamily="18" charset="0"/>
              </a:rPr>
              <a:t>degraded overall performance</a:t>
            </a:r>
          </a:p>
          <a:p>
            <a:r>
              <a:rPr lang="en-US" sz="2200" dirty="0">
                <a:latin typeface="Times New Roman" panose="02020603050405020304" pitchFamily="18" charset="0"/>
                <a:cs typeface="Times New Roman" panose="02020603050405020304" pitchFamily="18" charset="0"/>
              </a:rPr>
              <a:t>              </a:t>
            </a:r>
          </a:p>
          <a:p>
            <a:pPr algn="ctr"/>
            <a:r>
              <a:rPr lang="en-US" sz="2200" dirty="0">
                <a:latin typeface="Times New Roman" panose="02020603050405020304" pitchFamily="18" charset="0"/>
                <a:cs typeface="Times New Roman" panose="02020603050405020304" pitchFamily="18" charset="0"/>
              </a:rPr>
              <a:t>               </a:t>
            </a:r>
            <a:endParaRPr lang="en-AU" sz="2200" dirty="0">
              <a:latin typeface="Times New Roman" panose="02020603050405020304" pitchFamily="18" charset="0"/>
              <a:cs typeface="Times New Roman" panose="02020603050405020304" pitchFamily="18" charset="0"/>
            </a:endParaRPr>
          </a:p>
        </p:txBody>
      </p:sp>
      <p:grpSp>
        <p:nvGrpSpPr>
          <p:cNvPr id="13" name="Group 416">
            <a:extLst>
              <a:ext uri="{FF2B5EF4-FFF2-40B4-BE49-F238E27FC236}">
                <a16:creationId xmlns:a16="http://schemas.microsoft.com/office/drawing/2014/main" id="{D7FB79D7-206E-001E-AE6C-8DFEEFA9E98A}"/>
              </a:ext>
            </a:extLst>
          </p:cNvPr>
          <p:cNvGrpSpPr>
            <a:grpSpLocks noChangeAspect="1"/>
          </p:cNvGrpSpPr>
          <p:nvPr/>
        </p:nvGrpSpPr>
        <p:grpSpPr>
          <a:xfrm>
            <a:off x="10520776" y="3520771"/>
            <a:ext cx="1220451" cy="2304336"/>
            <a:chOff x="261310" y="1275289"/>
            <a:chExt cx="2201062" cy="4155831"/>
          </a:xfrm>
        </p:grpSpPr>
        <p:sp>
          <p:nvSpPr>
            <p:cNvPr id="16" name="Freeform: Shape 417">
              <a:extLst>
                <a:ext uri="{FF2B5EF4-FFF2-40B4-BE49-F238E27FC236}">
                  <a16:creationId xmlns:a16="http://schemas.microsoft.com/office/drawing/2014/main" id="{14616ECC-B44C-EDB0-031B-9BA8C8DC4A3A}"/>
                </a:ext>
              </a:extLst>
            </p:cNvPr>
            <p:cNvSpPr/>
            <p:nvPr/>
          </p:nvSpPr>
          <p:spPr>
            <a:xfrm>
              <a:off x="328617" y="1417144"/>
              <a:ext cx="2133755" cy="892182"/>
            </a:xfrm>
            <a:custGeom>
              <a:avLst/>
              <a:gdLst>
                <a:gd name="connsiteX0" fmla="*/ 0 w 1691640"/>
                <a:gd name="connsiteY0" fmla="*/ 863600 h 863600"/>
                <a:gd name="connsiteX1" fmla="*/ 1391920 w 1691640"/>
                <a:gd name="connsiteY1" fmla="*/ 20320 h 863600"/>
                <a:gd name="connsiteX2" fmla="*/ 1691640 w 1691640"/>
                <a:gd name="connsiteY2" fmla="*/ 0 h 863600"/>
                <a:gd name="connsiteX3" fmla="*/ 254000 w 1691640"/>
                <a:gd name="connsiteY3" fmla="*/ 863600 h 863600"/>
                <a:gd name="connsiteX4" fmla="*/ 0 w 1691640"/>
                <a:gd name="connsiteY4" fmla="*/ 863600 h 863600"/>
                <a:gd name="connsiteX0" fmla="*/ 0 w 1691640"/>
                <a:gd name="connsiteY0" fmla="*/ 863600 h 863600"/>
                <a:gd name="connsiteX1" fmla="*/ 1391920 w 1691640"/>
                <a:gd name="connsiteY1" fmla="*/ 20320 h 863600"/>
                <a:gd name="connsiteX2" fmla="*/ 1691640 w 1691640"/>
                <a:gd name="connsiteY2" fmla="*/ 0 h 863600"/>
                <a:gd name="connsiteX3" fmla="*/ 278667 w 1691640"/>
                <a:gd name="connsiteY3" fmla="*/ 863600 h 863600"/>
                <a:gd name="connsiteX4" fmla="*/ 0 w 1691640"/>
                <a:gd name="connsiteY4" fmla="*/ 863600 h 863600"/>
                <a:gd name="connsiteX0" fmla="*/ 0 w 1711373"/>
                <a:gd name="connsiteY0" fmla="*/ 863600 h 863600"/>
                <a:gd name="connsiteX1" fmla="*/ 1391920 w 1711373"/>
                <a:gd name="connsiteY1" fmla="*/ 20320 h 863600"/>
                <a:gd name="connsiteX2" fmla="*/ 1711373 w 1711373"/>
                <a:gd name="connsiteY2" fmla="*/ 0 h 863600"/>
                <a:gd name="connsiteX3" fmla="*/ 278667 w 1711373"/>
                <a:gd name="connsiteY3" fmla="*/ 863600 h 863600"/>
                <a:gd name="connsiteX4" fmla="*/ 0 w 1711373"/>
                <a:gd name="connsiteY4" fmla="*/ 863600 h 863600"/>
                <a:gd name="connsiteX0" fmla="*/ 0 w 1822371"/>
                <a:gd name="connsiteY0" fmla="*/ 835698 h 863600"/>
                <a:gd name="connsiteX1" fmla="*/ 1502918 w 1822371"/>
                <a:gd name="connsiteY1" fmla="*/ 20320 h 863600"/>
                <a:gd name="connsiteX2" fmla="*/ 1822371 w 1822371"/>
                <a:gd name="connsiteY2" fmla="*/ 0 h 863600"/>
                <a:gd name="connsiteX3" fmla="*/ 389665 w 1822371"/>
                <a:gd name="connsiteY3" fmla="*/ 863600 h 863600"/>
                <a:gd name="connsiteX4" fmla="*/ 0 w 1822371"/>
                <a:gd name="connsiteY4" fmla="*/ 835698 h 863600"/>
                <a:gd name="connsiteX0" fmla="*/ 0 w 1822371"/>
                <a:gd name="connsiteY0" fmla="*/ 835698 h 863600"/>
                <a:gd name="connsiteX1" fmla="*/ 1354920 w 1822371"/>
                <a:gd name="connsiteY1" fmla="*/ 1719 h 863600"/>
                <a:gd name="connsiteX2" fmla="*/ 1822371 w 1822371"/>
                <a:gd name="connsiteY2" fmla="*/ 0 h 863600"/>
                <a:gd name="connsiteX3" fmla="*/ 389665 w 1822371"/>
                <a:gd name="connsiteY3" fmla="*/ 863600 h 863600"/>
                <a:gd name="connsiteX4" fmla="*/ 0 w 1822371"/>
                <a:gd name="connsiteY4" fmla="*/ 835698 h 863600"/>
                <a:gd name="connsiteX0" fmla="*/ 0 w 2035118"/>
                <a:gd name="connsiteY0" fmla="*/ 833979 h 861881"/>
                <a:gd name="connsiteX1" fmla="*/ 1354920 w 2035118"/>
                <a:gd name="connsiteY1" fmla="*/ 0 h 861881"/>
                <a:gd name="connsiteX2" fmla="*/ 2035118 w 2035118"/>
                <a:gd name="connsiteY2" fmla="*/ 7582 h 861881"/>
                <a:gd name="connsiteX3" fmla="*/ 389665 w 2035118"/>
                <a:gd name="connsiteY3" fmla="*/ 861881 h 861881"/>
                <a:gd name="connsiteX4" fmla="*/ 0 w 2035118"/>
                <a:gd name="connsiteY4" fmla="*/ 833979 h 861881"/>
                <a:gd name="connsiteX0" fmla="*/ 0 w 2035118"/>
                <a:gd name="connsiteY0" fmla="*/ 833979 h 871182"/>
                <a:gd name="connsiteX1" fmla="*/ 1354920 w 2035118"/>
                <a:gd name="connsiteY1" fmla="*/ 0 h 871182"/>
                <a:gd name="connsiteX2" fmla="*/ 2035118 w 2035118"/>
                <a:gd name="connsiteY2" fmla="*/ 7582 h 871182"/>
                <a:gd name="connsiteX3" fmla="*/ 602412 w 2035118"/>
                <a:gd name="connsiteY3" fmla="*/ 871182 h 871182"/>
                <a:gd name="connsiteX4" fmla="*/ 0 w 2035118"/>
                <a:gd name="connsiteY4" fmla="*/ 833979 h 871182"/>
                <a:gd name="connsiteX0" fmla="*/ 0 w 2072117"/>
                <a:gd name="connsiteY0" fmla="*/ 852580 h 871182"/>
                <a:gd name="connsiteX1" fmla="*/ 1391919 w 2072117"/>
                <a:gd name="connsiteY1" fmla="*/ 0 h 871182"/>
                <a:gd name="connsiteX2" fmla="*/ 2072117 w 2072117"/>
                <a:gd name="connsiteY2" fmla="*/ 7582 h 871182"/>
                <a:gd name="connsiteX3" fmla="*/ 639411 w 2072117"/>
                <a:gd name="connsiteY3" fmla="*/ 871182 h 871182"/>
                <a:gd name="connsiteX4" fmla="*/ 0 w 2072117"/>
                <a:gd name="connsiteY4" fmla="*/ 852580 h 871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2117" h="871182">
                  <a:moveTo>
                    <a:pt x="0" y="852580"/>
                  </a:moveTo>
                  <a:lnTo>
                    <a:pt x="1391919" y="0"/>
                  </a:lnTo>
                  <a:lnTo>
                    <a:pt x="2072117" y="7582"/>
                  </a:lnTo>
                  <a:lnTo>
                    <a:pt x="639411" y="871182"/>
                  </a:lnTo>
                  <a:lnTo>
                    <a:pt x="0" y="852580"/>
                  </a:lnTo>
                  <a:close/>
                </a:path>
              </a:pathLst>
            </a:custGeom>
            <a:solidFill>
              <a:srgbClr val="ECC0C8"/>
            </a:solidFill>
            <a:ln>
              <a:solidFill>
                <a:srgbClr val="ECC0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dirty="0"/>
            </a:p>
          </p:txBody>
        </p:sp>
        <p:sp>
          <p:nvSpPr>
            <p:cNvPr id="29" name="Freeform: Shape 418">
              <a:extLst>
                <a:ext uri="{FF2B5EF4-FFF2-40B4-BE49-F238E27FC236}">
                  <a16:creationId xmlns:a16="http://schemas.microsoft.com/office/drawing/2014/main" id="{018C7233-3CCB-FB7A-EBC0-0358C1D64D3D}"/>
                </a:ext>
              </a:extLst>
            </p:cNvPr>
            <p:cNvSpPr/>
            <p:nvPr/>
          </p:nvSpPr>
          <p:spPr>
            <a:xfrm>
              <a:off x="517934" y="4248307"/>
              <a:ext cx="1728403" cy="867224"/>
            </a:xfrm>
            <a:custGeom>
              <a:avLst/>
              <a:gdLst>
                <a:gd name="connsiteX0" fmla="*/ 0 w 1691640"/>
                <a:gd name="connsiteY0" fmla="*/ 863600 h 863600"/>
                <a:gd name="connsiteX1" fmla="*/ 1391920 w 1691640"/>
                <a:gd name="connsiteY1" fmla="*/ 20320 h 863600"/>
                <a:gd name="connsiteX2" fmla="*/ 1691640 w 1691640"/>
                <a:gd name="connsiteY2" fmla="*/ 0 h 863600"/>
                <a:gd name="connsiteX3" fmla="*/ 254000 w 1691640"/>
                <a:gd name="connsiteY3" fmla="*/ 863600 h 863600"/>
                <a:gd name="connsiteX4" fmla="*/ 0 w 1691640"/>
                <a:gd name="connsiteY4" fmla="*/ 863600 h 863600"/>
                <a:gd name="connsiteX0" fmla="*/ 0 w 1691640"/>
                <a:gd name="connsiteY0" fmla="*/ 863600 h 863600"/>
                <a:gd name="connsiteX1" fmla="*/ 1391920 w 1691640"/>
                <a:gd name="connsiteY1" fmla="*/ 20320 h 863600"/>
                <a:gd name="connsiteX2" fmla="*/ 1691640 w 1691640"/>
                <a:gd name="connsiteY2" fmla="*/ 0 h 863600"/>
                <a:gd name="connsiteX3" fmla="*/ 278667 w 1691640"/>
                <a:gd name="connsiteY3" fmla="*/ 863600 h 863600"/>
                <a:gd name="connsiteX4" fmla="*/ 0 w 1691640"/>
                <a:gd name="connsiteY4" fmla="*/ 863600 h 863600"/>
                <a:gd name="connsiteX0" fmla="*/ 0 w 1711373"/>
                <a:gd name="connsiteY0" fmla="*/ 863600 h 863600"/>
                <a:gd name="connsiteX1" fmla="*/ 1391920 w 1711373"/>
                <a:gd name="connsiteY1" fmla="*/ 20320 h 863600"/>
                <a:gd name="connsiteX2" fmla="*/ 1711373 w 1711373"/>
                <a:gd name="connsiteY2" fmla="*/ 0 h 863600"/>
                <a:gd name="connsiteX3" fmla="*/ 278667 w 1711373"/>
                <a:gd name="connsiteY3" fmla="*/ 863600 h 863600"/>
                <a:gd name="connsiteX4" fmla="*/ 0 w 1711373"/>
                <a:gd name="connsiteY4" fmla="*/ 863600 h 863600"/>
                <a:gd name="connsiteX0" fmla="*/ 0 w 1822371"/>
                <a:gd name="connsiteY0" fmla="*/ 835698 h 863600"/>
                <a:gd name="connsiteX1" fmla="*/ 1502918 w 1822371"/>
                <a:gd name="connsiteY1" fmla="*/ 20320 h 863600"/>
                <a:gd name="connsiteX2" fmla="*/ 1822371 w 1822371"/>
                <a:gd name="connsiteY2" fmla="*/ 0 h 863600"/>
                <a:gd name="connsiteX3" fmla="*/ 389665 w 1822371"/>
                <a:gd name="connsiteY3" fmla="*/ 863600 h 863600"/>
                <a:gd name="connsiteX4" fmla="*/ 0 w 1822371"/>
                <a:gd name="connsiteY4" fmla="*/ 835698 h 863600"/>
                <a:gd name="connsiteX0" fmla="*/ 0 w 1822371"/>
                <a:gd name="connsiteY0" fmla="*/ 835698 h 863600"/>
                <a:gd name="connsiteX1" fmla="*/ 1354920 w 1822371"/>
                <a:gd name="connsiteY1" fmla="*/ 1719 h 863600"/>
                <a:gd name="connsiteX2" fmla="*/ 1822371 w 1822371"/>
                <a:gd name="connsiteY2" fmla="*/ 0 h 863600"/>
                <a:gd name="connsiteX3" fmla="*/ 389665 w 1822371"/>
                <a:gd name="connsiteY3" fmla="*/ 863600 h 863600"/>
                <a:gd name="connsiteX4" fmla="*/ 0 w 1822371"/>
                <a:gd name="connsiteY4" fmla="*/ 835698 h 863600"/>
                <a:gd name="connsiteX0" fmla="*/ 0 w 2035118"/>
                <a:gd name="connsiteY0" fmla="*/ 833979 h 861881"/>
                <a:gd name="connsiteX1" fmla="*/ 1354920 w 2035118"/>
                <a:gd name="connsiteY1" fmla="*/ 0 h 861881"/>
                <a:gd name="connsiteX2" fmla="*/ 2035118 w 2035118"/>
                <a:gd name="connsiteY2" fmla="*/ 7582 h 861881"/>
                <a:gd name="connsiteX3" fmla="*/ 389665 w 2035118"/>
                <a:gd name="connsiteY3" fmla="*/ 861881 h 861881"/>
                <a:gd name="connsiteX4" fmla="*/ 0 w 2035118"/>
                <a:gd name="connsiteY4" fmla="*/ 833979 h 861881"/>
                <a:gd name="connsiteX0" fmla="*/ 0 w 2035118"/>
                <a:gd name="connsiteY0" fmla="*/ 833979 h 871182"/>
                <a:gd name="connsiteX1" fmla="*/ 1354920 w 2035118"/>
                <a:gd name="connsiteY1" fmla="*/ 0 h 871182"/>
                <a:gd name="connsiteX2" fmla="*/ 2035118 w 2035118"/>
                <a:gd name="connsiteY2" fmla="*/ 7582 h 871182"/>
                <a:gd name="connsiteX3" fmla="*/ 602412 w 2035118"/>
                <a:gd name="connsiteY3" fmla="*/ 871182 h 871182"/>
                <a:gd name="connsiteX4" fmla="*/ 0 w 2035118"/>
                <a:gd name="connsiteY4" fmla="*/ 833979 h 871182"/>
                <a:gd name="connsiteX0" fmla="*/ 0 w 2072117"/>
                <a:gd name="connsiteY0" fmla="*/ 852580 h 871182"/>
                <a:gd name="connsiteX1" fmla="*/ 1391919 w 2072117"/>
                <a:gd name="connsiteY1" fmla="*/ 0 h 871182"/>
                <a:gd name="connsiteX2" fmla="*/ 2072117 w 2072117"/>
                <a:gd name="connsiteY2" fmla="*/ 7582 h 871182"/>
                <a:gd name="connsiteX3" fmla="*/ 639411 w 2072117"/>
                <a:gd name="connsiteY3" fmla="*/ 871182 h 871182"/>
                <a:gd name="connsiteX4" fmla="*/ 0 w 2072117"/>
                <a:gd name="connsiteY4" fmla="*/ 852580 h 871182"/>
                <a:gd name="connsiteX0" fmla="*/ 0 w 2042107"/>
                <a:gd name="connsiteY0" fmla="*/ 865624 h 871182"/>
                <a:gd name="connsiteX1" fmla="*/ 1361909 w 2042107"/>
                <a:gd name="connsiteY1" fmla="*/ 0 h 871182"/>
                <a:gd name="connsiteX2" fmla="*/ 2042107 w 2042107"/>
                <a:gd name="connsiteY2" fmla="*/ 7582 h 871182"/>
                <a:gd name="connsiteX3" fmla="*/ 609401 w 2042107"/>
                <a:gd name="connsiteY3" fmla="*/ 871182 h 871182"/>
                <a:gd name="connsiteX4" fmla="*/ 0 w 2042107"/>
                <a:gd name="connsiteY4" fmla="*/ 865624 h 871182"/>
                <a:gd name="connsiteX0" fmla="*/ 0 w 2042107"/>
                <a:gd name="connsiteY0" fmla="*/ 865624 h 897271"/>
                <a:gd name="connsiteX1" fmla="*/ 1361909 w 2042107"/>
                <a:gd name="connsiteY1" fmla="*/ 0 h 897271"/>
                <a:gd name="connsiteX2" fmla="*/ 2042107 w 2042107"/>
                <a:gd name="connsiteY2" fmla="*/ 7582 h 897271"/>
                <a:gd name="connsiteX3" fmla="*/ 316803 w 2042107"/>
                <a:gd name="connsiteY3" fmla="*/ 897271 h 897271"/>
                <a:gd name="connsiteX4" fmla="*/ 0 w 2042107"/>
                <a:gd name="connsiteY4" fmla="*/ 865624 h 897271"/>
                <a:gd name="connsiteX0" fmla="*/ 0 w 2042107"/>
                <a:gd name="connsiteY0" fmla="*/ 859102 h 890749"/>
                <a:gd name="connsiteX1" fmla="*/ 1662010 w 2042107"/>
                <a:gd name="connsiteY1" fmla="*/ 0 h 890749"/>
                <a:gd name="connsiteX2" fmla="*/ 2042107 w 2042107"/>
                <a:gd name="connsiteY2" fmla="*/ 1060 h 890749"/>
                <a:gd name="connsiteX3" fmla="*/ 316803 w 2042107"/>
                <a:gd name="connsiteY3" fmla="*/ 890749 h 890749"/>
                <a:gd name="connsiteX4" fmla="*/ 0 w 2042107"/>
                <a:gd name="connsiteY4" fmla="*/ 859102 h 890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107" h="890749">
                  <a:moveTo>
                    <a:pt x="0" y="859102"/>
                  </a:moveTo>
                  <a:lnTo>
                    <a:pt x="1662010" y="0"/>
                  </a:lnTo>
                  <a:lnTo>
                    <a:pt x="2042107" y="1060"/>
                  </a:lnTo>
                  <a:lnTo>
                    <a:pt x="316803" y="890749"/>
                  </a:lnTo>
                  <a:lnTo>
                    <a:pt x="0" y="859102"/>
                  </a:lnTo>
                  <a:close/>
                </a:path>
              </a:pathLst>
            </a:custGeom>
            <a:solidFill>
              <a:srgbClr val="00B0F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dirty="0"/>
            </a:p>
          </p:txBody>
        </p:sp>
        <p:sp>
          <p:nvSpPr>
            <p:cNvPr id="30" name="Rectangle 3">
              <a:extLst>
                <a:ext uri="{FF2B5EF4-FFF2-40B4-BE49-F238E27FC236}">
                  <a16:creationId xmlns:a16="http://schemas.microsoft.com/office/drawing/2014/main" id="{5C3738F8-9B5D-C805-E356-96BA17BB3F9C}"/>
                </a:ext>
              </a:extLst>
            </p:cNvPr>
            <p:cNvSpPr/>
            <p:nvPr/>
          </p:nvSpPr>
          <p:spPr>
            <a:xfrm>
              <a:off x="263756" y="4105895"/>
              <a:ext cx="748553" cy="998530"/>
            </a:xfrm>
            <a:custGeom>
              <a:avLst/>
              <a:gdLst>
                <a:gd name="connsiteX0" fmla="*/ 0 w 748553"/>
                <a:gd name="connsiteY0" fmla="*/ 0 h 1002926"/>
                <a:gd name="connsiteX1" fmla="*/ 748553 w 748553"/>
                <a:gd name="connsiteY1" fmla="*/ 0 h 1002926"/>
                <a:gd name="connsiteX2" fmla="*/ 748553 w 748553"/>
                <a:gd name="connsiteY2" fmla="*/ 1002926 h 1002926"/>
                <a:gd name="connsiteX3" fmla="*/ 0 w 748553"/>
                <a:gd name="connsiteY3" fmla="*/ 1002926 h 1002926"/>
                <a:gd name="connsiteX4" fmla="*/ 0 w 748553"/>
                <a:gd name="connsiteY4" fmla="*/ 0 h 1002926"/>
                <a:gd name="connsiteX0" fmla="*/ 0 w 748553"/>
                <a:gd name="connsiteY0" fmla="*/ 0 h 1002926"/>
                <a:gd name="connsiteX1" fmla="*/ 748553 w 748553"/>
                <a:gd name="connsiteY1" fmla="*/ 0 h 1002926"/>
                <a:gd name="connsiteX2" fmla="*/ 572707 w 748553"/>
                <a:gd name="connsiteY2" fmla="*/ 998530 h 1002926"/>
                <a:gd name="connsiteX3" fmla="*/ 0 w 748553"/>
                <a:gd name="connsiteY3" fmla="*/ 1002926 h 1002926"/>
                <a:gd name="connsiteX4" fmla="*/ 0 w 748553"/>
                <a:gd name="connsiteY4" fmla="*/ 0 h 1002926"/>
                <a:gd name="connsiteX0" fmla="*/ 0 w 748553"/>
                <a:gd name="connsiteY0" fmla="*/ 0 h 1020511"/>
                <a:gd name="connsiteX1" fmla="*/ 748553 w 748553"/>
                <a:gd name="connsiteY1" fmla="*/ 0 h 1020511"/>
                <a:gd name="connsiteX2" fmla="*/ 572707 w 748553"/>
                <a:gd name="connsiteY2" fmla="*/ 998530 h 1020511"/>
                <a:gd name="connsiteX3" fmla="*/ 272562 w 748553"/>
                <a:gd name="connsiteY3" fmla="*/ 1020511 h 1020511"/>
                <a:gd name="connsiteX4" fmla="*/ 0 w 748553"/>
                <a:gd name="connsiteY4" fmla="*/ 0 h 1020511"/>
                <a:gd name="connsiteX0" fmla="*/ 0 w 748553"/>
                <a:gd name="connsiteY0" fmla="*/ 0 h 998530"/>
                <a:gd name="connsiteX1" fmla="*/ 748553 w 748553"/>
                <a:gd name="connsiteY1" fmla="*/ 0 h 998530"/>
                <a:gd name="connsiteX2" fmla="*/ 572707 w 748553"/>
                <a:gd name="connsiteY2" fmla="*/ 998530 h 998530"/>
                <a:gd name="connsiteX3" fmla="*/ 254977 w 748553"/>
                <a:gd name="connsiteY3" fmla="*/ 998530 h 998530"/>
                <a:gd name="connsiteX4" fmla="*/ 0 w 748553"/>
                <a:gd name="connsiteY4" fmla="*/ 0 h 998530"/>
                <a:gd name="connsiteX0" fmla="*/ 0 w 748553"/>
                <a:gd name="connsiteY0" fmla="*/ 0 h 998530"/>
                <a:gd name="connsiteX1" fmla="*/ 748553 w 748553"/>
                <a:gd name="connsiteY1" fmla="*/ 0 h 998530"/>
                <a:gd name="connsiteX2" fmla="*/ 572707 w 748553"/>
                <a:gd name="connsiteY2" fmla="*/ 998530 h 998530"/>
                <a:gd name="connsiteX3" fmla="*/ 215412 w 748553"/>
                <a:gd name="connsiteY3" fmla="*/ 994134 h 998530"/>
                <a:gd name="connsiteX4" fmla="*/ 0 w 748553"/>
                <a:gd name="connsiteY4" fmla="*/ 0 h 998530"/>
                <a:gd name="connsiteX0" fmla="*/ 0 w 748553"/>
                <a:gd name="connsiteY0" fmla="*/ 0 h 998530"/>
                <a:gd name="connsiteX1" fmla="*/ 748553 w 748553"/>
                <a:gd name="connsiteY1" fmla="*/ 0 h 998530"/>
                <a:gd name="connsiteX2" fmla="*/ 533142 w 748553"/>
                <a:gd name="connsiteY2" fmla="*/ 998530 h 998530"/>
                <a:gd name="connsiteX3" fmla="*/ 215412 w 748553"/>
                <a:gd name="connsiteY3" fmla="*/ 994134 h 998530"/>
                <a:gd name="connsiteX4" fmla="*/ 0 w 748553"/>
                <a:gd name="connsiteY4" fmla="*/ 0 h 998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553" h="998530">
                  <a:moveTo>
                    <a:pt x="0" y="0"/>
                  </a:moveTo>
                  <a:lnTo>
                    <a:pt x="748553" y="0"/>
                  </a:lnTo>
                  <a:lnTo>
                    <a:pt x="533142" y="998530"/>
                  </a:lnTo>
                  <a:lnTo>
                    <a:pt x="215412" y="994134"/>
                  </a:lnTo>
                  <a:lnTo>
                    <a:pt x="0" y="0"/>
                  </a:ln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cxnSp>
          <p:nvCxnSpPr>
            <p:cNvPr id="31" name="Straight Connector 420">
              <a:extLst>
                <a:ext uri="{FF2B5EF4-FFF2-40B4-BE49-F238E27FC236}">
                  <a16:creationId xmlns:a16="http://schemas.microsoft.com/office/drawing/2014/main" id="{4EC52E01-5651-4A2C-DD4C-3EDD4B6BED6C}"/>
                </a:ext>
              </a:extLst>
            </p:cNvPr>
            <p:cNvCxnSpPr>
              <a:cxnSpLocks/>
              <a:stCxn id="30" idx="0"/>
              <a:endCxn id="32" idx="0"/>
            </p:cNvCxnSpPr>
            <p:nvPr/>
          </p:nvCxnSpPr>
          <p:spPr>
            <a:xfrm flipV="1">
              <a:off x="263756" y="3243427"/>
              <a:ext cx="1440473" cy="86246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32" name="Rectangle 3">
              <a:extLst>
                <a:ext uri="{FF2B5EF4-FFF2-40B4-BE49-F238E27FC236}">
                  <a16:creationId xmlns:a16="http://schemas.microsoft.com/office/drawing/2014/main" id="{549FDB68-1151-B2C7-B200-47802B584E04}"/>
                </a:ext>
              </a:extLst>
            </p:cNvPr>
            <p:cNvSpPr/>
            <p:nvPr/>
          </p:nvSpPr>
          <p:spPr>
            <a:xfrm>
              <a:off x="1704229" y="3243427"/>
              <a:ext cx="748553" cy="998530"/>
            </a:xfrm>
            <a:custGeom>
              <a:avLst/>
              <a:gdLst>
                <a:gd name="connsiteX0" fmla="*/ 0 w 748553"/>
                <a:gd name="connsiteY0" fmla="*/ 0 h 1002926"/>
                <a:gd name="connsiteX1" fmla="*/ 748553 w 748553"/>
                <a:gd name="connsiteY1" fmla="*/ 0 h 1002926"/>
                <a:gd name="connsiteX2" fmla="*/ 748553 w 748553"/>
                <a:gd name="connsiteY2" fmla="*/ 1002926 h 1002926"/>
                <a:gd name="connsiteX3" fmla="*/ 0 w 748553"/>
                <a:gd name="connsiteY3" fmla="*/ 1002926 h 1002926"/>
                <a:gd name="connsiteX4" fmla="*/ 0 w 748553"/>
                <a:gd name="connsiteY4" fmla="*/ 0 h 1002926"/>
                <a:gd name="connsiteX0" fmla="*/ 0 w 748553"/>
                <a:gd name="connsiteY0" fmla="*/ 0 h 1002926"/>
                <a:gd name="connsiteX1" fmla="*/ 748553 w 748553"/>
                <a:gd name="connsiteY1" fmla="*/ 0 h 1002926"/>
                <a:gd name="connsiteX2" fmla="*/ 572707 w 748553"/>
                <a:gd name="connsiteY2" fmla="*/ 998530 h 1002926"/>
                <a:gd name="connsiteX3" fmla="*/ 0 w 748553"/>
                <a:gd name="connsiteY3" fmla="*/ 1002926 h 1002926"/>
                <a:gd name="connsiteX4" fmla="*/ 0 w 748553"/>
                <a:gd name="connsiteY4" fmla="*/ 0 h 1002926"/>
                <a:gd name="connsiteX0" fmla="*/ 0 w 748553"/>
                <a:gd name="connsiteY0" fmla="*/ 0 h 1020511"/>
                <a:gd name="connsiteX1" fmla="*/ 748553 w 748553"/>
                <a:gd name="connsiteY1" fmla="*/ 0 h 1020511"/>
                <a:gd name="connsiteX2" fmla="*/ 572707 w 748553"/>
                <a:gd name="connsiteY2" fmla="*/ 998530 h 1020511"/>
                <a:gd name="connsiteX3" fmla="*/ 272562 w 748553"/>
                <a:gd name="connsiteY3" fmla="*/ 1020511 h 1020511"/>
                <a:gd name="connsiteX4" fmla="*/ 0 w 748553"/>
                <a:gd name="connsiteY4" fmla="*/ 0 h 1020511"/>
                <a:gd name="connsiteX0" fmla="*/ 0 w 748553"/>
                <a:gd name="connsiteY0" fmla="*/ 0 h 998530"/>
                <a:gd name="connsiteX1" fmla="*/ 748553 w 748553"/>
                <a:gd name="connsiteY1" fmla="*/ 0 h 998530"/>
                <a:gd name="connsiteX2" fmla="*/ 572707 w 748553"/>
                <a:gd name="connsiteY2" fmla="*/ 998530 h 998530"/>
                <a:gd name="connsiteX3" fmla="*/ 254977 w 748553"/>
                <a:gd name="connsiteY3" fmla="*/ 998530 h 998530"/>
                <a:gd name="connsiteX4" fmla="*/ 0 w 748553"/>
                <a:gd name="connsiteY4" fmla="*/ 0 h 998530"/>
                <a:gd name="connsiteX0" fmla="*/ 0 w 748553"/>
                <a:gd name="connsiteY0" fmla="*/ 0 h 998530"/>
                <a:gd name="connsiteX1" fmla="*/ 748553 w 748553"/>
                <a:gd name="connsiteY1" fmla="*/ 0 h 998530"/>
                <a:gd name="connsiteX2" fmla="*/ 572707 w 748553"/>
                <a:gd name="connsiteY2" fmla="*/ 998530 h 998530"/>
                <a:gd name="connsiteX3" fmla="*/ 215412 w 748553"/>
                <a:gd name="connsiteY3" fmla="*/ 994134 h 998530"/>
                <a:gd name="connsiteX4" fmla="*/ 0 w 748553"/>
                <a:gd name="connsiteY4" fmla="*/ 0 h 998530"/>
                <a:gd name="connsiteX0" fmla="*/ 0 w 748553"/>
                <a:gd name="connsiteY0" fmla="*/ 0 h 998530"/>
                <a:gd name="connsiteX1" fmla="*/ 748553 w 748553"/>
                <a:gd name="connsiteY1" fmla="*/ 0 h 998530"/>
                <a:gd name="connsiteX2" fmla="*/ 533142 w 748553"/>
                <a:gd name="connsiteY2" fmla="*/ 998530 h 998530"/>
                <a:gd name="connsiteX3" fmla="*/ 215412 w 748553"/>
                <a:gd name="connsiteY3" fmla="*/ 994134 h 998530"/>
                <a:gd name="connsiteX4" fmla="*/ 0 w 748553"/>
                <a:gd name="connsiteY4" fmla="*/ 0 h 998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553" h="998530">
                  <a:moveTo>
                    <a:pt x="0" y="0"/>
                  </a:moveTo>
                  <a:lnTo>
                    <a:pt x="748553" y="0"/>
                  </a:lnTo>
                  <a:lnTo>
                    <a:pt x="533142" y="998530"/>
                  </a:lnTo>
                  <a:lnTo>
                    <a:pt x="215412" y="994134"/>
                  </a:lnTo>
                  <a:lnTo>
                    <a:pt x="0" y="0"/>
                  </a:lnTo>
                  <a:close/>
                </a:path>
              </a:pathLst>
            </a:cu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cxnSp>
          <p:nvCxnSpPr>
            <p:cNvPr id="33" name="Straight Connector 422">
              <a:extLst>
                <a:ext uri="{FF2B5EF4-FFF2-40B4-BE49-F238E27FC236}">
                  <a16:creationId xmlns:a16="http://schemas.microsoft.com/office/drawing/2014/main" id="{1F8B764B-B7F0-D148-2B55-6C192FB68CA2}"/>
                </a:ext>
              </a:extLst>
            </p:cNvPr>
            <p:cNvCxnSpPr>
              <a:cxnSpLocks/>
              <a:stCxn id="30" idx="3"/>
              <a:endCxn id="32" idx="3"/>
            </p:cNvCxnSpPr>
            <p:nvPr/>
          </p:nvCxnSpPr>
          <p:spPr>
            <a:xfrm flipV="1">
              <a:off x="479168" y="4237561"/>
              <a:ext cx="1440473" cy="86246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423">
              <a:extLst>
                <a:ext uri="{FF2B5EF4-FFF2-40B4-BE49-F238E27FC236}">
                  <a16:creationId xmlns:a16="http://schemas.microsoft.com/office/drawing/2014/main" id="{E0ABAF82-79ED-EF2D-8881-D3B36F1A5F65}"/>
                </a:ext>
              </a:extLst>
            </p:cNvPr>
            <p:cNvCxnSpPr>
              <a:cxnSpLocks/>
            </p:cNvCxnSpPr>
            <p:nvPr/>
          </p:nvCxnSpPr>
          <p:spPr>
            <a:xfrm flipV="1">
              <a:off x="820632" y="4231340"/>
              <a:ext cx="1440473" cy="86246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424">
              <a:extLst>
                <a:ext uri="{FF2B5EF4-FFF2-40B4-BE49-F238E27FC236}">
                  <a16:creationId xmlns:a16="http://schemas.microsoft.com/office/drawing/2014/main" id="{A083F565-C2FA-0764-80F7-0711EF5DADE1}"/>
                </a:ext>
              </a:extLst>
            </p:cNvPr>
            <p:cNvCxnSpPr>
              <a:cxnSpLocks/>
              <a:stCxn id="30" idx="1"/>
              <a:endCxn id="32" idx="1"/>
            </p:cNvCxnSpPr>
            <p:nvPr/>
          </p:nvCxnSpPr>
          <p:spPr>
            <a:xfrm flipV="1">
              <a:off x="1012309" y="3243427"/>
              <a:ext cx="1440473" cy="86246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36" name="Rectangle 425">
              <a:extLst>
                <a:ext uri="{FF2B5EF4-FFF2-40B4-BE49-F238E27FC236}">
                  <a16:creationId xmlns:a16="http://schemas.microsoft.com/office/drawing/2014/main" id="{9B43DCE8-BA4A-41F1-367C-D61AA7B6B5E7}"/>
                </a:ext>
              </a:extLst>
            </p:cNvPr>
            <p:cNvSpPr/>
            <p:nvPr/>
          </p:nvSpPr>
          <p:spPr>
            <a:xfrm>
              <a:off x="263756" y="2307868"/>
              <a:ext cx="748553" cy="179802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sp>
          <p:nvSpPr>
            <p:cNvPr id="37" name="Rectangle 426">
              <a:extLst>
                <a:ext uri="{FF2B5EF4-FFF2-40B4-BE49-F238E27FC236}">
                  <a16:creationId xmlns:a16="http://schemas.microsoft.com/office/drawing/2014/main" id="{36446704-CA53-505A-6A3C-55A9AA9FB66B}"/>
                </a:ext>
              </a:extLst>
            </p:cNvPr>
            <p:cNvSpPr/>
            <p:nvPr/>
          </p:nvSpPr>
          <p:spPr>
            <a:xfrm>
              <a:off x="1704228" y="1443202"/>
              <a:ext cx="748553" cy="179802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cxnSp>
          <p:nvCxnSpPr>
            <p:cNvPr id="38" name="Straight Connector 427">
              <a:extLst>
                <a:ext uri="{FF2B5EF4-FFF2-40B4-BE49-F238E27FC236}">
                  <a16:creationId xmlns:a16="http://schemas.microsoft.com/office/drawing/2014/main" id="{E156C51F-4696-6C3E-78D7-D6054AD0CC85}"/>
                </a:ext>
              </a:extLst>
            </p:cNvPr>
            <p:cNvCxnSpPr>
              <a:cxnSpLocks/>
            </p:cNvCxnSpPr>
            <p:nvPr/>
          </p:nvCxnSpPr>
          <p:spPr>
            <a:xfrm flipV="1">
              <a:off x="261310" y="1445245"/>
              <a:ext cx="1442720" cy="86868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428">
              <a:extLst>
                <a:ext uri="{FF2B5EF4-FFF2-40B4-BE49-F238E27FC236}">
                  <a16:creationId xmlns:a16="http://schemas.microsoft.com/office/drawing/2014/main" id="{2E9D81A7-31E3-3A6E-388E-13CF368C0A8A}"/>
                </a:ext>
              </a:extLst>
            </p:cNvPr>
            <p:cNvCxnSpPr>
              <a:cxnSpLocks/>
            </p:cNvCxnSpPr>
            <p:nvPr/>
          </p:nvCxnSpPr>
          <p:spPr>
            <a:xfrm flipV="1">
              <a:off x="1011186" y="1445245"/>
              <a:ext cx="1444684" cy="858227"/>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nvGrpSpPr>
            <p:cNvPr id="40" name="Group 429">
              <a:extLst>
                <a:ext uri="{FF2B5EF4-FFF2-40B4-BE49-F238E27FC236}">
                  <a16:creationId xmlns:a16="http://schemas.microsoft.com/office/drawing/2014/main" id="{927D1AD1-FF0A-94CA-9ECA-915B93710A6D}"/>
                </a:ext>
              </a:extLst>
            </p:cNvPr>
            <p:cNvGrpSpPr/>
            <p:nvPr/>
          </p:nvGrpSpPr>
          <p:grpSpPr>
            <a:xfrm>
              <a:off x="615323" y="4177830"/>
              <a:ext cx="978477" cy="1253290"/>
              <a:chOff x="4500050" y="3132906"/>
              <a:chExt cx="978477" cy="1253290"/>
            </a:xfrm>
          </p:grpSpPr>
          <p:cxnSp>
            <p:nvCxnSpPr>
              <p:cNvPr id="45" name="Straight Arrow Connector 434">
                <a:extLst>
                  <a:ext uri="{FF2B5EF4-FFF2-40B4-BE49-F238E27FC236}">
                    <a16:creationId xmlns:a16="http://schemas.microsoft.com/office/drawing/2014/main" id="{1483ED9C-D0ED-850C-E918-827B06568FAF}"/>
                  </a:ext>
                </a:extLst>
              </p:cNvPr>
              <p:cNvCxnSpPr>
                <a:cxnSpLocks/>
              </p:cNvCxnSpPr>
              <p:nvPr/>
            </p:nvCxnSpPr>
            <p:spPr>
              <a:xfrm>
                <a:off x="4545801" y="4044605"/>
                <a:ext cx="59065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35">
                <a:extLst>
                  <a:ext uri="{FF2B5EF4-FFF2-40B4-BE49-F238E27FC236}">
                    <a16:creationId xmlns:a16="http://schemas.microsoft.com/office/drawing/2014/main" id="{02B704E3-95FB-4076-9952-EDF9491B323A}"/>
                  </a:ext>
                </a:extLst>
              </p:cNvPr>
              <p:cNvCxnSpPr>
                <a:cxnSpLocks/>
              </p:cNvCxnSpPr>
              <p:nvPr/>
            </p:nvCxnSpPr>
            <p:spPr>
              <a:xfrm flipV="1">
                <a:off x="4545801" y="3466942"/>
                <a:ext cx="0" cy="5732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36">
                <a:extLst>
                  <a:ext uri="{FF2B5EF4-FFF2-40B4-BE49-F238E27FC236}">
                    <a16:creationId xmlns:a16="http://schemas.microsoft.com/office/drawing/2014/main" id="{938C7A99-50B2-1388-4E61-74CE56632B25}"/>
                  </a:ext>
                </a:extLst>
              </p:cNvPr>
              <p:cNvCxnSpPr>
                <a:cxnSpLocks/>
              </p:cNvCxnSpPr>
              <p:nvPr/>
            </p:nvCxnSpPr>
            <p:spPr>
              <a:xfrm flipV="1">
                <a:off x="4545801" y="3809345"/>
                <a:ext cx="380198" cy="23086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37">
                    <a:extLst>
                      <a:ext uri="{FF2B5EF4-FFF2-40B4-BE49-F238E27FC236}">
                        <a16:creationId xmlns:a16="http://schemas.microsoft.com/office/drawing/2014/main" id="{E64DF90B-4517-DACF-6195-090CBBDD18DE}"/>
                      </a:ext>
                    </a:extLst>
                  </p:cNvPr>
                  <p:cNvSpPr txBox="1"/>
                  <p:nvPr/>
                </p:nvSpPr>
                <p:spPr>
                  <a:xfrm>
                    <a:off x="4748603" y="3329466"/>
                    <a:ext cx="553066" cy="5934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AU" sz="2200" b="0" i="1" smtClean="0">
                                  <a:solidFill>
                                    <a:srgbClr val="FF0000"/>
                                  </a:solidFill>
                                  <a:latin typeface="Cambria Math" panose="02040503050406030204" pitchFamily="18" charset="0"/>
                                </a:rPr>
                              </m:ctrlPr>
                            </m:accPr>
                            <m:e>
                              <m:r>
                                <a:rPr lang="en-AU" sz="2200" b="0" i="1" smtClean="0">
                                  <a:solidFill>
                                    <a:srgbClr val="FF0000"/>
                                  </a:solidFill>
                                  <a:latin typeface="Cambria Math" panose="02040503050406030204" pitchFamily="18" charset="0"/>
                                </a:rPr>
                                <m:t>𝑥</m:t>
                              </m:r>
                            </m:e>
                          </m:acc>
                        </m:oMath>
                      </m:oMathPara>
                    </a14:m>
                    <a:endParaRPr lang="en-AU" sz="2200" dirty="0">
                      <a:solidFill>
                        <a:srgbClr val="FF0000"/>
                      </a:solidFill>
                    </a:endParaRPr>
                  </a:p>
                </p:txBody>
              </p:sp>
            </mc:Choice>
            <mc:Fallback xmlns="">
              <p:sp>
                <p:nvSpPr>
                  <p:cNvPr id="438" name="TextBox 437">
                    <a:extLst>
                      <a:ext uri="{FF2B5EF4-FFF2-40B4-BE49-F238E27FC236}">
                        <a16:creationId xmlns:a16="http://schemas.microsoft.com/office/drawing/2014/main" id="{10C3F0B1-1DC0-A8D4-12C8-DF9C9ACB14FD}"/>
                      </a:ext>
                    </a:extLst>
                  </p:cNvPr>
                  <p:cNvSpPr txBox="1">
                    <a:spLocks noRot="1" noChangeAspect="1" noMove="1" noResize="1" noEditPoints="1" noAdjustHandles="1" noChangeArrowheads="1" noChangeShapeType="1" noTextEdit="1"/>
                  </p:cNvSpPr>
                  <p:nvPr/>
                </p:nvSpPr>
                <p:spPr>
                  <a:xfrm>
                    <a:off x="4748603" y="3329466"/>
                    <a:ext cx="553066" cy="593421"/>
                  </a:xfrm>
                  <a:prstGeom prst="rect">
                    <a:avLst/>
                  </a:prstGeom>
                  <a:blipFill>
                    <a:blip r:embed="rId9"/>
                    <a:stretch>
                      <a:fillRect t="-15493" r="-2727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9" name="TextBox 438">
                    <a:extLst>
                      <a:ext uri="{FF2B5EF4-FFF2-40B4-BE49-F238E27FC236}">
                        <a16:creationId xmlns:a16="http://schemas.microsoft.com/office/drawing/2014/main" id="{F8E7F208-C992-468E-ED2C-A4A004371AF2}"/>
                      </a:ext>
                    </a:extLst>
                  </p:cNvPr>
                  <p:cNvSpPr txBox="1"/>
                  <p:nvPr/>
                </p:nvSpPr>
                <p:spPr>
                  <a:xfrm>
                    <a:off x="5052577" y="3792775"/>
                    <a:ext cx="425950" cy="5934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AU" sz="2200" b="0" i="1" smtClean="0">
                                  <a:solidFill>
                                    <a:srgbClr val="FF0000"/>
                                  </a:solidFill>
                                  <a:latin typeface="Cambria Math" panose="02040503050406030204" pitchFamily="18" charset="0"/>
                                </a:rPr>
                              </m:ctrlPr>
                            </m:accPr>
                            <m:e>
                              <m:r>
                                <a:rPr lang="en-AU" sz="2200" b="0" i="1" smtClean="0">
                                  <a:solidFill>
                                    <a:srgbClr val="FF0000"/>
                                  </a:solidFill>
                                  <a:latin typeface="Cambria Math" panose="02040503050406030204" pitchFamily="18" charset="0"/>
                                </a:rPr>
                                <m:t>𝑧</m:t>
                              </m:r>
                            </m:e>
                          </m:acc>
                        </m:oMath>
                      </m:oMathPara>
                    </a14:m>
                    <a:endParaRPr lang="en-AU" sz="2200" dirty="0">
                      <a:solidFill>
                        <a:srgbClr val="FF0000"/>
                      </a:solidFill>
                    </a:endParaRPr>
                  </a:p>
                </p:txBody>
              </p:sp>
            </mc:Choice>
            <mc:Fallback xmlns="">
              <p:sp>
                <p:nvSpPr>
                  <p:cNvPr id="439" name="TextBox 438">
                    <a:extLst>
                      <a:ext uri="{FF2B5EF4-FFF2-40B4-BE49-F238E27FC236}">
                        <a16:creationId xmlns:a16="http://schemas.microsoft.com/office/drawing/2014/main" id="{0D7D1180-A186-DBB7-DA54-65650F4DDCD6}"/>
                      </a:ext>
                    </a:extLst>
                  </p:cNvPr>
                  <p:cNvSpPr txBox="1">
                    <a:spLocks noRot="1" noChangeAspect="1" noMove="1" noResize="1" noEditPoints="1" noAdjustHandles="1" noChangeArrowheads="1" noChangeShapeType="1" noTextEdit="1"/>
                  </p:cNvSpPr>
                  <p:nvPr/>
                </p:nvSpPr>
                <p:spPr>
                  <a:xfrm>
                    <a:off x="5052577" y="3792775"/>
                    <a:ext cx="425950" cy="593421"/>
                  </a:xfrm>
                  <a:prstGeom prst="rect">
                    <a:avLst/>
                  </a:prstGeom>
                  <a:blipFill>
                    <a:blip r:embed="rId10"/>
                    <a:stretch>
                      <a:fillRect t="-15714" r="-2549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0" name="TextBox 439">
                    <a:extLst>
                      <a:ext uri="{FF2B5EF4-FFF2-40B4-BE49-F238E27FC236}">
                        <a16:creationId xmlns:a16="http://schemas.microsoft.com/office/drawing/2014/main" id="{D6C9C907-2C92-CD42-5E24-C25CA0100F97}"/>
                      </a:ext>
                    </a:extLst>
                  </p:cNvPr>
                  <p:cNvSpPr txBox="1"/>
                  <p:nvPr/>
                </p:nvSpPr>
                <p:spPr>
                  <a:xfrm>
                    <a:off x="4500050" y="3132906"/>
                    <a:ext cx="425950" cy="5934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AU" sz="2200" b="0" i="1" smtClean="0">
                                  <a:solidFill>
                                    <a:srgbClr val="FF0000"/>
                                  </a:solidFill>
                                  <a:latin typeface="Cambria Math" panose="02040503050406030204" pitchFamily="18" charset="0"/>
                                </a:rPr>
                              </m:ctrlPr>
                            </m:accPr>
                            <m:e>
                              <m:r>
                                <a:rPr lang="en-AU" sz="2200" b="0" i="1" smtClean="0">
                                  <a:solidFill>
                                    <a:srgbClr val="FF0000"/>
                                  </a:solidFill>
                                  <a:latin typeface="Cambria Math" panose="02040503050406030204" pitchFamily="18" charset="0"/>
                                </a:rPr>
                                <m:t>𝑦</m:t>
                              </m:r>
                            </m:e>
                          </m:acc>
                        </m:oMath>
                      </m:oMathPara>
                    </a14:m>
                    <a:endParaRPr lang="en-AU" sz="2200" dirty="0">
                      <a:solidFill>
                        <a:srgbClr val="FF0000"/>
                      </a:solidFill>
                    </a:endParaRPr>
                  </a:p>
                </p:txBody>
              </p:sp>
            </mc:Choice>
            <mc:Fallback xmlns="">
              <p:sp>
                <p:nvSpPr>
                  <p:cNvPr id="440" name="TextBox 439">
                    <a:extLst>
                      <a:ext uri="{FF2B5EF4-FFF2-40B4-BE49-F238E27FC236}">
                        <a16:creationId xmlns:a16="http://schemas.microsoft.com/office/drawing/2014/main" id="{2AB80783-AC90-939C-60D1-A63BBCC59DCE}"/>
                      </a:ext>
                    </a:extLst>
                  </p:cNvPr>
                  <p:cNvSpPr txBox="1">
                    <a:spLocks noRot="1" noChangeAspect="1" noMove="1" noResize="1" noEditPoints="1" noAdjustHandles="1" noChangeArrowheads="1" noChangeShapeType="1" noTextEdit="1"/>
                  </p:cNvSpPr>
                  <p:nvPr/>
                </p:nvSpPr>
                <p:spPr>
                  <a:xfrm>
                    <a:off x="4500050" y="3132906"/>
                    <a:ext cx="425950" cy="593421"/>
                  </a:xfrm>
                  <a:prstGeom prst="rect">
                    <a:avLst/>
                  </a:prstGeom>
                  <a:blipFill>
                    <a:blip r:embed="rId11"/>
                    <a:stretch>
                      <a:fillRect l="-4000" t="-15493" r="-26000" b="-8451"/>
                    </a:stretch>
                  </a:blipFill>
                </p:spPr>
                <p:txBody>
                  <a:bodyPr/>
                  <a:lstStyle/>
                  <a:p>
                    <a:r>
                      <a:rPr lang="en-AU">
                        <a:noFill/>
                      </a:rPr>
                      <a:t> </a:t>
                    </a:r>
                  </a:p>
                </p:txBody>
              </p:sp>
            </mc:Fallback>
          </mc:AlternateContent>
        </p:grpSp>
        <p:cxnSp>
          <p:nvCxnSpPr>
            <p:cNvPr id="41" name="Straight Arrow Connector 430">
              <a:extLst>
                <a:ext uri="{FF2B5EF4-FFF2-40B4-BE49-F238E27FC236}">
                  <a16:creationId xmlns:a16="http://schemas.microsoft.com/office/drawing/2014/main" id="{5609538A-306C-CE18-B2D3-7ED101617D97}"/>
                </a:ext>
              </a:extLst>
            </p:cNvPr>
            <p:cNvCxnSpPr/>
            <p:nvPr/>
          </p:nvCxnSpPr>
          <p:spPr>
            <a:xfrm flipV="1">
              <a:off x="1891759" y="1275289"/>
              <a:ext cx="0" cy="411480"/>
            </a:xfrm>
            <a:prstGeom prst="straightConnector1">
              <a:avLst/>
            </a:prstGeom>
            <a:ln w="57150">
              <a:solidFill>
                <a:srgbClr val="D9829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31">
              <a:extLst>
                <a:ext uri="{FF2B5EF4-FFF2-40B4-BE49-F238E27FC236}">
                  <a16:creationId xmlns:a16="http://schemas.microsoft.com/office/drawing/2014/main" id="{2CA684D5-B189-5DAA-4BF0-32981660B645}"/>
                </a:ext>
              </a:extLst>
            </p:cNvPr>
            <p:cNvCxnSpPr/>
            <p:nvPr/>
          </p:nvCxnSpPr>
          <p:spPr>
            <a:xfrm flipV="1">
              <a:off x="1542876" y="1481029"/>
              <a:ext cx="0" cy="411480"/>
            </a:xfrm>
            <a:prstGeom prst="straightConnector1">
              <a:avLst/>
            </a:prstGeom>
            <a:ln w="57150">
              <a:solidFill>
                <a:srgbClr val="D9829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32">
              <a:extLst>
                <a:ext uri="{FF2B5EF4-FFF2-40B4-BE49-F238E27FC236}">
                  <a16:creationId xmlns:a16="http://schemas.microsoft.com/office/drawing/2014/main" id="{2E888991-07ED-CFA2-6FAC-5AC94D416B66}"/>
                </a:ext>
              </a:extLst>
            </p:cNvPr>
            <p:cNvCxnSpPr/>
            <p:nvPr/>
          </p:nvCxnSpPr>
          <p:spPr>
            <a:xfrm flipV="1">
              <a:off x="1146636" y="1686769"/>
              <a:ext cx="0" cy="411480"/>
            </a:xfrm>
            <a:prstGeom prst="straightConnector1">
              <a:avLst/>
            </a:prstGeom>
            <a:ln w="57150">
              <a:solidFill>
                <a:srgbClr val="D9829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3">
              <a:extLst>
                <a:ext uri="{FF2B5EF4-FFF2-40B4-BE49-F238E27FC236}">
                  <a16:creationId xmlns:a16="http://schemas.microsoft.com/office/drawing/2014/main" id="{9E5722F4-DA35-2628-0F59-8D6E691AAE14}"/>
                </a:ext>
              </a:extLst>
            </p:cNvPr>
            <p:cNvCxnSpPr/>
            <p:nvPr/>
          </p:nvCxnSpPr>
          <p:spPr>
            <a:xfrm flipV="1">
              <a:off x="704676" y="1956009"/>
              <a:ext cx="0" cy="411480"/>
            </a:xfrm>
            <a:prstGeom prst="straightConnector1">
              <a:avLst/>
            </a:prstGeom>
            <a:ln w="57150">
              <a:solidFill>
                <a:srgbClr val="D98291"/>
              </a:solidFill>
              <a:tailEnd type="triangle"/>
            </a:ln>
          </p:spPr>
          <p:style>
            <a:lnRef idx="2">
              <a:schemeClr val="accent1"/>
            </a:lnRef>
            <a:fillRef idx="0">
              <a:schemeClr val="accent1"/>
            </a:fillRef>
            <a:effectRef idx="1">
              <a:schemeClr val="accent1"/>
            </a:effectRef>
            <a:fontRef idx="minor">
              <a:schemeClr val="tx1"/>
            </a:fontRef>
          </p:style>
        </p:cxnSp>
      </p:grpSp>
      <p:sp>
        <p:nvSpPr>
          <p:cNvPr id="53" name="Rectangle 3">
            <a:extLst>
              <a:ext uri="{FF2B5EF4-FFF2-40B4-BE49-F238E27FC236}">
                <a16:creationId xmlns:a16="http://schemas.microsoft.com/office/drawing/2014/main" id="{E8627202-8220-075E-6931-FC0E8A690A20}"/>
              </a:ext>
            </a:extLst>
          </p:cNvPr>
          <p:cNvSpPr/>
          <p:nvPr/>
        </p:nvSpPr>
        <p:spPr>
          <a:xfrm flipH="1" flipV="1">
            <a:off x="10558097" y="5654408"/>
            <a:ext cx="352286" cy="384541"/>
          </a:xfrm>
          <a:custGeom>
            <a:avLst/>
            <a:gdLst>
              <a:gd name="connsiteX0" fmla="*/ 0 w 748553"/>
              <a:gd name="connsiteY0" fmla="*/ 0 h 1002926"/>
              <a:gd name="connsiteX1" fmla="*/ 748553 w 748553"/>
              <a:gd name="connsiteY1" fmla="*/ 0 h 1002926"/>
              <a:gd name="connsiteX2" fmla="*/ 748553 w 748553"/>
              <a:gd name="connsiteY2" fmla="*/ 1002926 h 1002926"/>
              <a:gd name="connsiteX3" fmla="*/ 0 w 748553"/>
              <a:gd name="connsiteY3" fmla="*/ 1002926 h 1002926"/>
              <a:gd name="connsiteX4" fmla="*/ 0 w 748553"/>
              <a:gd name="connsiteY4" fmla="*/ 0 h 1002926"/>
              <a:gd name="connsiteX0" fmla="*/ 0 w 748553"/>
              <a:gd name="connsiteY0" fmla="*/ 0 h 1002926"/>
              <a:gd name="connsiteX1" fmla="*/ 748553 w 748553"/>
              <a:gd name="connsiteY1" fmla="*/ 0 h 1002926"/>
              <a:gd name="connsiteX2" fmla="*/ 572707 w 748553"/>
              <a:gd name="connsiteY2" fmla="*/ 998530 h 1002926"/>
              <a:gd name="connsiteX3" fmla="*/ 0 w 748553"/>
              <a:gd name="connsiteY3" fmla="*/ 1002926 h 1002926"/>
              <a:gd name="connsiteX4" fmla="*/ 0 w 748553"/>
              <a:gd name="connsiteY4" fmla="*/ 0 h 1002926"/>
              <a:gd name="connsiteX0" fmla="*/ 0 w 748553"/>
              <a:gd name="connsiteY0" fmla="*/ 0 h 1020511"/>
              <a:gd name="connsiteX1" fmla="*/ 748553 w 748553"/>
              <a:gd name="connsiteY1" fmla="*/ 0 h 1020511"/>
              <a:gd name="connsiteX2" fmla="*/ 572707 w 748553"/>
              <a:gd name="connsiteY2" fmla="*/ 998530 h 1020511"/>
              <a:gd name="connsiteX3" fmla="*/ 272562 w 748553"/>
              <a:gd name="connsiteY3" fmla="*/ 1020511 h 1020511"/>
              <a:gd name="connsiteX4" fmla="*/ 0 w 748553"/>
              <a:gd name="connsiteY4" fmla="*/ 0 h 1020511"/>
              <a:gd name="connsiteX0" fmla="*/ 0 w 748553"/>
              <a:gd name="connsiteY0" fmla="*/ 0 h 998530"/>
              <a:gd name="connsiteX1" fmla="*/ 748553 w 748553"/>
              <a:gd name="connsiteY1" fmla="*/ 0 h 998530"/>
              <a:gd name="connsiteX2" fmla="*/ 572707 w 748553"/>
              <a:gd name="connsiteY2" fmla="*/ 998530 h 998530"/>
              <a:gd name="connsiteX3" fmla="*/ 254977 w 748553"/>
              <a:gd name="connsiteY3" fmla="*/ 998530 h 998530"/>
              <a:gd name="connsiteX4" fmla="*/ 0 w 748553"/>
              <a:gd name="connsiteY4" fmla="*/ 0 h 998530"/>
              <a:gd name="connsiteX0" fmla="*/ 0 w 748553"/>
              <a:gd name="connsiteY0" fmla="*/ 0 h 998530"/>
              <a:gd name="connsiteX1" fmla="*/ 748553 w 748553"/>
              <a:gd name="connsiteY1" fmla="*/ 0 h 998530"/>
              <a:gd name="connsiteX2" fmla="*/ 572707 w 748553"/>
              <a:gd name="connsiteY2" fmla="*/ 998530 h 998530"/>
              <a:gd name="connsiteX3" fmla="*/ 215412 w 748553"/>
              <a:gd name="connsiteY3" fmla="*/ 994134 h 998530"/>
              <a:gd name="connsiteX4" fmla="*/ 0 w 748553"/>
              <a:gd name="connsiteY4" fmla="*/ 0 h 998530"/>
              <a:gd name="connsiteX0" fmla="*/ 0 w 748553"/>
              <a:gd name="connsiteY0" fmla="*/ 0 h 998530"/>
              <a:gd name="connsiteX1" fmla="*/ 748553 w 748553"/>
              <a:gd name="connsiteY1" fmla="*/ 0 h 998530"/>
              <a:gd name="connsiteX2" fmla="*/ 533142 w 748553"/>
              <a:gd name="connsiteY2" fmla="*/ 998530 h 998530"/>
              <a:gd name="connsiteX3" fmla="*/ 215412 w 748553"/>
              <a:gd name="connsiteY3" fmla="*/ 994134 h 998530"/>
              <a:gd name="connsiteX4" fmla="*/ 0 w 748553"/>
              <a:gd name="connsiteY4" fmla="*/ 0 h 998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553" h="998530">
                <a:moveTo>
                  <a:pt x="0" y="0"/>
                </a:moveTo>
                <a:lnTo>
                  <a:pt x="748553" y="0"/>
                </a:lnTo>
                <a:lnTo>
                  <a:pt x="533142" y="998530"/>
                </a:lnTo>
                <a:lnTo>
                  <a:pt x="215412" y="994134"/>
                </a:lnTo>
                <a:lnTo>
                  <a:pt x="0" y="0"/>
                </a:lnTo>
                <a:close/>
              </a:path>
            </a:pathLst>
          </a:custGeom>
          <a:no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sp>
        <p:nvSpPr>
          <p:cNvPr id="54" name="Rectangle 3">
            <a:extLst>
              <a:ext uri="{FF2B5EF4-FFF2-40B4-BE49-F238E27FC236}">
                <a16:creationId xmlns:a16="http://schemas.microsoft.com/office/drawing/2014/main" id="{5AB5AEC2-5136-454F-54AE-EDAD2B427A9F}"/>
              </a:ext>
            </a:extLst>
          </p:cNvPr>
          <p:cNvSpPr/>
          <p:nvPr/>
        </p:nvSpPr>
        <p:spPr>
          <a:xfrm flipH="1" flipV="1">
            <a:off x="11348826" y="5156974"/>
            <a:ext cx="352286" cy="384541"/>
          </a:xfrm>
          <a:custGeom>
            <a:avLst/>
            <a:gdLst>
              <a:gd name="connsiteX0" fmla="*/ 0 w 748553"/>
              <a:gd name="connsiteY0" fmla="*/ 0 h 1002926"/>
              <a:gd name="connsiteX1" fmla="*/ 748553 w 748553"/>
              <a:gd name="connsiteY1" fmla="*/ 0 h 1002926"/>
              <a:gd name="connsiteX2" fmla="*/ 748553 w 748553"/>
              <a:gd name="connsiteY2" fmla="*/ 1002926 h 1002926"/>
              <a:gd name="connsiteX3" fmla="*/ 0 w 748553"/>
              <a:gd name="connsiteY3" fmla="*/ 1002926 h 1002926"/>
              <a:gd name="connsiteX4" fmla="*/ 0 w 748553"/>
              <a:gd name="connsiteY4" fmla="*/ 0 h 1002926"/>
              <a:gd name="connsiteX0" fmla="*/ 0 w 748553"/>
              <a:gd name="connsiteY0" fmla="*/ 0 h 1002926"/>
              <a:gd name="connsiteX1" fmla="*/ 748553 w 748553"/>
              <a:gd name="connsiteY1" fmla="*/ 0 h 1002926"/>
              <a:gd name="connsiteX2" fmla="*/ 572707 w 748553"/>
              <a:gd name="connsiteY2" fmla="*/ 998530 h 1002926"/>
              <a:gd name="connsiteX3" fmla="*/ 0 w 748553"/>
              <a:gd name="connsiteY3" fmla="*/ 1002926 h 1002926"/>
              <a:gd name="connsiteX4" fmla="*/ 0 w 748553"/>
              <a:gd name="connsiteY4" fmla="*/ 0 h 1002926"/>
              <a:gd name="connsiteX0" fmla="*/ 0 w 748553"/>
              <a:gd name="connsiteY0" fmla="*/ 0 h 1020511"/>
              <a:gd name="connsiteX1" fmla="*/ 748553 w 748553"/>
              <a:gd name="connsiteY1" fmla="*/ 0 h 1020511"/>
              <a:gd name="connsiteX2" fmla="*/ 572707 w 748553"/>
              <a:gd name="connsiteY2" fmla="*/ 998530 h 1020511"/>
              <a:gd name="connsiteX3" fmla="*/ 272562 w 748553"/>
              <a:gd name="connsiteY3" fmla="*/ 1020511 h 1020511"/>
              <a:gd name="connsiteX4" fmla="*/ 0 w 748553"/>
              <a:gd name="connsiteY4" fmla="*/ 0 h 1020511"/>
              <a:gd name="connsiteX0" fmla="*/ 0 w 748553"/>
              <a:gd name="connsiteY0" fmla="*/ 0 h 998530"/>
              <a:gd name="connsiteX1" fmla="*/ 748553 w 748553"/>
              <a:gd name="connsiteY1" fmla="*/ 0 h 998530"/>
              <a:gd name="connsiteX2" fmla="*/ 572707 w 748553"/>
              <a:gd name="connsiteY2" fmla="*/ 998530 h 998530"/>
              <a:gd name="connsiteX3" fmla="*/ 254977 w 748553"/>
              <a:gd name="connsiteY3" fmla="*/ 998530 h 998530"/>
              <a:gd name="connsiteX4" fmla="*/ 0 w 748553"/>
              <a:gd name="connsiteY4" fmla="*/ 0 h 998530"/>
              <a:gd name="connsiteX0" fmla="*/ 0 w 748553"/>
              <a:gd name="connsiteY0" fmla="*/ 0 h 998530"/>
              <a:gd name="connsiteX1" fmla="*/ 748553 w 748553"/>
              <a:gd name="connsiteY1" fmla="*/ 0 h 998530"/>
              <a:gd name="connsiteX2" fmla="*/ 572707 w 748553"/>
              <a:gd name="connsiteY2" fmla="*/ 998530 h 998530"/>
              <a:gd name="connsiteX3" fmla="*/ 215412 w 748553"/>
              <a:gd name="connsiteY3" fmla="*/ 994134 h 998530"/>
              <a:gd name="connsiteX4" fmla="*/ 0 w 748553"/>
              <a:gd name="connsiteY4" fmla="*/ 0 h 998530"/>
              <a:gd name="connsiteX0" fmla="*/ 0 w 748553"/>
              <a:gd name="connsiteY0" fmla="*/ 0 h 998530"/>
              <a:gd name="connsiteX1" fmla="*/ 748553 w 748553"/>
              <a:gd name="connsiteY1" fmla="*/ 0 h 998530"/>
              <a:gd name="connsiteX2" fmla="*/ 533142 w 748553"/>
              <a:gd name="connsiteY2" fmla="*/ 998530 h 998530"/>
              <a:gd name="connsiteX3" fmla="*/ 215412 w 748553"/>
              <a:gd name="connsiteY3" fmla="*/ 994134 h 998530"/>
              <a:gd name="connsiteX4" fmla="*/ 0 w 748553"/>
              <a:gd name="connsiteY4" fmla="*/ 0 h 998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553" h="998530">
                <a:moveTo>
                  <a:pt x="0" y="0"/>
                </a:moveTo>
                <a:lnTo>
                  <a:pt x="748553" y="0"/>
                </a:lnTo>
                <a:lnTo>
                  <a:pt x="533142" y="998530"/>
                </a:lnTo>
                <a:lnTo>
                  <a:pt x="215412" y="994134"/>
                </a:lnTo>
                <a:lnTo>
                  <a:pt x="0" y="0"/>
                </a:lnTo>
                <a:close/>
              </a:path>
            </a:pathLst>
          </a:custGeom>
          <a:no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200"/>
          </a:p>
        </p:txBody>
      </p:sp>
    </p:spTree>
    <p:extLst>
      <p:ext uri="{BB962C8B-B14F-4D97-AF65-F5344CB8AC3E}">
        <p14:creationId xmlns:p14="http://schemas.microsoft.com/office/powerpoint/2010/main" val="1123610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605FD-AE2C-27F2-9D3B-A47307283881}"/>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638308CA-E5DD-39EB-851C-D1CCBD735385}"/>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3063B44C-73AE-0C93-7901-FFE4BE785A96}"/>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E3870D67-492D-05B7-08B3-FC5CF14B3083}"/>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187986AF-2BDA-9482-B613-D1A55B819303}"/>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D6B4BD83-D39F-12E5-E0A3-28DA9F63DF55}"/>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3971A59A-E134-E82B-1904-BA2C6F65263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12</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10037D04-0A31-E95E-F79E-0B3E23D46C83}"/>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BF45DABA-2AC9-8FD8-E3B1-B6EED5ACB8B3}"/>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F540B51A-A60D-1624-20BD-B9603ECFC4F7}"/>
              </a:ext>
            </a:extLst>
          </p:cNvPr>
          <p:cNvSpPr>
            <a:spLocks noGrp="1"/>
          </p:cNvSpPr>
          <p:nvPr>
            <p:ph type="sldNum" sz="quarter" idx="12"/>
          </p:nvPr>
        </p:nvSpPr>
        <p:spPr/>
        <p:txBody>
          <a:bodyPr/>
          <a:lstStyle/>
          <a:p>
            <a:r>
              <a:rPr sz="1400" b="1">
                <a:solidFill>
                  <a:srgbClr val="FFFFFF"/>
                </a:solidFill>
                <a:latin typeface="Palatino Linotype"/>
              </a:rPr>
              <a:t>14/29</a:t>
            </a:r>
            <a:endParaRPr lang="en-US" dirty="0"/>
          </a:p>
        </p:txBody>
      </p:sp>
      <p:sp>
        <p:nvSpPr>
          <p:cNvPr id="6" name="Titolo 1">
            <a:extLst>
              <a:ext uri="{FF2B5EF4-FFF2-40B4-BE49-F238E27FC236}">
                <a16:creationId xmlns:a16="http://schemas.microsoft.com/office/drawing/2014/main" id="{8E3760F3-A97A-3B1F-EF6B-34ACC96094C3}"/>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Characterization of Refill Region Dynamics </a:t>
            </a:r>
          </a:p>
        </p:txBody>
      </p:sp>
      <mc:AlternateContent xmlns:mc="http://schemas.openxmlformats.org/markup-compatibility/2006">
        <mc:Choice xmlns:a14="http://schemas.microsoft.com/office/drawing/2010/main" Requires="a14">
          <p:sp>
            <p:nvSpPr>
              <p:cNvPr id="9" name="TextBox 10">
                <a:extLst>
                  <a:ext uri="{FF2B5EF4-FFF2-40B4-BE49-F238E27FC236}">
                    <a16:creationId xmlns:a16="http://schemas.microsoft.com/office/drawing/2014/main" id="{BD809CD3-202B-3D7A-6CE9-5DD83E86BE05}"/>
                  </a:ext>
                </a:extLst>
              </p:cNvPr>
              <p:cNvSpPr txBox="1"/>
              <p:nvPr/>
            </p:nvSpPr>
            <p:spPr>
              <a:xfrm>
                <a:off x="613541" y="1043731"/>
                <a:ext cx="11153009" cy="1908215"/>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Pressure flow field comparison for different inlet expansion ratio </a:t>
                </a:r>
                <a14:m>
                  <m:oMath xmlns:m="http://schemas.openxmlformats.org/officeDocument/2006/math">
                    <m:r>
                      <a:rPr lang="en-US" b="1" i="1">
                        <a:latin typeface="Cambria Math" panose="02040503050406030204" pitchFamily="18" charset="0"/>
                        <a:cs typeface="Times New Roman" panose="02020603050405020304" pitchFamily="18" charset="0"/>
                      </a:rPr>
                      <m:t>𝚲</m:t>
                    </m:r>
                  </m:oMath>
                </a14:m>
                <a:endParaRPr lang="en-US" b="1" dirty="0">
                  <a:latin typeface="Palatino Linotype" panose="0204050205050503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Small amounts of expansion yield partially supersonic refill areas</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Supersonic area 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𝑝</m:t>
                        </m:r>
                      </m:e>
                      <m:sub>
                        <m:r>
                          <a:rPr lang="en-US" i="1">
                            <a:latin typeface="Cambria Math" panose="02040503050406030204" pitchFamily="18" charset="0"/>
                            <a:cs typeface="Times New Roman" panose="02020603050405020304" pitchFamily="18" charset="0"/>
                          </a:rPr>
                          <m:t>𝑡</m:t>
                        </m:r>
                      </m:sub>
                    </m:sSub>
                  </m:oMath>
                </a14:m>
                <a:r>
                  <a:rPr lang="en-US" dirty="0">
                    <a:latin typeface="Palatino Linotype" panose="02040502050505030304" pitchFamily="18" charset="0"/>
                    <a:cs typeface="Times New Roman" panose="02020603050405020304" pitchFamily="18" charset="0"/>
                  </a:rPr>
                  <a:t> loss growth with increasing inlet expansion ratio </a:t>
                </a:r>
                <a14:m>
                  <m:oMath xmlns:m="http://schemas.openxmlformats.org/officeDocument/2006/math">
                    <m:r>
                      <m:rPr>
                        <m:sty m:val="p"/>
                      </m:rPr>
                      <a:rPr lang="en-US">
                        <a:latin typeface="Cambria Math" panose="02040503050406030204" pitchFamily="18" charset="0"/>
                        <a:cs typeface="Times New Roman" panose="02020603050405020304" pitchFamily="18" charset="0"/>
                      </a:rPr>
                      <m:t>Λ</m:t>
                    </m:r>
                  </m:oMath>
                </a14:m>
                <a:endParaRPr lang="en-US" dirty="0">
                  <a:latin typeface="Palatino Linotype" panose="0204050205050503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For </a:t>
                </a:r>
                <a14:m>
                  <m:oMath xmlns:m="http://schemas.openxmlformats.org/officeDocument/2006/math">
                    <m:r>
                      <m:rPr>
                        <m:sty m:val="p"/>
                      </m:rPr>
                      <a:rPr lang="en-US">
                        <a:latin typeface="Cambria Math" panose="02040503050406030204" pitchFamily="18" charset="0"/>
                        <a:cs typeface="Times New Roman" panose="02020603050405020304" pitchFamily="18" charset="0"/>
                      </a:rPr>
                      <m:t>Λ</m:t>
                    </m:r>
                    <m:r>
                      <a:rPr lang="en-US" b="0" i="1" smtClean="0">
                        <a:latin typeface="Cambria Math" panose="02040503050406030204" pitchFamily="18" charset="0"/>
                        <a:cs typeface="Times New Roman" panose="02020603050405020304" pitchFamily="18" charset="0"/>
                      </a:rPr>
                      <m:t>=2.9</m:t>
                    </m:r>
                    <m:r>
                      <a:rPr lang="en-US" i="1">
                        <a:latin typeface="Cambria Math" panose="02040503050406030204" pitchFamily="18" charset="0"/>
                        <a:cs typeface="Times New Roman" panose="02020603050405020304" pitchFamily="18" charset="0"/>
                      </a:rPr>
                      <m:t> </m:t>
                    </m:r>
                  </m:oMath>
                </a14:m>
                <a:r>
                  <a:rPr lang="en-US" dirty="0">
                    <a:latin typeface="Palatino Linotype" panose="02040502050505030304" pitchFamily="18" charset="0"/>
                    <a:cs typeface="Times New Roman" panose="02020603050405020304" pitchFamily="18" charset="0"/>
                  </a:rPr>
                  <a:t>some of the inlet line becomes fully supersonic (</a:t>
                </a:r>
                <a:r>
                  <a:rPr lang="en-US" b="1" dirty="0">
                    <a:latin typeface="Palatino Linotype" panose="02040502050505030304" pitchFamily="18" charset="0"/>
                    <a:cs typeface="Times New Roman" panose="02020603050405020304" pitchFamily="18" charset="0"/>
                  </a:rPr>
                  <a:t>and negative PG</a:t>
                </a:r>
                <a:r>
                  <a:rPr lang="en-US" dirty="0">
                    <a:latin typeface="Palatino Linotype" panose="02040502050505030304" pitchFamily="18" charset="0"/>
                    <a:cs typeface="Times New Roman" panose="02020603050405020304" pitchFamily="18" charset="0"/>
                  </a:rPr>
                  <a:t>)!</a:t>
                </a:r>
              </a:p>
              <a:p>
                <a:endParaRPr lang="en-US" dirty="0">
                  <a:latin typeface="Palatino Linotype" panose="02040502050505030304" pitchFamily="18" charset="0"/>
                  <a:cs typeface="Times New Roman" panose="02020603050405020304" pitchFamily="18" charset="0"/>
                </a:endParaRPr>
              </a:p>
              <a:p>
                <a:endParaRPr lang="en-AU" sz="2800" dirty="0">
                  <a:latin typeface="Times New Roman" panose="02020603050405020304" pitchFamily="18" charset="0"/>
                  <a:cs typeface="Times New Roman" panose="02020603050405020304" pitchFamily="18" charset="0"/>
                </a:endParaRPr>
              </a:p>
            </p:txBody>
          </p:sp>
        </mc:Choice>
        <mc:Fallback>
          <p:sp>
            <p:nvSpPr>
              <p:cNvPr id="9" name="TextBox 10">
                <a:extLst>
                  <a:ext uri="{FF2B5EF4-FFF2-40B4-BE49-F238E27FC236}">
                    <a16:creationId xmlns:a16="http://schemas.microsoft.com/office/drawing/2014/main" id="{BD809CD3-202B-3D7A-6CE9-5DD83E86BE05}"/>
                  </a:ext>
                </a:extLst>
              </p:cNvPr>
              <p:cNvSpPr txBox="1">
                <a:spLocks noRot="1" noChangeAspect="1" noMove="1" noResize="1" noEditPoints="1" noAdjustHandles="1" noChangeArrowheads="1" noChangeShapeType="1" noTextEdit="1"/>
              </p:cNvSpPr>
              <p:nvPr/>
            </p:nvSpPr>
            <p:spPr>
              <a:xfrm>
                <a:off x="613541" y="1043731"/>
                <a:ext cx="11153009" cy="1908215"/>
              </a:xfrm>
              <a:prstGeom prst="rect">
                <a:avLst/>
              </a:prstGeom>
              <a:blipFill>
                <a:blip r:embed="rId4"/>
                <a:stretch>
                  <a:fillRect l="-492" t="-1597"/>
                </a:stretch>
              </a:blipFill>
            </p:spPr>
            <p:txBody>
              <a:bodyPr/>
              <a:lstStyle/>
              <a:p>
                <a:r>
                  <a:rPr lang="it-IT">
                    <a:noFill/>
                  </a:rPr>
                  <a:t> </a:t>
                </a:r>
              </a:p>
            </p:txBody>
          </p:sp>
        </mc:Fallback>
      </mc:AlternateContent>
      <p:pic>
        <p:nvPicPr>
          <p:cNvPr id="14" name="Picture 492">
            <a:extLst>
              <a:ext uri="{FF2B5EF4-FFF2-40B4-BE49-F238E27FC236}">
                <a16:creationId xmlns:a16="http://schemas.microsoft.com/office/drawing/2014/main" id="{C5885338-4D1E-6750-4284-E4E4930D31BE}"/>
              </a:ext>
            </a:extLst>
          </p:cNvPr>
          <p:cNvPicPr>
            <a:picLocks noChangeAspect="1"/>
          </p:cNvPicPr>
          <p:nvPr/>
        </p:nvPicPr>
        <p:blipFill>
          <a:blip r:embed="rId5"/>
          <a:srcRect l="1" t="58514" r="14974"/>
          <a:stretch>
            <a:fillRect/>
          </a:stretch>
        </p:blipFill>
        <p:spPr>
          <a:xfrm>
            <a:off x="6003215" y="2408189"/>
            <a:ext cx="5975425" cy="1466063"/>
          </a:xfrm>
          <a:prstGeom prst="rect">
            <a:avLst/>
          </a:prstGeom>
        </p:spPr>
      </p:pic>
      <p:pic>
        <p:nvPicPr>
          <p:cNvPr id="17" name="Picture 495">
            <a:extLst>
              <a:ext uri="{FF2B5EF4-FFF2-40B4-BE49-F238E27FC236}">
                <a16:creationId xmlns:a16="http://schemas.microsoft.com/office/drawing/2014/main" id="{16737C94-7215-B699-F66B-19DF8A1D96F8}"/>
              </a:ext>
            </a:extLst>
          </p:cNvPr>
          <p:cNvPicPr>
            <a:picLocks noChangeAspect="1"/>
          </p:cNvPicPr>
          <p:nvPr/>
        </p:nvPicPr>
        <p:blipFill>
          <a:blip r:embed="rId6"/>
          <a:srcRect t="54196"/>
          <a:stretch>
            <a:fillRect/>
          </a:stretch>
        </p:blipFill>
        <p:spPr>
          <a:xfrm>
            <a:off x="5996940" y="3910328"/>
            <a:ext cx="6027420" cy="1447712"/>
          </a:xfrm>
          <a:prstGeom prst="rect">
            <a:avLst/>
          </a:prstGeom>
        </p:spPr>
      </p:pic>
      <p:pic>
        <p:nvPicPr>
          <p:cNvPr id="18" name="Picture 497">
            <a:extLst>
              <a:ext uri="{FF2B5EF4-FFF2-40B4-BE49-F238E27FC236}">
                <a16:creationId xmlns:a16="http://schemas.microsoft.com/office/drawing/2014/main" id="{70C62A1A-3BF9-7AAF-2E07-A53C94D9748B}"/>
              </a:ext>
            </a:extLst>
          </p:cNvPr>
          <p:cNvPicPr>
            <a:picLocks noChangeAspect="1"/>
          </p:cNvPicPr>
          <p:nvPr/>
        </p:nvPicPr>
        <p:blipFill>
          <a:blip r:embed="rId7"/>
          <a:srcRect t="51483"/>
          <a:stretch>
            <a:fillRect/>
          </a:stretch>
        </p:blipFill>
        <p:spPr>
          <a:xfrm>
            <a:off x="121739" y="2408189"/>
            <a:ext cx="5920921" cy="1502139"/>
          </a:xfrm>
          <a:prstGeom prst="rect">
            <a:avLst/>
          </a:prstGeom>
        </p:spPr>
      </p:pic>
      <p:pic>
        <p:nvPicPr>
          <p:cNvPr id="19" name="Picture 490">
            <a:extLst>
              <a:ext uri="{FF2B5EF4-FFF2-40B4-BE49-F238E27FC236}">
                <a16:creationId xmlns:a16="http://schemas.microsoft.com/office/drawing/2014/main" id="{9FB2D04B-F318-E4DB-DA87-28D5833AA589}"/>
              </a:ext>
            </a:extLst>
          </p:cNvPr>
          <p:cNvPicPr>
            <a:picLocks noChangeAspect="1"/>
          </p:cNvPicPr>
          <p:nvPr/>
        </p:nvPicPr>
        <p:blipFill>
          <a:blip r:embed="rId8"/>
          <a:srcRect t="50525" r="12989" b="5026"/>
          <a:stretch>
            <a:fillRect/>
          </a:stretch>
        </p:blipFill>
        <p:spPr>
          <a:xfrm>
            <a:off x="73555" y="3909415"/>
            <a:ext cx="5984345" cy="1465267"/>
          </a:xfrm>
          <a:prstGeom prst="rect">
            <a:avLst/>
          </a:prstGeom>
        </p:spPr>
      </p:pic>
      <mc:AlternateContent xmlns:mc="http://schemas.openxmlformats.org/markup-compatibility/2006">
        <mc:Choice xmlns:a14="http://schemas.microsoft.com/office/drawing/2010/main" Requires="a14">
          <p:sp>
            <p:nvSpPr>
              <p:cNvPr id="20" name="TextBox 3">
                <a:extLst>
                  <a:ext uri="{FF2B5EF4-FFF2-40B4-BE49-F238E27FC236}">
                    <a16:creationId xmlns:a16="http://schemas.microsoft.com/office/drawing/2014/main" id="{4C450D92-DB1D-498E-EB81-0FC2F437E421}"/>
                  </a:ext>
                </a:extLst>
              </p:cNvPr>
              <p:cNvSpPr txBox="1"/>
              <p:nvPr/>
            </p:nvSpPr>
            <p:spPr>
              <a:xfrm>
                <a:off x="3810000" y="2441397"/>
                <a:ext cx="2169124" cy="707886"/>
              </a:xfrm>
              <a:prstGeom prst="rect">
                <a:avLst/>
              </a:prstGeom>
              <a:solidFill>
                <a:schemeClr val="bg1"/>
              </a:solidFill>
            </p:spPr>
            <p:txBody>
              <a:bodyPr wrap="square" rtlCol="0">
                <a:spAutoFit/>
              </a:bodyPr>
              <a:lstStyle/>
              <a:p>
                <a:pPr algn="ctr"/>
                <a14:m>
                  <m:oMath xmlns:m="http://schemas.openxmlformats.org/officeDocument/2006/math">
                    <m:r>
                      <m:rPr>
                        <m:sty m:val="p"/>
                      </m:rPr>
                      <a:rPr lang="en-US" sz="2000" b="0" i="0" smtClean="0">
                        <a:latin typeface="Cambria Math" panose="02040503050406030204" pitchFamily="18" charset="0"/>
                        <a:cs typeface="Times New Roman" panose="02020603050405020304" pitchFamily="18" charset="0"/>
                      </a:rPr>
                      <m:t>Λ</m:t>
                    </m:r>
                    <m:r>
                      <a:rPr lang="en-US" sz="2000" b="0" i="1" smtClean="0">
                        <a:latin typeface="Cambria Math" panose="02040503050406030204" pitchFamily="18" charset="0"/>
                        <a:cs typeface="Times New Roman" panose="02020603050405020304" pitchFamily="18" charset="0"/>
                      </a:rPr>
                      <m:t>=1,</m:t>
                    </m:r>
                  </m:oMath>
                </a14:m>
                <a:r>
                  <a:rPr lang="en-US" sz="2000" dirty="0">
                    <a:latin typeface="Times New Roman" panose="02020603050405020304" pitchFamily="18" charset="0"/>
                    <a:cs typeface="Times New Roman" panose="02020603050405020304" pitchFamily="18" charset="0"/>
                  </a:rPr>
                  <a:t> 2D,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𝜖</m:t>
                    </m:r>
                    <m:r>
                      <a:rPr lang="en-US" sz="2000" b="0" i="1" smtClean="0">
                        <a:latin typeface="Cambria Math" panose="02040503050406030204" pitchFamily="18" charset="0"/>
                        <a:cs typeface="Times New Roman" panose="02020603050405020304" pitchFamily="18" charset="0"/>
                      </a:rPr>
                      <m:t>=0°, </m:t>
                    </m:r>
                    <m:r>
                      <m:rPr>
                        <m:sty m:val="p"/>
                      </m:rPr>
                      <a:rPr lang="it-IT" sz="2000" b="0" i="1" smtClean="0">
                        <a:latin typeface="Cambria Math" panose="02040503050406030204" pitchFamily="18" charset="0"/>
                        <a:cs typeface="Times New Roman" panose="02020603050405020304" pitchFamily="18" charset="0"/>
                      </a:rPr>
                      <m:t>PG</m:t>
                    </m:r>
                    <m:r>
                      <a:rPr lang="it-IT" sz="2000" b="0" i="1" smtClean="0">
                        <a:latin typeface="Cambria Math" panose="02040503050406030204" pitchFamily="18" charset="0"/>
                        <a:cs typeface="Times New Roman" panose="02020603050405020304" pitchFamily="18" charset="0"/>
                      </a:rPr>
                      <m:t> = +56.7%</m:t>
                    </m:r>
                  </m:oMath>
                </a14:m>
                <a:endParaRPr lang="en-AU" sz="2400" dirty="0">
                  <a:latin typeface="Times New Roman" panose="02020603050405020304" pitchFamily="18" charset="0"/>
                  <a:cs typeface="Times New Roman" panose="02020603050405020304" pitchFamily="18" charset="0"/>
                </a:endParaRPr>
              </a:p>
            </p:txBody>
          </p:sp>
        </mc:Choice>
        <mc:Fallback>
          <p:sp>
            <p:nvSpPr>
              <p:cNvPr id="20" name="TextBox 3">
                <a:extLst>
                  <a:ext uri="{FF2B5EF4-FFF2-40B4-BE49-F238E27FC236}">
                    <a16:creationId xmlns:a16="http://schemas.microsoft.com/office/drawing/2014/main" id="{4C450D92-DB1D-498E-EB81-0FC2F437E421}"/>
                  </a:ext>
                </a:extLst>
              </p:cNvPr>
              <p:cNvSpPr txBox="1">
                <a:spLocks noRot="1" noChangeAspect="1" noMove="1" noResize="1" noEditPoints="1" noAdjustHandles="1" noChangeArrowheads="1" noChangeShapeType="1" noTextEdit="1"/>
              </p:cNvSpPr>
              <p:nvPr/>
            </p:nvSpPr>
            <p:spPr>
              <a:xfrm>
                <a:off x="3810000" y="2441397"/>
                <a:ext cx="2169124" cy="707886"/>
              </a:xfrm>
              <a:prstGeom prst="rect">
                <a:avLst/>
              </a:prstGeom>
              <a:blipFill>
                <a:blip r:embed="rId9"/>
                <a:stretch>
                  <a:fillRect t="-4274"/>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1" name="TextBox 4">
                <a:extLst>
                  <a:ext uri="{FF2B5EF4-FFF2-40B4-BE49-F238E27FC236}">
                    <a16:creationId xmlns:a16="http://schemas.microsoft.com/office/drawing/2014/main" id="{EEC91995-4211-2999-E332-76AF5AF31460}"/>
                  </a:ext>
                </a:extLst>
              </p:cNvPr>
              <p:cNvSpPr txBox="1"/>
              <p:nvPr/>
            </p:nvSpPr>
            <p:spPr>
              <a:xfrm>
                <a:off x="9175583" y="2441397"/>
                <a:ext cx="2724462" cy="700769"/>
              </a:xfrm>
              <a:prstGeom prst="rect">
                <a:avLst/>
              </a:prstGeom>
              <a:solidFill>
                <a:schemeClr val="bg1"/>
              </a:solid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en-US" sz="2000" smtClean="0">
                          <a:latin typeface="Cambria Math" panose="02040503050406030204" pitchFamily="18" charset="0"/>
                          <a:cs typeface="Times New Roman" panose="02020603050405020304" pitchFamily="18" charset="0"/>
                        </a:rPr>
                        <m:t>Λ</m:t>
                      </m:r>
                      <m:r>
                        <a:rPr lang="en-US" sz="2000" i="1">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.5,</m:t>
                      </m:r>
                      <m:r>
                        <a:rPr lang="it-IT" sz="2000" i="1">
                          <a:latin typeface="Cambria Math" panose="02040503050406030204" pitchFamily="18" charset="0"/>
                          <a:cs typeface="Times New Roman" panose="02020603050405020304" pitchFamily="18" charset="0"/>
                        </a:rPr>
                        <m:t>𝑒</m:t>
                      </m:r>
                      <m:r>
                        <a:rPr lang="it-IT" sz="2000" i="1" smtClean="0">
                          <a:latin typeface="Cambria Math" panose="02040503050406030204" pitchFamily="18" charset="0"/>
                          <a:cs typeface="Times New Roman" panose="02020603050405020304" pitchFamily="18" charset="0"/>
                        </a:rPr>
                        <m:t>=</m:t>
                      </m:r>
                      <m:r>
                        <a:rPr lang="en-US" sz="2000" i="1" dirty="0" smtClean="0">
                          <a:latin typeface="Cambria Math" panose="02040503050406030204" pitchFamily="18" charset="0"/>
                          <a:cs typeface="Times New Roman" panose="02020603050405020304" pitchFamily="18" charset="0"/>
                        </a:rPr>
                        <m:t>40 </m:t>
                      </m:r>
                      <m:r>
                        <a:rPr lang="en-US" sz="2000" i="1" dirty="0" smtClean="0">
                          <a:latin typeface="Cambria Math" panose="02040503050406030204" pitchFamily="18" charset="0"/>
                          <a:cs typeface="Times New Roman" panose="02020603050405020304" pitchFamily="18" charset="0"/>
                        </a:rPr>
                        <m:t>𝑚𝑚</m:t>
                      </m:r>
                      <m:r>
                        <a:rPr lang="en-US" sz="2000" b="0" i="1" dirty="0"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𝜖</m:t>
                      </m:r>
                      <m:r>
                        <a:rPr lang="en-US" sz="2000" b="0" i="1" smtClean="0">
                          <a:latin typeface="Cambria Math" panose="02040503050406030204" pitchFamily="18" charset="0"/>
                          <a:cs typeface="Times New Roman" panose="02020603050405020304" pitchFamily="18" charset="0"/>
                        </a:rPr>
                        <m:t>=7.5°,</m:t>
                      </m:r>
                      <m:r>
                        <m:rPr>
                          <m:sty m:val="p"/>
                        </m:rPr>
                        <a:rPr lang="it-IT" sz="2000" i="1">
                          <a:latin typeface="Cambria Math" panose="02040503050406030204" pitchFamily="18" charset="0"/>
                          <a:cs typeface="Times New Roman" panose="02020603050405020304" pitchFamily="18" charset="0"/>
                        </a:rPr>
                        <m:t>PG</m:t>
                      </m:r>
                      <m:r>
                        <a:rPr lang="it-IT" sz="2000" i="1">
                          <a:latin typeface="Cambria Math" panose="02040503050406030204" pitchFamily="18" charset="0"/>
                          <a:cs typeface="Times New Roman" panose="02020603050405020304" pitchFamily="18" charset="0"/>
                        </a:rPr>
                        <m:t> = +35.2%</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21" name="TextBox 4">
                <a:extLst>
                  <a:ext uri="{FF2B5EF4-FFF2-40B4-BE49-F238E27FC236}">
                    <a16:creationId xmlns:a16="http://schemas.microsoft.com/office/drawing/2014/main" id="{EEC91995-4211-2999-E332-76AF5AF31460}"/>
                  </a:ext>
                </a:extLst>
              </p:cNvPr>
              <p:cNvSpPr txBox="1">
                <a:spLocks noRot="1" noChangeAspect="1" noMove="1" noResize="1" noEditPoints="1" noAdjustHandles="1" noChangeArrowheads="1" noChangeShapeType="1" noTextEdit="1"/>
              </p:cNvSpPr>
              <p:nvPr/>
            </p:nvSpPr>
            <p:spPr>
              <a:xfrm>
                <a:off x="9175583" y="2441397"/>
                <a:ext cx="2724462" cy="700769"/>
              </a:xfrm>
              <a:prstGeom prst="rect">
                <a:avLst/>
              </a:prstGeom>
              <a:blipFill>
                <a:blip r:embed="rId10"/>
                <a:stretch>
                  <a:fillRect/>
                </a:stretch>
              </a:blipFill>
            </p:spPr>
            <p:txBody>
              <a:bodyPr/>
              <a:lstStyle/>
              <a:p>
                <a:r>
                  <a:rPr lang="it-IT">
                    <a:noFill/>
                  </a:rPr>
                  <a:t> </a:t>
                </a:r>
              </a:p>
            </p:txBody>
          </p:sp>
        </mc:Fallback>
      </mc:AlternateContent>
      <p:pic>
        <p:nvPicPr>
          <p:cNvPr id="22" name="Picture 6">
            <a:extLst>
              <a:ext uri="{FF2B5EF4-FFF2-40B4-BE49-F238E27FC236}">
                <a16:creationId xmlns:a16="http://schemas.microsoft.com/office/drawing/2014/main" id="{85E04BB8-9897-AC20-DFF7-09C572DD2C19}"/>
              </a:ext>
            </a:extLst>
          </p:cNvPr>
          <p:cNvPicPr>
            <a:picLocks noChangeAspect="1"/>
          </p:cNvPicPr>
          <p:nvPr/>
        </p:nvPicPr>
        <p:blipFill>
          <a:blip r:embed="rId11"/>
          <a:stretch>
            <a:fillRect/>
          </a:stretch>
        </p:blipFill>
        <p:spPr>
          <a:xfrm rot="5400000">
            <a:off x="5707243" y="4342075"/>
            <a:ext cx="670834" cy="2850074"/>
          </a:xfrm>
          <a:prstGeom prst="rect">
            <a:avLst/>
          </a:prstGeom>
        </p:spPr>
      </p:pic>
      <mc:AlternateContent xmlns:mc="http://schemas.openxmlformats.org/markup-compatibility/2006">
        <mc:Choice xmlns:a14="http://schemas.microsoft.com/office/drawing/2010/main" Requires="a14">
          <p:sp>
            <p:nvSpPr>
              <p:cNvPr id="23" name="TextBox 7">
                <a:extLst>
                  <a:ext uri="{FF2B5EF4-FFF2-40B4-BE49-F238E27FC236}">
                    <a16:creationId xmlns:a16="http://schemas.microsoft.com/office/drawing/2014/main" id="{D88D4422-DA01-49AC-17F4-2786EEAE14A9}"/>
                  </a:ext>
                </a:extLst>
              </p:cNvPr>
              <p:cNvSpPr txBox="1"/>
              <p:nvPr/>
            </p:nvSpPr>
            <p:spPr>
              <a:xfrm>
                <a:off x="3013529" y="3943536"/>
                <a:ext cx="2927495" cy="700769"/>
              </a:xfrm>
              <a:prstGeom prst="rect">
                <a:avLst/>
              </a:prstGeom>
              <a:solidFill>
                <a:schemeClr val="bg1"/>
              </a:solid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en-US" sz="2000" smtClean="0">
                          <a:latin typeface="Cambria Math" panose="02040503050406030204" pitchFamily="18" charset="0"/>
                          <a:cs typeface="Times New Roman" panose="02020603050405020304" pitchFamily="18" charset="0"/>
                        </a:rPr>
                        <m:t>Λ</m:t>
                      </m:r>
                      <m:r>
                        <a:rPr lang="en-US" sz="2000" i="1">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2.9,</m:t>
                      </m:r>
                      <m:r>
                        <a:rPr lang="it-IT" sz="2000" i="1">
                          <a:latin typeface="Cambria Math" panose="02040503050406030204" pitchFamily="18" charset="0"/>
                          <a:cs typeface="Times New Roman" panose="02020603050405020304" pitchFamily="18" charset="0"/>
                        </a:rPr>
                        <m:t>𝑒</m:t>
                      </m:r>
                      <m:r>
                        <a:rPr lang="it-IT" sz="2000" i="1">
                          <a:latin typeface="Cambria Math" panose="02040503050406030204" pitchFamily="18" charset="0"/>
                          <a:cs typeface="Times New Roman" panose="02020603050405020304" pitchFamily="18" charset="0"/>
                        </a:rPr>
                        <m:t>=20 </m:t>
                      </m:r>
                      <m:r>
                        <a:rPr lang="en-US" sz="2000" i="1" dirty="0" smtClean="0">
                          <a:latin typeface="Cambria Math" panose="02040503050406030204" pitchFamily="18" charset="0"/>
                          <a:cs typeface="Times New Roman" panose="02020603050405020304" pitchFamily="18" charset="0"/>
                        </a:rPr>
                        <m:t>𝑚𝑚</m:t>
                      </m:r>
                      <m:r>
                        <a:rPr lang="en-US" sz="2000" b="0" i="1" dirty="0"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𝜖</m:t>
                      </m:r>
                      <m:r>
                        <a:rPr lang="en-US" sz="2000" b="0" i="1" smtClean="0">
                          <a:latin typeface="Cambria Math" panose="02040503050406030204" pitchFamily="18" charset="0"/>
                          <a:cs typeface="Times New Roman" panose="02020603050405020304" pitchFamily="18" charset="0"/>
                        </a:rPr>
                        <m:t>=7.5°,</m:t>
                      </m:r>
                      <m:r>
                        <m:rPr>
                          <m:sty m:val="p"/>
                        </m:rPr>
                        <a:rPr lang="it-IT" sz="2000" i="1">
                          <a:latin typeface="Cambria Math" panose="02040503050406030204" pitchFamily="18" charset="0"/>
                          <a:cs typeface="Times New Roman" panose="02020603050405020304" pitchFamily="18" charset="0"/>
                        </a:rPr>
                        <m:t>PG</m:t>
                      </m:r>
                      <m:r>
                        <a:rPr lang="it-IT" sz="2000" i="1">
                          <a:latin typeface="Cambria Math" panose="02040503050406030204" pitchFamily="18" charset="0"/>
                          <a:cs typeface="Times New Roman" panose="02020603050405020304" pitchFamily="18" charset="0"/>
                        </a:rPr>
                        <m:t> = −4.5%</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23" name="TextBox 7">
                <a:extLst>
                  <a:ext uri="{FF2B5EF4-FFF2-40B4-BE49-F238E27FC236}">
                    <a16:creationId xmlns:a16="http://schemas.microsoft.com/office/drawing/2014/main" id="{D88D4422-DA01-49AC-17F4-2786EEAE14A9}"/>
                  </a:ext>
                </a:extLst>
              </p:cNvPr>
              <p:cNvSpPr txBox="1">
                <a:spLocks noRot="1" noChangeAspect="1" noMove="1" noResize="1" noEditPoints="1" noAdjustHandles="1" noChangeArrowheads="1" noChangeShapeType="1" noTextEdit="1"/>
              </p:cNvSpPr>
              <p:nvPr/>
            </p:nvSpPr>
            <p:spPr>
              <a:xfrm>
                <a:off x="3013529" y="3943536"/>
                <a:ext cx="2927495" cy="700769"/>
              </a:xfrm>
              <a:prstGeom prst="rect">
                <a:avLst/>
              </a:prstGeom>
              <a:blipFill>
                <a:blip r:embed="rId12"/>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4" name="TextBox 8">
                <a:extLst>
                  <a:ext uri="{FF2B5EF4-FFF2-40B4-BE49-F238E27FC236}">
                    <a16:creationId xmlns:a16="http://schemas.microsoft.com/office/drawing/2014/main" id="{E6CFB765-5137-8D71-AC74-B89BE6DE0223}"/>
                  </a:ext>
                </a:extLst>
              </p:cNvPr>
              <p:cNvSpPr txBox="1"/>
              <p:nvPr/>
            </p:nvSpPr>
            <p:spPr>
              <a:xfrm>
                <a:off x="9005606" y="3952414"/>
                <a:ext cx="2927495" cy="700769"/>
              </a:xfrm>
              <a:prstGeom prst="rect">
                <a:avLst/>
              </a:prstGeom>
              <a:solidFill>
                <a:schemeClr val="bg1"/>
              </a:solidFill>
            </p:spPr>
            <p:txBody>
              <a:bodyPr wrap="square" rtlCol="0">
                <a:spAutoFit/>
              </a:bodyPr>
              <a:lstStyle/>
              <a:p>
                <a:pPr algn="ctr"/>
                <a14:m>
                  <m:oMathPara xmlns:m="http://schemas.openxmlformats.org/officeDocument/2006/math">
                    <m:oMathParaPr>
                      <m:jc m:val="center"/>
                    </m:oMathParaPr>
                    <m:oMath xmlns:m="http://schemas.openxmlformats.org/officeDocument/2006/math">
                      <m:r>
                        <m:rPr>
                          <m:sty m:val="p"/>
                        </m:rPr>
                        <a:rPr lang="en-US" sz="2000" smtClean="0">
                          <a:latin typeface="Cambria Math" panose="02040503050406030204" pitchFamily="18" charset="0"/>
                          <a:cs typeface="Times New Roman" panose="02020603050405020304" pitchFamily="18" charset="0"/>
                        </a:rPr>
                        <m:t>Λ</m:t>
                      </m:r>
                      <m:r>
                        <a:rPr lang="en-US" sz="2000" i="1">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1.8,</m:t>
                      </m:r>
                      <m:r>
                        <a:rPr lang="it-IT" sz="2000" i="1">
                          <a:latin typeface="Cambria Math" panose="02040503050406030204" pitchFamily="18" charset="0"/>
                          <a:cs typeface="Times New Roman" panose="02020603050405020304" pitchFamily="18" charset="0"/>
                        </a:rPr>
                        <m:t>𝑒</m:t>
                      </m:r>
                      <m:r>
                        <a:rPr lang="it-IT" sz="2000" i="1">
                          <a:latin typeface="Cambria Math" panose="02040503050406030204" pitchFamily="18" charset="0"/>
                          <a:cs typeface="Times New Roman" panose="02020603050405020304" pitchFamily="18" charset="0"/>
                        </a:rPr>
                        <m:t>=30 </m:t>
                      </m:r>
                      <m:r>
                        <a:rPr lang="en-US" sz="2000" i="1" dirty="0" smtClean="0">
                          <a:latin typeface="Cambria Math" panose="02040503050406030204" pitchFamily="18" charset="0"/>
                          <a:cs typeface="Times New Roman" panose="02020603050405020304" pitchFamily="18" charset="0"/>
                        </a:rPr>
                        <m:t>𝑚𝑚</m:t>
                      </m:r>
                      <m:r>
                        <a:rPr lang="en-US" sz="2000" b="0" i="1" dirty="0"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𝜖</m:t>
                      </m:r>
                      <m:r>
                        <a:rPr lang="en-US" sz="2000" b="0" i="1" smtClean="0">
                          <a:latin typeface="Cambria Math" panose="02040503050406030204" pitchFamily="18" charset="0"/>
                          <a:cs typeface="Times New Roman" panose="02020603050405020304" pitchFamily="18" charset="0"/>
                        </a:rPr>
                        <m:t>=7.5°,</m:t>
                      </m:r>
                      <m:r>
                        <m:rPr>
                          <m:sty m:val="p"/>
                        </m:rPr>
                        <a:rPr lang="it-IT" sz="2000" i="1">
                          <a:latin typeface="Cambria Math" panose="02040503050406030204" pitchFamily="18" charset="0"/>
                          <a:cs typeface="Times New Roman" panose="02020603050405020304" pitchFamily="18" charset="0"/>
                        </a:rPr>
                        <m:t>PG</m:t>
                      </m:r>
                      <m:r>
                        <a:rPr lang="it-IT" sz="2000" i="1">
                          <a:latin typeface="Cambria Math" panose="02040503050406030204" pitchFamily="18" charset="0"/>
                          <a:cs typeface="Times New Roman" panose="02020603050405020304" pitchFamily="18" charset="0"/>
                        </a:rPr>
                        <m:t> = +26.2%</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24" name="TextBox 8">
                <a:extLst>
                  <a:ext uri="{FF2B5EF4-FFF2-40B4-BE49-F238E27FC236}">
                    <a16:creationId xmlns:a16="http://schemas.microsoft.com/office/drawing/2014/main" id="{E6CFB765-5137-8D71-AC74-B89BE6DE0223}"/>
                  </a:ext>
                </a:extLst>
              </p:cNvPr>
              <p:cNvSpPr txBox="1">
                <a:spLocks noRot="1" noChangeAspect="1" noMove="1" noResize="1" noEditPoints="1" noAdjustHandles="1" noChangeArrowheads="1" noChangeShapeType="1" noTextEdit="1"/>
              </p:cNvSpPr>
              <p:nvPr/>
            </p:nvSpPr>
            <p:spPr>
              <a:xfrm>
                <a:off x="9005606" y="3952414"/>
                <a:ext cx="2927495" cy="700769"/>
              </a:xfrm>
              <a:prstGeom prst="rect">
                <a:avLst/>
              </a:prstGeom>
              <a:blipFill>
                <a:blip r:embed="rId13"/>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5" name="TextBox 19">
                <a:extLst>
                  <a:ext uri="{FF2B5EF4-FFF2-40B4-BE49-F238E27FC236}">
                    <a16:creationId xmlns:a16="http://schemas.microsoft.com/office/drawing/2014/main" id="{B498FD23-D0B9-82A4-1C01-96D0C0B5218B}"/>
                  </a:ext>
                </a:extLst>
              </p:cNvPr>
              <p:cNvSpPr txBox="1"/>
              <p:nvPr/>
            </p:nvSpPr>
            <p:spPr>
              <a:xfrm>
                <a:off x="7900707" y="5394116"/>
                <a:ext cx="1211544"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Times New Roman" panose="02020603050405020304" pitchFamily="18" charset="0"/>
                        </a:rPr>
                        <m:t>𝑀</m:t>
                      </m:r>
                      <m:r>
                        <a:rPr lang="en-US" sz="2000" b="0" i="1" smtClean="0">
                          <a:latin typeface="Cambria Math" panose="02040503050406030204" pitchFamily="18" charset="0"/>
                          <a:cs typeface="Times New Roman" panose="02020603050405020304" pitchFamily="18" charset="0"/>
                        </a:rPr>
                        <m:t>=1</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25" name="TextBox 19">
                <a:extLst>
                  <a:ext uri="{FF2B5EF4-FFF2-40B4-BE49-F238E27FC236}">
                    <a16:creationId xmlns:a16="http://schemas.microsoft.com/office/drawing/2014/main" id="{B498FD23-D0B9-82A4-1C01-96D0C0B5218B}"/>
                  </a:ext>
                </a:extLst>
              </p:cNvPr>
              <p:cNvSpPr txBox="1">
                <a:spLocks noRot="1" noChangeAspect="1" noMove="1" noResize="1" noEditPoints="1" noAdjustHandles="1" noChangeArrowheads="1" noChangeShapeType="1" noTextEdit="1"/>
              </p:cNvSpPr>
              <p:nvPr/>
            </p:nvSpPr>
            <p:spPr>
              <a:xfrm>
                <a:off x="7900707" y="5394116"/>
                <a:ext cx="1211544" cy="400110"/>
              </a:xfrm>
              <a:prstGeom prst="rect">
                <a:avLst/>
              </a:prstGeom>
              <a:blipFill>
                <a:blip r:embed="rId14"/>
                <a:stretch>
                  <a:fillRect/>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9" name="TextBox 20">
                <a:extLst>
                  <a:ext uri="{FF2B5EF4-FFF2-40B4-BE49-F238E27FC236}">
                    <a16:creationId xmlns:a16="http://schemas.microsoft.com/office/drawing/2014/main" id="{0527D09C-889F-4972-DEE0-6FDF95207D27}"/>
                  </a:ext>
                </a:extLst>
              </p:cNvPr>
              <p:cNvSpPr txBox="1"/>
              <p:nvPr/>
            </p:nvSpPr>
            <p:spPr>
              <a:xfrm>
                <a:off x="9112251" y="5394116"/>
                <a:ext cx="1211544"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rPr>
                        <m:t>𝜙</m:t>
                      </m:r>
                      <m:r>
                        <a:rPr lang="en-US" sz="2000" b="0" i="1" smtClean="0">
                          <a:latin typeface="Cambria Math" panose="02040503050406030204" pitchFamily="18" charset="0"/>
                          <a:cs typeface="Times New Roman" panose="02020603050405020304" pitchFamily="18" charset="0"/>
                        </a:rPr>
                        <m:t>=0.99</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79" name="TextBox 20">
                <a:extLst>
                  <a:ext uri="{FF2B5EF4-FFF2-40B4-BE49-F238E27FC236}">
                    <a16:creationId xmlns:a16="http://schemas.microsoft.com/office/drawing/2014/main" id="{0527D09C-889F-4972-DEE0-6FDF95207D27}"/>
                  </a:ext>
                </a:extLst>
              </p:cNvPr>
              <p:cNvSpPr txBox="1">
                <a:spLocks noRot="1" noChangeAspect="1" noMove="1" noResize="1" noEditPoints="1" noAdjustHandles="1" noChangeArrowheads="1" noChangeShapeType="1" noTextEdit="1"/>
              </p:cNvSpPr>
              <p:nvPr/>
            </p:nvSpPr>
            <p:spPr>
              <a:xfrm>
                <a:off x="9112251" y="5394116"/>
                <a:ext cx="1211544" cy="400110"/>
              </a:xfrm>
              <a:prstGeom prst="rect">
                <a:avLst/>
              </a:prstGeom>
              <a:blipFill>
                <a:blip r:embed="rId15"/>
                <a:stretch>
                  <a:fillRect l="-3015" b="-15385"/>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80" name="TextBox 24">
                <a:extLst>
                  <a:ext uri="{FF2B5EF4-FFF2-40B4-BE49-F238E27FC236}">
                    <a16:creationId xmlns:a16="http://schemas.microsoft.com/office/drawing/2014/main" id="{E124FC40-264F-FE29-F99C-6224362C0916}"/>
                  </a:ext>
                </a:extLst>
              </p:cNvPr>
              <p:cNvSpPr txBox="1"/>
              <p:nvPr/>
            </p:nvSpPr>
            <p:spPr>
              <a:xfrm>
                <a:off x="10142256" y="5377474"/>
                <a:ext cx="1211544"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rPr>
                        <m:t>𝜙</m:t>
                      </m:r>
                      <m:r>
                        <a:rPr lang="en-US" sz="2000" b="0" i="1" smtClean="0">
                          <a:latin typeface="Cambria Math" panose="02040503050406030204" pitchFamily="18" charset="0"/>
                          <a:cs typeface="Times New Roman" panose="02020603050405020304" pitchFamily="18" charset="0"/>
                        </a:rPr>
                        <m:t>=0.2</m:t>
                      </m:r>
                    </m:oMath>
                  </m:oMathPara>
                </a14:m>
                <a:endParaRPr lang="en-AU" sz="2400" dirty="0">
                  <a:latin typeface="Times New Roman" panose="02020603050405020304" pitchFamily="18" charset="0"/>
                  <a:cs typeface="Times New Roman" panose="02020603050405020304" pitchFamily="18" charset="0"/>
                </a:endParaRPr>
              </a:p>
            </p:txBody>
          </p:sp>
        </mc:Choice>
        <mc:Fallback>
          <p:sp>
            <p:nvSpPr>
              <p:cNvPr id="80" name="TextBox 24">
                <a:extLst>
                  <a:ext uri="{FF2B5EF4-FFF2-40B4-BE49-F238E27FC236}">
                    <a16:creationId xmlns:a16="http://schemas.microsoft.com/office/drawing/2014/main" id="{E124FC40-264F-FE29-F99C-6224362C0916}"/>
                  </a:ext>
                </a:extLst>
              </p:cNvPr>
              <p:cNvSpPr txBox="1">
                <a:spLocks noRot="1" noChangeAspect="1" noMove="1" noResize="1" noEditPoints="1" noAdjustHandles="1" noChangeArrowheads="1" noChangeShapeType="1" noTextEdit="1"/>
              </p:cNvSpPr>
              <p:nvPr/>
            </p:nvSpPr>
            <p:spPr>
              <a:xfrm>
                <a:off x="10142256" y="5377474"/>
                <a:ext cx="1211544" cy="400110"/>
              </a:xfrm>
              <a:prstGeom prst="rect">
                <a:avLst/>
              </a:prstGeom>
              <a:blipFill>
                <a:blip r:embed="rId16"/>
                <a:stretch>
                  <a:fillRect b="-15152"/>
                </a:stretch>
              </a:blipFill>
            </p:spPr>
            <p:txBody>
              <a:bodyPr/>
              <a:lstStyle/>
              <a:p>
                <a:r>
                  <a:rPr lang="it-IT">
                    <a:noFill/>
                  </a:rPr>
                  <a:t> </a:t>
                </a:r>
              </a:p>
            </p:txBody>
          </p:sp>
        </mc:Fallback>
      </mc:AlternateContent>
      <p:cxnSp>
        <p:nvCxnSpPr>
          <p:cNvPr id="81" name="Straight Arrow Connector 29">
            <a:extLst>
              <a:ext uri="{FF2B5EF4-FFF2-40B4-BE49-F238E27FC236}">
                <a16:creationId xmlns:a16="http://schemas.microsoft.com/office/drawing/2014/main" id="{1854C01F-21F2-DB3A-16C2-BEA29DB139E9}"/>
              </a:ext>
            </a:extLst>
          </p:cNvPr>
          <p:cNvCxnSpPr>
            <a:cxnSpLocks/>
          </p:cNvCxnSpPr>
          <p:nvPr/>
        </p:nvCxnSpPr>
        <p:spPr>
          <a:xfrm flipV="1">
            <a:off x="2736850" y="5318665"/>
            <a:ext cx="229676" cy="2045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2" name="TextBox 31">
            <a:extLst>
              <a:ext uri="{FF2B5EF4-FFF2-40B4-BE49-F238E27FC236}">
                <a16:creationId xmlns:a16="http://schemas.microsoft.com/office/drawing/2014/main" id="{6FA62E57-09A3-15FD-4E69-015F27A61F45}"/>
              </a:ext>
            </a:extLst>
          </p:cNvPr>
          <p:cNvSpPr txBox="1"/>
          <p:nvPr/>
        </p:nvSpPr>
        <p:spPr>
          <a:xfrm>
            <a:off x="1567005" y="5449570"/>
            <a:ext cx="1393172" cy="369332"/>
          </a:xfrm>
          <a:prstGeom prst="rect">
            <a:avLst/>
          </a:prstGeom>
          <a:noFill/>
        </p:spPr>
        <p:txBody>
          <a:bodyPr wrap="square" rtlCol="0">
            <a:spAutoFit/>
          </a:bodyPr>
          <a:lstStyle/>
          <a:p>
            <a:pPr algn="ctr"/>
            <a:r>
              <a:rPr lang="en-US" dirty="0">
                <a:latin typeface="Palatino Linotype" panose="02040502050505030304" pitchFamily="18" charset="0"/>
                <a:cs typeface="Times New Roman" panose="02020603050405020304" pitchFamily="18" charset="0"/>
              </a:rPr>
              <a:t>Inlet line</a:t>
            </a:r>
            <a:endParaRPr lang="en-AU" dirty="0">
              <a:latin typeface="Palatino Linotype" panose="0204050205050503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3" name="TextBox 13">
                <a:extLst>
                  <a:ext uri="{FF2B5EF4-FFF2-40B4-BE49-F238E27FC236}">
                    <a16:creationId xmlns:a16="http://schemas.microsoft.com/office/drawing/2014/main" id="{8B297872-6A64-AE06-E76B-16B156BC23DB}"/>
                  </a:ext>
                </a:extLst>
              </p:cNvPr>
              <p:cNvSpPr txBox="1"/>
              <p:nvPr/>
            </p:nvSpPr>
            <p:spPr>
              <a:xfrm>
                <a:off x="10142256" y="1189110"/>
                <a:ext cx="1917845" cy="107721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𝑝</m:t>
                          </m:r>
                        </m:e>
                        <m:sub>
                          <m:r>
                            <a:rPr lang="en-US" sz="1600" b="0" i="1" smtClean="0">
                              <a:latin typeface="Cambria Math" panose="02040503050406030204" pitchFamily="18" charset="0"/>
                              <a:cs typeface="Times New Roman" panose="02020603050405020304" pitchFamily="18" charset="0"/>
                            </a:rPr>
                            <m:t>𝑡</m:t>
                          </m:r>
                        </m:sub>
                      </m:sSub>
                      <m:r>
                        <a:rPr lang="en-US" sz="1600" b="0" i="1" smtClean="0">
                          <a:latin typeface="Cambria Math" panose="02040503050406030204" pitchFamily="18" charset="0"/>
                          <a:cs typeface="Times New Roman" panose="02020603050405020304" pitchFamily="18" charset="0"/>
                        </a:rPr>
                        <m:t>=5 </m:t>
                      </m:r>
                      <m:r>
                        <a:rPr lang="en-US" sz="1600" b="0" i="1" smtClean="0">
                          <a:latin typeface="Cambria Math" panose="02040503050406030204" pitchFamily="18" charset="0"/>
                          <a:cs typeface="Times New Roman" panose="02020603050405020304" pitchFamily="18" charset="0"/>
                        </a:rPr>
                        <m:t>𝑏𝑎𝑟</m:t>
                      </m:r>
                    </m:oMath>
                  </m:oMathPara>
                </a14:m>
                <a:endParaRPr lang="en-US" sz="1600" b="0" i="1" dirty="0">
                  <a:latin typeface="Palatino Linotype" panose="02040502050505030304" pitchFamily="18" charset="0"/>
                  <a:cs typeface="Times New Roman" panose="02020603050405020304" pitchFamily="18" charset="0"/>
                </a:endParaRPr>
              </a:p>
              <a:p>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𝑇</m:t>
                        </m:r>
                      </m:e>
                      <m:sub>
                        <m:r>
                          <a:rPr lang="en-US" sz="1600" b="0" i="1" smtClean="0">
                            <a:latin typeface="Cambria Math" panose="02040503050406030204" pitchFamily="18" charset="0"/>
                            <a:cs typeface="Times New Roman" panose="02020603050405020304" pitchFamily="18" charset="0"/>
                          </a:rPr>
                          <m:t>𝑡</m:t>
                        </m:r>
                      </m:sub>
                    </m:sSub>
                    <m:r>
                      <a:rPr lang="en-US" sz="1600" b="0" i="1" smtClean="0">
                        <a:latin typeface="Cambria Math" panose="02040503050406030204" pitchFamily="18" charset="0"/>
                        <a:cs typeface="Times New Roman" panose="02020603050405020304" pitchFamily="18" charset="0"/>
                      </a:rPr>
                      <m:t>=330 </m:t>
                    </m:r>
                    <m:r>
                      <a:rPr lang="en-US" sz="1600" b="0" i="1" smtClean="0">
                        <a:latin typeface="Cambria Math" panose="02040503050406030204" pitchFamily="18" charset="0"/>
                        <a:cs typeface="Times New Roman" panose="02020603050405020304" pitchFamily="18" charset="0"/>
                      </a:rPr>
                      <m:t>𝐾</m:t>
                    </m:r>
                  </m:oMath>
                </a14:m>
                <a:r>
                  <a:rPr lang="en-US" sz="1600" dirty="0">
                    <a:latin typeface="Palatino Linotype" panose="02040502050505030304" pitchFamily="18" charset="0"/>
                    <a:cs typeface="Times New Roman" panose="02020603050405020304" pitchFamily="18" charset="0"/>
                  </a:rPr>
                  <a:t> </a:t>
                </a:r>
              </a:p>
              <a:p>
                <a:r>
                  <a:rPr lang="en-US" sz="1600" dirty="0">
                    <a:latin typeface="Palatino Linotype" panose="02040502050505030304" pitchFamily="18" charset="0"/>
                    <a:cs typeface="Times New Roman" panose="02020603050405020304" pitchFamily="18" charset="0"/>
                  </a:rPr>
                  <a:t>premixed </a:t>
                </a:r>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cs typeface="Times New Roman" panose="02020603050405020304" pitchFamily="18" charset="0"/>
                          </a:rPr>
                          <m:t>𝐻</m:t>
                        </m:r>
                      </m:e>
                      <m:sub>
                        <m:r>
                          <a:rPr lang="en-US" sz="1600" b="0" i="1" smtClean="0">
                            <a:latin typeface="Cambria Math" panose="02040503050406030204" pitchFamily="18" charset="0"/>
                            <a:cs typeface="Times New Roman" panose="02020603050405020304" pitchFamily="18" charset="0"/>
                          </a:rPr>
                          <m:t>2</m:t>
                        </m:r>
                      </m:sub>
                    </m:sSub>
                    <m:r>
                      <a:rPr lang="en-US" sz="1600" b="0" i="1" smtClean="0">
                        <a:latin typeface="Cambria Math" panose="02040503050406030204" pitchFamily="18" charset="0"/>
                        <a:cs typeface="Times New Roman" panose="02020603050405020304" pitchFamily="18" charset="0"/>
                      </a:rPr>
                      <m:t>/</m:t>
                    </m:r>
                    <m:r>
                      <a:rPr lang="en-US" sz="1600" b="0" i="1" smtClean="0">
                        <a:latin typeface="Cambria Math" panose="02040503050406030204" pitchFamily="18" charset="0"/>
                        <a:cs typeface="Times New Roman" panose="02020603050405020304" pitchFamily="18" charset="0"/>
                      </a:rPr>
                      <m:t>𝑎𝑖𝑟</m:t>
                    </m:r>
                  </m:oMath>
                </a14:m>
                <a:r>
                  <a:rPr lang="en-US" sz="1600" dirty="0">
                    <a:latin typeface="Palatino Linotype" panose="02040502050505030304" pitchFamily="18" charset="0"/>
                    <a:cs typeface="Times New Roman" panose="02020603050405020304" pitchFamily="18" charset="0"/>
                  </a:rPr>
                  <a:t> </a:t>
                </a:r>
              </a:p>
              <a:p>
                <a:pPr/>
                <a14:m>
                  <m:oMathPara xmlns:m="http://schemas.openxmlformats.org/officeDocument/2006/math">
                    <m:oMathParaPr>
                      <m:jc m:val="left"/>
                    </m:oMathParaPr>
                    <m:oMath xmlns:m="http://schemas.openxmlformats.org/officeDocument/2006/math">
                      <m:r>
                        <a:rPr lang="en-US" sz="1600" b="0" i="1" dirty="0" smtClean="0">
                          <a:latin typeface="Cambria Math" panose="02040503050406030204" pitchFamily="18" charset="0"/>
                          <a:cs typeface="Times New Roman" panose="02020603050405020304" pitchFamily="18" charset="0"/>
                        </a:rPr>
                        <m:t>𝜙</m:t>
                      </m:r>
                      <m:r>
                        <a:rPr lang="en-US" sz="1600" b="0" i="1" dirty="0" smtClean="0">
                          <a:latin typeface="Cambria Math" panose="02040503050406030204" pitchFamily="18" charset="0"/>
                          <a:cs typeface="Times New Roman" panose="02020603050405020304" pitchFamily="18" charset="0"/>
                        </a:rPr>
                        <m:t>=1</m:t>
                      </m:r>
                    </m:oMath>
                  </m:oMathPara>
                </a14:m>
                <a:endParaRPr lang="en-US" sz="1600" dirty="0">
                  <a:latin typeface="Palatino Linotype" panose="02040502050505030304" pitchFamily="18" charset="0"/>
                  <a:cs typeface="Times New Roman" panose="02020603050405020304" pitchFamily="18" charset="0"/>
                </a:endParaRPr>
              </a:p>
            </p:txBody>
          </p:sp>
        </mc:Choice>
        <mc:Fallback>
          <p:sp>
            <p:nvSpPr>
              <p:cNvPr id="83" name="TextBox 13">
                <a:extLst>
                  <a:ext uri="{FF2B5EF4-FFF2-40B4-BE49-F238E27FC236}">
                    <a16:creationId xmlns:a16="http://schemas.microsoft.com/office/drawing/2014/main" id="{8B297872-6A64-AE06-E76B-16B156BC23DB}"/>
                  </a:ext>
                </a:extLst>
              </p:cNvPr>
              <p:cNvSpPr txBox="1">
                <a:spLocks noRot="1" noChangeAspect="1" noMove="1" noResize="1" noEditPoints="1" noAdjustHandles="1" noChangeArrowheads="1" noChangeShapeType="1" noTextEdit="1"/>
              </p:cNvSpPr>
              <p:nvPr/>
            </p:nvSpPr>
            <p:spPr>
              <a:xfrm>
                <a:off x="10142256" y="1189110"/>
                <a:ext cx="1917845" cy="1077218"/>
              </a:xfrm>
              <a:prstGeom prst="rect">
                <a:avLst/>
              </a:prstGeom>
              <a:blipFill>
                <a:blip r:embed="rId17"/>
                <a:stretch>
                  <a:fillRect l="-1911" b="-2260"/>
                </a:stretch>
              </a:blipFill>
            </p:spPr>
            <p:txBody>
              <a:bodyPr/>
              <a:lstStyle/>
              <a:p>
                <a:r>
                  <a:rPr lang="it-IT">
                    <a:noFill/>
                  </a:rPr>
                  <a:t> </a:t>
                </a:r>
              </a:p>
            </p:txBody>
          </p:sp>
        </mc:Fallback>
      </mc:AlternateContent>
      <p:cxnSp>
        <p:nvCxnSpPr>
          <p:cNvPr id="85" name="Straight Arrow Connector 15">
            <a:extLst>
              <a:ext uri="{FF2B5EF4-FFF2-40B4-BE49-F238E27FC236}">
                <a16:creationId xmlns:a16="http://schemas.microsoft.com/office/drawing/2014/main" id="{C64E3376-B241-C35C-8F83-359D6F64AF36}"/>
              </a:ext>
            </a:extLst>
          </p:cNvPr>
          <p:cNvCxnSpPr>
            <a:cxnSpLocks/>
          </p:cNvCxnSpPr>
          <p:nvPr/>
        </p:nvCxnSpPr>
        <p:spPr>
          <a:xfrm flipH="1" flipV="1">
            <a:off x="7969250" y="5038272"/>
            <a:ext cx="368300" cy="42145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21">
            <a:extLst>
              <a:ext uri="{FF2B5EF4-FFF2-40B4-BE49-F238E27FC236}">
                <a16:creationId xmlns:a16="http://schemas.microsoft.com/office/drawing/2014/main" id="{F2DFBD9D-EFC9-9D14-6BA2-2CC4301D6A51}"/>
              </a:ext>
            </a:extLst>
          </p:cNvPr>
          <p:cNvCxnSpPr>
            <a:cxnSpLocks/>
          </p:cNvCxnSpPr>
          <p:nvPr/>
        </p:nvCxnSpPr>
        <p:spPr>
          <a:xfrm flipV="1">
            <a:off x="9718023" y="5015230"/>
            <a:ext cx="0" cy="3788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26">
            <a:extLst>
              <a:ext uri="{FF2B5EF4-FFF2-40B4-BE49-F238E27FC236}">
                <a16:creationId xmlns:a16="http://schemas.microsoft.com/office/drawing/2014/main" id="{1887DF9F-C3C4-2E91-4BDA-37315B6B0583}"/>
              </a:ext>
            </a:extLst>
          </p:cNvPr>
          <p:cNvCxnSpPr>
            <a:cxnSpLocks/>
          </p:cNvCxnSpPr>
          <p:nvPr/>
        </p:nvCxnSpPr>
        <p:spPr>
          <a:xfrm flipV="1">
            <a:off x="10748028" y="4993005"/>
            <a:ext cx="0" cy="3844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1618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991D-BFBA-1B7E-21CD-0FAB81A1A964}"/>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B26BFCA3-44FD-7C8C-330C-62289CFBC401}"/>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5D0DC1AA-78E5-A11F-47C2-DB8B5B761A64}"/>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F3911E23-570B-A653-C59D-FD3CAC6B5DD7}"/>
              </a:ext>
            </a:extLst>
          </p:cNvPr>
          <p:cNvSpPr>
            <a:spLocks noGrp="1"/>
          </p:cNvSpPr>
          <p:nvPr>
            <p:ph type="sldNum" sz="quarter" idx="12"/>
          </p:nvPr>
        </p:nvSpPr>
        <p:spPr/>
        <p:txBody>
          <a:bodyPr/>
          <a:lstStyle/>
          <a:p>
            <a:r>
              <a:rPr sz="1400" b="1">
                <a:solidFill>
                  <a:srgbClr val="FFFFFF"/>
                </a:solidFill>
                <a:latin typeface="Palatino Linotype"/>
              </a:rPr>
              <a:t>15/29</a:t>
            </a:r>
            <a:endParaRPr lang="en-US" dirty="0"/>
          </a:p>
        </p:txBody>
      </p:sp>
      <p:sp>
        <p:nvSpPr>
          <p:cNvPr id="6" name="Titolo 1">
            <a:extLst>
              <a:ext uri="{FF2B5EF4-FFF2-40B4-BE49-F238E27FC236}">
                <a16:creationId xmlns:a16="http://schemas.microsoft.com/office/drawing/2014/main" id="{105F0598-21F2-8FF0-E031-FB5B7BBC1EAD}"/>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Characterization of Refill Region Dynamics </a:t>
            </a:r>
          </a:p>
        </p:txBody>
      </p:sp>
      <p:pic>
        <p:nvPicPr>
          <p:cNvPr id="8" name="Immagine 7">
            <a:extLst>
              <a:ext uri="{FF2B5EF4-FFF2-40B4-BE49-F238E27FC236}">
                <a16:creationId xmlns:a16="http://schemas.microsoft.com/office/drawing/2014/main" id="{AD899B92-8E22-2567-932A-960A313354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7680" y="1477816"/>
            <a:ext cx="9866920" cy="3902367"/>
          </a:xfrm>
          <a:prstGeom prst="rect">
            <a:avLst/>
          </a:prstGeom>
        </p:spPr>
      </p:pic>
    </p:spTree>
    <p:extLst>
      <p:ext uri="{BB962C8B-B14F-4D97-AF65-F5344CB8AC3E}">
        <p14:creationId xmlns:p14="http://schemas.microsoft.com/office/powerpoint/2010/main" val="2227269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ED2EF-E6B7-0228-6D8C-48CD167F352C}"/>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60103F3F-AB62-F227-0F46-FBF3F127D030}"/>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711E705C-6C86-F79E-61B4-01ABED669078}"/>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36B9938B-2153-D40D-4B7F-6EEE7A7896F1}"/>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910D7DAE-DC70-FD26-C14F-0E484050573D}"/>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EF07E98F-5B56-9412-1FC6-44A8E048C3F7}"/>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BF07147B-7141-76F4-01E2-3DDF672C26B4}"/>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14</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84EF43DD-B1A4-0434-6836-5211DB5B69AE}"/>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96D9B8AA-CC2C-801B-439B-FD3F65AAA698}"/>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17DCB42A-FF83-5E17-6D61-69C0E242384D}"/>
              </a:ext>
            </a:extLst>
          </p:cNvPr>
          <p:cNvSpPr>
            <a:spLocks noGrp="1"/>
          </p:cNvSpPr>
          <p:nvPr>
            <p:ph type="sldNum" sz="quarter" idx="12"/>
          </p:nvPr>
        </p:nvSpPr>
        <p:spPr/>
        <p:txBody>
          <a:bodyPr/>
          <a:lstStyle/>
          <a:p>
            <a:r>
              <a:rPr sz="1400" b="1">
                <a:solidFill>
                  <a:srgbClr val="FFFFFF"/>
                </a:solidFill>
                <a:latin typeface="Palatino Linotype"/>
              </a:rPr>
              <a:t>16/29</a:t>
            </a:r>
            <a:endParaRPr lang="en-US" dirty="0"/>
          </a:p>
        </p:txBody>
      </p:sp>
      <p:sp>
        <p:nvSpPr>
          <p:cNvPr id="6" name="Titolo 1">
            <a:extLst>
              <a:ext uri="{FF2B5EF4-FFF2-40B4-BE49-F238E27FC236}">
                <a16:creationId xmlns:a16="http://schemas.microsoft.com/office/drawing/2014/main" id="{B051104E-8479-844D-57D9-8C8AF754C176}"/>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Supersonic Bladeless Turbines (with NCSU)</a:t>
            </a:r>
          </a:p>
        </p:txBody>
      </p:sp>
      <p:sp>
        <p:nvSpPr>
          <p:cNvPr id="14" name="TextBox 10">
            <a:extLst>
              <a:ext uri="{FF2B5EF4-FFF2-40B4-BE49-F238E27FC236}">
                <a16:creationId xmlns:a16="http://schemas.microsoft.com/office/drawing/2014/main" id="{239A058D-E51E-3C0B-193A-5E7C8D09F064}"/>
              </a:ext>
            </a:extLst>
          </p:cNvPr>
          <p:cNvSpPr txBox="1"/>
          <p:nvPr/>
        </p:nvSpPr>
        <p:spPr>
          <a:xfrm>
            <a:off x="613541" y="1043731"/>
            <a:ext cx="11153009" cy="1908215"/>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CFD based design of NCSU supersonic wind tunnel</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Capability up to Mach 4 for steady non-reactive flow</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Swappable nozzle and second-throat diffuser system allowing for low feed pressure</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Numerical analysis of phenomenology and working principle of bladeless turbines</a:t>
            </a:r>
          </a:p>
          <a:p>
            <a:endParaRPr lang="en-US" dirty="0">
              <a:latin typeface="Palatino Linotype" panose="02040502050505030304" pitchFamily="18" charset="0"/>
              <a:cs typeface="Times New Roman" panose="02020603050405020304" pitchFamily="18" charset="0"/>
            </a:endParaRPr>
          </a:p>
          <a:p>
            <a:endParaRPr lang="en-AU" sz="2800" dirty="0">
              <a:latin typeface="Times New Roman" panose="02020603050405020304" pitchFamily="18" charset="0"/>
              <a:cs typeface="Times New Roman" panose="02020603050405020304" pitchFamily="18" charset="0"/>
            </a:endParaRPr>
          </a:p>
        </p:txBody>
      </p:sp>
      <p:pic>
        <p:nvPicPr>
          <p:cNvPr id="17" name="Immagine 16">
            <a:extLst>
              <a:ext uri="{FF2B5EF4-FFF2-40B4-BE49-F238E27FC236}">
                <a16:creationId xmlns:a16="http://schemas.microsoft.com/office/drawing/2014/main" id="{FD54FEF3-FC50-0945-3D8A-83440B8028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3474" y="2380786"/>
            <a:ext cx="3944208" cy="3505415"/>
          </a:xfrm>
          <a:prstGeom prst="rect">
            <a:avLst/>
          </a:prstGeom>
        </p:spPr>
      </p:pic>
      <p:pic>
        <p:nvPicPr>
          <p:cNvPr id="19" name="Immagine 18">
            <a:extLst>
              <a:ext uri="{FF2B5EF4-FFF2-40B4-BE49-F238E27FC236}">
                <a16:creationId xmlns:a16="http://schemas.microsoft.com/office/drawing/2014/main" id="{FC6C3B93-83ED-D25F-7BDE-82216114FE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21842" y="2380787"/>
            <a:ext cx="3757952" cy="3433482"/>
          </a:xfrm>
          <a:prstGeom prst="rect">
            <a:avLst/>
          </a:prstGeom>
        </p:spPr>
      </p:pic>
    </p:spTree>
    <p:extLst>
      <p:ext uri="{BB962C8B-B14F-4D97-AF65-F5344CB8AC3E}">
        <p14:creationId xmlns:p14="http://schemas.microsoft.com/office/powerpoint/2010/main" val="2858878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E1524-2D1B-8268-3523-5B65ADA2C11D}"/>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448F0FCE-1571-C0A3-68D2-32858A5A3422}"/>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16AC8C9A-305D-1CA6-0CAD-4E9E45E0D308}"/>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BE32319D-893E-A84B-43C7-9E691D8145EC}"/>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40C1FC15-C808-1783-C9CC-7965F77DD178}"/>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2B6D5FE9-0074-3A5F-CD41-5444D712EA9D}"/>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B47D1FD5-EF73-7659-F344-426EDF2CEDE9}"/>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15</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A048E8C6-9B8C-B56A-90CC-BB544D05FAD9}"/>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106E803D-56B4-FAD5-D7BE-9E14D8DE6461}"/>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p>
        </p:txBody>
      </p:sp>
      <p:sp>
        <p:nvSpPr>
          <p:cNvPr id="28" name="Segnaposto numero diapositiva 27">
            <a:extLst>
              <a:ext uri="{FF2B5EF4-FFF2-40B4-BE49-F238E27FC236}">
                <a16:creationId xmlns:a16="http://schemas.microsoft.com/office/drawing/2014/main" id="{0F03257E-211D-E30E-4642-415AF8BDAE94}"/>
              </a:ext>
            </a:extLst>
          </p:cNvPr>
          <p:cNvSpPr>
            <a:spLocks noGrp="1"/>
          </p:cNvSpPr>
          <p:nvPr>
            <p:ph type="sldNum" sz="quarter" idx="12"/>
          </p:nvPr>
        </p:nvSpPr>
        <p:spPr/>
        <p:txBody>
          <a:bodyPr/>
          <a:lstStyle/>
          <a:p>
            <a:r>
              <a:rPr sz="1400" b="1">
                <a:solidFill>
                  <a:srgbClr val="FFFFFF"/>
                </a:solidFill>
                <a:latin typeface="Palatino Linotype"/>
              </a:rPr>
              <a:t>17/29</a:t>
            </a:r>
            <a:endParaRPr lang="en-US" dirty="0"/>
          </a:p>
        </p:txBody>
      </p:sp>
      <p:sp>
        <p:nvSpPr>
          <p:cNvPr id="6" name="Titolo 1">
            <a:extLst>
              <a:ext uri="{FF2B5EF4-FFF2-40B4-BE49-F238E27FC236}">
                <a16:creationId xmlns:a16="http://schemas.microsoft.com/office/drawing/2014/main" id="{F5E1E203-4C24-1972-E4F1-66AD5BBA8722}"/>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Supersonic Bladeless Turbines (with NCSU)</a:t>
            </a:r>
          </a:p>
        </p:txBody>
      </p:sp>
      <p:sp>
        <p:nvSpPr>
          <p:cNvPr id="14" name="TextBox 10">
            <a:extLst>
              <a:ext uri="{FF2B5EF4-FFF2-40B4-BE49-F238E27FC236}">
                <a16:creationId xmlns:a16="http://schemas.microsoft.com/office/drawing/2014/main" id="{80538004-384C-9E18-6E72-DA1A36ECD4D3}"/>
              </a:ext>
            </a:extLst>
          </p:cNvPr>
          <p:cNvSpPr txBox="1"/>
          <p:nvPr/>
        </p:nvSpPr>
        <p:spPr>
          <a:xfrm>
            <a:off x="613541" y="1043731"/>
            <a:ext cx="11153009" cy="1908215"/>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CFD based design of NCSU supersonic wind tunnel</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Capability up to Mach 4 for steady non-reactive flow</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Swappable nozzle and second-throat diffuser system allowing for low feed pressure</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Numerical analysis of phenomenology and working principle of bladeless turbines</a:t>
            </a:r>
          </a:p>
          <a:p>
            <a:endParaRPr lang="en-US" dirty="0">
              <a:latin typeface="Palatino Linotype" panose="02040502050505030304" pitchFamily="18" charset="0"/>
              <a:cs typeface="Times New Roman" panose="02020603050405020304" pitchFamily="18" charset="0"/>
            </a:endParaRPr>
          </a:p>
          <a:p>
            <a:endParaRPr lang="en-AU" sz="2800" dirty="0">
              <a:latin typeface="Times New Roman" panose="02020603050405020304" pitchFamily="18" charset="0"/>
              <a:cs typeface="Times New Roman" panose="02020603050405020304" pitchFamily="18" charset="0"/>
            </a:endParaRPr>
          </a:p>
        </p:txBody>
      </p:sp>
      <p:pic>
        <p:nvPicPr>
          <p:cNvPr id="9" name="Immagine 8">
            <a:extLst>
              <a:ext uri="{FF2B5EF4-FFF2-40B4-BE49-F238E27FC236}">
                <a16:creationId xmlns:a16="http://schemas.microsoft.com/office/drawing/2014/main" id="{41D71250-E442-76D9-3FAB-F66414C024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6016" y="2525607"/>
            <a:ext cx="7055103" cy="3509179"/>
          </a:xfrm>
          <a:prstGeom prst="rect">
            <a:avLst/>
          </a:prstGeom>
        </p:spPr>
      </p:pic>
      <p:pic>
        <p:nvPicPr>
          <p:cNvPr id="13" name="Immagine 12">
            <a:extLst>
              <a:ext uri="{FF2B5EF4-FFF2-40B4-BE49-F238E27FC236}">
                <a16:creationId xmlns:a16="http://schemas.microsoft.com/office/drawing/2014/main" id="{9FD2EFCA-8566-DF98-8C00-812A90E5ED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996" y="3020209"/>
            <a:ext cx="5247710" cy="2301121"/>
          </a:xfrm>
          <a:prstGeom prst="rect">
            <a:avLst/>
          </a:prstGeom>
        </p:spPr>
      </p:pic>
      <p:sp>
        <p:nvSpPr>
          <p:cNvPr id="16" name="CasellaDiTesto 15">
            <a:extLst>
              <a:ext uri="{FF2B5EF4-FFF2-40B4-BE49-F238E27FC236}">
                <a16:creationId xmlns:a16="http://schemas.microsoft.com/office/drawing/2014/main" id="{14D693E6-E28C-8F7A-CAB3-7AD5113D58A0}"/>
              </a:ext>
            </a:extLst>
          </p:cNvPr>
          <p:cNvSpPr txBox="1"/>
          <p:nvPr/>
        </p:nvSpPr>
        <p:spPr>
          <a:xfrm>
            <a:off x="1313474" y="3168974"/>
            <a:ext cx="3403600" cy="279400"/>
          </a:xfrm>
          <a:prstGeom prst="rect">
            <a:avLst/>
          </a:prstGeom>
          <a:noFill/>
        </p:spPr>
        <p:txBody>
          <a:bodyPr vertOverflow="overflow" vert="horz" wrap="none" rtlCol="0" anchor="t">
            <a:noAutofit/>
          </a:bodyPr>
          <a:lstStyle/>
          <a:p>
            <a:pPr algn="l"/>
            <a:r>
              <a:rPr lang="it-IT" sz="1400" b="1" dirty="0">
                <a:solidFill>
                  <a:srgbClr val="822433"/>
                </a:solidFill>
                <a:latin typeface="Palatino Linotype"/>
              </a:rPr>
              <a:t>p</a:t>
            </a:r>
            <a:r>
              <a:rPr lang="it-IT" sz="1400" b="1" baseline="-25000" dirty="0">
                <a:solidFill>
                  <a:srgbClr val="822433"/>
                </a:solidFill>
                <a:latin typeface="Palatino Linotype"/>
              </a:rPr>
              <a:t>0</a:t>
            </a:r>
            <a:r>
              <a:rPr lang="it-IT" sz="1400" b="1" dirty="0">
                <a:solidFill>
                  <a:srgbClr val="822433"/>
                </a:solidFill>
                <a:latin typeface="Palatino Linotype"/>
              </a:rPr>
              <a:t> = 3 bar</a:t>
            </a:r>
          </a:p>
        </p:txBody>
      </p:sp>
      <p:sp>
        <p:nvSpPr>
          <p:cNvPr id="18" name="CasellaDiTesto 17">
            <a:extLst>
              <a:ext uri="{FF2B5EF4-FFF2-40B4-BE49-F238E27FC236}">
                <a16:creationId xmlns:a16="http://schemas.microsoft.com/office/drawing/2014/main" id="{ECEFF58A-77A4-FFBF-97EA-8F8CF4246EC5}"/>
              </a:ext>
            </a:extLst>
          </p:cNvPr>
          <p:cNvSpPr txBox="1"/>
          <p:nvPr/>
        </p:nvSpPr>
        <p:spPr>
          <a:xfrm>
            <a:off x="1313474" y="4520254"/>
            <a:ext cx="3403600" cy="279400"/>
          </a:xfrm>
          <a:prstGeom prst="rect">
            <a:avLst/>
          </a:prstGeom>
          <a:noFill/>
        </p:spPr>
        <p:txBody>
          <a:bodyPr vertOverflow="overflow" vert="horz" wrap="none" rtlCol="0" anchor="t">
            <a:noAutofit/>
          </a:bodyPr>
          <a:lstStyle/>
          <a:p>
            <a:pPr algn="l"/>
            <a:r>
              <a:rPr lang="it-IT" sz="1400" b="1" dirty="0">
                <a:solidFill>
                  <a:srgbClr val="822433"/>
                </a:solidFill>
                <a:latin typeface="Palatino Linotype"/>
              </a:rPr>
              <a:t>p</a:t>
            </a:r>
            <a:r>
              <a:rPr lang="it-IT" sz="1400" b="1" baseline="-25000" dirty="0">
                <a:solidFill>
                  <a:srgbClr val="822433"/>
                </a:solidFill>
                <a:latin typeface="Palatino Linotype"/>
              </a:rPr>
              <a:t>0</a:t>
            </a:r>
            <a:r>
              <a:rPr lang="it-IT" sz="1400" b="1" dirty="0">
                <a:solidFill>
                  <a:srgbClr val="822433"/>
                </a:solidFill>
                <a:latin typeface="Palatino Linotype"/>
              </a:rPr>
              <a:t> = 4 bar</a:t>
            </a:r>
          </a:p>
        </p:txBody>
      </p:sp>
    </p:spTree>
    <p:extLst>
      <p:ext uri="{BB962C8B-B14F-4D97-AF65-F5344CB8AC3E}">
        <p14:creationId xmlns:p14="http://schemas.microsoft.com/office/powerpoint/2010/main" val="96700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1BBC-D24F-F29B-E30B-AA23C1183FA7}"/>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09E0AABF-D50A-A1DE-1DB6-B6F9C10D41B7}"/>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9CC74D8-764A-F9A1-1478-1A472A5B31B2}"/>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CC4F1D95-9893-62F2-8870-B7B96403D812}"/>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29413F1F-C85A-F5A0-BE79-F1B2247990E7}"/>
                  </a:ext>
                </a:extLst>
              </p:cNvPr>
              <p:cNvPicPr>
                <a:picLocks noChangeAspect="1" noChangeArrowheads="1"/>
              </p:cNvPicPr>
              <p:nvPr/>
            </p:nvPicPr>
            <p:blipFill rotWithShape="1">
              <a:blip r:embed="rId5"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05C805E2-0CDB-C224-345B-06BACA704E6B}"/>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0509004E-4AAB-1E6A-9CF7-851CFCCEEB16}"/>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16</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271420ED-3C16-2C39-CFE5-4388EE59E6A5}"/>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7F9DC0C5-9661-4678-1932-AA99A171B5B7}"/>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77961197-E4C1-4B81-7BEF-B81D6EA04F9E}"/>
              </a:ext>
            </a:extLst>
          </p:cNvPr>
          <p:cNvSpPr>
            <a:spLocks noGrp="1"/>
          </p:cNvSpPr>
          <p:nvPr>
            <p:ph type="sldNum" sz="quarter" idx="12"/>
          </p:nvPr>
        </p:nvSpPr>
        <p:spPr/>
        <p:txBody>
          <a:bodyPr/>
          <a:lstStyle/>
          <a:p>
            <a:r>
              <a:rPr sz="1400" b="1">
                <a:solidFill>
                  <a:srgbClr val="FFFFFF"/>
                </a:solidFill>
                <a:latin typeface="Palatino Linotype"/>
              </a:rPr>
              <a:t>18/29</a:t>
            </a:r>
            <a:endParaRPr lang="en-US" dirty="0"/>
          </a:p>
        </p:txBody>
      </p:sp>
      <p:sp>
        <p:nvSpPr>
          <p:cNvPr id="6" name="Titolo 1">
            <a:extLst>
              <a:ext uri="{FF2B5EF4-FFF2-40B4-BE49-F238E27FC236}">
                <a16:creationId xmlns:a16="http://schemas.microsoft.com/office/drawing/2014/main" id="{BE7BC851-B723-1460-C274-03ED1A14BA6B}"/>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Supersonic Bladeless Turbines (with NCSU)</a:t>
            </a:r>
          </a:p>
        </p:txBody>
      </p:sp>
      <p:sp>
        <p:nvSpPr>
          <p:cNvPr id="14" name="TextBox 10">
            <a:extLst>
              <a:ext uri="{FF2B5EF4-FFF2-40B4-BE49-F238E27FC236}">
                <a16:creationId xmlns:a16="http://schemas.microsoft.com/office/drawing/2014/main" id="{9F3C6F58-4C5E-66FD-EEBF-AE218B5618F0}"/>
              </a:ext>
            </a:extLst>
          </p:cNvPr>
          <p:cNvSpPr txBox="1"/>
          <p:nvPr/>
        </p:nvSpPr>
        <p:spPr>
          <a:xfrm>
            <a:off x="613541" y="1043731"/>
            <a:ext cx="11153009" cy="1354217"/>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Ongoing</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Bladeless turbine shape optimization</a:t>
            </a:r>
          </a:p>
          <a:p>
            <a:pPr marL="342900" indent="-342900" algn="just">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CFD analysis and design of ejector-diffuser system for RDE testing</a:t>
            </a:r>
          </a:p>
          <a:p>
            <a:endParaRPr lang="en-AU" sz="2800" dirty="0">
              <a:latin typeface="Times New Roman" panose="02020603050405020304" pitchFamily="18" charset="0"/>
              <a:cs typeface="Times New Roman" panose="02020603050405020304" pitchFamily="18" charset="0"/>
            </a:endParaRPr>
          </a:p>
        </p:txBody>
      </p:sp>
      <p:pic>
        <p:nvPicPr>
          <p:cNvPr id="23" name="WhatsApp Video 2026-05-05 at 21.40.14">
            <a:hlinkClick r:id="" action="ppaction://media"/>
            <a:extLst>
              <a:ext uri="{FF2B5EF4-FFF2-40B4-BE49-F238E27FC236}">
                <a16:creationId xmlns:a16="http://schemas.microsoft.com/office/drawing/2014/main" id="{D6D8CDE3-568D-6B42-2097-AB8E47A22FB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718203" y="2689228"/>
            <a:ext cx="5384800" cy="3035300"/>
          </a:xfrm>
          <a:prstGeom prst="rect">
            <a:avLst/>
          </a:prstGeom>
        </p:spPr>
      </p:pic>
      <p:pic>
        <p:nvPicPr>
          <p:cNvPr id="25" name="Immagine 24">
            <a:extLst>
              <a:ext uri="{FF2B5EF4-FFF2-40B4-BE49-F238E27FC236}">
                <a16:creationId xmlns:a16="http://schemas.microsoft.com/office/drawing/2014/main" id="{02C00D70-3A6C-A16B-4996-85B55D65AC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996" y="2782120"/>
            <a:ext cx="6532880" cy="2771390"/>
          </a:xfrm>
          <a:prstGeom prst="rect">
            <a:avLst/>
          </a:prstGeom>
        </p:spPr>
      </p:pic>
    </p:spTree>
    <p:extLst>
      <p:ext uri="{BB962C8B-B14F-4D97-AF65-F5344CB8AC3E}">
        <p14:creationId xmlns:p14="http://schemas.microsoft.com/office/powerpoint/2010/main" val="282941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6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3"/>
                </p:tgtEl>
              </p:cMediaNode>
            </p:vide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6B5C-5C35-19F0-5010-64D8833EBA50}"/>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85F7E0B3-240E-70C9-A452-F7B1B431D66B}"/>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800FFA65-967D-CEA5-ECD6-3F612F1D41D9}"/>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2875220D-BE71-8464-27C8-461396277A0F}"/>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2B203C35-94DF-26A6-A898-FC0F41794CF3}"/>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B0F324A9-A253-5F15-36C2-7BAB1AACA3C1}"/>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E0056019-45AD-4420-35F8-F7F9DA1CB5F6}"/>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17</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43C8C632-33FB-8FF8-EC6F-41F8E9BB25C5}"/>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30AD5073-A893-5396-9B26-1B176E362FDA}"/>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26CE188F-DDE3-72F0-41E4-C0AEB18BA4E3}"/>
              </a:ext>
            </a:extLst>
          </p:cNvPr>
          <p:cNvSpPr>
            <a:spLocks noGrp="1"/>
          </p:cNvSpPr>
          <p:nvPr>
            <p:ph type="sldNum" sz="quarter" idx="12"/>
          </p:nvPr>
        </p:nvSpPr>
        <p:spPr/>
        <p:txBody>
          <a:bodyPr/>
          <a:lstStyle/>
          <a:p>
            <a:r>
              <a:rPr sz="1400" b="1">
                <a:solidFill>
                  <a:srgbClr val="FFFFFF"/>
                </a:solidFill>
                <a:latin typeface="Palatino Linotype"/>
              </a:rPr>
              <a:t>19/29</a:t>
            </a:r>
            <a:endParaRPr lang="en-US" dirty="0"/>
          </a:p>
        </p:txBody>
      </p:sp>
      <p:sp>
        <p:nvSpPr>
          <p:cNvPr id="6" name="Titolo 1">
            <a:extLst>
              <a:ext uri="{FF2B5EF4-FFF2-40B4-BE49-F238E27FC236}">
                <a16:creationId xmlns:a16="http://schemas.microsoft.com/office/drawing/2014/main" id="{B26746E7-B213-E37F-E86D-02AC8C7EBF4F}"/>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Disk RDEs (with RMIT and ISAE-ENSMA)</a:t>
            </a:r>
          </a:p>
        </p:txBody>
      </p:sp>
      <p:sp>
        <p:nvSpPr>
          <p:cNvPr id="2" name="TextBox 10">
            <a:extLst>
              <a:ext uri="{FF2B5EF4-FFF2-40B4-BE49-F238E27FC236}">
                <a16:creationId xmlns:a16="http://schemas.microsoft.com/office/drawing/2014/main" id="{133FE453-ACDA-4C31-0088-3F768EF33C15}"/>
              </a:ext>
            </a:extLst>
          </p:cNvPr>
          <p:cNvSpPr txBox="1"/>
          <p:nvPr/>
        </p:nvSpPr>
        <p:spPr>
          <a:xfrm>
            <a:off x="613541" y="1043731"/>
            <a:ext cx="11153009" cy="1354217"/>
          </a:xfrm>
          <a:prstGeom prst="rect">
            <a:avLst/>
          </a:prstGeom>
          <a:noFill/>
        </p:spPr>
        <p:txBody>
          <a:bodyPr wrap="square" rtlCol="0">
            <a:spAutoFit/>
          </a:bodyPr>
          <a:lstStyle/>
          <a:p>
            <a:r>
              <a:rPr lang="en-US" b="1" dirty="0">
                <a:latin typeface="Palatino Linotype" panose="02040502050505030304" pitchFamily="18" charset="0"/>
                <a:cs typeface="Times New Roman" panose="02020603050405020304" pitchFamily="18" charset="0"/>
              </a:rPr>
              <a:t>Collaboration with PPRIME lab </a:t>
            </a:r>
          </a:p>
          <a:p>
            <a:pPr marL="342900" indent="-342900">
              <a:buFont typeface="Arial" panose="020B0604020202020204" pitchFamily="34" charset="0"/>
              <a:buChar char="•"/>
            </a:pPr>
            <a:r>
              <a:rPr lang="en-US" dirty="0">
                <a:latin typeface="Palatino Linotype" panose="02040502050505030304" pitchFamily="18" charset="0"/>
                <a:cs typeface="Times New Roman" panose="02020603050405020304" pitchFamily="18" charset="0"/>
              </a:rPr>
              <a:t>CFD lead on design and analysis of disk RDEs operating with H2/Air</a:t>
            </a:r>
          </a:p>
          <a:p>
            <a:r>
              <a:rPr lang="en-US" b="1" dirty="0">
                <a:latin typeface="Palatino Linotype" panose="02040502050505030304" pitchFamily="18" charset="0"/>
                <a:cs typeface="Times New Roman" panose="02020603050405020304" pitchFamily="18" charset="0"/>
              </a:rPr>
              <a:t> </a:t>
            </a:r>
            <a:endParaRPr lang="en-US" dirty="0">
              <a:latin typeface="Palatino Linotype" panose="02040502050505030304" pitchFamily="18" charset="0"/>
              <a:cs typeface="Times New Roman" panose="02020603050405020304" pitchFamily="18" charset="0"/>
            </a:endParaRPr>
          </a:p>
          <a:p>
            <a:endParaRPr lang="en-AU" sz="2800" dirty="0">
              <a:latin typeface="Times New Roman" panose="02020603050405020304" pitchFamily="18" charset="0"/>
              <a:cs typeface="Times New Roman" panose="02020603050405020304" pitchFamily="18" charset="0"/>
            </a:endParaRPr>
          </a:p>
        </p:txBody>
      </p:sp>
      <p:pic>
        <p:nvPicPr>
          <p:cNvPr id="5" name="Immagine 4">
            <a:extLst>
              <a:ext uri="{FF2B5EF4-FFF2-40B4-BE49-F238E27FC236}">
                <a16:creationId xmlns:a16="http://schemas.microsoft.com/office/drawing/2014/main" id="{0C2358F2-D3B4-A9FD-2F19-184835C9CA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6371" y="2349013"/>
            <a:ext cx="3678229" cy="3269946"/>
          </a:xfrm>
          <a:prstGeom prst="rect">
            <a:avLst/>
          </a:prstGeom>
        </p:spPr>
      </p:pic>
      <p:pic>
        <p:nvPicPr>
          <p:cNvPr id="9" name="Immagine 8">
            <a:extLst>
              <a:ext uri="{FF2B5EF4-FFF2-40B4-BE49-F238E27FC236}">
                <a16:creationId xmlns:a16="http://schemas.microsoft.com/office/drawing/2014/main" id="{490502E4-7595-9455-B0FC-6B19F65949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541" y="2063746"/>
            <a:ext cx="4320000" cy="3840480"/>
          </a:xfrm>
          <a:prstGeom prst="rect">
            <a:avLst/>
          </a:prstGeom>
        </p:spPr>
      </p:pic>
      <p:sp>
        <p:nvSpPr>
          <p:cNvPr id="14" name="CasellaDiTesto 13">
            <a:extLst>
              <a:ext uri="{FF2B5EF4-FFF2-40B4-BE49-F238E27FC236}">
                <a16:creationId xmlns:a16="http://schemas.microsoft.com/office/drawing/2014/main" id="{18EA1DD2-55BB-0333-1788-83E7CBEF1B4F}"/>
              </a:ext>
            </a:extLst>
          </p:cNvPr>
          <p:cNvSpPr txBox="1"/>
          <p:nvPr/>
        </p:nvSpPr>
        <p:spPr>
          <a:xfrm>
            <a:off x="1534160" y="5618959"/>
            <a:ext cx="4064000" cy="279400"/>
          </a:xfrm>
          <a:prstGeom prst="rect">
            <a:avLst/>
          </a:prstGeom>
          <a:noFill/>
        </p:spPr>
        <p:txBody>
          <a:bodyPr vertOverflow="overflow" vert="horz" wrap="none" rtlCol="0" anchor="t">
            <a:noAutofit/>
          </a:bodyPr>
          <a:lstStyle/>
          <a:p>
            <a:pPr algn="l"/>
            <a:r>
              <a:rPr lang="it-IT" b="1" dirty="0">
                <a:latin typeface="Palatino Linotype"/>
              </a:rPr>
              <a:t>3D URANS (or Euler)</a:t>
            </a:r>
          </a:p>
        </p:txBody>
      </p:sp>
      <p:sp>
        <p:nvSpPr>
          <p:cNvPr id="17" name="CasellaDiTesto 16">
            <a:extLst>
              <a:ext uri="{FF2B5EF4-FFF2-40B4-BE49-F238E27FC236}">
                <a16:creationId xmlns:a16="http://schemas.microsoft.com/office/drawing/2014/main" id="{8238E467-20F8-5806-E9ED-2DB2E7477B61}"/>
              </a:ext>
            </a:extLst>
          </p:cNvPr>
          <p:cNvSpPr txBox="1"/>
          <p:nvPr/>
        </p:nvSpPr>
        <p:spPr>
          <a:xfrm>
            <a:off x="8127999" y="5618959"/>
            <a:ext cx="4064000" cy="279400"/>
          </a:xfrm>
          <a:prstGeom prst="rect">
            <a:avLst/>
          </a:prstGeom>
          <a:noFill/>
        </p:spPr>
        <p:txBody>
          <a:bodyPr vertOverflow="overflow" vert="horz" wrap="none" rtlCol="0" anchor="t">
            <a:noAutofit/>
          </a:bodyPr>
          <a:lstStyle/>
          <a:p>
            <a:pPr algn="l"/>
            <a:r>
              <a:rPr lang="it-IT" b="1" dirty="0">
                <a:latin typeface="Palatino Linotype"/>
              </a:rPr>
              <a:t>Q2D URANS (or Euler)</a:t>
            </a:r>
          </a:p>
        </p:txBody>
      </p:sp>
    </p:spTree>
    <p:extLst>
      <p:ext uri="{BB962C8B-B14F-4D97-AF65-F5344CB8AC3E}">
        <p14:creationId xmlns:p14="http://schemas.microsoft.com/office/powerpoint/2010/main" val="3613463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29E86-6D23-0163-E4E3-788CF108F631}"/>
            </a:ext>
          </a:extLst>
        </p:cNvPr>
        <p:cNvGrpSpPr/>
        <p:nvPr/>
      </p:nvGrpSpPr>
      <p:grpSpPr>
        <a:xfrm>
          <a:off x="0" y="0"/>
          <a:ext cx="0" cy="0"/>
          <a:chOff x="0" y="0"/>
          <a:chExt cx="0" cy="0"/>
        </a:xfrm>
      </p:grpSpPr>
      <p:grpSp>
        <p:nvGrpSpPr>
          <p:cNvPr id="7" name="Gruppo 6">
            <a:extLst>
              <a:ext uri="{FF2B5EF4-FFF2-40B4-BE49-F238E27FC236}">
                <a16:creationId xmlns:a16="http://schemas.microsoft.com/office/drawing/2014/main" id="{DA7545C4-A2C2-3E77-A18E-EB20C36C4C5A}"/>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B632468B-9BE7-344B-CFA8-EA8A6013C85E}"/>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DA0B6767-EFF6-5C69-9DFC-A1F8F1603AA7}"/>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853C52A7-1796-3D59-0FC6-7FCE19B90138}"/>
                  </a:ext>
                </a:extLst>
              </p:cNvPr>
              <p:cNvPicPr>
                <a:picLocks noChangeAspect="1" noChangeArrowheads="1"/>
              </p:cNvPicPr>
              <p:nvPr/>
            </p:nvPicPr>
            <p:blipFill rotWithShape="1">
              <a:blip r:embed="rId3"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1AE195C2-B70E-1DD0-7AC3-936B3E5C3C17}"/>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C28A8D9-A134-4C63-E62E-3DC4AE222245}"/>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18</a:t>
              </a:fld>
              <a:r>
                <a:rPr lang="it-IT" altLang="en-US" sz="1400" b="1" dirty="0">
                  <a:solidFill>
                    <a:schemeClr val="bg1"/>
                  </a:solidFill>
                  <a:latin typeface="Palatino"/>
                </a:rPr>
                <a:t>/29</a:t>
              </a:r>
            </a:p>
          </p:txBody>
        </p:sp>
      </p:grpSp>
      <p:sp>
        <p:nvSpPr>
          <p:cNvPr id="26" name="Segnaposto data 25">
            <a:extLst>
              <a:ext uri="{FF2B5EF4-FFF2-40B4-BE49-F238E27FC236}">
                <a16:creationId xmlns:a16="http://schemas.microsoft.com/office/drawing/2014/main" id="{530F0635-634A-549D-88F9-B88FE75D5A99}"/>
              </a:ext>
            </a:extLst>
          </p:cNvPr>
          <p:cNvSpPr>
            <a:spLocks noGrp="1"/>
          </p:cNvSpPr>
          <p:nvPr>
            <p:ph type="dt" sz="half" idx="10"/>
          </p:nvPr>
        </p:nvSpPr>
        <p:spPr>
          <a:xfrm>
            <a:off x="8284464" y="6135624"/>
            <a:ext cx="2011680" cy="740664"/>
          </a:xfrm>
        </p:spPr>
        <p:txBody>
          <a:bodyPr anchor="ctr" lIns="0" rIns="0" tIns="0" bIns="0"/>
          <a:lstStyle/>
          <a:p>
            <a:pPr algn="ctr"/>
            <a:r>
              <a:rPr sz="1400" b="1">
                <a:solidFill>
                  <a:srgbClr val="FFFFFF"/>
                </a:solidFill>
                <a:latin typeface="Palatino Linotype"/>
              </a:rPr>
              <a:t>T(H)RUST team</a:t>
            </a:r>
            <a:endParaRPr lang="en-US" dirty="0"/>
          </a:p>
        </p:txBody>
      </p:sp>
      <p:sp>
        <p:nvSpPr>
          <p:cNvPr id="27" name="Segnaposto piè di pagina 26">
            <a:extLst>
              <a:ext uri="{FF2B5EF4-FFF2-40B4-BE49-F238E27FC236}">
                <a16:creationId xmlns:a16="http://schemas.microsoft.com/office/drawing/2014/main" id="{1D5C33F8-B0FE-258E-7797-596FDDA87E81}"/>
              </a:ext>
            </a:extLst>
          </p:cNvPr>
          <p:cNvSpPr>
            <a:spLocks noGrp="1"/>
          </p:cNvSpPr>
          <p:nvPr>
            <p:ph type="ftr" sz="quarter" idx="11"/>
          </p:nvPr>
        </p:nvSpPr>
        <p:spPr>
          <a:xfrm>
            <a:off x="1435608" y="6135624"/>
            <a:ext cx="6839712" cy="740664"/>
          </a:xfrm>
        </p:spPr>
        <p:txBody>
          <a:bodyPr anchor="ctr" lIns="0" rIns="0" tIns="0" bIns="0"/>
          <a:lstStyle/>
          <a:p>
            <a:pPr algn="ctr"/>
            <a:r>
              <a:rPr sz="1400" b="1">
                <a:solidFill>
                  <a:srgbClr val="FFFFFF"/>
                </a:solidFill>
                <a:latin typeface="Palatino Linotype"/>
              </a:rPr>
              <a:t>Rotating Detonation Engine Activities</a:t>
            </a:r>
            <a:endParaRPr lang="en-US" dirty="0"/>
          </a:p>
        </p:txBody>
      </p:sp>
      <p:sp>
        <p:nvSpPr>
          <p:cNvPr id="28" name="Segnaposto numero diapositiva 27">
            <a:extLst>
              <a:ext uri="{FF2B5EF4-FFF2-40B4-BE49-F238E27FC236}">
                <a16:creationId xmlns:a16="http://schemas.microsoft.com/office/drawing/2014/main" id="{D459933C-6500-837B-565A-59A32DA66077}"/>
              </a:ext>
            </a:extLst>
          </p:cNvPr>
          <p:cNvSpPr>
            <a:spLocks noGrp="1"/>
          </p:cNvSpPr>
          <p:nvPr>
            <p:ph type="sldNum" sz="quarter" idx="12"/>
          </p:nvPr>
        </p:nvSpPr>
        <p:spPr/>
        <p:txBody>
          <a:bodyPr/>
          <a:lstStyle/>
          <a:p>
            <a:r>
              <a:rPr sz="1400" b="1">
                <a:solidFill>
                  <a:srgbClr val="FFFFFF"/>
                </a:solidFill>
                <a:latin typeface="Palatino Linotype"/>
              </a:rPr>
              <a:t>20/29</a:t>
            </a:r>
            <a:endParaRPr lang="en-US" dirty="0"/>
          </a:p>
        </p:txBody>
      </p:sp>
      <p:sp>
        <p:nvSpPr>
          <p:cNvPr id="6" name="Titolo 1">
            <a:extLst>
              <a:ext uri="{FF2B5EF4-FFF2-40B4-BE49-F238E27FC236}">
                <a16:creationId xmlns:a16="http://schemas.microsoft.com/office/drawing/2014/main" id="{B465A63E-2F26-CD01-967C-AEC3A3652828}"/>
              </a:ext>
            </a:extLst>
          </p:cNvPr>
          <p:cNvSpPr txBox="1">
            <a:spLocks/>
          </p:cNvSpPr>
          <p:nvPr/>
        </p:nvSpPr>
        <p:spPr>
          <a:xfrm>
            <a:off x="292608" y="347472"/>
            <a:ext cx="11612880" cy="868680"/>
          </a:xfrm>
          <a:prstGeom prst="rect">
            <a:avLst/>
          </a:prstGeom>
        </p:spPr>
        <p:txBody>
          <a:bodyPr vert="horz" lIns="0" tIns="0" rIns="0" bIns="0" rtlCol="0" anchor="t" wrap="square">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200" b="1" dirty="0">
                <a:solidFill>
                  <a:srgbClr val="822433"/>
                </a:solidFill>
                <a:effectLst>
                  <a:outerShdw blurRad="38100" dist="38100" dir="2700000" algn="tl">
                    <a:srgbClr val="000000">
                      <a:alpha val="43137"/>
                    </a:srgbClr>
                  </a:outerShdw>
                </a:effectLst>
                <a:latin typeface="Palatino Linotype" panose="02040502050505030304" pitchFamily="18" charset="0"/>
              </a:rPr>
              <a:t>Nozzle Design for RDEs</a:t>
            </a:r>
          </a:p>
        </p:txBody>
      </p:sp>
      <p:sp>
        <p:nvSpPr>
          <p:cNvPr id="2" name="CasellaDiTesto 1">
            <a:extLst>
              <a:ext uri="{FF2B5EF4-FFF2-40B4-BE49-F238E27FC236}">
                <a16:creationId xmlns:a16="http://schemas.microsoft.com/office/drawing/2014/main" id="{6CA86411-F246-5FF1-D161-AB8F682FF3F6}"/>
              </a:ext>
            </a:extLst>
          </p:cNvPr>
          <p:cNvSpPr txBox="1"/>
          <p:nvPr/>
        </p:nvSpPr>
        <p:spPr>
          <a:xfrm>
            <a:off x="457200" y="990600"/>
            <a:ext cx="7366000" cy="4401205"/>
          </a:xfrm>
          <a:prstGeom prst="rect">
            <a:avLst/>
          </a:prstGeom>
          <a:noFill/>
        </p:spPr>
        <p:txBody>
          <a:bodyPr wrap="square">
            <a:spAutoFit/>
          </a:bodyPr>
          <a:lstStyle/>
          <a:p>
            <a:pPr algn="l">
              <a:buNone/>
            </a:pPr>
            <a:r>
              <a:rPr lang="en-US" sz="1800" dirty="0">
                <a:solidFill>
                  <a:srgbClr val="822433"/>
                </a:solidFill>
                <a:latin typeface="Palatino Linotype"/>
              </a:rPr>
              <a:t>•  </a:t>
            </a:r>
            <a:r>
              <a:rPr lang="en-US" sz="1800" b="1" dirty="0">
                <a:solidFill>
                  <a:srgbClr val="2B2B2B"/>
                </a:solidFill>
                <a:latin typeface="Palatino Linotype"/>
              </a:rPr>
              <a:t>Fully non-isentropic three-waves 2D / 2D-axisymmetric</a:t>
            </a:r>
            <a:r>
              <a:rPr lang="en-US" sz="1800" dirty="0">
                <a:solidFill>
                  <a:srgbClr val="2B2B2B"/>
                </a:solidFill>
                <a:latin typeface="Palatino Linotype"/>
              </a:rPr>
              <a:t> MoC solver developed as an in-house API</a:t>
            </a:r>
          </a:p>
          <a:p>
            <a:pPr algn="l">
              <a:buNone/>
            </a:pPr>
            <a:r>
              <a:rPr lang="en-US" sz="1800" dirty="0">
                <a:solidFill>
                  <a:srgbClr val="822433"/>
                </a:solidFill>
                <a:latin typeface="Palatino Linotype"/>
              </a:rPr>
              <a:t>•  </a:t>
            </a:r>
            <a:r>
              <a:rPr lang="en-US" sz="1800" dirty="0">
                <a:solidFill>
                  <a:srgbClr val="2B2B2B"/>
                </a:solidFill>
                <a:latin typeface="Palatino Linotype"/>
              </a:rPr>
              <a:t>Primary application: </a:t>
            </a:r>
            <a:r>
              <a:rPr lang="en-US" sz="1800" b="1" dirty="0">
                <a:solidFill>
                  <a:srgbClr val="2B2B2B"/>
                </a:solidFill>
                <a:latin typeface="Palatino Linotype"/>
              </a:rPr>
              <a:t>nozzle design</a:t>
            </a:r>
            <a:r>
              <a:rPr lang="en-US" sz="1800" dirty="0">
                <a:solidFill>
                  <a:srgbClr val="2B2B2B"/>
                </a:solidFill>
                <a:latin typeface="Palatino Linotype"/>
              </a:rPr>
              <a:t> for ideal, TIC and optimized configurations</a:t>
            </a:r>
          </a:p>
          <a:p>
            <a:pPr algn="l">
              <a:buNone/>
            </a:pPr>
            <a:r>
              <a:rPr lang="en-US" sz="1800" dirty="0">
                <a:solidFill>
                  <a:srgbClr val="822433"/>
                </a:solidFill>
                <a:latin typeface="Palatino Linotype"/>
              </a:rPr>
              <a:t>•  </a:t>
            </a:r>
            <a:r>
              <a:rPr lang="en-US" sz="1800" dirty="0">
                <a:solidFill>
                  <a:srgbClr val="2B2B2B"/>
                </a:solidFill>
                <a:latin typeface="Palatino Linotype"/>
              </a:rPr>
              <a:t>Implemented families: </a:t>
            </a:r>
            <a:r>
              <a:rPr lang="en-US" sz="1800" b="1" dirty="0">
                <a:solidFill>
                  <a:srgbClr val="2B2B2B"/>
                </a:solidFill>
                <a:latin typeface="Palatino Linotype"/>
              </a:rPr>
              <a:t>ideal</a:t>
            </a:r>
            <a:r>
              <a:rPr lang="en-US" sz="1800" dirty="0">
                <a:solidFill>
                  <a:srgbClr val="2B2B2B"/>
                </a:solidFill>
                <a:latin typeface="Palatino Linotype"/>
              </a:rPr>
              <a:t> (bell, plug, shrouded plug), </a:t>
            </a:r>
            <a:r>
              <a:rPr lang="en-US" sz="1800" b="1" dirty="0">
                <a:solidFill>
                  <a:srgbClr val="2B2B2B"/>
                </a:solidFill>
                <a:latin typeface="Palatino Linotype"/>
              </a:rPr>
              <a:t>Rao</a:t>
            </a:r>
            <a:r>
              <a:rPr lang="en-US" sz="1800" dirty="0">
                <a:solidFill>
                  <a:srgbClr val="2B2B2B"/>
                </a:solidFill>
                <a:latin typeface="Palatino Linotype"/>
              </a:rPr>
              <a:t> (optimal bell and plug) and </a:t>
            </a:r>
            <a:r>
              <a:rPr lang="en-US" sz="1800" b="1" dirty="0">
                <a:solidFill>
                  <a:srgbClr val="2B2B2B"/>
                </a:solidFill>
                <a:latin typeface="Palatino Linotype"/>
              </a:rPr>
              <a:t>Veen</a:t>
            </a:r>
            <a:r>
              <a:rPr lang="en-US" sz="1800" dirty="0">
                <a:solidFill>
                  <a:srgbClr val="2B2B2B"/>
                </a:solidFill>
                <a:latin typeface="Palatino Linotype"/>
              </a:rPr>
              <a:t> (optimal shrouded plug)</a:t>
            </a:r>
          </a:p>
          <a:p>
            <a:pPr algn="l">
              <a:buNone/>
            </a:pPr>
            <a:endParaRPr lang="en-US" dirty="0">
              <a:solidFill>
                <a:srgbClr val="2B2B2B"/>
              </a:solidFill>
              <a:latin typeface="Palatino Linotype"/>
            </a:endParaRPr>
          </a:p>
          <a:p>
            <a:pPr algn="l">
              <a:buNone/>
            </a:pPr>
            <a:endParaRPr lang="en-US" sz="1800" dirty="0">
              <a:solidFill>
                <a:srgbClr val="2B2B2B"/>
              </a:solidFill>
              <a:latin typeface="Palatino Linotype"/>
            </a:endParaRPr>
          </a:p>
          <a:p>
            <a:pPr algn="l">
              <a:buNone/>
            </a:pPr>
            <a:endParaRPr lang="en-US" dirty="0">
              <a:solidFill>
                <a:srgbClr val="2B2B2B"/>
              </a:solidFill>
              <a:latin typeface="Palatino Linotype"/>
            </a:endParaRPr>
          </a:p>
          <a:p>
            <a:pPr algn="l">
              <a:buNone/>
            </a:pPr>
            <a:endParaRPr lang="en-US" sz="1800" dirty="0">
              <a:solidFill>
                <a:srgbClr val="2B2B2B"/>
              </a:solidFill>
              <a:latin typeface="Palatino Linotype"/>
            </a:endParaRPr>
          </a:p>
          <a:p>
            <a:pPr algn="l">
              <a:buNone/>
            </a:pPr>
            <a:endParaRPr lang="en-US" sz="1000" dirty="0"/>
          </a:p>
          <a:p>
            <a:pPr algn="l">
              <a:buNone/>
            </a:pPr>
            <a:r>
              <a:rPr lang="en-US" sz="1800" b="1" dirty="0">
                <a:solidFill>
                  <a:srgbClr val="006778"/>
                </a:solidFill>
                <a:latin typeface="Palatino Linotype"/>
              </a:rPr>
              <a:t>Open questions (and possible research paths)</a:t>
            </a:r>
          </a:p>
          <a:p>
            <a:pPr algn="l">
              <a:buNone/>
            </a:pPr>
            <a:r>
              <a:rPr lang="en-US" sz="1800" dirty="0">
                <a:solidFill>
                  <a:srgbClr val="822433"/>
                </a:solidFill>
                <a:latin typeface="Palatino Linotype"/>
              </a:rPr>
              <a:t>•  </a:t>
            </a:r>
            <a:r>
              <a:rPr lang="en-US" sz="1800" b="1" dirty="0">
                <a:solidFill>
                  <a:srgbClr val="2B2B2B"/>
                </a:solidFill>
                <a:latin typeface="Palatino Linotype"/>
              </a:rPr>
              <a:t>Separation dynamics/topology</a:t>
            </a:r>
            <a:r>
              <a:rPr lang="en-US" sz="1800" dirty="0">
                <a:solidFill>
                  <a:srgbClr val="2B2B2B"/>
                </a:solidFill>
                <a:latin typeface="Palatino Linotype"/>
              </a:rPr>
              <a:t> in plug / shrouded plug (effect of rotating oblique shock on incipient separation </a:t>
            </a:r>
            <a:r>
              <a:rPr lang="en-US" sz="1800" b="1" dirty="0">
                <a:solidFill>
                  <a:srgbClr val="822433"/>
                </a:solidFill>
                <a:latin typeface="Palatino Linotype"/>
              </a:rPr>
              <a:t>[3]</a:t>
            </a:r>
            <a:r>
              <a:rPr lang="en-US" sz="1800" dirty="0">
                <a:solidFill>
                  <a:srgbClr val="2B2B2B"/>
                </a:solidFill>
                <a:latin typeface="Palatino Linotype"/>
              </a:rPr>
              <a:t>)</a:t>
            </a:r>
          </a:p>
          <a:p>
            <a:pPr algn="l">
              <a:buNone/>
            </a:pPr>
            <a:r>
              <a:rPr lang="en-US" sz="1800" dirty="0" b="1">
                <a:solidFill>
                  <a:srgbClr val="006778"/>
                </a:solidFill>
                <a:latin typeface="Palatino Linotype"/>
              </a:rPr>
              <a:t>•  </a:t>
            </a:r>
            <a:r>
              <a:rPr lang="en-US" sz="1800" dirty="0" b="1">
                <a:solidFill>
                  <a:srgbClr val="006778"/>
                </a:solidFill>
                <a:latin typeface="Palatino Linotype"/>
              </a:rPr>
              <a:t>Does an </a:t>
            </a:r>
            <a:r>
              <a:rPr lang="en-US" sz="1800" b="1" dirty="0">
                <a:solidFill>
                  <a:srgbClr val="006778"/>
                </a:solidFill>
                <a:latin typeface="Palatino Linotype"/>
              </a:rPr>
              <a:t>“optimal” profile</a:t>
            </a:r>
            <a:r>
              <a:rPr lang="en-US" sz="1800" dirty="0" b="1">
                <a:solidFill>
                  <a:srgbClr val="006778"/>
                </a:solidFill>
                <a:latin typeface="Palatino Linotype"/>
              </a:rPr>
              <a:t> exist for an RDE exhaust?</a:t>
            </a:r>
          </a:p>
          <a:p>
            <a:pPr algn="l">
              <a:buNone/>
            </a:pPr>
            <a:r>
              <a:rPr lang="en-US" sz="1800" dirty="0">
                <a:solidFill>
                  <a:srgbClr val="822433"/>
                </a:solidFill>
                <a:latin typeface="Palatino Linotype"/>
              </a:rPr>
              <a:t>•  </a:t>
            </a:r>
            <a:r>
              <a:rPr lang="en-US" sz="1800" dirty="0">
                <a:solidFill>
                  <a:srgbClr val="2B2B2B"/>
                </a:solidFill>
                <a:latin typeface="Palatino Linotype"/>
              </a:rPr>
              <a:t>CFD exploration of the theoretical findings in </a:t>
            </a:r>
            <a:r>
              <a:rPr lang="en-US" sz="1800" b="1" dirty="0">
                <a:solidFill>
                  <a:srgbClr val="822433"/>
                </a:solidFill>
                <a:latin typeface="Palatino Linotype"/>
              </a:rPr>
              <a:t>[4]</a:t>
            </a:r>
          </a:p>
        </p:txBody>
      </p:sp>
      <p:pic>
        <p:nvPicPr>
          <p:cNvPr id="8" name="Immagine 7">
            <a:extLst>
              <a:ext uri="{FF2B5EF4-FFF2-40B4-BE49-F238E27FC236}">
                <a16:creationId xmlns:a16="http://schemas.microsoft.com/office/drawing/2014/main" id="{84737A5A-41F4-DF37-017D-37AD32A0E3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000" y="1778000"/>
            <a:ext cx="3581400" cy="3175000"/>
          </a:xfrm>
          <a:prstGeom prst="rect">
            <a:avLst/>
          </a:prstGeom>
        </p:spPr>
      </p:pic>
      <p:sp>
        <p:nvSpPr>
          <p:cNvPr id="5" name="CasellaDiTesto 4">
            <a:extLst>
              <a:ext uri="{FF2B5EF4-FFF2-40B4-BE49-F238E27FC236}">
                <a16:creationId xmlns:a16="http://schemas.microsoft.com/office/drawing/2014/main" id="{86D6767A-86F0-4C12-80A0-A021DEBED095}"/>
              </a:ext>
            </a:extLst>
          </p:cNvPr>
          <p:cNvSpPr txBox="1"/>
          <p:nvPr/>
        </p:nvSpPr>
        <p:spPr>
          <a:xfrm>
            <a:off x="8256873" y="5016500"/>
            <a:ext cx="3810000" cy="279400"/>
          </a:xfrm>
          <a:prstGeom prst="rect">
            <a:avLst/>
          </a:prstGeom>
          <a:noFill/>
        </p:spPr>
        <p:txBody>
          <a:bodyPr vertOverflow="overflow" vert="horz" wrap="none" rtlCol="0" anchor="t">
            <a:noAutofit/>
          </a:bodyPr>
          <a:lstStyle/>
          <a:p>
            <a:pPr algn="l"/>
            <a:r>
              <a:rPr lang="it-IT" b="1" dirty="0" err="1">
                <a:latin typeface="Palatino Linotype"/>
              </a:rPr>
              <a:t>Optimized</a:t>
            </a:r>
            <a:r>
              <a:rPr lang="it-IT" b="1" dirty="0">
                <a:latin typeface="Palatino Linotype"/>
              </a:rPr>
              <a:t> </a:t>
            </a:r>
            <a:r>
              <a:rPr lang="it-IT" b="1" dirty="0" err="1">
                <a:latin typeface="Palatino Linotype"/>
              </a:rPr>
              <a:t>shrouded</a:t>
            </a:r>
            <a:r>
              <a:rPr lang="it-IT" b="1" dirty="0">
                <a:latin typeface="Palatino Linotype"/>
              </a:rPr>
              <a:t> plug</a:t>
            </a:r>
          </a:p>
        </p:txBody>
      </p:sp>
      <p:sp>
        <p:nvSpPr>
          <p:cNvPr id="11" name="CasellaDiTesto 10">
            <a:extLst>
              <a:ext uri="{FF2B5EF4-FFF2-40B4-BE49-F238E27FC236}">
                <a16:creationId xmlns:a16="http://schemas.microsoft.com/office/drawing/2014/main" id="{A7B73F5D-7F6C-4B02-A038-A8F709D14D6E}"/>
              </a:ext>
            </a:extLst>
          </p:cNvPr>
          <p:cNvSpPr txBox="1"/>
          <p:nvPr/>
        </p:nvSpPr>
        <p:spPr>
          <a:xfrm>
            <a:off x="457200" y="5486400"/>
            <a:ext cx="7223760" cy="584200"/>
          </a:xfrm>
          <a:prstGeom prst="rect">
            <a:avLst/>
          </a:prstGeom>
          <a:noFill/>
        </p:spPr>
        <p:txBody>
          <a:bodyPr vertOverflow="overflow" vert="horz" wrap="square" rtlCol="0" anchor="t" anchorCtr="0">
            <a:noAutofit/>
          </a:bodyPr>
          <a:lstStyle/>
          <a:p>
            <a:pPr algn="l">
              <a:buNone/>
            </a:pPr>
            <a:r>
              <a:rPr lang="en-US" sz="1000" b="1" dirty="0">
                <a:solidFill>
                  <a:srgbClr val="822433"/>
                </a:solidFill>
                <a:latin typeface="Palatino Linotype"/>
              </a:rPr>
              <a:t>[3]  </a:t>
            </a:r>
            <a:r>
              <a:rPr lang="en-US" sz="1000" dirty="0">
                <a:solidFill>
                  <a:srgbClr val="2B2B2B"/>
                </a:solidFill>
                <a:latin typeface="Palatino Linotype"/>
              </a:rPr>
              <a:t>A. J. Harroun, S. D. Heister, J. H. Ruf, “</a:t>
            </a:r>
            <a:r>
              <a:rPr lang="en-US" sz="1000" i="1" dirty="0">
                <a:solidFill>
                  <a:srgbClr val="2B2B2B"/>
                </a:solidFill>
                <a:latin typeface="Palatino Linotype"/>
              </a:rPr>
              <a:t>Computational and experimental study of nozzle performance for rotating detonation rocket engines</a:t>
            </a:r>
            <a:r>
              <a:rPr lang="en-US" sz="1000" dirty="0">
                <a:solidFill>
                  <a:srgbClr val="2B2B2B"/>
                </a:solidFill>
                <a:latin typeface="Palatino Linotype"/>
              </a:rPr>
              <a:t>,” </a:t>
            </a:r>
            <a:r>
              <a:rPr lang="en-US" sz="1000" i="1" dirty="0">
                <a:solidFill>
                  <a:srgbClr val="2B2B2B"/>
                </a:solidFill>
                <a:latin typeface="Palatino Linotype"/>
              </a:rPr>
              <a:t>J. Propulsion and Power</a:t>
            </a:r>
            <a:r>
              <a:rPr lang="en-US" sz="1000" dirty="0">
                <a:solidFill>
                  <a:srgbClr val="2B2B2B"/>
                </a:solidFill>
                <a:latin typeface="Palatino Linotype"/>
              </a:rPr>
              <a:t> 37(5), 660–673, 2021.</a:t>
            </a:r>
          </a:p>
          <a:p>
            <a:pPr algn="l">
              <a:buNone/>
            </a:pPr>
            <a:r>
              <a:rPr lang="en-US" sz="1000" b="1" dirty="0">
                <a:solidFill>
                  <a:srgbClr val="822433"/>
                </a:solidFill>
                <a:latin typeface="Palatino Linotype"/>
              </a:rPr>
              <a:t>[4]  </a:t>
            </a:r>
            <a:r>
              <a:rPr lang="en-US" sz="1000" dirty="0">
                <a:solidFill>
                  <a:srgbClr val="2B2B2B"/>
                </a:solidFill>
                <a:latin typeface="Palatino Linotype"/>
              </a:rPr>
              <a:t>D. P. Stechmann, S. D. Heister, A. J. Harroun, “</a:t>
            </a:r>
            <a:r>
              <a:rPr lang="en-US" sz="1000" i="1" dirty="0">
                <a:solidFill>
                  <a:srgbClr val="2B2B2B"/>
                </a:solidFill>
                <a:latin typeface="Palatino Linotype"/>
              </a:rPr>
              <a:t>Rotating detonation engine performance model for rocket applications</a:t>
            </a:r>
            <a:r>
              <a:rPr lang="en-US" sz="1000" dirty="0">
                <a:solidFill>
                  <a:srgbClr val="2B2B2B"/>
                </a:solidFill>
                <a:latin typeface="Palatino Linotype"/>
              </a:rPr>
              <a:t>,” </a:t>
            </a:r>
            <a:r>
              <a:rPr lang="en-US" sz="1000" i="1" dirty="0">
                <a:solidFill>
                  <a:srgbClr val="2B2B2B"/>
                </a:solidFill>
                <a:latin typeface="Palatino Linotype"/>
              </a:rPr>
              <a:t>J. Spacecraft and Rockets</a:t>
            </a:r>
            <a:r>
              <a:rPr lang="en-US" sz="1000" dirty="0">
                <a:solidFill>
                  <a:srgbClr val="2B2B2B"/>
                </a:solidFill>
                <a:latin typeface="Palatino Linotype"/>
              </a:rPr>
              <a:t> 56(3), 887–898, 2019.</a:t>
            </a:r>
          </a:p>
        </p:txBody>
      </p:sp>
      <p:sp>
        <p:nvSpPr>
          <p:cNvPr id="13" name="Freccia in giù 12">
            <a:extLst>
              <a:ext uri="{FF2B5EF4-FFF2-40B4-BE49-F238E27FC236}">
                <a16:creationId xmlns:a16="http://schemas.microsoft.com/office/drawing/2014/main" id="{168B76E6-9F43-4FE4-864E-5F03C521EAB4}"/>
              </a:ext>
            </a:extLst>
          </p:cNvPr>
          <p:cNvSpPr/>
          <p:nvPr/>
        </p:nvSpPr>
        <p:spPr>
          <a:xfrm>
            <a:off x="3898900" y="2882900"/>
            <a:ext cx="482600" cy="977900"/>
          </a:xfrm>
          <a:prstGeom prst="downArrow">
            <a:avLst/>
          </a:prstGeom>
          <a:solidFill>
            <a:srgbClr val="82243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it-IT"/>
          </a:p>
        </p:txBody>
      </p:sp>
      <p:sp>
        <p:nvSpPr>
          <p:cNvPr id="29" name="Rounded Rectangle 28"/>
          <p:cNvSpPr/>
          <p:nvPr/>
        </p:nvSpPr>
        <p:spPr>
          <a:xfrm>
            <a:off x="7818120" y="5303520"/>
            <a:ext cx="4041648" cy="786384"/>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64424" y="5376672"/>
            <a:ext cx="3749039" cy="640080"/>
          </a:xfrm>
          <a:prstGeom prst="rect">
            <a:avLst/>
          </a:prstGeom>
          <a:noFill/>
        </p:spPr>
        <p:txBody>
          <a:bodyPr wrap="square" anchor="ctr" lIns="0" rIns="0" tIns="0" bIns="0">
            <a:spAutoFit/>
          </a:bodyPr>
          <a:lstStyle/>
          <a:p>
            <a:pPr algn="l">
              <a:lnSpc>
                <a:spcPct val="105000"/>
              </a:lnSpc>
              <a:spcBef>
                <a:spcPts val="0"/>
              </a:spcBef>
              <a:spcAft>
                <a:spcPts val="200"/>
              </a:spcAft>
            </a:pPr>
            <a:r>
              <a:rPr b="1" i="0" sz="1250">
                <a:solidFill>
                  <a:srgbClr val="822433"/>
                </a:solidFill>
                <a:latin typeface="Palatino Linotype"/>
              </a:rPr>
              <a:t>The stakes are real:  </a:t>
            </a:r>
            <a:r>
              <a:rPr b="0" i="0" sz="1200">
                <a:solidFill>
                  <a:srgbClr val="2B2B2B"/>
                </a:solidFill>
                <a:latin typeface="Palatino Linotype"/>
              </a:rPr>
              <a:t>+4–7% Isp (choked interface) · 58.1→71.5% of ideal (shroud) — the next section is the group's answer</a:t>
            </a:r>
          </a:p>
        </p:txBody>
      </p:sp>
    </p:spTree>
    <p:extLst>
      <p:ext uri="{BB962C8B-B14F-4D97-AF65-F5344CB8AC3E}">
        <p14:creationId xmlns:p14="http://schemas.microsoft.com/office/powerpoint/2010/main" val="3975526050"/>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Detonation compresses by itself: pressure-gain combustion</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fig_cycles_pv.png"/>
          <p:cNvPicPr>
            <a:picLocks noChangeAspect="1"/>
          </p:cNvPicPr>
          <p:nvPr/>
        </p:nvPicPr>
        <p:blipFill>
          <a:blip r:embed="rId3"/>
          <a:stretch>
            <a:fillRect/>
          </a:stretch>
        </p:blipFill>
        <p:spPr>
          <a:xfrm>
            <a:off x="1093940" y="1600200"/>
            <a:ext cx="4121478" cy="3246120"/>
          </a:xfrm>
          <a:prstGeom prst="rect">
            <a:avLst/>
          </a:prstGeom>
        </p:spPr>
      </p:pic>
      <p:pic>
        <p:nvPicPr>
          <p:cNvPr id="17" name="Picture 16" descr="fig_ucj_bar.png"/>
          <p:cNvPicPr>
            <a:picLocks noChangeAspect="1"/>
          </p:cNvPicPr>
          <p:nvPr/>
        </p:nvPicPr>
        <p:blipFill>
          <a:blip r:embed="rId4"/>
          <a:stretch>
            <a:fillRect/>
          </a:stretch>
        </p:blipFill>
        <p:spPr>
          <a:xfrm>
            <a:off x="7029919" y="1600200"/>
            <a:ext cx="4091000" cy="3246120"/>
          </a:xfrm>
          <a:prstGeom prst="rect">
            <a:avLst/>
          </a:prstGeom>
        </p:spPr>
      </p:pic>
      <p:sp>
        <p:nvSpPr>
          <p:cNvPr id="18" name="TextBox 17"/>
          <p:cNvSpPr txBox="1"/>
          <p:nvPr/>
        </p:nvSpPr>
        <p:spPr>
          <a:xfrm>
            <a:off x="411480" y="4919472"/>
            <a:ext cx="548640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p–v plane: Brayton vs Humphrey vs detonation (FJ) cycles — group figure</a:t>
            </a:r>
          </a:p>
        </p:txBody>
      </p:sp>
      <p:sp>
        <p:nvSpPr>
          <p:cNvPr id="19" name="TextBox 18"/>
          <p:cNvSpPr txBox="1"/>
          <p:nvPr/>
        </p:nvSpPr>
        <p:spPr>
          <a:xfrm>
            <a:off x="6355080" y="4919472"/>
            <a:ext cx="544068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CJ speeds across fuels — group figure</a:t>
            </a:r>
          </a:p>
        </p:txBody>
      </p:sp>
      <p:sp>
        <p:nvSpPr>
          <p:cNvPr id="20" name="TextBox 19"/>
          <p:cNvSpPr txBox="1"/>
          <p:nvPr/>
        </p:nvSpPr>
        <p:spPr>
          <a:xfrm>
            <a:off x="548640" y="5257800"/>
            <a:ext cx="11155680" cy="914400"/>
          </a:xfrm>
          <a:prstGeom prst="rect">
            <a:avLst/>
          </a:prstGeom>
          <a:noFill/>
        </p:spPr>
        <p:txBody>
          <a:bodyPr wrap="square" anchor="t" lIns="0" rIns="0" tIns="0" bIns="0">
            <a:spAutoFit/>
          </a:bodyPr>
          <a:lstStyle/>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Near-constant-volume burn: pressure rises without a compressor.</a:t>
            </a:r>
          </a:p>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Higher ideal efficiency at the same pre-compression.</a:t>
            </a:r>
          </a:p>
        </p:txBody>
      </p:sp>
      <p:sp>
        <p:nvSpPr>
          <p:cNvPr id="21" name="TextBox 20"/>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2" name="TextBox 21"/>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RDE: a detonation made steady in a rotating frame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fig_rde_schematic.png"/>
          <p:cNvPicPr>
            <a:picLocks noChangeAspect="1"/>
          </p:cNvPicPr>
          <p:nvPr/>
        </p:nvPicPr>
        <p:blipFill>
          <a:blip r:embed="rId3"/>
          <a:stretch>
            <a:fillRect/>
          </a:stretch>
        </p:blipFill>
        <p:spPr>
          <a:xfrm>
            <a:off x="1611751" y="1600200"/>
            <a:ext cx="3085856" cy="3246119"/>
          </a:xfrm>
          <a:prstGeom prst="rect">
            <a:avLst/>
          </a:prstGeom>
        </p:spPr>
      </p:pic>
      <p:pic>
        <p:nvPicPr>
          <p:cNvPr id="17" name="Picture 16" descr="sk_orig_fig01_rde_annulus.png"/>
          <p:cNvPicPr>
            <a:picLocks noChangeAspect="1"/>
          </p:cNvPicPr>
          <p:nvPr/>
        </p:nvPicPr>
        <p:blipFill>
          <a:blip r:embed="rId4"/>
          <a:stretch>
            <a:fillRect/>
          </a:stretch>
        </p:blipFill>
        <p:spPr>
          <a:xfrm>
            <a:off x="6355080" y="1828411"/>
            <a:ext cx="5440680" cy="2789697"/>
          </a:xfrm>
          <a:prstGeom prst="rect">
            <a:avLst/>
          </a:prstGeom>
        </p:spPr>
      </p:pic>
      <p:sp>
        <p:nvSpPr>
          <p:cNvPr id="18" name="TextBox 17"/>
          <p:cNvSpPr txBox="1"/>
          <p:nvPr/>
        </p:nvSpPr>
        <p:spPr>
          <a:xfrm>
            <a:off x="411480" y="4919472"/>
            <a:ext cx="548640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Annular RDE: rotating front, continuous refill — group figure</a:t>
            </a:r>
          </a:p>
        </p:txBody>
      </p:sp>
      <p:sp>
        <p:nvSpPr>
          <p:cNvPr id="19" name="TextBox 18"/>
          <p:cNvSpPr txBox="1"/>
          <p:nvPr/>
        </p:nvSpPr>
        <p:spPr>
          <a:xfrm>
            <a:off x="6355080" y="4919472"/>
            <a:ext cx="544068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Unwrapped RDE flowfield — Shepherd &amp; Kasahara, GALCIT FM2017.001 (2017)</a:t>
            </a:r>
          </a:p>
        </p:txBody>
      </p:sp>
      <p:sp>
        <p:nvSpPr>
          <p:cNvPr id="20" name="TextBox 19"/>
          <p:cNvSpPr txBox="1"/>
          <p:nvPr/>
        </p:nvSpPr>
        <p:spPr>
          <a:xfrm>
            <a:off x="548640" y="5257800"/>
            <a:ext cx="11155680" cy="914400"/>
          </a:xfrm>
          <a:prstGeom prst="rect">
            <a:avLst/>
          </a:prstGeom>
          <a:noFill/>
        </p:spPr>
        <p:txBody>
          <a:bodyPr wrap="square" anchor="t" lIns="0" rIns="0" tIns="0" bIns="0">
            <a:spAutoFit/>
          </a:bodyPr>
          <a:lstStyle/>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A front rotates at near-CJ speed (kHz); continuous refill behind it.</a:t>
            </a:r>
          </a:p>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Axial, continuous exhaust — no valves.</a:t>
            </a:r>
          </a:p>
        </p:txBody>
      </p:sp>
      <p:sp>
        <p:nvSpPr>
          <p:cNvPr id="21" name="TextBox 20"/>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2" name="TextBox 21"/>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RDE exhaust is periodic — the literature designs on its time-average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kp_orig_eap_construction.png"/>
          <p:cNvPicPr>
            <a:picLocks noChangeAspect="1"/>
          </p:cNvPicPr>
          <p:nvPr/>
        </p:nvPicPr>
        <p:blipFill>
          <a:blip r:embed="rId3"/>
          <a:stretch>
            <a:fillRect/>
          </a:stretch>
        </p:blipFill>
        <p:spPr>
          <a:xfrm>
            <a:off x="2174671" y="1554480"/>
            <a:ext cx="2965856" cy="3566160"/>
          </a:xfrm>
          <a:prstGeom prst="rect">
            <a:avLst/>
          </a:prstGeom>
        </p:spPr>
      </p:pic>
      <p:sp>
        <p:nvSpPr>
          <p:cNvPr id="17" name="TextBox 16"/>
          <p:cNvSpPr txBox="1"/>
          <p:nvPr/>
        </p:nvSpPr>
        <p:spPr>
          <a:xfrm>
            <a:off x="411480" y="5175504"/>
            <a:ext cx="64922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Nonuniform RDE exhaust — Kaemming &amp; Paxson, AIAA 2018-1101 (Equivalent Available Pressure)</a:t>
            </a:r>
          </a:p>
        </p:txBody>
      </p:sp>
      <p:pic>
        <p:nvPicPr>
          <p:cNvPr id="18" name="Picture 17" descr="eq_eap.png"/>
          <p:cNvPicPr>
            <a:picLocks noChangeAspect="1"/>
          </p:cNvPicPr>
          <p:nvPr/>
        </p:nvPicPr>
        <p:blipFill>
          <a:blip r:embed="rId4"/>
          <a:stretch>
            <a:fillRect/>
          </a:stretch>
        </p:blipFill>
        <p:spPr>
          <a:xfrm>
            <a:off x="7223760" y="2103120"/>
            <a:ext cx="4572000" cy="490027"/>
          </a:xfrm>
          <a:prstGeom prst="rect">
            <a:avLst/>
          </a:prstGeom>
        </p:spPr>
      </p:pic>
      <p:sp>
        <p:nvSpPr>
          <p:cNvPr id="19" name="TextBox 18"/>
          <p:cNvSpPr txBox="1"/>
          <p:nvPr/>
        </p:nvSpPr>
        <p:spPr>
          <a:xfrm>
            <a:off x="7223760" y="2999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b="0" i="1" sz="1050">
                <a:solidFill>
                  <a:srgbClr val="808080"/>
                </a:solidFill>
                <a:latin typeface="Palatino Linotype"/>
              </a:rPr>
              <a:t>the literature's accepted average: one equivalent pressure for the whole cycle</a:t>
            </a:r>
          </a:p>
        </p:txBody>
      </p:sp>
      <p:sp>
        <p:nvSpPr>
          <p:cNvPr id="20" name="TextBox 19"/>
          <p:cNvSpPr txBox="1"/>
          <p:nvPr/>
        </p:nvSpPr>
        <p:spPr>
          <a:xfrm>
            <a:off x="7223760" y="3401568"/>
            <a:ext cx="4572000" cy="2286000"/>
          </a:xfrm>
          <a:prstGeom prst="rect">
            <a:avLst/>
          </a:prstGeom>
          <a:noFill/>
        </p:spPr>
        <p:txBody>
          <a:bodyPr wrap="square" anchor="t" lIns="0" rIns="0" tIns="0" bIns="0">
            <a:spAutoFit/>
          </a:bodyPr>
          <a:lstStyle/>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The real exhaust rotates at kHz: every flow quantity swings within each cycle.</a:t>
            </a:r>
          </a:p>
          <a:p>
            <a:pPr algn="l" marL="256032" indent="-256032">
              <a:lnSpc>
                <a:spcPct val="105000"/>
              </a:lnSpc>
              <a:spcBef>
                <a:spcPts val="0"/>
              </a:spcBef>
              <a:spcAft>
                <a:spcPts val="400"/>
              </a:spcAft>
            </a:pPr>
            <a:r>
              <a:rPr b="0" i="0" sz="1800">
                <a:solidFill>
                  <a:srgbClr val="822433"/>
                </a:solidFill>
                <a:latin typeface="Palatino Linotype"/>
              </a:rPr>
              <a:t>•  </a:t>
            </a:r>
            <a:r>
              <a:rPr b="0" i="0" sz="1800">
                <a:solidFill>
                  <a:srgbClr val="2B2B2B"/>
                </a:solidFill>
                <a:latin typeface="Palatino Linotype"/>
              </a:rPr>
              <a:t>Every published nozzle-design route replaces it with a steady average before designing — the authors of the average themselves caution that naive averaging mis-states performance.</a:t>
            </a:r>
          </a:p>
        </p:txBody>
      </p:sp>
      <p:sp>
        <p:nvSpPr>
          <p:cNvPr id="21" name="TextBox 20"/>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2" name="TextBox 21"/>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Checked on the literature's own data: the two answers differ</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pb_fig15_cfx.png"/>
          <p:cNvPicPr>
            <a:picLocks noChangeAspect="1"/>
          </p:cNvPicPr>
          <p:nvPr/>
        </p:nvPicPr>
        <p:blipFill>
          <a:blip r:embed="rId3"/>
          <a:stretch>
            <a:fillRect/>
          </a:stretch>
        </p:blipFill>
        <p:spPr>
          <a:xfrm>
            <a:off x="684979" y="1508760"/>
            <a:ext cx="3567801" cy="3749039"/>
          </a:xfrm>
          <a:prstGeom prst="rect">
            <a:avLst/>
          </a:prstGeom>
        </p:spPr>
      </p:pic>
      <p:sp>
        <p:nvSpPr>
          <p:cNvPr id="17" name="TextBox 16"/>
          <p:cNvSpPr txBox="1"/>
          <p:nvPr/>
        </p:nvSpPr>
        <p:spPr>
          <a:xfrm>
            <a:off x="365760" y="5303520"/>
            <a:ext cx="42062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Steady vs transient thrust coefficient across truncation — Li, Xu et al., AST 136:108221 (2023), Fig. 15</a:t>
            </a:r>
          </a:p>
        </p:txBody>
      </p:sp>
      <p:pic>
        <p:nvPicPr>
          <p:cNvPr id="18" name="Picture 17" descr="pc_fig13_ranking.png"/>
          <p:cNvPicPr>
            <a:picLocks noChangeAspect="1"/>
          </p:cNvPicPr>
          <p:nvPr/>
        </p:nvPicPr>
        <p:blipFill>
          <a:blip r:embed="rId4"/>
          <a:stretch>
            <a:fillRect/>
          </a:stretch>
        </p:blipFill>
        <p:spPr>
          <a:xfrm>
            <a:off x="4709160" y="1561222"/>
            <a:ext cx="3291840" cy="2089636"/>
          </a:xfrm>
          <a:prstGeom prst="rect">
            <a:avLst/>
          </a:prstGeom>
        </p:spPr>
      </p:pic>
      <p:sp>
        <p:nvSpPr>
          <p:cNvPr id="19" name="TextBox 18"/>
          <p:cNvSpPr txBox="1"/>
          <p:nvPr/>
        </p:nvSpPr>
        <p:spPr>
          <a:xfrm>
            <a:off x="4709160" y="3749039"/>
            <a:ext cx="3291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Thrust coefficient, transient vs steady, five cowl/spike settings — Li, Xu et al., AST 158:109878 (2025), Fig. 13</a:t>
            </a:r>
          </a:p>
        </p:txBody>
      </p:sp>
      <p:pic>
        <p:nvPicPr>
          <p:cNvPr id="20" name="Picture 19" descr="pb_fig16_feedback.png"/>
          <p:cNvPicPr>
            <a:picLocks noChangeAspect="1"/>
          </p:cNvPicPr>
          <p:nvPr/>
        </p:nvPicPr>
        <p:blipFill>
          <a:blip r:embed="rId5"/>
          <a:stretch>
            <a:fillRect/>
          </a:stretch>
        </p:blipFill>
        <p:spPr>
          <a:xfrm>
            <a:off x="5541353" y="4160520"/>
            <a:ext cx="1627452" cy="1417320"/>
          </a:xfrm>
          <a:prstGeom prst="rect">
            <a:avLst/>
          </a:prstGeom>
        </p:spPr>
      </p:pic>
      <p:sp>
        <p:nvSpPr>
          <p:cNvPr id="21" name="TextBox 20"/>
          <p:cNvSpPr txBox="1"/>
          <p:nvPr/>
        </p:nvSpPr>
        <p:spPr>
          <a:xfrm>
            <a:off x="4709160" y="5623560"/>
            <a:ext cx="3291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Nozzle→chamber feedback with truncation — ibid. 2023, Fig. 16</a:t>
            </a:r>
          </a:p>
        </p:txBody>
      </p:sp>
      <p:sp>
        <p:nvSpPr>
          <p:cNvPr id="22" name="Rounded Rectangle 21"/>
          <p:cNvSpPr/>
          <p:nvPr/>
        </p:nvSpPr>
        <p:spPr>
          <a:xfrm>
            <a:off x="8183879" y="1508760"/>
            <a:ext cx="3703320" cy="1371600"/>
          </a:xfrm>
          <a:prstGeom prst="roundRect">
            <a:avLst>
              <a:gd name="adj" fmla="val 10000"/>
            </a:avLst>
          </a:prstGeom>
          <a:solidFill>
            <a:srgbClr val="FFFFFF"/>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3" y="1581912"/>
            <a:ext cx="3410712" cy="1225296"/>
          </a:xfrm>
          <a:prstGeom prst="rect">
            <a:avLst/>
          </a:prstGeom>
          <a:noFill/>
        </p:spPr>
        <p:txBody>
          <a:bodyPr wrap="square" anchor="ctr" lIns="0" rIns="0" tIns="0" bIns="0">
            <a:spAutoFit/>
          </a:bodyPr>
          <a:lstStyle/>
          <a:p>
            <a:pPr algn="l">
              <a:lnSpc>
                <a:spcPct val="105000"/>
              </a:lnSpc>
              <a:spcBef>
                <a:spcPts val="0"/>
              </a:spcBef>
              <a:spcAft>
                <a:spcPts val="200"/>
              </a:spcAft>
            </a:pPr>
            <a:r>
              <a:rPr b="1" i="0" sz="1600">
                <a:solidFill>
                  <a:srgbClr val="822433"/>
                </a:solidFill>
                <a:latin typeface="Palatino Linotype"/>
              </a:rPr>
              <a:t>1 · </a:t>
            </a:r>
            <a:r>
              <a:rPr b="0" i="0" sz="1250">
                <a:solidFill>
                  <a:srgbClr val="2B2B2B"/>
                </a:solidFill>
                <a:latin typeface="Palatino Linotype"/>
              </a:rPr>
              <a:t>Same solver, paired runs: the average-designed answer differs from the periodic one — the steady curve is flat where the true flow has an optimum and a cliff.</a:t>
            </a:r>
          </a:p>
        </p:txBody>
      </p:sp>
      <p:sp>
        <p:nvSpPr>
          <p:cNvPr id="24" name="Rounded Rectangle 23"/>
          <p:cNvSpPr/>
          <p:nvPr/>
        </p:nvSpPr>
        <p:spPr>
          <a:xfrm>
            <a:off x="8183879" y="2990088"/>
            <a:ext cx="3703320" cy="1371600"/>
          </a:xfrm>
          <a:prstGeom prst="roundRect">
            <a:avLst>
              <a:gd name="adj" fmla="val 10000"/>
            </a:avLst>
          </a:prstGeom>
          <a:solidFill>
            <a:srgbClr val="FFFFFF"/>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0183" y="3063240"/>
            <a:ext cx="3410712" cy="1225296"/>
          </a:xfrm>
          <a:prstGeom prst="rect">
            <a:avLst/>
          </a:prstGeom>
          <a:noFill/>
        </p:spPr>
        <p:txBody>
          <a:bodyPr wrap="square" anchor="ctr" lIns="0" rIns="0" tIns="0" bIns="0">
            <a:spAutoFit/>
          </a:bodyPr>
          <a:lstStyle/>
          <a:p>
            <a:pPr algn="l">
              <a:lnSpc>
                <a:spcPct val="105000"/>
              </a:lnSpc>
              <a:spcBef>
                <a:spcPts val="0"/>
              </a:spcBef>
              <a:spcAft>
                <a:spcPts val="200"/>
              </a:spcAft>
            </a:pPr>
            <a:r>
              <a:rPr b="1" i="0" sz="1600">
                <a:solidFill>
                  <a:srgbClr val="822433"/>
                </a:solidFill>
                <a:latin typeface="Palatino Linotype"/>
              </a:rPr>
              <a:t>2 · </a:t>
            </a:r>
            <a:r>
              <a:rPr b="0" i="0" sz="1250">
                <a:solidFill>
                  <a:srgbClr val="2B2B2B"/>
                </a:solidFill>
                <a:latin typeface="Palatino Linotype"/>
              </a:rPr>
              <a:t>The ranking of five geometries inverts between the two — and no published work quantifies this error.</a:t>
            </a:r>
          </a:p>
        </p:txBody>
      </p:sp>
      <p:sp>
        <p:nvSpPr>
          <p:cNvPr id="26" name="Rounded Rectangle 25"/>
          <p:cNvSpPr/>
          <p:nvPr/>
        </p:nvSpPr>
        <p:spPr>
          <a:xfrm>
            <a:off x="8183879" y="4471416"/>
            <a:ext cx="3703320" cy="1371600"/>
          </a:xfrm>
          <a:prstGeom prst="roundRect">
            <a:avLst>
              <a:gd name="adj" fmla="val 10000"/>
            </a:avLst>
          </a:prstGeom>
          <a:solidFill>
            <a:srgbClr val="FFFFFF"/>
          </a:solidFill>
          <a:ln w="177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0183" y="4544568"/>
            <a:ext cx="3410712" cy="1225296"/>
          </a:xfrm>
          <a:prstGeom prst="rect">
            <a:avLst/>
          </a:prstGeom>
          <a:noFill/>
        </p:spPr>
        <p:txBody>
          <a:bodyPr wrap="square" anchor="ctr" lIns="0" rIns="0" tIns="0" bIns="0">
            <a:spAutoFit/>
          </a:bodyPr>
          <a:lstStyle/>
          <a:p>
            <a:pPr algn="l">
              <a:lnSpc>
                <a:spcPct val="105000"/>
              </a:lnSpc>
              <a:spcBef>
                <a:spcPts val="0"/>
              </a:spcBef>
              <a:spcAft>
                <a:spcPts val="200"/>
              </a:spcAft>
            </a:pPr>
            <a:r>
              <a:rPr b="1" i="0" sz="1600">
                <a:solidFill>
                  <a:srgbClr val="822433"/>
                </a:solidFill>
                <a:latin typeface="Palatino Linotype"/>
              </a:rPr>
              <a:t>3 · </a:t>
            </a:r>
            <a:r>
              <a:rPr b="0" i="0" sz="1250">
                <a:solidFill>
                  <a:srgbClr val="2B2B2B"/>
                </a:solidFill>
                <a:latin typeface="Palatino Linotype"/>
              </a:rPr>
              <a:t>The literature's own verdict: classical nozzle theory 'approximately' applicable — sizing supported at ~1%; which geometry is best: open.</a:t>
            </a:r>
          </a:p>
        </p:txBody>
      </p:sp>
      <p:sp>
        <p:nvSpPr>
          <p:cNvPr id="28" name="TextBox 2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9" name="TextBox 2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Designing on the average solves a different problem — provably</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sp>
        <p:nvSpPr>
          <p:cNvPr id="16" name="Rounded Rectangle 15"/>
          <p:cNvSpPr/>
          <p:nvPr/>
        </p:nvSpPr>
        <p:spPr>
          <a:xfrm>
            <a:off x="457200" y="1463040"/>
            <a:ext cx="5486400" cy="2834640"/>
          </a:xfrm>
          <a:prstGeom prst="roundRect">
            <a:avLst>
              <a:gd name="adj" fmla="val 6000"/>
            </a:avLst>
          </a:prstGeom>
          <a:solidFill>
            <a:srgbClr val="FFFFFF"/>
          </a:solidFill>
          <a:ln w="2032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1554480"/>
            <a:ext cx="523036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600">
                <a:solidFill>
                  <a:srgbClr val="2B2B2B"/>
                </a:solidFill>
                <a:latin typeface="Palatino Linotype"/>
              </a:rPr>
              <a:t>The field: average FIRST</a:t>
            </a:r>
          </a:p>
        </p:txBody>
      </p:sp>
      <p:sp>
        <p:nvSpPr>
          <p:cNvPr id="18" name="TextBox 17"/>
          <p:cNvSpPr txBox="1"/>
          <p:nvPr/>
        </p:nvSpPr>
        <p:spPr>
          <a:xfrm>
            <a:off x="868680" y="2057400"/>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the cycle</a:t>
            </a:r>
          </a:p>
        </p:txBody>
      </p:sp>
      <p:cxnSp>
        <p:nvCxnSpPr>
          <p:cNvPr id="19" name="Connector 18"/>
          <p:cNvCxnSpPr/>
          <p:nvPr/>
        </p:nvCxnSpPr>
        <p:spPr>
          <a:xfrm>
            <a:off x="713232" y="2148840"/>
            <a:ext cx="0" cy="365760"/>
          </a:xfrm>
          <a:prstGeom prst="bentConnector3">
            <a:avLst/>
          </a:prstGeom>
          <a:ln w="177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68680" y="2532888"/>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collapse to ONE mean field</a:t>
            </a:r>
          </a:p>
        </p:txBody>
      </p:sp>
      <p:cxnSp>
        <p:nvCxnSpPr>
          <p:cNvPr id="21" name="Connector 20"/>
          <p:cNvCxnSpPr/>
          <p:nvPr/>
        </p:nvCxnSpPr>
        <p:spPr>
          <a:xfrm>
            <a:off x="713232" y="2624328"/>
            <a:ext cx="0" cy="365760"/>
          </a:xfrm>
          <a:prstGeom prst="bentConnector3">
            <a:avLst/>
          </a:prstGeom>
          <a:ln w="177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68680" y="3008376"/>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apply steady optimality (Rao / Veen)</a:t>
            </a:r>
          </a:p>
        </p:txBody>
      </p:sp>
      <p:cxnSp>
        <p:nvCxnSpPr>
          <p:cNvPr id="23" name="Connector 22"/>
          <p:cNvCxnSpPr/>
          <p:nvPr/>
        </p:nvCxnSpPr>
        <p:spPr>
          <a:xfrm>
            <a:off x="713232" y="3099816"/>
            <a:ext cx="0" cy="365760"/>
          </a:xfrm>
          <a:prstGeom prst="bentConnector3">
            <a:avLst/>
          </a:prstGeom>
          <a:ln w="177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68680" y="3483864"/>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2B2B2B"/>
                </a:solidFill>
                <a:latin typeface="Palatino Linotype"/>
              </a:rPr>
              <a:t>the optimum of a SUBSTITUTE problem</a:t>
            </a:r>
          </a:p>
        </p:txBody>
      </p:sp>
      <p:sp>
        <p:nvSpPr>
          <p:cNvPr id="25" name="TextBox 24"/>
          <p:cNvSpPr txBox="1"/>
          <p:nvPr/>
        </p:nvSpPr>
        <p:spPr>
          <a:xfrm>
            <a:off x="640080" y="3913632"/>
            <a:ext cx="5120640" cy="365760"/>
          </a:xfrm>
          <a:prstGeom prst="rect">
            <a:avLst/>
          </a:prstGeom>
          <a:noFill/>
        </p:spPr>
        <p:txBody>
          <a:bodyPr wrap="square" anchor="t" lIns="0" rIns="0" tIns="0" bIns="0">
            <a:spAutoFit/>
          </a:bodyPr>
          <a:lstStyle/>
          <a:p>
            <a:pPr algn="l">
              <a:lnSpc>
                <a:spcPct val="100000"/>
              </a:lnSpc>
              <a:spcBef>
                <a:spcPts val="0"/>
              </a:spcBef>
              <a:spcAft>
                <a:spcPts val="400"/>
              </a:spcAft>
            </a:pPr>
            <a:r>
              <a:rPr b="0" i="1" sz="1250">
                <a:solidFill>
                  <a:srgbClr val="822433"/>
                </a:solidFill>
                <a:latin typeface="Palatino Linotype"/>
              </a:rPr>
              <a:t>the error on the argmax has no bar</a:t>
            </a:r>
          </a:p>
        </p:txBody>
      </p:sp>
      <p:sp>
        <p:nvSpPr>
          <p:cNvPr id="26" name="Rounded Rectangle 25"/>
          <p:cNvSpPr/>
          <p:nvPr/>
        </p:nvSpPr>
        <p:spPr>
          <a:xfrm>
            <a:off x="6263640" y="1463040"/>
            <a:ext cx="5486400" cy="2834640"/>
          </a:xfrm>
          <a:prstGeom prst="roundRect">
            <a:avLst>
              <a:gd name="adj" fmla="val 6000"/>
            </a:avLst>
          </a:prstGeom>
          <a:solidFill>
            <a:srgbClr val="E8F1F2"/>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5" y="1554480"/>
            <a:ext cx="523036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600">
                <a:solidFill>
                  <a:srgbClr val="006778"/>
                </a:solidFill>
                <a:latin typeface="Palatino Linotype"/>
              </a:rPr>
              <a:t>Us: formulate the PERIODIC optimum</a:t>
            </a:r>
          </a:p>
        </p:txBody>
      </p:sp>
      <p:sp>
        <p:nvSpPr>
          <p:cNvPr id="28" name="TextBox 27"/>
          <p:cNvSpPr txBox="1"/>
          <p:nvPr/>
        </p:nvSpPr>
        <p:spPr>
          <a:xfrm>
            <a:off x="6675120" y="2057400"/>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the cycle</a:t>
            </a:r>
          </a:p>
        </p:txBody>
      </p:sp>
      <p:cxnSp>
        <p:nvCxnSpPr>
          <p:cNvPr id="29" name="Connector 28"/>
          <p:cNvCxnSpPr/>
          <p:nvPr/>
        </p:nvCxnSpPr>
        <p:spPr>
          <a:xfrm>
            <a:off x="6519672" y="2148840"/>
            <a:ext cx="0" cy="365760"/>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75120" y="2532888"/>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per-phase family (phases stay separate)</a:t>
            </a:r>
          </a:p>
        </p:txBody>
      </p:sp>
      <p:cxnSp>
        <p:nvCxnSpPr>
          <p:cNvPr id="31" name="Connector 30"/>
          <p:cNvCxnSpPr/>
          <p:nvPr/>
        </p:nvCxnSpPr>
        <p:spPr>
          <a:xfrm>
            <a:off x="6519672" y="2624328"/>
            <a:ext cx="0" cy="365760"/>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75120" y="3008376"/>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0" i="0" sz="1300">
                <a:solidFill>
                  <a:srgbClr val="2B2B2B"/>
                </a:solidFill>
                <a:latin typeface="Palatino Linotype"/>
              </a:rPr>
              <a:t>cycle-averaged thrust functional</a:t>
            </a:r>
          </a:p>
        </p:txBody>
      </p:sp>
      <p:cxnSp>
        <p:nvCxnSpPr>
          <p:cNvPr id="33" name="Connector 32"/>
          <p:cNvCxnSpPr/>
          <p:nvPr/>
        </p:nvCxnSpPr>
        <p:spPr>
          <a:xfrm>
            <a:off x="6519672" y="3099816"/>
            <a:ext cx="0" cy="365760"/>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675120" y="3483864"/>
            <a:ext cx="4846320" cy="384048"/>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2B2B2B"/>
                </a:solidFill>
                <a:latin typeface="Palatino Linotype"/>
              </a:rPr>
              <a:t>ITS optimality conditions: averaged transversality &amp; corner</a:t>
            </a:r>
          </a:p>
        </p:txBody>
      </p:sp>
      <p:sp>
        <p:nvSpPr>
          <p:cNvPr id="35" name="TextBox 34"/>
          <p:cNvSpPr txBox="1"/>
          <p:nvPr/>
        </p:nvSpPr>
        <p:spPr>
          <a:xfrm>
            <a:off x="6446520" y="3913632"/>
            <a:ext cx="5120640" cy="365760"/>
          </a:xfrm>
          <a:prstGeom prst="rect">
            <a:avLst/>
          </a:prstGeom>
          <a:noFill/>
        </p:spPr>
        <p:txBody>
          <a:bodyPr wrap="square" anchor="t" lIns="0" rIns="0" tIns="0" bIns="0">
            <a:spAutoFit/>
          </a:bodyPr>
          <a:lstStyle/>
          <a:p>
            <a:pPr algn="l">
              <a:lnSpc>
                <a:spcPct val="100000"/>
              </a:lnSpc>
              <a:spcBef>
                <a:spcPts val="0"/>
              </a:spcBef>
              <a:spcAft>
                <a:spcPts val="400"/>
              </a:spcAft>
            </a:pPr>
            <a:r>
              <a:rPr b="0" i="1" sz="1250">
                <a:solidFill>
                  <a:srgbClr val="006778"/>
                </a:solidFill>
                <a:latin typeface="Palatino Linotype"/>
              </a:rPr>
              <a:t>conditions never written before</a:t>
            </a:r>
          </a:p>
        </p:txBody>
      </p:sp>
      <p:pic>
        <p:nvPicPr>
          <p:cNvPr id="36" name="Picture 35" descr="eq_javg.png"/>
          <p:cNvPicPr>
            <a:picLocks noChangeAspect="1"/>
          </p:cNvPicPr>
          <p:nvPr/>
        </p:nvPicPr>
        <p:blipFill>
          <a:blip r:embed="rId3"/>
          <a:stretch>
            <a:fillRect/>
          </a:stretch>
        </p:blipFill>
        <p:spPr>
          <a:xfrm>
            <a:off x="777240" y="4434840"/>
            <a:ext cx="2651760" cy="440910"/>
          </a:xfrm>
          <a:prstGeom prst="rect">
            <a:avLst/>
          </a:prstGeom>
        </p:spPr>
      </p:pic>
      <p:pic>
        <p:nvPicPr>
          <p:cNvPr id="37" name="Picture 36" descr="eq_avg_wall.png"/>
          <p:cNvPicPr>
            <a:picLocks noChangeAspect="1"/>
          </p:cNvPicPr>
          <p:nvPr/>
        </p:nvPicPr>
        <p:blipFill>
          <a:blip r:embed="rId4"/>
          <a:stretch>
            <a:fillRect/>
          </a:stretch>
        </p:blipFill>
        <p:spPr>
          <a:xfrm>
            <a:off x="3977639" y="4480560"/>
            <a:ext cx="5577840" cy="436256"/>
          </a:xfrm>
          <a:prstGeom prst="rect">
            <a:avLst/>
          </a:prstGeom>
        </p:spPr>
      </p:pic>
      <p:sp>
        <p:nvSpPr>
          <p:cNvPr id="38" name="Rounded Rectangle 37"/>
          <p:cNvSpPr/>
          <p:nvPr/>
        </p:nvSpPr>
        <p:spPr>
          <a:xfrm>
            <a:off x="457200" y="5102352"/>
            <a:ext cx="11292840" cy="914400"/>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5175504"/>
            <a:ext cx="11000232" cy="768096"/>
          </a:xfrm>
          <a:prstGeom prst="rect">
            <a:avLst/>
          </a:prstGeom>
          <a:noFill/>
        </p:spPr>
        <p:txBody>
          <a:bodyPr wrap="square" anchor="ctr" lIns="0" rIns="0" tIns="0" bIns="0">
            <a:spAutoFit/>
          </a:bodyPr>
          <a:lstStyle/>
          <a:p>
            <a:pPr algn="l">
              <a:lnSpc>
                <a:spcPct val="105000"/>
              </a:lnSpc>
              <a:spcBef>
                <a:spcPts val="0"/>
              </a:spcBef>
              <a:spcAft>
                <a:spcPts val="200"/>
              </a:spcAft>
            </a:pPr>
            <a:r>
              <a:rPr b="0" i="0" sz="1500">
                <a:solidFill>
                  <a:srgbClr val="2B2B2B"/>
                </a:solidFill>
                <a:latin typeface="Palatino Linotype"/>
              </a:rPr>
              <a:t>The deciding theorem: no single phase satisfies its own wall condition — </a:t>
            </a:r>
            <a:r>
              <a:rPr b="1" i="0" sz="1500">
                <a:solidFill>
                  <a:srgbClr val="822433"/>
                </a:solidFill>
                <a:latin typeface="Palatino Linotype"/>
              </a:rPr>
              <a:t>the weighted mean does</a:t>
            </a:r>
            <a:r>
              <a:rPr b="0" i="0" sz="1500">
                <a:solidFill>
                  <a:srgbClr val="2B2B2B"/>
                </a:solidFill>
                <a:latin typeface="Palatino Linotype"/>
              </a:rPr>
              <a:t>. The cycle-optimal nozzle is optimal at no single operating point.</a:t>
            </a:r>
          </a:p>
        </p:txBody>
      </p:sp>
      <p:sp>
        <p:nvSpPr>
          <p:cNvPr id="40" name="TextBox 3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41" name="TextBox 4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Where the difference is a theorem — and where it is an open, measured question</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sp>
        <p:nvSpPr>
          <p:cNvPr id="16" name="Rounded Rectangle 15"/>
          <p:cNvSpPr/>
          <p:nvPr/>
        </p:nvSpPr>
        <p:spPr>
          <a:xfrm>
            <a:off x="411480" y="1508760"/>
            <a:ext cx="3703320" cy="237744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160020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area ratio only — no contouring</a:t>
            </a:r>
          </a:p>
        </p:txBody>
      </p:sp>
      <p:sp>
        <p:nvSpPr>
          <p:cNvPr id="18" name="TextBox 17"/>
          <p:cNvSpPr txBox="1"/>
          <p:nvPr/>
        </p:nvSpPr>
        <p:spPr>
          <a:xfrm>
            <a:off x="548640" y="2148840"/>
            <a:ext cx="3429000" cy="457200"/>
          </a:xfrm>
          <a:prstGeom prst="rect">
            <a:avLst/>
          </a:prstGeom>
          <a:noFill/>
        </p:spPr>
        <p:txBody>
          <a:bodyPr wrap="square" anchor="t" lIns="0" rIns="0" tIns="0" bIns="0">
            <a:spAutoFit/>
          </a:bodyPr>
          <a:lstStyle/>
          <a:p>
            <a:pPr algn="l">
              <a:lnSpc>
                <a:spcPct val="100000"/>
              </a:lnSpc>
              <a:spcBef>
                <a:spcPts val="0"/>
              </a:spcBef>
              <a:spcAft>
                <a:spcPts val="400"/>
              </a:spcAft>
            </a:pPr>
            <a:r>
              <a:rPr b="1" i="0" sz="1500">
                <a:solidFill>
                  <a:srgbClr val="006778"/>
                </a:solidFill>
                <a:latin typeface="Palatino Linotype"/>
              </a:rPr>
              <a:t>the two problems coincide — proven</a:t>
            </a:r>
          </a:p>
        </p:txBody>
      </p:sp>
      <p:sp>
        <p:nvSpPr>
          <p:cNvPr id="19" name="TextBox 18"/>
          <p:cNvSpPr txBox="1"/>
          <p:nvPr/>
        </p:nvSpPr>
        <p:spPr>
          <a:xfrm>
            <a:off x="548640" y="2724912"/>
            <a:ext cx="3429000" cy="1097280"/>
          </a:xfrm>
          <a:prstGeom prst="rect">
            <a:avLst/>
          </a:prstGeom>
          <a:noFill/>
        </p:spPr>
        <p:txBody>
          <a:bodyPr wrap="square" anchor="t" lIns="0" rIns="0" tIns="0" bIns="0">
            <a:spAutoFit/>
          </a:bodyPr>
          <a:lstStyle/>
          <a:p>
            <a:pPr algn="l">
              <a:lnSpc>
                <a:spcPct val="100000"/>
              </a:lnSpc>
              <a:spcBef>
                <a:spcPts val="0"/>
              </a:spcBef>
              <a:spcAft>
                <a:spcPts val="400"/>
              </a:spcAft>
            </a:pPr>
            <a:r>
              <a:rPr b="0" i="0" sz="1250">
                <a:solidFill>
                  <a:srgbClr val="2B2B2B"/>
                </a:solidFill>
                <a:latin typeface="Palatino Linotype"/>
              </a:rPr>
              <a:t>even here the wrong mean moves the optimum area ratio by +44–87% (3–10 s of Isp) — measured on our numerical test bench</a:t>
            </a:r>
          </a:p>
        </p:txBody>
      </p:sp>
      <p:sp>
        <p:nvSpPr>
          <p:cNvPr id="20" name="Rounded Rectangle 19"/>
          <p:cNvSpPr/>
          <p:nvPr/>
        </p:nvSpPr>
        <p:spPr>
          <a:xfrm>
            <a:off x="4270248" y="1508760"/>
            <a:ext cx="3703320" cy="237744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8264" y="160020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full adapted plug</a:t>
            </a:r>
          </a:p>
        </p:txBody>
      </p:sp>
      <p:sp>
        <p:nvSpPr>
          <p:cNvPr id="22" name="TextBox 21"/>
          <p:cNvSpPr txBox="1"/>
          <p:nvPr/>
        </p:nvSpPr>
        <p:spPr>
          <a:xfrm>
            <a:off x="4407407" y="2148840"/>
            <a:ext cx="3429000" cy="457200"/>
          </a:xfrm>
          <a:prstGeom prst="rect">
            <a:avLst/>
          </a:prstGeom>
          <a:noFill/>
        </p:spPr>
        <p:txBody>
          <a:bodyPr wrap="square" anchor="t" lIns="0" rIns="0" tIns="0" bIns="0">
            <a:spAutoFit/>
          </a:bodyPr>
          <a:lstStyle/>
          <a:p>
            <a:pPr algn="l">
              <a:lnSpc>
                <a:spcPct val="100000"/>
              </a:lnSpc>
              <a:spcBef>
                <a:spcPts val="0"/>
              </a:spcBef>
              <a:spcAft>
                <a:spcPts val="400"/>
              </a:spcAft>
            </a:pPr>
            <a:r>
              <a:rPr b="1" i="0" sz="1500">
                <a:solidFill>
                  <a:srgbClr val="006778"/>
                </a:solidFill>
                <a:latin typeface="Palatino Linotype"/>
              </a:rPr>
              <a:t>still coincide — proven, perimeter declared</a:t>
            </a:r>
          </a:p>
        </p:txBody>
      </p:sp>
      <p:sp>
        <p:nvSpPr>
          <p:cNvPr id="23" name="TextBox 22"/>
          <p:cNvSpPr txBox="1"/>
          <p:nvPr/>
        </p:nvSpPr>
        <p:spPr>
          <a:xfrm>
            <a:off x="4407407" y="2724912"/>
            <a:ext cx="3429000" cy="1097280"/>
          </a:xfrm>
          <a:prstGeom prst="rect">
            <a:avLst/>
          </a:prstGeom>
          <a:noFill/>
        </p:spPr>
        <p:txBody>
          <a:bodyPr wrap="square" anchor="t" lIns="0" rIns="0" tIns="0" bIns="0">
            <a:spAutoFit/>
          </a:bodyPr>
          <a:lstStyle/>
          <a:p>
            <a:pPr algn="l">
              <a:lnSpc>
                <a:spcPct val="100000"/>
              </a:lnSpc>
              <a:spcBef>
                <a:spcPts val="0"/>
              </a:spcBef>
              <a:spcAft>
                <a:spcPts val="400"/>
              </a:spcAft>
            </a:pPr>
            <a:r>
              <a:rPr b="0" i="0" sz="1250">
                <a:solidFill>
                  <a:srgbClr val="2B2B2B"/>
                </a:solidFill>
                <a:latin typeface="Palatino Linotype"/>
              </a:rPr>
              <a:t>the peak-phase design is optimal</a:t>
            </a:r>
          </a:p>
        </p:txBody>
      </p:sp>
      <p:sp>
        <p:nvSpPr>
          <p:cNvPr id="24" name="Rounded Rectangle 23"/>
          <p:cNvSpPr/>
          <p:nvPr/>
        </p:nvSpPr>
        <p:spPr>
          <a:xfrm>
            <a:off x="8129015" y="1508760"/>
            <a:ext cx="3703320" cy="2377440"/>
          </a:xfrm>
          <a:prstGeom prst="roundRect">
            <a:avLst>
              <a:gd name="adj" fmla="val 6000"/>
            </a:avLst>
          </a:prstGeom>
          <a:solidFill>
            <a:srgbClr val="F6ECEE"/>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160020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822433"/>
                </a:solidFill>
                <a:latin typeface="Palatino Linotype"/>
              </a:rPr>
              <a:t>TRUNCATED plug — our configuration</a:t>
            </a:r>
          </a:p>
        </p:txBody>
      </p:sp>
      <p:sp>
        <p:nvSpPr>
          <p:cNvPr id="26" name="TextBox 25"/>
          <p:cNvSpPr txBox="1"/>
          <p:nvPr/>
        </p:nvSpPr>
        <p:spPr>
          <a:xfrm>
            <a:off x="8266175" y="2148840"/>
            <a:ext cx="3429000" cy="457200"/>
          </a:xfrm>
          <a:prstGeom prst="rect">
            <a:avLst/>
          </a:prstGeom>
          <a:noFill/>
        </p:spPr>
        <p:txBody>
          <a:bodyPr wrap="square" anchor="t" lIns="0" rIns="0" tIns="0" bIns="0">
            <a:spAutoFit/>
          </a:bodyPr>
          <a:lstStyle/>
          <a:p>
            <a:pPr algn="l">
              <a:lnSpc>
                <a:spcPct val="100000"/>
              </a:lnSpc>
              <a:spcBef>
                <a:spcPts val="0"/>
              </a:spcBef>
              <a:spcAft>
                <a:spcPts val="400"/>
              </a:spcAft>
            </a:pPr>
            <a:r>
              <a:rPr b="1" i="0" sz="1500">
                <a:solidFill>
                  <a:srgbClr val="822433"/>
                </a:solidFill>
                <a:latin typeface="Palatino Linotype"/>
              </a:rPr>
              <a:t>the coincidence breaks — proven</a:t>
            </a:r>
          </a:p>
        </p:txBody>
      </p:sp>
      <p:sp>
        <p:nvSpPr>
          <p:cNvPr id="27" name="TextBox 26"/>
          <p:cNvSpPr txBox="1"/>
          <p:nvPr/>
        </p:nvSpPr>
        <p:spPr>
          <a:xfrm>
            <a:off x="8266175" y="2724912"/>
            <a:ext cx="3429000" cy="1097280"/>
          </a:xfrm>
          <a:prstGeom prst="rect">
            <a:avLst/>
          </a:prstGeom>
          <a:noFill/>
        </p:spPr>
        <p:txBody>
          <a:bodyPr wrap="square" anchor="t" lIns="0" rIns="0" tIns="0" bIns="0">
            <a:spAutoFit/>
          </a:bodyPr>
          <a:lstStyle/>
          <a:p>
            <a:pPr algn="l">
              <a:lnSpc>
                <a:spcPct val="100000"/>
              </a:lnSpc>
              <a:spcBef>
                <a:spcPts val="0"/>
              </a:spcBef>
              <a:spcAft>
                <a:spcPts val="400"/>
              </a:spcAft>
            </a:pPr>
            <a:r>
              <a:rPr b="0" i="0" sz="1250">
                <a:solidFill>
                  <a:srgbClr val="2B2B2B"/>
                </a:solidFill>
                <a:latin typeface="Palatino Linotype"/>
              </a:rPr>
              <a:t>the first genuinely averaged shape problem opens</a:t>
            </a:r>
          </a:p>
        </p:txBody>
      </p:sp>
      <p:sp>
        <p:nvSpPr>
          <p:cNvPr id="28" name="Rounded Rectangle 27"/>
          <p:cNvSpPr/>
          <p:nvPr/>
        </p:nvSpPr>
        <p:spPr>
          <a:xfrm>
            <a:off x="411480" y="4343400"/>
            <a:ext cx="11384280" cy="1051560"/>
          </a:xfrm>
          <a:prstGeom prst="roundRect">
            <a:avLst>
              <a:gd name="adj" fmla="val 10000"/>
            </a:avLst>
          </a:prstGeom>
          <a:solidFill>
            <a:srgbClr val="FFFFFF"/>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7784" y="4416552"/>
            <a:ext cx="11091672" cy="905255"/>
          </a:xfrm>
          <a:prstGeom prst="rect">
            <a:avLst/>
          </a:prstGeom>
          <a:noFill/>
        </p:spPr>
        <p:txBody>
          <a:bodyPr wrap="square" anchor="ctr" lIns="0" rIns="0" tIns="0" bIns="0">
            <a:spAutoFit/>
          </a:bodyPr>
          <a:lstStyle/>
          <a:p>
            <a:pPr algn="l">
              <a:lnSpc>
                <a:spcPct val="105000"/>
              </a:lnSpc>
              <a:spcBef>
                <a:spcPts val="0"/>
              </a:spcBef>
              <a:spcAft>
                <a:spcPts val="200"/>
              </a:spcAft>
            </a:pPr>
            <a:r>
              <a:rPr b="0" i="0" sz="1400">
                <a:solidFill>
                  <a:srgbClr val="2B2B2B"/>
                </a:solidFill>
                <a:latin typeface="Palatino Linotype"/>
              </a:rPr>
              <a:t>The head-to-head — our per-phase design vs the classical design at cycle-mean p₀/T₀, identical constraints — has never been computed, by anyone. First signal, simplest rung: the wrong mean moves the optimum area ratio by +44–87% (3–10 s of Isp). The machine is ready: it is the first campaign.</a:t>
            </a:r>
          </a:p>
        </p:txBody>
      </p:sp>
      <p:sp>
        <p:nvSpPr>
          <p:cNvPr id="30" name="TextBox 2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31" name="TextBox 3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Same pressure reading, different thrust</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fig_c9_gauge.png"/>
          <p:cNvPicPr>
            <a:picLocks noChangeAspect="1"/>
          </p:cNvPicPr>
          <p:nvPr/>
        </p:nvPicPr>
        <p:blipFill>
          <a:blip r:embed="rId3"/>
          <a:stretch>
            <a:fillRect/>
          </a:stretch>
        </p:blipFill>
        <p:spPr>
          <a:xfrm>
            <a:off x="365760" y="2290744"/>
            <a:ext cx="6035040" cy="2505111"/>
          </a:xfrm>
          <a:prstGeom prst="rect">
            <a:avLst/>
          </a:prstGeom>
        </p:spPr>
      </p:pic>
      <p:sp>
        <p:nvSpPr>
          <p:cNvPr id="17" name="TextBox 16"/>
          <p:cNvSpPr txBox="1"/>
          <p:nvPr/>
        </p:nvSpPr>
        <p:spPr>
          <a:xfrm>
            <a:off x="6629400" y="1645920"/>
            <a:ext cx="5257800" cy="4114800"/>
          </a:xfrm>
          <a:prstGeom prst="rect">
            <a:avLst/>
          </a:prstGeom>
          <a:noFill/>
        </p:spPr>
        <p:txBody>
          <a:bodyPr wrap="square" anchor="t" lIns="0" rIns="0" tIns="0" bIns="0">
            <a:spAutoFit/>
          </a:bodyPr>
          <a:lstStyle/>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A gauge at the inlet reads the same for both flows — but one swirls, and thrust differs (1.5–3%).</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Pressure alone cannot rank designs: the boundary must carry the full state — which swings p₀ ~4:1 and T₀ ~40% within one cycle (published).</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Feeding recorded chamber data to the nozzle is established practice (Miki 2020; Paxson &amp; Miki 2022) — our own Q2D chamber solver produces it in-house.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From theory to a design machine: every choice on record</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fig_method_flow.png"/>
          <p:cNvPicPr>
            <a:picLocks noChangeAspect="1"/>
          </p:cNvPicPr>
          <p:nvPr/>
        </p:nvPicPr>
        <p:blipFill>
          <a:blip r:embed="rId3"/>
          <a:stretch>
            <a:fillRect/>
          </a:stretch>
        </p:blipFill>
        <p:spPr>
          <a:xfrm>
            <a:off x="748902" y="1554480"/>
            <a:ext cx="10709434" cy="3017520"/>
          </a:xfrm>
          <a:prstGeom prst="rect">
            <a:avLst/>
          </a:prstGeom>
        </p:spPr>
      </p:pic>
      <p:sp>
        <p:nvSpPr>
          <p:cNvPr id="17" name="TextBox 16"/>
          <p:cNvSpPr txBox="1"/>
          <p:nvPr/>
        </p:nvSpPr>
        <p:spPr>
          <a:xfrm>
            <a:off x="548640" y="4590288"/>
            <a:ext cx="11155680" cy="256032"/>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six stages shown — the full eight-stage engineering record is in backup</a:t>
            </a:r>
          </a:p>
        </p:txBody>
      </p:sp>
      <p:sp>
        <p:nvSpPr>
          <p:cNvPr id="18" name="TextBox 17"/>
          <p:cNvSpPr txBox="1"/>
          <p:nvPr/>
        </p:nvSpPr>
        <p:spPr>
          <a:xfrm>
            <a:off x="548640" y="4892040"/>
            <a:ext cx="11155680" cy="1280160"/>
          </a:xfrm>
          <a:prstGeom prst="rect">
            <a:avLst/>
          </a:prstGeom>
          <a:noFill/>
        </p:spPr>
        <p:txBody>
          <a:bodyPr wrap="square" anchor="t" lIns="0" rIns="0" tIns="0" bIns="0">
            <a:spAutoFit/>
          </a:bodyPr>
          <a:lstStyle/>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The objective is one number: J, the cycle-averaged thrust of the shared wall.</a:t>
            </a:r>
          </a:p>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The adjoint: one forward + one backward solve → the exact dJ/d(shape) for every wall parameter — trust-region Newton climbs it in seconds.</a:t>
            </a:r>
          </a:p>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Every choice sits on a register with alternatives and a test that can reject it.</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Before going where Rao cannot, the machine reproduces Rao</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pic>
        <p:nvPicPr>
          <p:cNvPr id="16" name="Picture 15" descr="fig_c13val_clean.png"/>
          <p:cNvPicPr>
            <a:picLocks noChangeAspect="1"/>
          </p:cNvPicPr>
          <p:nvPr/>
        </p:nvPicPr>
        <p:blipFill>
          <a:blip r:embed="rId3"/>
          <a:stretch>
            <a:fillRect/>
          </a:stretch>
        </p:blipFill>
        <p:spPr>
          <a:xfrm>
            <a:off x="1756392" y="1463040"/>
            <a:ext cx="5082574" cy="4297680"/>
          </a:xfrm>
          <a:prstGeom prst="rect">
            <a:avLst/>
          </a:prstGeom>
        </p:spPr>
      </p:pic>
      <p:sp>
        <p:nvSpPr>
          <p:cNvPr id="17" name="TextBox 16"/>
          <p:cNvSpPr txBox="1"/>
          <p:nvPr/>
        </p:nvSpPr>
        <p:spPr>
          <a:xfrm>
            <a:off x="457200" y="5779008"/>
            <a:ext cx="768096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Variational contour vs classical Rao contour, with deviation panel — in-house, two independent routes</a:t>
            </a:r>
          </a:p>
        </p:txBody>
      </p:sp>
      <p:sp>
        <p:nvSpPr>
          <p:cNvPr id="18" name="TextBox 17"/>
          <p:cNvSpPr txBox="1"/>
          <p:nvPr/>
        </p:nvSpPr>
        <p:spPr>
          <a:xfrm>
            <a:off x="8366760" y="1737360"/>
            <a:ext cx="3520440" cy="4023360"/>
          </a:xfrm>
          <a:prstGeom prst="rect">
            <a:avLst/>
          </a:prstGeom>
          <a:noFill/>
        </p:spPr>
        <p:txBody>
          <a:bodyPr wrap="square" anchor="t" lIns="0" rIns="0" tIns="0" bIns="0">
            <a:spAutoFit/>
          </a:bodyPr>
          <a:lstStyle/>
          <a:p>
            <a:pPr algn="l" marL="256032" indent="-256032">
              <a:lnSpc>
                <a:spcPct val="105000"/>
              </a:lnSpc>
              <a:spcBef>
                <a:spcPts val="0"/>
              </a:spcBef>
              <a:spcAft>
                <a:spcPts val="800"/>
              </a:spcAft>
            </a:pPr>
            <a:r>
              <a:rPr b="0" i="0" sz="1400">
                <a:solidFill>
                  <a:srgbClr val="822433"/>
                </a:solidFill>
                <a:latin typeface="Palatino Linotype"/>
              </a:rPr>
              <a:t>•  </a:t>
            </a:r>
            <a:r>
              <a:rPr b="0" i="0" sz="1400">
                <a:solidFill>
                  <a:srgbClr val="2B2B2B"/>
                </a:solidFill>
                <a:latin typeface="Palatino Linotype"/>
              </a:rPr>
              <a:t>By a route independent of the classical construction, the machine recovers Rao's contour: max deviation ~2·10⁻³ of throat radius.</a:t>
            </a:r>
          </a:p>
          <a:p>
            <a:pPr algn="l" marL="256032" indent="-256032">
              <a:lnSpc>
                <a:spcPct val="105000"/>
              </a:lnSpc>
              <a:spcBef>
                <a:spcPts val="0"/>
              </a:spcBef>
              <a:spcAft>
                <a:spcPts val="800"/>
              </a:spcAft>
            </a:pPr>
            <a:r>
              <a:rPr b="0" i="0" sz="1400">
                <a:solidFill>
                  <a:srgbClr val="822433"/>
                </a:solidFill>
                <a:latin typeface="Palatino Linotype"/>
              </a:rPr>
              <a:t>•  </a:t>
            </a:r>
            <a:r>
              <a:rPr b="0" i="0" sz="1400">
                <a:solidFill>
                  <a:srgbClr val="2B2B2B"/>
                </a:solidFill>
                <a:latin typeface="Palatino Linotype"/>
              </a:rPr>
              <a:t>Two routes, one contour — the literature's benchmark, passed.</a:t>
            </a:r>
          </a:p>
          <a:p>
            <a:pPr algn="l" marL="256032" indent="-256032">
              <a:lnSpc>
                <a:spcPct val="105000"/>
              </a:lnSpc>
              <a:spcBef>
                <a:spcPts val="0"/>
              </a:spcBef>
              <a:spcAft>
                <a:spcPts val="800"/>
              </a:spcAft>
            </a:pPr>
            <a:r>
              <a:rPr b="0" i="0" sz="1400">
                <a:solidFill>
                  <a:srgbClr val="822433"/>
                </a:solidFill>
                <a:latin typeface="Palatino Linotype"/>
              </a:rPr>
              <a:t>•  </a:t>
            </a:r>
            <a:r>
              <a:rPr b="0" i="0" sz="1400">
                <a:solidFill>
                  <a:srgbClr val="2B2B2B"/>
                </a:solidFill>
                <a:latin typeface="Palatino Linotype"/>
              </a:rPr>
              <a:t>And it is fast: one design segment in 15–20 s; a full validation campaign in 10–14 minutes.</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Where the remaining error lives, source by source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graphicFrame>
        <p:nvGraphicFramePr>
          <p:cNvPr id="16" name="Table 15"/>
          <p:cNvGraphicFramePr>
            <a:graphicFrameLocks noGrp="1"/>
          </p:cNvGraphicFramePr>
          <p:nvPr/>
        </p:nvGraphicFramePr>
        <p:xfrm>
          <a:off x="457200" y="1481328"/>
          <a:ext cx="11292838" cy="2688336"/>
        </p:xfrm>
        <a:graphic>
          <a:graphicData uri="http://schemas.openxmlformats.org/drawingml/2006/table">
            <a:tbl>
              <a:tblPr firstRow="1">
                <a:tableStyleId>{5C22544A-7EE6-4342-B048-85BDC9FD1C3A}</a:tableStyleId>
              </a:tblPr>
              <a:tblGrid>
                <a:gridCol w="3409159"/>
                <a:gridCol w="2983014"/>
                <a:gridCol w="2130724"/>
                <a:gridCol w="2769941"/>
              </a:tblGrid>
              <a:tr h="384048">
                <a:tc>
                  <a:txBody>
                    <a:bodyPr wrap="square"/>
                    <a:lstStyle/>
                    <a:p>
                      <a:pPr algn="l"/>
                      <a:r>
                        <a:rPr b="1" sz="1350">
                          <a:solidFill>
                            <a:srgbClr val="FFFFFF"/>
                          </a:solidFill>
                          <a:latin typeface="Palatino Linotype"/>
                        </a:rPr>
                        <a:t>source</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best</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worst</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how estimated</a:t>
                      </a:r>
                    </a:p>
                  </a:txBody>
                  <a:tcPr marL="54864" marR="45720" marT="18288" marB="18288" anchor="ctr">
                    <a:solidFill>
                      <a:srgbClr val="822433"/>
                    </a:solidFill>
                  </a:tcPr>
                </a:tc>
              </a:tr>
              <a:tr h="384048">
                <a:tc>
                  <a:txBody>
                    <a:bodyPr wrap="square"/>
                    <a:lstStyle/>
                    <a:p>
                      <a:pPr algn="l"/>
                      <a:r>
                        <a:rPr b="1" sz="1250">
                          <a:solidFill>
                            <a:srgbClr val="004D59"/>
                          </a:solidFill>
                          <a:latin typeface="Palatino Linotype"/>
                        </a:rPr>
                        <a:t>Mean azimuthal residual</a:t>
                      </a:r>
                    </a:p>
                  </a:txBody>
                  <a:tcPr marL="54864" marR="45720" marT="18288" marB="18288" anchor="ctr">
                    <a:solidFill>
                      <a:srgbClr val="FFFFFF"/>
                    </a:solidFill>
                  </a:tcPr>
                </a:tc>
                <a:tc>
                  <a:txBody>
                    <a:bodyPr wrap="square"/>
                    <a:lstStyle/>
                    <a:p>
                      <a:pPr algn="ctr"/>
                      <a:r>
                        <a:rPr sz="1250">
                          <a:solidFill>
                            <a:srgbClr val="2B2B2B"/>
                          </a:solidFill>
                          <a:latin typeface="Palatino Linotype"/>
                        </a:rPr>
                        <a:t>exactly 0</a:t>
                      </a:r>
                    </a:p>
                  </a:txBody>
                  <a:tcPr marL="54864" marR="45720" marT="18288" marB="18288" anchor="ctr">
                    <a:solidFill>
                      <a:srgbClr val="FFFFFF"/>
                    </a:solidFill>
                  </a:tcPr>
                </a:tc>
                <a:tc>
                  <a:txBody>
                    <a:bodyPr wrap="square"/>
                    <a:lstStyle/>
                    <a:p>
                      <a:pPr algn="ctr"/>
                      <a:r>
                        <a:rPr sz="1250">
                          <a:solidFill>
                            <a:srgbClr val="2B2B2B"/>
                          </a:solidFill>
                          <a:latin typeface="Palatino Linotype"/>
                        </a:rPr>
                        <a:t>exactly 0</a:t>
                      </a:r>
                    </a:p>
                  </a:txBody>
                  <a:tcPr marL="54864" marR="45720" marT="18288" marB="18288" anchor="ctr">
                    <a:solidFill>
                      <a:srgbClr val="FFFFFF"/>
                    </a:solidFill>
                  </a:tcPr>
                </a:tc>
                <a:tc>
                  <a:txBody>
                    <a:bodyPr wrap="square"/>
                    <a:lstStyle/>
                    <a:p>
                      <a:pPr algn="ctr"/>
                      <a:r>
                        <a:rPr sz="1250">
                          <a:solidFill>
                            <a:srgbClr val="2B2B2B"/>
                          </a:solidFill>
                          <a:latin typeface="Palatino Linotype"/>
                        </a:rPr>
                        <a:t>proven (hypotheses stated)</a:t>
                      </a:r>
                    </a:p>
                  </a:txBody>
                  <a:tcPr marL="54864" marR="45720" marT="18288" marB="18288" anchor="ctr">
                    <a:solidFill>
                      <a:srgbClr val="FFFFFF"/>
                    </a:solidFill>
                  </a:tcPr>
                </a:tc>
              </a:tr>
              <a:tr h="384048">
                <a:tc>
                  <a:txBody>
                    <a:bodyPr wrap="square"/>
                    <a:lstStyle/>
                    <a:p>
                      <a:pPr algn="l"/>
                      <a:r>
                        <a:rPr b="1" sz="1250">
                          <a:solidFill>
                            <a:srgbClr val="004D59"/>
                          </a:solidFill>
                          <a:latin typeface="Palatino Linotype"/>
                        </a:rPr>
                        <a:t>Swirl thrust unmodelled</a:t>
                      </a:r>
                    </a:p>
                  </a:txBody>
                  <a:tcPr marL="54864" marR="45720" marT="18288" marB="18288" anchor="ctr">
                    <a:solidFill>
                      <a:srgbClr val="F2ECED"/>
                    </a:solidFill>
                  </a:tcPr>
                </a:tc>
                <a:tc>
                  <a:txBody>
                    <a:bodyPr wrap="square"/>
                    <a:lstStyle/>
                    <a:p>
                      <a:pPr algn="ctr"/>
                      <a:r>
                        <a:rPr sz="1250">
                          <a:solidFill>
                            <a:srgbClr val="2B2B2B"/>
                          </a:solidFill>
                          <a:latin typeface="Palatino Linotype"/>
                        </a:rPr>
                        <a:t>1.5% of thrust</a:t>
                      </a:r>
                    </a:p>
                  </a:txBody>
                  <a:tcPr marL="54864" marR="45720" marT="18288" marB="18288" anchor="ctr">
                    <a:solidFill>
                      <a:srgbClr val="F2ECED"/>
                    </a:solidFill>
                  </a:tcPr>
                </a:tc>
                <a:tc>
                  <a:txBody>
                    <a:bodyPr wrap="square"/>
                    <a:lstStyle/>
                    <a:p>
                      <a:pPr algn="ctr"/>
                      <a:r>
                        <a:rPr sz="1250">
                          <a:solidFill>
                            <a:srgbClr val="2B2B2B"/>
                          </a:solidFill>
                          <a:latin typeface="Palatino Linotype"/>
                        </a:rPr>
                        <a:t>3% of thrust</a:t>
                      </a:r>
                    </a:p>
                  </a:txBody>
                  <a:tcPr marL="54864" marR="45720" marT="18288" marB="18288" anchor="ctr">
                    <a:solidFill>
                      <a:srgbClr val="F2ECED"/>
                    </a:solidFill>
                  </a:tcPr>
                </a:tc>
                <a:tc>
                  <a:txBody>
                    <a:bodyPr wrap="square"/>
                    <a:lstStyle/>
                    <a:p>
                      <a:pPr algn="ctr"/>
                      <a:r>
                        <a:rPr sz="1250">
                          <a:solidFill>
                            <a:srgbClr val="2B2B2B"/>
                          </a:solidFill>
                          <a:latin typeface="Palatino Linotype"/>
                        </a:rPr>
                        <a:t>order estimate</a:t>
                      </a:r>
                    </a:p>
                  </a:txBody>
                  <a:tcPr marL="54864" marR="45720" marT="18288" marB="18288" anchor="ctr">
                    <a:solidFill>
                      <a:srgbClr val="F2ECED"/>
                    </a:solidFill>
                  </a:tcPr>
                </a:tc>
              </a:tr>
              <a:tr h="384048">
                <a:tc>
                  <a:txBody>
                    <a:bodyPr wrap="square"/>
                    <a:lstStyle/>
                    <a:p>
                      <a:pPr algn="l"/>
                      <a:r>
                        <a:rPr b="1" sz="1250">
                          <a:solidFill>
                            <a:srgbClr val="004D59"/>
                          </a:solidFill>
                          <a:latin typeface="Palatino Linotype"/>
                        </a:rPr>
                        <a:t>Input-data bias</a:t>
                      </a:r>
                    </a:p>
                  </a:txBody>
                  <a:tcPr marL="54864" marR="45720" marT="18288" marB="18288" anchor="ctr">
                    <a:solidFill>
                      <a:srgbClr val="FFFFFF"/>
                    </a:solidFill>
                  </a:tcPr>
                </a:tc>
                <a:tc>
                  <a:txBody>
                    <a:bodyPr wrap="square"/>
                    <a:lstStyle/>
                    <a:p>
                      <a:pPr algn="ctr"/>
                      <a:r>
                        <a:rPr sz="1250">
                          <a:solidFill>
                            <a:srgbClr val="2B2B2B"/>
                          </a:solidFill>
                          <a:latin typeface="Palatino Linotype"/>
                        </a:rPr>
                        <a:t>0.6% of pressure</a:t>
                      </a:r>
                    </a:p>
                  </a:txBody>
                  <a:tcPr marL="54864" marR="45720" marT="18288" marB="18288" anchor="ctr">
                    <a:solidFill>
                      <a:srgbClr val="FFFFFF"/>
                    </a:solidFill>
                  </a:tcPr>
                </a:tc>
                <a:tc>
                  <a:txBody>
                    <a:bodyPr wrap="square"/>
                    <a:lstStyle/>
                    <a:p>
                      <a:pPr algn="ctr"/>
                      <a:r>
                        <a:rPr sz="1250">
                          <a:solidFill>
                            <a:srgbClr val="2B2B2B"/>
                          </a:solidFill>
                          <a:latin typeface="Palatino Linotype"/>
                        </a:rPr>
                        <a:t>9% of pressure</a:t>
                      </a:r>
                    </a:p>
                  </a:txBody>
                  <a:tcPr marL="54864" marR="45720" marT="18288" marB="18288" anchor="ctr">
                    <a:solidFill>
                      <a:srgbClr val="FFFFFF"/>
                    </a:solidFill>
                  </a:tcPr>
                </a:tc>
                <a:tc>
                  <a:txBody>
                    <a:bodyPr wrap="square"/>
                    <a:lstStyle/>
                    <a:p>
                      <a:pPr algn="ctr"/>
                      <a:r>
                        <a:rPr sz="1250">
                          <a:solidFill>
                            <a:srgbClr val="2B2B2B"/>
                          </a:solidFill>
                          <a:latin typeface="Palatino Linotype"/>
                        </a:rPr>
                        <a:t>order estimate + literature</a:t>
                      </a:r>
                    </a:p>
                  </a:txBody>
                  <a:tcPr marL="54864" marR="45720" marT="18288" marB="18288" anchor="ctr">
                    <a:solidFill>
                      <a:srgbClr val="FFFFFF"/>
                    </a:solidFill>
                  </a:tcPr>
                </a:tc>
              </a:tr>
              <a:tr h="384048">
                <a:tc>
                  <a:txBody>
                    <a:bodyPr wrap="square"/>
                    <a:lstStyle/>
                    <a:p>
                      <a:pPr algn="l"/>
                      <a:r>
                        <a:rPr b="1" sz="1250">
                          <a:solidFill>
                            <a:srgbClr val="004D59"/>
                          </a:solidFill>
                          <a:latin typeface="Palatino Linotype"/>
                        </a:rPr>
                        <a:t>Jumps at the wave fronts</a:t>
                      </a:r>
                    </a:p>
                  </a:txBody>
                  <a:tcPr marL="54864" marR="45720" marT="18288" marB="18288" anchor="ctr">
                    <a:solidFill>
                      <a:srgbClr val="F2ECED"/>
                    </a:solidFill>
                  </a:tcPr>
                </a:tc>
                <a:tc>
                  <a:txBody>
                    <a:bodyPr wrap="square"/>
                    <a:lstStyle/>
                    <a:p>
                      <a:pPr algn="ctr"/>
                      <a:r>
                        <a:rPr sz="1250">
                          <a:solidFill>
                            <a:srgbClr val="2B2B2B"/>
                          </a:solidFill>
                          <a:latin typeface="Palatino Linotype"/>
                        </a:rPr>
                        <a:t>no number yet — derivation planned</a:t>
                      </a:r>
                    </a:p>
                  </a:txBody>
                  <a:tcPr marL="54864" marR="45720" marT="18288" marB="18288" anchor="ctr">
                    <a:solidFill>
                      <a:srgbClr val="F2ECED"/>
                    </a:solidFill>
                  </a:tcPr>
                </a:tc>
                <a:tc>
                  <a:txBody>
                    <a:bodyPr wrap="square"/>
                    <a:lstStyle/>
                    <a:p>
                      <a:pPr algn="ctr"/>
                      <a:r>
                        <a:rPr sz="1250">
                          <a:solidFill>
                            <a:srgbClr val="2B2B2B"/>
                          </a:solidFill>
                          <a:latin typeface="Palatino Linotype"/>
                        </a:rPr>
                        <a:t>—</a:t>
                      </a:r>
                    </a:p>
                  </a:txBody>
                  <a:tcPr marL="54864" marR="45720" marT="18288" marB="18288" anchor="ctr">
                    <a:solidFill>
                      <a:srgbClr val="F2ECED"/>
                    </a:solidFill>
                  </a:tcPr>
                </a:tc>
                <a:tc>
                  <a:txBody>
                    <a:bodyPr wrap="square"/>
                    <a:lstStyle/>
                    <a:p>
                      <a:pPr algn="ctr"/>
                      <a:r>
                        <a:rPr sz="1250">
                          <a:solidFill>
                            <a:srgbClr val="2B2B2B"/>
                          </a:solidFill>
                          <a:latin typeface="Palatino Linotype"/>
                        </a:rPr>
                        <a:t>open</a:t>
                      </a:r>
                    </a:p>
                  </a:txBody>
                  <a:tcPr marL="54864" marR="45720" marT="18288" marB="18288" anchor="ctr">
                    <a:solidFill>
                      <a:srgbClr val="F2ECED"/>
                    </a:solidFill>
                  </a:tcPr>
                </a:tc>
              </a:tr>
              <a:tr h="384048">
                <a:tc>
                  <a:txBody>
                    <a:bodyPr wrap="square"/>
                    <a:lstStyle/>
                    <a:p>
                      <a:pPr algn="l"/>
                      <a:r>
                        <a:rPr b="1" sz="1250">
                          <a:solidFill>
                            <a:srgbClr val="004D59"/>
                          </a:solidFill>
                          <a:latin typeface="Palatino Linotype"/>
                        </a:rPr>
                        <a:t>Designing the nozzle alone</a:t>
                      </a:r>
                    </a:p>
                  </a:txBody>
                  <a:tcPr marL="54864" marR="45720" marT="18288" marB="18288" anchor="ctr">
                    <a:solidFill>
                      <a:srgbClr val="FFFFFF"/>
                    </a:solidFill>
                  </a:tcPr>
                </a:tc>
                <a:tc>
                  <a:txBody>
                    <a:bodyPr wrap="square"/>
                    <a:lstStyle/>
                    <a:p>
                      <a:pPr algn="ctr"/>
                      <a:r>
                        <a:rPr sz="1250">
                          <a:solidFill>
                            <a:srgbClr val="2B2B2B"/>
                          </a:solidFill>
                          <a:latin typeface="Palatino Linotype"/>
                        </a:rPr>
                        <a:t>~1%</a:t>
                      </a:r>
                    </a:p>
                  </a:txBody>
                  <a:tcPr marL="54864" marR="45720" marT="18288" marB="18288" anchor="ctr">
                    <a:solidFill>
                      <a:srgbClr val="FFFFFF"/>
                    </a:solidFill>
                  </a:tcPr>
                </a:tc>
                <a:tc>
                  <a:txBody>
                    <a:bodyPr wrap="square"/>
                    <a:lstStyle/>
                    <a:p>
                      <a:pPr algn="ctr"/>
                      <a:r>
                        <a:rPr sz="1250">
                          <a:solidFill>
                            <a:srgbClr val="2B2B2B"/>
                          </a:solidFill>
                          <a:latin typeface="Palatino Linotype"/>
                        </a:rPr>
                        <a:t>~1%</a:t>
                      </a:r>
                    </a:p>
                  </a:txBody>
                  <a:tcPr marL="54864" marR="45720" marT="18288" marB="18288" anchor="ctr">
                    <a:solidFill>
                      <a:srgbClr val="FFFFFF"/>
                    </a:solidFill>
                  </a:tcPr>
                </a:tc>
                <a:tc>
                  <a:txBody>
                    <a:bodyPr wrap="square"/>
                    <a:lstStyle/>
                    <a:p>
                      <a:pPr algn="ctr"/>
                      <a:r>
                        <a:rPr sz="1250">
                          <a:solidFill>
                            <a:srgbClr val="2B2B2B"/>
                          </a:solidFill>
                          <a:latin typeface="Palatino Linotype"/>
                        </a:rPr>
                        <a:t>literature, page-verified</a:t>
                      </a:r>
                    </a:p>
                  </a:txBody>
                  <a:tcPr marL="54864" marR="45720" marT="18288" marB="18288" anchor="ctr">
                    <a:solidFill>
                      <a:srgbClr val="FFFFFF"/>
                    </a:solidFill>
                  </a:tcPr>
                </a:tc>
              </a:tr>
              <a:tr h="384048">
                <a:tc>
                  <a:txBody>
                    <a:bodyPr wrap="square"/>
                    <a:lstStyle/>
                    <a:p>
                      <a:pPr algn="l"/>
                      <a:r>
                        <a:rPr b="1" sz="1250">
                          <a:solidFill>
                            <a:srgbClr val="004D59"/>
                          </a:solidFill>
                          <a:latin typeface="Palatino Linotype"/>
                        </a:rPr>
                        <a:t>Optimum shift</a:t>
                      </a:r>
                    </a:p>
                  </a:txBody>
                  <a:tcPr marL="54864" marR="45720" marT="18288" marB="18288" anchor="ctr">
                    <a:solidFill>
                      <a:srgbClr val="F2ECED"/>
                    </a:solidFill>
                  </a:tcPr>
                </a:tc>
                <a:tc>
                  <a:txBody>
                    <a:bodyPr wrap="square"/>
                    <a:lstStyle/>
                    <a:p>
                      <a:pPr algn="ctr"/>
                      <a:r>
                        <a:rPr sz="1250">
                          <a:solidFill>
                            <a:srgbClr val="2B2B2B"/>
                          </a:solidFill>
                          <a:latin typeface="Palatino Linotype"/>
                        </a:rPr>
                        <a:t>first campaign measures it</a:t>
                      </a:r>
                    </a:p>
                  </a:txBody>
                  <a:tcPr marL="54864" marR="45720" marT="18288" marB="18288" anchor="ctr">
                    <a:solidFill>
                      <a:srgbClr val="F2ECED"/>
                    </a:solidFill>
                  </a:tcPr>
                </a:tc>
                <a:tc>
                  <a:txBody>
                    <a:bodyPr wrap="square"/>
                    <a:lstStyle/>
                    <a:p>
                      <a:pPr algn="ctr"/>
                      <a:r>
                        <a:rPr sz="1250">
                          <a:solidFill>
                            <a:srgbClr val="2B2B2B"/>
                          </a:solidFill>
                          <a:latin typeface="Palatino Linotype"/>
                        </a:rPr>
                        <a:t>—</a:t>
                      </a:r>
                    </a:p>
                  </a:txBody>
                  <a:tcPr marL="54864" marR="45720" marT="18288" marB="18288" anchor="ctr">
                    <a:solidFill>
                      <a:srgbClr val="F2ECED"/>
                    </a:solidFill>
                  </a:tcPr>
                </a:tc>
                <a:tc>
                  <a:txBody>
                    <a:bodyPr wrap="square"/>
                    <a:lstStyle/>
                    <a:p>
                      <a:pPr algn="ctr"/>
                      <a:r>
                        <a:rPr sz="1250">
                          <a:solidFill>
                            <a:srgbClr val="2B2B2B"/>
                          </a:solidFill>
                          <a:latin typeface="Palatino Linotype"/>
                        </a:rPr>
                        <a:t>open</a:t>
                      </a:r>
                    </a:p>
                  </a:txBody>
                  <a:tcPr marL="54864" marR="45720" marT="18288" marB="18288" anchor="ctr">
                    <a:solidFill>
                      <a:srgbClr val="F2ECED"/>
                    </a:solidFill>
                  </a:tcPr>
                </a:tc>
              </a:tr>
            </a:tbl>
          </a:graphicData>
        </a:graphic>
      </p:graphicFrame>
      <p:sp>
        <p:nvSpPr>
          <p:cNvPr id="17" name="TextBox 16"/>
          <p:cNvSpPr txBox="1"/>
          <p:nvPr/>
        </p:nvSpPr>
        <p:spPr>
          <a:xfrm>
            <a:off x="502920" y="4434840"/>
            <a:ext cx="11247120" cy="1737360"/>
          </a:xfrm>
          <a:prstGeom prst="rect">
            <a:avLst/>
          </a:prstGeom>
          <a:noFill/>
        </p:spPr>
        <p:txBody>
          <a:bodyPr wrap="square" anchor="t" lIns="0" rIns="0" tIns="0" bIns="0">
            <a:spAutoFit/>
          </a:bodyPr>
          <a:lstStyle/>
          <a:p>
            <a:pPr algn="l" marL="256032" indent="-256032">
              <a:lnSpc>
                <a:spcPct val="100000"/>
              </a:lnSpc>
              <a:spcBef>
                <a:spcPts val="0"/>
              </a:spcBef>
              <a:spcAft>
                <a:spcPts val="400"/>
              </a:spcAft>
            </a:pPr>
            <a:r>
              <a:rPr b="0" i="0" sz="1400">
                <a:solidFill>
                  <a:srgbClr val="822433"/>
                </a:solidFill>
                <a:latin typeface="Palatino Linotype"/>
              </a:rPr>
              <a:t>•  </a:t>
            </a:r>
            <a:r>
              <a:rPr b="0" i="0" sz="1400">
                <a:solidFill>
                  <a:srgbClr val="2B2B2B"/>
                </a:solidFill>
                <a:latin typeface="Palatino Linotype"/>
              </a:rPr>
              <a:t>Sources do not add: best case single-digit %; with strong swirl, &gt;10% not excluded.</a:t>
            </a:r>
          </a:p>
          <a:p>
            <a:pPr algn="l" marL="256032" indent="-256032">
              <a:lnSpc>
                <a:spcPct val="100000"/>
              </a:lnSpc>
              <a:spcBef>
                <a:spcPts val="0"/>
              </a:spcBef>
              <a:spcAft>
                <a:spcPts val="400"/>
              </a:spcAft>
            </a:pPr>
            <a:r>
              <a:rPr b="0" i="0" sz="1400">
                <a:solidFill>
                  <a:srgbClr val="822433"/>
                </a:solidFill>
                <a:latin typeface="Palatino Linotype"/>
              </a:rPr>
              <a:t>•  </a:t>
            </a:r>
            <a:r>
              <a:rPr b="0" i="0" sz="1400">
                <a:solidFill>
                  <a:srgbClr val="2B2B2B"/>
                </a:solidFill>
                <a:latin typeface="Palatino Linotype"/>
              </a:rPr>
              <a:t>Largest adverse signal published: +13 points of ideal from a shroud, unexplained (Paxson &amp; Miki 2022).</a:t>
            </a:r>
          </a:p>
          <a:p>
            <a:pPr algn="l" marL="256032" indent="-256032">
              <a:lnSpc>
                <a:spcPct val="100000"/>
              </a:lnSpc>
              <a:spcBef>
                <a:spcPts val="0"/>
              </a:spcBef>
              <a:spcAft>
                <a:spcPts val="400"/>
              </a:spcAft>
            </a:pPr>
            <a:r>
              <a:rPr b="0" i="0" sz="1400">
                <a:solidFill>
                  <a:srgbClr val="822433"/>
                </a:solidFill>
                <a:latin typeface="Palatino Linotype"/>
              </a:rPr>
              <a:t>•  </a:t>
            </a:r>
            <a:r>
              <a:rPr b="0" i="0" sz="1400">
                <a:solidFill>
                  <a:srgbClr val="2B2B2B"/>
                </a:solidFill>
                <a:latin typeface="Palatino Linotype"/>
              </a:rPr>
              <a:t>No published benchmark separates this prediction from the true unsteady flow — we measure it ourselves.</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Four measurements, in order — consequences fixed before the data</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pPr>
                <a:spcBef>
                  <a:spcPct val="0"/>
                </a:spcBef>
                <a:buClrTx/>
                <a:buFontTx/>
                <a:buNone/>
                <a:defRPr/>
              </a:pPr>
              <a:fld id="{BE037B56-838D-4EA9-A433-B420C86CBEEB}" type="slidenum">
                <a:rPr lang="it-IT" altLang="en-US" sz="1400" b="1" smtClean="0">
                  <a:solidFill>
                    <a:schemeClr val="bg1"/>
                  </a:solidFill>
                  <a:latin typeface="Palatino"/>
                </a:rPr>
                <a:pPr>
                  <a:spcBef>
                    <a:spcPct val="0"/>
                  </a:spcBef>
                  <a:buClrTx/>
                  <a:buFontTx/>
                  <a:buNone/>
                  <a:defRPr/>
                </a:pPr>
                <a:t>13</a:t>
              </a:fld>
              <a:r>
                <a:rPr lang="it-IT" altLang="en-US" sz="1400" b="1" dirty="0">
                  <a:solidFill>
                    <a:schemeClr val="bg1"/>
                  </a:solidFill>
                  <a:latin typeface="Palatino"/>
                </a:rPr>
                <a:t>/29</a:t>
              </a:r>
            </a:p>
          </p:txBody>
        </p:sp>
      </p:grpSp>
      <p:sp>
        <p:nvSpPr>
          <p:cNvPr id="16" name="Rounded Rectangle 15"/>
          <p:cNvSpPr/>
          <p:nvPr/>
        </p:nvSpPr>
        <p:spPr>
          <a:xfrm>
            <a:off x="384048" y="1417320"/>
            <a:ext cx="2788920" cy="288036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1508760"/>
            <a:ext cx="25328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00">
                <a:solidFill>
                  <a:srgbClr val="822433"/>
                </a:solidFill>
                <a:latin typeface="Palatino Linotype"/>
              </a:rPr>
              <a:t>1 · Residual</a:t>
            </a:r>
          </a:p>
        </p:txBody>
      </p:sp>
      <p:sp>
        <p:nvSpPr>
          <p:cNvPr id="18" name="TextBox 17"/>
          <p:cNvSpPr txBox="1"/>
          <p:nvPr/>
        </p:nvSpPr>
        <p:spPr>
          <a:xfrm>
            <a:off x="493776" y="2011680"/>
            <a:ext cx="2569463" cy="2194560"/>
          </a:xfrm>
          <a:prstGeom prst="rect">
            <a:avLst/>
          </a:prstGeom>
          <a:noFill/>
        </p:spPr>
        <p:txBody>
          <a:bodyPr wrap="square" anchor="t" lIns="0" rIns="0" tIns="0" bIns="0">
            <a:spAutoFit/>
          </a:bodyPr>
          <a:lstStyle/>
          <a:p>
            <a:pPr algn="l">
              <a:lnSpc>
                <a:spcPct val="100000"/>
              </a:lnSpc>
              <a:spcBef>
                <a:spcPts val="0"/>
              </a:spcBef>
              <a:spcAft>
                <a:spcPts val="400"/>
              </a:spcAft>
            </a:pPr>
            <a:r>
              <a:rPr b="0" i="0" sz="1200">
                <a:solidFill>
                  <a:srgbClr val="2B2B2B"/>
                </a:solidFill>
                <a:latin typeface="Palatino Linotype"/>
              </a:rPr>
              <a:t>how much the phase-averaged equations miss, on nozzles already solved</a:t>
            </a:r>
          </a:p>
          <a:p>
            <a:pPr algn="l">
              <a:lnSpc>
                <a:spcPct val="100000"/>
              </a:lnSpc>
              <a:spcBef>
                <a:spcPts val="0"/>
              </a:spcBef>
              <a:spcAft>
                <a:spcPts val="400"/>
              </a:spcAft>
            </a:pPr>
            <a:r>
              <a:rPr b="0" i="0" sz="1200">
                <a:solidFill>
                  <a:srgbClr val="2B2B2B"/>
                </a:solidFill>
                <a:latin typeface="Palatino Linotype"/>
              </a:rPr>
              <a:t>small → error bars tighten; large → dominant source named</a:t>
            </a:r>
          </a:p>
          <a:p>
            <a:pPr algn="l">
              <a:lnSpc>
                <a:spcPct val="100000"/>
              </a:lnSpc>
              <a:spcBef>
                <a:spcPts val="0"/>
              </a:spcBef>
              <a:spcAft>
                <a:spcPts val="400"/>
              </a:spcAft>
            </a:pPr>
            <a:r>
              <a:rPr b="0" i="1" sz="1200">
                <a:solidFill>
                  <a:srgbClr val="006778"/>
                </a:solidFill>
                <a:latin typeface="Palatino Linotype"/>
              </a:rPr>
              <a:t>first — cheapest</a:t>
            </a:r>
          </a:p>
        </p:txBody>
      </p:sp>
      <p:sp>
        <p:nvSpPr>
          <p:cNvPr id="19" name="Rounded Rectangle 18"/>
          <p:cNvSpPr/>
          <p:nvPr/>
        </p:nvSpPr>
        <p:spPr>
          <a:xfrm>
            <a:off x="3282696" y="1417320"/>
            <a:ext cx="2788920" cy="2880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712" y="1508760"/>
            <a:ext cx="25328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00">
                <a:solidFill>
                  <a:srgbClr val="006778"/>
                </a:solidFill>
                <a:latin typeface="Palatino Linotype"/>
              </a:rPr>
              <a:t>2 · Head-to-head</a:t>
            </a:r>
          </a:p>
        </p:txBody>
      </p:sp>
      <p:cxnSp>
        <p:nvCxnSpPr>
          <p:cNvPr id="21" name="Connector 20"/>
          <p:cNvCxnSpPr/>
          <p:nvPr/>
        </p:nvCxnSpPr>
        <p:spPr>
          <a:xfrm>
            <a:off x="3163824" y="2834640"/>
            <a:ext cx="128015" cy="0"/>
          </a:xfrm>
          <a:prstGeom prst="bentConnector3">
            <a:avLst/>
          </a:prstGeom>
          <a:ln w="304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92424" y="2011680"/>
            <a:ext cx="2569463" cy="2194560"/>
          </a:xfrm>
          <a:prstGeom prst="rect">
            <a:avLst/>
          </a:prstGeom>
          <a:noFill/>
        </p:spPr>
        <p:txBody>
          <a:bodyPr wrap="square" anchor="t" lIns="0" rIns="0" tIns="0" bIns="0">
            <a:spAutoFit/>
          </a:bodyPr>
          <a:lstStyle/>
          <a:p>
            <a:pPr algn="l">
              <a:lnSpc>
                <a:spcPct val="100000"/>
              </a:lnSpc>
              <a:spcBef>
                <a:spcPts val="0"/>
              </a:spcBef>
              <a:spcAft>
                <a:spcPts val="400"/>
              </a:spcAft>
            </a:pPr>
            <a:r>
              <a:rPr b="0" i="0" sz="1200">
                <a:solidFill>
                  <a:srgbClr val="2B2B2B"/>
                </a:solidFill>
                <a:latin typeface="Palatino Linotype"/>
              </a:rPr>
              <a:t>our per-phase design vs the classical design at cycle-mean p₀/T₀ — identical constraints; no such number exists yet</a:t>
            </a:r>
          </a:p>
          <a:p>
            <a:pPr algn="l">
              <a:lnSpc>
                <a:spcPct val="100000"/>
              </a:lnSpc>
              <a:spcBef>
                <a:spcPts val="0"/>
              </a:spcBef>
              <a:spcAft>
                <a:spcPts val="400"/>
              </a:spcAft>
            </a:pPr>
            <a:r>
              <a:rPr b="0" i="0" sz="1200">
                <a:solidFill>
                  <a:srgbClr val="2B2B2B"/>
                </a:solidFill>
                <a:latin typeface="Palatino Linotype"/>
              </a:rPr>
              <a:t>either result publishable</a:t>
            </a:r>
          </a:p>
          <a:p>
            <a:pPr algn="l">
              <a:lnSpc>
                <a:spcPct val="100000"/>
              </a:lnSpc>
              <a:spcBef>
                <a:spcPts val="0"/>
              </a:spcBef>
              <a:spcAft>
                <a:spcPts val="400"/>
              </a:spcAft>
            </a:pPr>
            <a:r>
              <a:rPr b="0" i="1" sz="1200">
                <a:solidFill>
                  <a:srgbClr val="006778"/>
                </a:solidFill>
                <a:latin typeface="Palatino Linotype"/>
              </a:rPr>
              <a:t>machine ready — first campaign</a:t>
            </a:r>
          </a:p>
        </p:txBody>
      </p:sp>
      <p:sp>
        <p:nvSpPr>
          <p:cNvPr id="23" name="Rounded Rectangle 22"/>
          <p:cNvSpPr/>
          <p:nvPr/>
        </p:nvSpPr>
        <p:spPr>
          <a:xfrm>
            <a:off x="6181344" y="1417320"/>
            <a:ext cx="2788920" cy="2880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1508760"/>
            <a:ext cx="25328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00">
                <a:solidFill>
                  <a:srgbClr val="006778"/>
                </a:solidFill>
                <a:latin typeface="Palatino Linotype"/>
              </a:rPr>
              <a:t>3 · Coupled pair</a:t>
            </a:r>
          </a:p>
        </p:txBody>
      </p:sp>
      <p:cxnSp>
        <p:nvCxnSpPr>
          <p:cNvPr id="25" name="Connector 24"/>
          <p:cNvCxnSpPr/>
          <p:nvPr/>
        </p:nvCxnSpPr>
        <p:spPr>
          <a:xfrm>
            <a:off x="6062472" y="2834640"/>
            <a:ext cx="128016" cy="0"/>
          </a:xfrm>
          <a:prstGeom prst="bentConnector3">
            <a:avLst/>
          </a:prstGeom>
          <a:ln w="304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291072" y="2011680"/>
            <a:ext cx="2569463" cy="2194560"/>
          </a:xfrm>
          <a:prstGeom prst="rect">
            <a:avLst/>
          </a:prstGeom>
          <a:noFill/>
        </p:spPr>
        <p:txBody>
          <a:bodyPr wrap="square" anchor="t" lIns="0" rIns="0" tIns="0" bIns="0">
            <a:spAutoFit/>
          </a:bodyPr>
          <a:lstStyle/>
          <a:p>
            <a:pPr algn="l">
              <a:lnSpc>
                <a:spcPct val="100000"/>
              </a:lnSpc>
              <a:spcBef>
                <a:spcPts val="0"/>
              </a:spcBef>
              <a:spcAft>
                <a:spcPts val="400"/>
              </a:spcAft>
            </a:pPr>
            <a:r>
              <a:rPr b="0" i="0" sz="1200">
                <a:solidFill>
                  <a:srgbClr val="2B2B2B"/>
                </a:solidFill>
                <a:latin typeface="Palatino Linotype"/>
              </a:rPr>
              <a:t>same nozzle with and without the combustor: the cost of designing alone</a:t>
            </a:r>
          </a:p>
          <a:p>
            <a:pPr algn="l">
              <a:lnSpc>
                <a:spcPct val="100000"/>
              </a:lnSpc>
              <a:spcBef>
                <a:spcPts val="0"/>
              </a:spcBef>
              <a:spcAft>
                <a:spcPts val="400"/>
              </a:spcAft>
            </a:pPr>
            <a:r>
              <a:rPr b="0" i="0" sz="1200">
                <a:solidFill>
                  <a:srgbClr val="2B2B2B"/>
                </a:solidFill>
                <a:latin typeface="Palatino Linotype"/>
              </a:rPr>
              <a:t>~1% holds → estimate stands; exceeded → step 4 moves up</a:t>
            </a:r>
          </a:p>
          <a:p>
            <a:pPr algn="l">
              <a:lnSpc>
                <a:spcPct val="100000"/>
              </a:lnSpc>
              <a:spcBef>
                <a:spcPts val="0"/>
              </a:spcBef>
              <a:spcAft>
                <a:spcPts val="400"/>
              </a:spcAft>
            </a:pPr>
            <a:r>
              <a:rPr b="0" i="1" sz="1200">
                <a:solidFill>
                  <a:srgbClr val="006778"/>
                </a:solidFill>
                <a:latin typeface="Palatino Linotype"/>
              </a:rPr>
              <a:t>after step 1</a:t>
            </a:r>
          </a:p>
        </p:txBody>
      </p:sp>
      <p:sp>
        <p:nvSpPr>
          <p:cNvPr id="27" name="Rounded Rectangle 26"/>
          <p:cNvSpPr/>
          <p:nvPr/>
        </p:nvSpPr>
        <p:spPr>
          <a:xfrm>
            <a:off x="9079992" y="1417320"/>
            <a:ext cx="2788920" cy="2880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1508760"/>
            <a:ext cx="25328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00">
                <a:solidFill>
                  <a:srgbClr val="006778"/>
                </a:solidFill>
                <a:latin typeface="Palatino Linotype"/>
              </a:rPr>
              <a:t>4 · Full 3D reference</a:t>
            </a:r>
          </a:p>
        </p:txBody>
      </p:sp>
      <p:cxnSp>
        <p:nvCxnSpPr>
          <p:cNvPr id="29" name="Connector 28"/>
          <p:cNvCxnSpPr/>
          <p:nvPr/>
        </p:nvCxnSpPr>
        <p:spPr>
          <a:xfrm>
            <a:off x="8961119" y="2834640"/>
            <a:ext cx="128017" cy="0"/>
          </a:xfrm>
          <a:prstGeom prst="bentConnector3">
            <a:avLst/>
          </a:prstGeom>
          <a:ln w="30480">
            <a:solidFill>
              <a:srgbClr val="2B2B2B"/>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189719" y="2011680"/>
            <a:ext cx="2569463" cy="2194560"/>
          </a:xfrm>
          <a:prstGeom prst="rect">
            <a:avLst/>
          </a:prstGeom>
          <a:noFill/>
        </p:spPr>
        <p:txBody>
          <a:bodyPr wrap="square" anchor="t" lIns="0" rIns="0" tIns="0" bIns="0">
            <a:spAutoFit/>
          </a:bodyPr>
          <a:lstStyle/>
          <a:p>
            <a:pPr algn="l">
              <a:lnSpc>
                <a:spcPct val="100000"/>
              </a:lnSpc>
              <a:spcBef>
                <a:spcPts val="0"/>
              </a:spcBef>
              <a:spcAft>
                <a:spcPts val="400"/>
              </a:spcAft>
            </a:pPr>
            <a:r>
              <a:rPr b="0" i="0" sz="1200">
                <a:solidFill>
                  <a:srgbClr val="2B2B2B"/>
                </a:solidFill>
                <a:latin typeface="Palatino Linotype"/>
              </a:rPr>
              <a:t>~12M-cell reference the literature lacks</a:t>
            </a:r>
          </a:p>
          <a:p>
            <a:pPr algn="l">
              <a:lnSpc>
                <a:spcPct val="100000"/>
              </a:lnSpc>
              <a:spcBef>
                <a:spcPts val="0"/>
              </a:spcBef>
              <a:spcAft>
                <a:spcPts val="400"/>
              </a:spcAft>
            </a:pPr>
            <a:r>
              <a:rPr b="0" i="0" sz="1200">
                <a:solidFill>
                  <a:srgbClr val="2B2B2B"/>
                </a:solidFill>
                <a:latin typeface="Palatino Linotype"/>
              </a:rPr>
              <a:t>inside its band → the error band closes; outside → failing source named</a:t>
            </a:r>
          </a:p>
          <a:p>
            <a:pPr algn="l">
              <a:lnSpc>
                <a:spcPct val="100000"/>
              </a:lnSpc>
              <a:spcBef>
                <a:spcPts val="0"/>
              </a:spcBef>
              <a:spcAft>
                <a:spcPts val="400"/>
              </a:spcAft>
            </a:pPr>
            <a:r>
              <a:rPr b="0" i="1" sz="1200">
                <a:solidFill>
                  <a:srgbClr val="006778"/>
                </a:solidFill>
                <a:latin typeface="Palatino Linotype"/>
              </a:rPr>
              <a:t>route chosen now; commit decided after step 1</a:t>
            </a:r>
          </a:p>
        </p:txBody>
      </p:sp>
      <p:sp>
        <p:nvSpPr>
          <p:cNvPr id="31" name="TextBox 30"/>
          <p:cNvSpPr txBox="1"/>
          <p:nvPr/>
        </p:nvSpPr>
        <p:spPr>
          <a:xfrm>
            <a:off x="457200" y="4526280"/>
            <a:ext cx="11292840" cy="566928"/>
          </a:xfrm>
          <a:prstGeom prst="rect">
            <a:avLst/>
          </a:prstGeom>
          <a:noFill/>
        </p:spPr>
        <p:txBody>
          <a:bodyPr wrap="square" anchor="t" lIns="0" rIns="0" tIns="0" bIns="0">
            <a:spAutoFit/>
          </a:bodyPr>
          <a:lstStyle/>
          <a:p>
            <a:pPr algn="l">
              <a:lnSpc>
                <a:spcPct val="100000"/>
              </a:lnSpc>
              <a:spcBef>
                <a:spcPts val="0"/>
              </a:spcBef>
              <a:spcAft>
                <a:spcPts val="400"/>
              </a:spcAft>
            </a:pPr>
            <a:r>
              <a:rPr b="0" i="1" sz="1300">
                <a:solidFill>
                  <a:srgbClr val="2B2B2B"/>
                </a:solidFill>
                <a:latin typeface="Palatino Linotype"/>
              </a:rPr>
              <a:t>Ours vs time-averaged: measurable in-house. The true 3D optimum: computable by no one — we bound it.</a:t>
            </a:r>
          </a:p>
        </p:txBody>
      </p:sp>
      <p:sp>
        <p:nvSpPr>
          <p:cNvPr id="32" name="Rounded Rectangle 31"/>
          <p:cNvSpPr/>
          <p:nvPr/>
        </p:nvSpPr>
        <p:spPr>
          <a:xfrm>
            <a:off x="457200" y="5212080"/>
            <a:ext cx="11292840" cy="621792"/>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5285232"/>
            <a:ext cx="11000232" cy="475488"/>
          </a:xfrm>
          <a:prstGeom prst="rect">
            <a:avLst/>
          </a:prstGeom>
          <a:noFill/>
        </p:spPr>
        <p:txBody>
          <a:bodyPr wrap="square" anchor="ctr" lIns="0" rIns="0" tIns="0" bIns="0">
            <a:spAutoFit/>
          </a:bodyPr>
          <a:lstStyle/>
          <a:p>
            <a:pPr algn="l">
              <a:lnSpc>
                <a:spcPct val="105000"/>
              </a:lnSpc>
              <a:spcBef>
                <a:spcPts val="0"/>
              </a:spcBef>
              <a:spcAft>
                <a:spcPts val="200"/>
              </a:spcAft>
            </a:pPr>
            <a:r>
              <a:rPr b="0" i="0" sz="1300">
                <a:solidFill>
                  <a:srgbClr val="2B2B2B"/>
                </a:solidFill>
                <a:latin typeface="Palatino Linotype"/>
              </a:rPr>
              <a:t>Stop criterion: measured gain below ~1% Isp → effort pivots to certification and operability.</a:t>
            </a:r>
          </a:p>
        </p:txBody>
      </p:sp>
      <p:sp>
        <p:nvSpPr>
          <p:cNvPr id="34" name="TextBox 33"/>
          <p:cNvSpPr txBox="1"/>
          <p:nvPr/>
        </p:nvSpPr>
        <p:spPr>
          <a:xfrm>
            <a:off x="457200" y="5897880"/>
            <a:ext cx="11292840" cy="274320"/>
          </a:xfrm>
          <a:prstGeom prst="rect">
            <a:avLst/>
          </a:prstGeom>
          <a:noFill/>
        </p:spPr>
        <p:txBody>
          <a:bodyPr wrap="square" anchor="t" lIns="0" rIns="0" tIns="0" bIns="0">
            <a:spAutoFit/>
          </a:bodyPr>
          <a:lstStyle/>
          <a:p>
            <a:pPr algn="ctr">
              <a:lnSpc>
                <a:spcPct val="100000"/>
              </a:lnSpc>
              <a:spcBef>
                <a:spcPts val="0"/>
              </a:spcBef>
              <a:spcAft>
                <a:spcPts val="400"/>
              </a:spcAft>
            </a:pPr>
            <a:r>
              <a:rPr b="1" i="0" sz="1400">
                <a:solidFill>
                  <a:srgbClr val="822433"/>
                </a:solidFill>
                <a:latin typeface="Palatino Linotype"/>
              </a:rPr>
              <a:t>First per-phase variational design method for RDE nozzles — the head-to-head number comes next. Thank you.</a:t>
            </a:r>
          </a:p>
        </p:txBody>
      </p:sp>
      <p:sp>
        <p:nvSpPr>
          <p:cNvPr id="35" name="TextBox 34"/>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36" name="TextBox 35"/>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2743200"/>
            <a:ext cx="11612880" cy="1097280"/>
          </a:xfrm>
        </p:spPr>
        <p:txBody>
          <a:bodyPr wrap="square" anchor="t"/>
          <a:lstStyle/>
          <a:p>
            <a:pPr algn="ctr"/>
            <a:r>
              <a:rPr sz="4000" b="1">
                <a:solidFill>
                  <a:srgbClr val="822433"/>
                </a:solidFill>
                <a:latin typeface="Palatino Linotype"/>
              </a:rPr>
              <a:t>Backup Slides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p:txBody>
        </p:sp>
      </p:grpSp>
      <p:sp>
        <p:nvSpPr>
          <p:cNvPr id="16" name="TextBox 15"/>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7" name="TextBox 16"/>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1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a:t>
              </a:r>
            </a:p>
          </p:txBody>
        </p:sp>
      </p:grpSp>
      <p:pic>
        <p:nvPicPr>
          <p:cNvPr id="16" name="Picture 15" descr="L1_stage1.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2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a:t>
              </a:r>
            </a:p>
          </p:txBody>
        </p:sp>
      </p:grpSp>
      <p:pic>
        <p:nvPicPr>
          <p:cNvPr id="16" name="Picture 15" descr="L1_stage2.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3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a:t>
              </a:r>
            </a:p>
          </p:txBody>
        </p:sp>
      </p:grpSp>
      <p:pic>
        <p:nvPicPr>
          <p:cNvPr id="16" name="Picture 15" descr="L1_stage3.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4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B-4</a:t>
              </a:r>
            </a:p>
          </p:txBody>
        </p:sp>
      </p:grpSp>
      <p:pic>
        <p:nvPicPr>
          <p:cNvPr id="16" name="Picture 15" descr="L1_stage4.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5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B-5</a:t>
              </a:r>
            </a:p>
          </p:txBody>
        </p:sp>
      </p:grpSp>
      <p:pic>
        <p:nvPicPr>
          <p:cNvPr id="16" name="Picture 15" descr="L1_stage5.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6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B-6</a:t>
              </a:r>
            </a:p>
          </p:txBody>
        </p:sp>
      </p:grpSp>
      <p:pic>
        <p:nvPicPr>
          <p:cNvPr id="16" name="Picture 15" descr="L1_stage6.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7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B-7</a:t>
              </a:r>
            </a:p>
          </p:txBody>
        </p:sp>
      </p:grpSp>
      <p:pic>
        <p:nvPicPr>
          <p:cNvPr id="16" name="Picture 15" descr="L1_stage7.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design pipeline, stage 8 in depth</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B-8</a:t>
              </a:r>
            </a:p>
          </p:txBody>
        </p:sp>
      </p:grpSp>
      <p:pic>
        <p:nvPicPr>
          <p:cNvPr id="16" name="Picture 15" descr="L1_stage8.png"/>
          <p:cNvPicPr>
            <a:picLocks noChangeAspect="1"/>
          </p:cNvPicPr>
          <p:nvPr/>
        </p:nvPicPr>
        <p:blipFill>
          <a:blip r:embed="rId3"/>
          <a:stretch>
            <a:fillRect/>
          </a:stretch>
        </p:blipFill>
        <p:spPr>
          <a:xfrm>
            <a:off x="2447925" y="1417320"/>
            <a:ext cx="7311390" cy="4114800"/>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walkable graph: every node card carries its choice, alternatives and falsifier; long-range links labelled with their target stage</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Boundary-condition licence follows the flow</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B-9</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Boundary-condition licence follows the flow</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single-wave → full certificate; RPO → declared practice; multistable → robust layer; chaotic → HONEST REFUSAL</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Why the lip multiplier vanishes (f2 = −λ2)</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B-10</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Why the lip multiplier vanishes (f2 = −λ2)</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the elegant identity at the lip — technical Q&amp;A card</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The corrector as a perturbation of the steady sweep</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B-11</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The corrector as a perturbation of the steady sweep</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algorithmic detail — Q&amp;A card</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Theory-as-code: the registry lint layer</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B-12</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Theory-as-code: the registry lint layer</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internal governance — process Q&amp;A card</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Data uncertainty enters the contract (C50)</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B-13</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Data uncertainty enters the contract (C50)</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instantiation = duty of the opening phase — data Q&amp;A card</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The optimizer choice, full record (C31 card + choice tally)</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B-14</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The optimizer choice, full record (C31 card + choice tally)</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6-field decision card (incumbent / alternatives with survey data / verdict / recency check / falsifier / re-exam window) + the choice-ledger tally (62 = 12 decided / 36 mixed / 12 never / 2 single-author) — the accounting moved OFF-main lives HERE</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the honesty table, complete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B-15</a:t>
              </a:r>
            </a:p>
          </p:txBody>
        </p:sp>
      </p:grpSp>
      <p:graphicFrame>
        <p:nvGraphicFramePr>
          <p:cNvPr id="16" name="Table 15"/>
          <p:cNvGraphicFramePr>
            <a:graphicFrameLocks noGrp="1"/>
          </p:cNvGraphicFramePr>
          <p:nvPr/>
        </p:nvGraphicFramePr>
        <p:xfrm>
          <a:off x="457200" y="1600200"/>
          <a:ext cx="11338560" cy="3200400"/>
        </p:xfrm>
        <a:graphic>
          <a:graphicData uri="http://schemas.openxmlformats.org/drawingml/2006/table">
            <a:tbl>
              <a:tblPr firstRow="1">
                <a:tableStyleId>{5C22544A-7EE6-4342-B048-85BDC9FD1C3A}</a:tableStyleId>
              </a:tblPr>
              <a:tblGrid>
                <a:gridCol w="2743200"/>
                <a:gridCol w="1828800"/>
                <a:gridCol w="1828800"/>
                <a:gridCol w="2377440"/>
                <a:gridCol w="2560320"/>
              </a:tblGrid>
              <a:tr h="457200">
                <a:tc>
                  <a:txBody>
                    <a:bodyPr wrap="square"/>
                    <a:lstStyle/>
                    <a:p>
                      <a:pPr algn="l"/>
                      <a:r>
                        <a:rPr b="1" sz="1350">
                          <a:solidFill>
                            <a:srgbClr val="FFFFFF"/>
                          </a:solidFill>
                          <a:latin typeface="Palatino Linotype"/>
                        </a:rPr>
                        <a:t>source</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best</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worst</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how estimated</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what tightens it</a:t>
                      </a:r>
                    </a:p>
                  </a:txBody>
                  <a:tcPr marL="54864" marR="45720" marT="18288" marB="18288" anchor="ctr">
                    <a:solidFill>
                      <a:srgbClr val="822433"/>
                    </a:solidFill>
                  </a:tcPr>
                </a:tc>
              </a:tr>
              <a:tr h="457200">
                <a:tc>
                  <a:txBody>
                    <a:bodyPr wrap="square"/>
                    <a:lstStyle/>
                    <a:p>
                      <a:pPr algn="l"/>
                      <a:r>
                        <a:rPr b="1" sz="1250">
                          <a:solidFill>
                            <a:srgbClr val="004D59"/>
                          </a:solidFill>
                          <a:latin typeface="Palatino Linotype"/>
                        </a:rPr>
                        <a:t>Mean azimuthal residual</a:t>
                      </a:r>
                    </a:p>
                  </a:txBody>
                  <a:tcPr marL="54864" marR="45720" marT="18288" marB="18288" anchor="ctr">
                    <a:solidFill>
                      <a:srgbClr val="FFFFFF"/>
                    </a:solidFill>
                  </a:tcPr>
                </a:tc>
                <a:tc>
                  <a:txBody>
                    <a:bodyPr wrap="square"/>
                    <a:lstStyle/>
                    <a:p>
                      <a:pPr algn="ctr"/>
                      <a:r>
                        <a:rPr sz="1250">
                          <a:solidFill>
                            <a:srgbClr val="2B2B2B"/>
                          </a:solidFill>
                          <a:latin typeface="Palatino Linotype"/>
                        </a:rPr>
                        <a:t>exactly 0</a:t>
                      </a:r>
                    </a:p>
                  </a:txBody>
                  <a:tcPr marL="54864" marR="45720" marT="18288" marB="18288" anchor="ctr">
                    <a:solidFill>
                      <a:srgbClr val="FFFFFF"/>
                    </a:solidFill>
                  </a:tcPr>
                </a:tc>
                <a:tc>
                  <a:txBody>
                    <a:bodyPr wrap="square"/>
                    <a:lstStyle/>
                    <a:p>
                      <a:pPr algn="ctr"/>
                      <a:r>
                        <a:rPr sz="1250">
                          <a:solidFill>
                            <a:srgbClr val="2B2B2B"/>
                          </a:solidFill>
                          <a:latin typeface="Palatino Linotype"/>
                        </a:rPr>
                        <a:t>exactly 0</a:t>
                      </a:r>
                    </a:p>
                  </a:txBody>
                  <a:tcPr marL="54864" marR="45720" marT="18288" marB="18288" anchor="ctr">
                    <a:solidFill>
                      <a:srgbClr val="FFFFFF"/>
                    </a:solidFill>
                  </a:tcPr>
                </a:tc>
                <a:tc>
                  <a:txBody>
                    <a:bodyPr wrap="square"/>
                    <a:lstStyle/>
                    <a:p>
                      <a:pPr algn="ctr"/>
                      <a:r>
                        <a:rPr sz="1250">
                          <a:solidFill>
                            <a:srgbClr val="2B2B2B"/>
                          </a:solidFill>
                          <a:latin typeface="Palatino Linotype"/>
                        </a:rPr>
                        <a:t>proven (hypotheses stated)</a:t>
                      </a:r>
                    </a:p>
                  </a:txBody>
                  <a:tcPr marL="54864" marR="45720" marT="18288" marB="18288" anchor="ctr">
                    <a:solidFill>
                      <a:srgbClr val="FFFFFF"/>
                    </a:solidFill>
                  </a:tcPr>
                </a:tc>
                <a:tc>
                  <a:txBody>
                    <a:bodyPr wrap="square"/>
                    <a:lstStyle/>
                    <a:p>
                      <a:pPr algn="ctr"/>
                      <a:r>
                        <a:rPr sz="1250">
                          <a:solidFill>
                            <a:srgbClr val="2B2B2B"/>
                          </a:solidFill>
                          <a:latin typeface="Palatino Linotype"/>
                        </a:rPr>
                        <a:t>—</a:t>
                      </a:r>
                    </a:p>
                  </a:txBody>
                  <a:tcPr marL="54864" marR="45720" marT="18288" marB="18288" anchor="ctr">
                    <a:solidFill>
                      <a:srgbClr val="FFFFFF"/>
                    </a:solidFill>
                  </a:tcPr>
                </a:tc>
              </a:tr>
              <a:tr h="457200">
                <a:tc>
                  <a:txBody>
                    <a:bodyPr wrap="square"/>
                    <a:lstStyle/>
                    <a:p>
                      <a:pPr algn="l"/>
                      <a:r>
                        <a:rPr b="1" sz="1250">
                          <a:solidFill>
                            <a:srgbClr val="004D59"/>
                          </a:solidFill>
                          <a:latin typeface="Palatino Linotype"/>
                        </a:rPr>
                        <a:t>Swirl thrust unmodelled</a:t>
                      </a:r>
                    </a:p>
                  </a:txBody>
                  <a:tcPr marL="54864" marR="45720" marT="18288" marB="18288" anchor="ctr">
                    <a:solidFill>
                      <a:srgbClr val="F2ECED"/>
                    </a:solidFill>
                  </a:tcPr>
                </a:tc>
                <a:tc>
                  <a:txBody>
                    <a:bodyPr wrap="square"/>
                    <a:lstStyle/>
                    <a:p>
                      <a:pPr algn="ctr"/>
                      <a:r>
                        <a:rPr sz="1250">
                          <a:solidFill>
                            <a:srgbClr val="2B2B2B"/>
                          </a:solidFill>
                          <a:latin typeface="Palatino Linotype"/>
                        </a:rPr>
                        <a:t>1.5% of thrust</a:t>
                      </a:r>
                    </a:p>
                  </a:txBody>
                  <a:tcPr marL="54864" marR="45720" marT="18288" marB="18288" anchor="ctr">
                    <a:solidFill>
                      <a:srgbClr val="F2ECED"/>
                    </a:solidFill>
                  </a:tcPr>
                </a:tc>
                <a:tc>
                  <a:txBody>
                    <a:bodyPr wrap="square"/>
                    <a:lstStyle/>
                    <a:p>
                      <a:pPr algn="ctr"/>
                      <a:r>
                        <a:rPr sz="1250">
                          <a:solidFill>
                            <a:srgbClr val="2B2B2B"/>
                          </a:solidFill>
                          <a:latin typeface="Palatino Linotype"/>
                        </a:rPr>
                        <a:t>3% of thrust</a:t>
                      </a:r>
                    </a:p>
                  </a:txBody>
                  <a:tcPr marL="54864" marR="45720" marT="18288" marB="18288" anchor="ctr">
                    <a:solidFill>
                      <a:srgbClr val="F2ECED"/>
                    </a:solidFill>
                  </a:tcPr>
                </a:tc>
                <a:tc>
                  <a:txBody>
                    <a:bodyPr wrap="square"/>
                    <a:lstStyle/>
                    <a:p>
                      <a:pPr algn="ctr"/>
                      <a:r>
                        <a:rPr sz="1250">
                          <a:solidFill>
                            <a:srgbClr val="2B2B2B"/>
                          </a:solidFill>
                          <a:latin typeface="Palatino Linotype"/>
                        </a:rPr>
                        <a:t>order estimate</a:t>
                      </a:r>
                    </a:p>
                  </a:txBody>
                  <a:tcPr marL="54864" marR="45720" marT="18288" marB="18288" anchor="ctr">
                    <a:solidFill>
                      <a:srgbClr val="F2ECED"/>
                    </a:solidFill>
                  </a:tcPr>
                </a:tc>
                <a:tc>
                  <a:txBody>
                    <a:bodyPr wrap="square"/>
                    <a:lstStyle/>
                    <a:p>
                      <a:pPr algn="ctr"/>
                      <a:r>
                        <a:rPr sz="1250">
                          <a:solidFill>
                            <a:srgbClr val="2B2B2B"/>
                          </a:solidFill>
                          <a:latin typeface="Palatino Linotype"/>
                        </a:rPr>
                        <a:t>residual-measurement campaign</a:t>
                      </a:r>
                    </a:p>
                  </a:txBody>
                  <a:tcPr marL="54864" marR="45720" marT="18288" marB="18288" anchor="ctr">
                    <a:solidFill>
                      <a:srgbClr val="F2ECED"/>
                    </a:solidFill>
                  </a:tcPr>
                </a:tc>
              </a:tr>
              <a:tr h="457200">
                <a:tc>
                  <a:txBody>
                    <a:bodyPr wrap="square"/>
                    <a:lstStyle/>
                    <a:p>
                      <a:pPr algn="l"/>
                      <a:r>
                        <a:rPr b="1" sz="1250">
                          <a:solidFill>
                            <a:srgbClr val="004D59"/>
                          </a:solidFill>
                          <a:latin typeface="Palatino Linotype"/>
                        </a:rPr>
                        <a:t>Input-data bias</a:t>
                      </a:r>
                    </a:p>
                  </a:txBody>
                  <a:tcPr marL="54864" marR="45720" marT="18288" marB="18288" anchor="ctr">
                    <a:solidFill>
                      <a:srgbClr val="FFFFFF"/>
                    </a:solidFill>
                  </a:tcPr>
                </a:tc>
                <a:tc>
                  <a:txBody>
                    <a:bodyPr wrap="square"/>
                    <a:lstStyle/>
                    <a:p>
                      <a:pPr algn="ctr"/>
                      <a:r>
                        <a:rPr sz="1250">
                          <a:solidFill>
                            <a:srgbClr val="2B2B2B"/>
                          </a:solidFill>
                          <a:latin typeface="Palatino Linotype"/>
                        </a:rPr>
                        <a:t>0.6% of pressure</a:t>
                      </a:r>
                    </a:p>
                  </a:txBody>
                  <a:tcPr marL="54864" marR="45720" marT="18288" marB="18288" anchor="ctr">
                    <a:solidFill>
                      <a:srgbClr val="FFFFFF"/>
                    </a:solidFill>
                  </a:tcPr>
                </a:tc>
                <a:tc>
                  <a:txBody>
                    <a:bodyPr wrap="square"/>
                    <a:lstStyle/>
                    <a:p>
                      <a:pPr algn="ctr"/>
                      <a:r>
                        <a:rPr sz="1250">
                          <a:solidFill>
                            <a:srgbClr val="2B2B2B"/>
                          </a:solidFill>
                          <a:latin typeface="Palatino Linotype"/>
                        </a:rPr>
                        <a:t>9% of pressure</a:t>
                      </a:r>
                    </a:p>
                  </a:txBody>
                  <a:tcPr marL="54864" marR="45720" marT="18288" marB="18288" anchor="ctr">
                    <a:solidFill>
                      <a:srgbClr val="FFFFFF"/>
                    </a:solidFill>
                  </a:tcPr>
                </a:tc>
                <a:tc>
                  <a:txBody>
                    <a:bodyPr wrap="square"/>
                    <a:lstStyle/>
                    <a:p>
                      <a:pPr algn="ctr"/>
                      <a:r>
                        <a:rPr sz="1250">
                          <a:solidFill>
                            <a:srgbClr val="2B2B2B"/>
                          </a:solidFill>
                          <a:latin typeface="Palatino Linotype"/>
                        </a:rPr>
                        <a:t>order estimate + literature</a:t>
                      </a:r>
                    </a:p>
                  </a:txBody>
                  <a:tcPr marL="54864" marR="45720" marT="18288" marB="18288" anchor="ctr">
                    <a:solidFill>
                      <a:srgbClr val="FFFFFF"/>
                    </a:solidFill>
                  </a:tcPr>
                </a:tc>
                <a:tc>
                  <a:txBody>
                    <a:bodyPr wrap="square"/>
                    <a:lstStyle/>
                    <a:p>
                      <a:pPr algn="ctr"/>
                      <a:r>
                        <a:rPr sz="1250">
                          <a:solidFill>
                            <a:srgbClr val="2B2B2B"/>
                          </a:solidFill>
                          <a:latin typeface="Palatino Linotype"/>
                        </a:rPr>
                        <a:t>data contract + campaign</a:t>
                      </a:r>
                    </a:p>
                  </a:txBody>
                  <a:tcPr marL="54864" marR="45720" marT="18288" marB="18288" anchor="ctr">
                    <a:solidFill>
                      <a:srgbClr val="FFFFFF"/>
                    </a:solidFill>
                  </a:tcPr>
                </a:tc>
              </a:tr>
              <a:tr h="457200">
                <a:tc>
                  <a:txBody>
                    <a:bodyPr wrap="square"/>
                    <a:lstStyle/>
                    <a:p>
                      <a:pPr algn="l"/>
                      <a:r>
                        <a:rPr b="1" sz="1250">
                          <a:solidFill>
                            <a:srgbClr val="004D59"/>
                          </a:solidFill>
                          <a:latin typeface="Palatino Linotype"/>
                        </a:rPr>
                        <a:t>Jumps at the wave fronts</a:t>
                      </a:r>
                    </a:p>
                  </a:txBody>
                  <a:tcPr marL="54864" marR="45720" marT="18288" marB="18288" anchor="ctr">
                    <a:solidFill>
                      <a:srgbClr val="F2ECED"/>
                    </a:solidFill>
                  </a:tcPr>
                </a:tc>
                <a:tc>
                  <a:txBody>
                    <a:bodyPr wrap="square"/>
                    <a:lstStyle/>
                    <a:p>
                      <a:pPr algn="ctr"/>
                      <a:r>
                        <a:rPr sz="1250">
                          <a:solidFill>
                            <a:srgbClr val="2B2B2B"/>
                          </a:solidFill>
                          <a:latin typeface="Palatino Linotype"/>
                        </a:rPr>
                        <a:t>no number yet</a:t>
                      </a:r>
                    </a:p>
                  </a:txBody>
                  <a:tcPr marL="54864" marR="45720" marT="18288" marB="18288" anchor="ctr">
                    <a:solidFill>
                      <a:srgbClr val="F2ECED"/>
                    </a:solidFill>
                  </a:tcPr>
                </a:tc>
                <a:tc>
                  <a:txBody>
                    <a:bodyPr wrap="square"/>
                    <a:lstStyle/>
                    <a:p>
                      <a:pPr algn="ctr"/>
                      <a:r>
                        <a:rPr sz="1250">
                          <a:solidFill>
                            <a:srgbClr val="2B2B2B"/>
                          </a:solidFill>
                          <a:latin typeface="Palatino Linotype"/>
                        </a:rPr>
                        <a:t>—</a:t>
                      </a:r>
                    </a:p>
                  </a:txBody>
                  <a:tcPr marL="54864" marR="45720" marT="18288" marB="18288" anchor="ctr">
                    <a:solidFill>
                      <a:srgbClr val="F2ECED"/>
                    </a:solidFill>
                  </a:tcPr>
                </a:tc>
                <a:tc>
                  <a:txBody>
                    <a:bodyPr wrap="square"/>
                    <a:lstStyle/>
                    <a:p>
                      <a:pPr algn="ctr"/>
                      <a:r>
                        <a:rPr sz="1250">
                          <a:solidFill>
                            <a:srgbClr val="2B2B2B"/>
                          </a:solidFill>
                          <a:latin typeface="Palatino Linotype"/>
                        </a:rPr>
                        <a:t>open — derivation planned</a:t>
                      </a:r>
                    </a:p>
                  </a:txBody>
                  <a:tcPr marL="54864" marR="45720" marT="18288" marB="18288" anchor="ctr">
                    <a:solidFill>
                      <a:srgbClr val="F2ECED"/>
                    </a:solidFill>
                  </a:tcPr>
                </a:tc>
                <a:tc>
                  <a:txBody>
                    <a:bodyPr wrap="square"/>
                    <a:lstStyle/>
                    <a:p>
                      <a:pPr algn="ctr"/>
                      <a:r>
                        <a:rPr sz="1250">
                          <a:solidFill>
                            <a:srgbClr val="2B2B2B"/>
                          </a:solidFill>
                          <a:latin typeface="Palatino Linotype"/>
                        </a:rPr>
                        <a:t>derivation chain, then campaign</a:t>
                      </a:r>
                    </a:p>
                  </a:txBody>
                  <a:tcPr marL="54864" marR="45720" marT="18288" marB="18288" anchor="ctr">
                    <a:solidFill>
                      <a:srgbClr val="F2ECED"/>
                    </a:solidFill>
                  </a:tcPr>
                </a:tc>
              </a:tr>
              <a:tr h="457200">
                <a:tc>
                  <a:txBody>
                    <a:bodyPr wrap="square"/>
                    <a:lstStyle/>
                    <a:p>
                      <a:pPr algn="l"/>
                      <a:r>
                        <a:rPr b="1" sz="1250">
                          <a:solidFill>
                            <a:srgbClr val="004D59"/>
                          </a:solidFill>
                          <a:latin typeface="Palatino Linotype"/>
                        </a:rPr>
                        <a:t>Designing the nozzle alone</a:t>
                      </a:r>
                    </a:p>
                  </a:txBody>
                  <a:tcPr marL="54864" marR="45720" marT="18288" marB="18288" anchor="ctr">
                    <a:solidFill>
                      <a:srgbClr val="FFFFFF"/>
                    </a:solidFill>
                  </a:tcPr>
                </a:tc>
                <a:tc>
                  <a:txBody>
                    <a:bodyPr wrap="square"/>
                    <a:lstStyle/>
                    <a:p>
                      <a:pPr algn="ctr"/>
                      <a:r>
                        <a:rPr sz="1250">
                          <a:solidFill>
                            <a:srgbClr val="2B2B2B"/>
                          </a:solidFill>
                          <a:latin typeface="Palatino Linotype"/>
                        </a:rPr>
                        <a:t>~1%</a:t>
                      </a:r>
                    </a:p>
                  </a:txBody>
                  <a:tcPr marL="54864" marR="45720" marT="18288" marB="18288" anchor="ctr">
                    <a:solidFill>
                      <a:srgbClr val="FFFFFF"/>
                    </a:solidFill>
                  </a:tcPr>
                </a:tc>
                <a:tc>
                  <a:txBody>
                    <a:bodyPr wrap="square"/>
                    <a:lstStyle/>
                    <a:p>
                      <a:pPr algn="ctr"/>
                      <a:r>
                        <a:rPr sz="1250">
                          <a:solidFill>
                            <a:srgbClr val="2B2B2B"/>
                          </a:solidFill>
                          <a:latin typeface="Palatino Linotype"/>
                        </a:rPr>
                        <a:t>~1%</a:t>
                      </a:r>
                    </a:p>
                  </a:txBody>
                  <a:tcPr marL="54864" marR="45720" marT="18288" marB="18288" anchor="ctr">
                    <a:solidFill>
                      <a:srgbClr val="FFFFFF"/>
                    </a:solidFill>
                  </a:tcPr>
                </a:tc>
                <a:tc>
                  <a:txBody>
                    <a:bodyPr wrap="square"/>
                    <a:lstStyle/>
                    <a:p>
                      <a:pPr algn="ctr"/>
                      <a:r>
                        <a:rPr sz="1250">
                          <a:solidFill>
                            <a:srgbClr val="2B2B2B"/>
                          </a:solidFill>
                          <a:latin typeface="Palatino Linotype"/>
                        </a:rPr>
                        <a:t>literature, page-verified</a:t>
                      </a:r>
                    </a:p>
                  </a:txBody>
                  <a:tcPr marL="54864" marR="45720" marT="18288" marB="18288" anchor="ctr">
                    <a:solidFill>
                      <a:srgbClr val="FFFFFF"/>
                    </a:solidFill>
                  </a:tcPr>
                </a:tc>
                <a:tc>
                  <a:txBody>
                    <a:bodyPr wrap="square"/>
                    <a:lstStyle/>
                    <a:p>
                      <a:pPr algn="ctr"/>
                      <a:r>
                        <a:rPr sz="1250">
                          <a:solidFill>
                            <a:srgbClr val="2B2B2B"/>
                          </a:solidFill>
                          <a:latin typeface="Palatino Linotype"/>
                        </a:rPr>
                        <a:t>coupled-pair run</a:t>
                      </a:r>
                    </a:p>
                  </a:txBody>
                  <a:tcPr marL="54864" marR="45720" marT="18288" marB="18288" anchor="ctr">
                    <a:solidFill>
                      <a:srgbClr val="FFFFFF"/>
                    </a:solidFill>
                  </a:tcPr>
                </a:tc>
              </a:tr>
              <a:tr h="457200">
                <a:tc>
                  <a:txBody>
                    <a:bodyPr wrap="square"/>
                    <a:lstStyle/>
                    <a:p>
                      <a:pPr algn="l"/>
                      <a:r>
                        <a:rPr b="1" sz="1250">
                          <a:solidFill>
                            <a:srgbClr val="004D59"/>
                          </a:solidFill>
                          <a:latin typeface="Palatino Linotype"/>
                        </a:rPr>
                        <a:t>Optimum shift</a:t>
                      </a:r>
                    </a:p>
                  </a:txBody>
                  <a:tcPr marL="54864" marR="45720" marT="18288" marB="18288" anchor="ctr">
                    <a:solidFill>
                      <a:srgbClr val="F2ECED"/>
                    </a:solidFill>
                  </a:tcPr>
                </a:tc>
                <a:tc>
                  <a:txBody>
                    <a:bodyPr wrap="square"/>
                    <a:lstStyle/>
                    <a:p>
                      <a:pPr algn="ctr"/>
                      <a:r>
                        <a:rPr sz="1250">
                          <a:solidFill>
                            <a:srgbClr val="2B2B2B"/>
                          </a:solidFill>
                          <a:latin typeface="Palatino Linotype"/>
                        </a:rPr>
                        <a:t>no number yet</a:t>
                      </a:r>
                    </a:p>
                  </a:txBody>
                  <a:tcPr marL="54864" marR="45720" marT="18288" marB="18288" anchor="ctr">
                    <a:solidFill>
                      <a:srgbClr val="F2ECED"/>
                    </a:solidFill>
                  </a:tcPr>
                </a:tc>
                <a:tc>
                  <a:txBody>
                    <a:bodyPr wrap="square"/>
                    <a:lstStyle/>
                    <a:p>
                      <a:pPr algn="ctr"/>
                      <a:r>
                        <a:rPr sz="1250">
                          <a:solidFill>
                            <a:srgbClr val="2B2B2B"/>
                          </a:solidFill>
                          <a:latin typeface="Palatino Linotype"/>
                        </a:rPr>
                        <a:t>—</a:t>
                      </a:r>
                    </a:p>
                  </a:txBody>
                  <a:tcPr marL="54864" marR="45720" marT="18288" marB="18288" anchor="ctr">
                    <a:solidFill>
                      <a:srgbClr val="F2ECED"/>
                    </a:solidFill>
                  </a:tcPr>
                </a:tc>
                <a:tc>
                  <a:txBody>
                    <a:bodyPr wrap="square"/>
                    <a:lstStyle/>
                    <a:p>
                      <a:pPr algn="ctr"/>
                      <a:r>
                        <a:rPr sz="1250">
                          <a:solidFill>
                            <a:srgbClr val="2B2B2B"/>
                          </a:solidFill>
                          <a:latin typeface="Palatino Linotype"/>
                        </a:rPr>
                        <a:t>open</a:t>
                      </a:r>
                    </a:p>
                  </a:txBody>
                  <a:tcPr marL="54864" marR="45720" marT="18288" marB="18288" anchor="ctr">
                    <a:solidFill>
                      <a:srgbClr val="F2ECED"/>
                    </a:solidFill>
                  </a:tcPr>
                </a:tc>
                <a:tc>
                  <a:txBody>
                    <a:bodyPr wrap="square"/>
                    <a:lstStyle/>
                    <a:p>
                      <a:pPr algn="ctr"/>
                      <a:r>
                        <a:rPr sz="1250">
                          <a:solidFill>
                            <a:srgbClr val="2B2B2B"/>
                          </a:solidFill>
                          <a:latin typeface="Palatino Linotype"/>
                        </a:rPr>
                        <a:t>head-to-head comparison</a:t>
                      </a:r>
                    </a:p>
                  </a:txBody>
                  <a:tcPr marL="54864" marR="45720" marT="18288" marB="18288" anchor="ctr">
                    <a:solidFill>
                      <a:srgbClr val="F2ECED"/>
                    </a:solidFill>
                  </a:tcPr>
                </a:tc>
              </a:tr>
            </a:tbl>
          </a:graphicData>
        </a:graphic>
      </p:graphicFrame>
      <p:sp>
        <p:nvSpPr>
          <p:cNvPr id="17" name="TextBox 16"/>
          <p:cNvSpPr txBox="1"/>
          <p:nvPr/>
        </p:nvSpPr>
        <p:spPr>
          <a:xfrm>
            <a:off x="548640" y="5120640"/>
            <a:ext cx="11155680" cy="548640"/>
          </a:xfrm>
          <a:prstGeom prst="rect">
            <a:avLst/>
          </a:prstGeom>
          <a:noFill/>
        </p:spPr>
        <p:txBody>
          <a:bodyPr wrap="square" anchor="t" lIns="0" rIns="0" tIns="0" bIns="0">
            <a:spAutoFit/>
          </a:bodyPr>
          <a:lstStyle/>
          <a:p>
            <a:pPr algn="l">
              <a:lnSpc>
                <a:spcPct val="100000"/>
              </a:lnSpc>
              <a:spcBef>
                <a:spcPts val="0"/>
              </a:spcBef>
              <a:spcAft>
                <a:spcPts val="400"/>
              </a:spcAft>
            </a:pPr>
            <a:r>
              <a:rPr b="0" i="1" sz="1300">
                <a:solidFill>
                  <a:srgbClr val="808080"/>
                </a:solidFill>
                <a:latin typeface="Palatino Linotype"/>
              </a:rPr>
              <a:t>all six error sources, best/worst, how estimated, and what tightens each — the main deck showed the highlights (C11)</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figure provenance &amp; reuse methodology</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B-16</a:t>
              </a:r>
            </a:p>
          </p:txBody>
        </p:sp>
      </p:grpSp>
      <p:sp>
        <p:nvSpPr>
          <p:cNvPr id="16" name="Rounded Rectangle 15"/>
          <p:cNvSpPr/>
          <p:nvPr/>
        </p:nvSpPr>
        <p:spPr>
          <a:xfrm>
            <a:off x="1097280" y="2011680"/>
            <a:ext cx="996696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5" y="2103120"/>
            <a:ext cx="971092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Every third-party figure: full citation + non-reproduction caveat</a:t>
            </a:r>
          </a:p>
        </p:txBody>
      </p:sp>
      <p:sp>
        <p:nvSpPr>
          <p:cNvPr id="18" name="TextBox 17"/>
          <p:cNvSpPr txBox="1"/>
          <p:nvPr/>
        </p:nvSpPr>
        <p:spPr>
          <a:xfrm>
            <a:off x="1225295" y="2487168"/>
            <a:ext cx="9710928"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400">
                <a:solidFill>
                  <a:srgbClr val="2B2B2B"/>
                </a:solidFill>
                <a:latin typeface="Palatino Linotype"/>
              </a:rPr>
              <a:t>manifest of reused figures with per-figure attribution and audit trail; our own figures traced to committed, tested scripts</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Backup — what input the method needs: the reliability ladder</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B-17</a:t>
              </a:r>
            </a:p>
          </p:txBody>
        </p:sp>
      </p:grpSp>
      <p:pic>
        <p:nvPicPr>
          <p:cNvPr id="16" name="Picture 15" descr="fig_c18_ladder.png"/>
          <p:cNvPicPr>
            <a:picLocks noChangeAspect="1"/>
          </p:cNvPicPr>
          <p:nvPr/>
        </p:nvPicPr>
        <p:blipFill>
          <a:blip r:embed="rId3"/>
          <a:stretch>
            <a:fillRect/>
          </a:stretch>
        </p:blipFill>
        <p:spPr>
          <a:xfrm>
            <a:off x="3372558" y="1417320"/>
            <a:ext cx="5462123" cy="4114799"/>
          </a:xfrm>
          <a:prstGeom prst="rect">
            <a:avLst/>
          </a:prstGeom>
        </p:spPr>
      </p:pic>
      <p:sp>
        <p:nvSpPr>
          <p:cNvPr id="17" name="TextBox 16"/>
          <p:cNvSpPr txBox="1"/>
          <p:nvPr/>
        </p:nvSpPr>
        <p:spPr>
          <a:xfrm>
            <a:off x="548640" y="5623560"/>
            <a:ext cx="1115568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200">
                <a:solidFill>
                  <a:srgbClr val="808080"/>
                </a:solidFill>
                <a:latin typeface="Palatino Linotype"/>
              </a:rPr>
              <a:t>cases A–G: from engine specs alone to class-verified hot-fire data — the entry gate can reject</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Today</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B-18</a:t>
              </a:r>
            </a:p>
          </p:txBody>
        </p:sp>
      </p:grpSp>
      <p:sp>
        <p:nvSpPr>
          <p:cNvPr id="16" name="TextBox 15"/>
          <p:cNvSpPr txBox="1"/>
          <p:nvPr/>
        </p:nvSpPr>
        <p:spPr>
          <a:xfrm>
            <a:off x="1463040" y="1737360"/>
            <a:ext cx="9601200" cy="3291840"/>
          </a:xfrm>
          <a:prstGeom prst="rect">
            <a:avLst/>
          </a:prstGeom>
          <a:noFill/>
        </p:spPr>
        <p:txBody>
          <a:bodyPr wrap="square" anchor="t" lIns="0" rIns="0" tIns="0" bIns="0">
            <a:spAutoFit/>
          </a:bodyPr>
          <a:lstStyle/>
          <a:p>
            <a:pPr algn="l">
              <a:lnSpc>
                <a:spcPct val="125000"/>
              </a:lnSpc>
              <a:spcBef>
                <a:spcPts val="0"/>
              </a:spcBef>
              <a:spcAft>
                <a:spcPts val="1400"/>
              </a:spcAft>
            </a:pPr>
            <a:r>
              <a:rPr b="1" i="0" sz="2200">
                <a:solidFill>
                  <a:srgbClr val="822433"/>
                </a:solidFill>
                <a:latin typeface="Palatino Linotype"/>
              </a:rPr>
              <a:t>1   </a:t>
            </a:r>
            <a:r>
              <a:rPr b="0" i="0" sz="2200">
                <a:solidFill>
                  <a:srgbClr val="2B2B2B"/>
                </a:solidFill>
                <a:latin typeface="Palatino Linotype"/>
              </a:rPr>
              <a:t>The group and its tools</a:t>
            </a:r>
          </a:p>
          <a:p>
            <a:pPr algn="l">
              <a:lnSpc>
                <a:spcPct val="125000"/>
              </a:lnSpc>
              <a:spcBef>
                <a:spcPts val="0"/>
              </a:spcBef>
              <a:spcAft>
                <a:spcPts val="1400"/>
              </a:spcAft>
            </a:pPr>
            <a:r>
              <a:rPr b="1" i="0" sz="2200">
                <a:solidFill>
                  <a:srgbClr val="822433"/>
                </a:solidFill>
                <a:latin typeface="Palatino Linotype"/>
              </a:rPr>
              <a:t>2   </a:t>
            </a:r>
            <a:r>
              <a:rPr b="0" i="0" sz="2200">
                <a:solidFill>
                  <a:srgbClr val="2B2B2B"/>
                </a:solidFill>
                <a:latin typeface="Palatino Linotype"/>
              </a:rPr>
              <a:t>The real RDE exhaust</a:t>
            </a:r>
          </a:p>
          <a:p>
            <a:pPr algn="l">
              <a:lnSpc>
                <a:spcPct val="125000"/>
              </a:lnSpc>
              <a:spcBef>
                <a:spcPts val="0"/>
              </a:spcBef>
              <a:spcAft>
                <a:spcPts val="1400"/>
              </a:spcAft>
            </a:pPr>
            <a:r>
              <a:rPr b="1" i="0" sz="2200">
                <a:solidFill>
                  <a:srgbClr val="822433"/>
                </a:solidFill>
                <a:latin typeface="Palatino Linotype"/>
              </a:rPr>
              <a:t>3   </a:t>
            </a:r>
            <a:r>
              <a:rPr b="0" i="0" sz="2200">
                <a:solidFill>
                  <a:srgbClr val="2B2B2B"/>
                </a:solidFill>
                <a:latin typeface="Palatino Linotype"/>
              </a:rPr>
              <a:t>Our formulation</a:t>
            </a:r>
          </a:p>
          <a:p>
            <a:pPr algn="l">
              <a:lnSpc>
                <a:spcPct val="125000"/>
              </a:lnSpc>
              <a:spcBef>
                <a:spcPts val="0"/>
              </a:spcBef>
              <a:spcAft>
                <a:spcPts val="1400"/>
              </a:spcAft>
            </a:pPr>
            <a:r>
              <a:rPr b="1" i="0" sz="2200">
                <a:solidFill>
                  <a:srgbClr val="822433"/>
                </a:solidFill>
                <a:latin typeface="Palatino Linotype"/>
              </a:rPr>
              <a:t>4   </a:t>
            </a:r>
            <a:r>
              <a:rPr b="0" i="0" sz="2200">
                <a:solidFill>
                  <a:srgbClr val="2B2B2B"/>
                </a:solidFill>
                <a:latin typeface="Palatino Linotype"/>
              </a:rPr>
              <a:t>The design machine</a:t>
            </a:r>
          </a:p>
          <a:p>
            <a:pPr algn="l">
              <a:lnSpc>
                <a:spcPct val="125000"/>
              </a:lnSpc>
              <a:spcBef>
                <a:spcPts val="0"/>
              </a:spcBef>
              <a:spcAft>
                <a:spcPts val="1400"/>
              </a:spcAft>
            </a:pPr>
            <a:r>
              <a:rPr b="1" i="0" sz="2200">
                <a:solidFill>
                  <a:srgbClr val="822433"/>
                </a:solidFill>
                <a:latin typeface="Palatino Linotype"/>
              </a:rPr>
              <a:t>5   </a:t>
            </a:r>
            <a:r>
              <a:rPr b="0" i="0" sz="2200">
                <a:solidFill>
                  <a:srgbClr val="2B2B2B"/>
                </a:solidFill>
                <a:latin typeface="Palatino Linotype"/>
              </a:rPr>
              <a:t>Honesty, roadmap &amp; requests</a:t>
            </a:r>
          </a:p>
        </p:txBody>
      </p:sp>
      <p:sp>
        <p:nvSpPr>
          <p:cNvPr id="17" name="TextBox 16"/>
          <p:cNvSpPr txBox="1"/>
          <p:nvPr/>
        </p:nvSpPr>
        <p:spPr>
          <a:xfrm>
            <a:off x="1463040" y="5120640"/>
            <a:ext cx="9601200" cy="457200"/>
          </a:xfrm>
          <a:prstGeom prst="rect">
            <a:avLst/>
          </a:prstGeom>
          <a:noFill/>
        </p:spPr>
        <p:txBody>
          <a:bodyPr wrap="square" anchor="t" lIns="0" rIns="0" tIns="0" bIns="0">
            <a:spAutoFit/>
          </a:bodyPr>
          <a:lstStyle/>
          <a:p>
            <a:pPr algn="l">
              <a:lnSpc>
                <a:spcPct val="100000"/>
              </a:lnSpc>
              <a:spcBef>
                <a:spcPts val="0"/>
              </a:spcBef>
              <a:spcAft>
                <a:spcPts val="400"/>
              </a:spcAft>
            </a:pPr>
            <a:r>
              <a:rPr b="0" i="1" sz="1800">
                <a:solidFill>
                  <a:srgbClr val="006778"/>
                </a:solidFill>
                <a:latin typeface="Palatino Linotype"/>
              </a:rPr>
              <a:t>Three requests for the panel — at the end.</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One nozzle, two flowfields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B-19</a:t>
              </a:r>
            </a:p>
          </p:txBody>
        </p:sp>
      </p:grpSp>
      <p:pic>
        <p:nvPicPr>
          <p:cNvPr id="16" name="Picture 15" descr="pc_fig10_dichotomy.png"/>
          <p:cNvPicPr>
            <a:picLocks noChangeAspect="1"/>
          </p:cNvPicPr>
          <p:nvPr/>
        </p:nvPicPr>
        <p:blipFill>
          <a:blip r:embed="rId3"/>
          <a:stretch>
            <a:fillRect/>
          </a:stretch>
        </p:blipFill>
        <p:spPr>
          <a:xfrm>
            <a:off x="570348" y="1572768"/>
            <a:ext cx="6723142" cy="3200400"/>
          </a:xfrm>
          <a:prstGeom prst="rect">
            <a:avLst/>
          </a:prstGeom>
        </p:spPr>
      </p:pic>
      <p:sp>
        <p:nvSpPr>
          <p:cNvPr id="17" name="TextBox 16"/>
          <p:cNvSpPr txBox="1"/>
          <p:nvPr/>
        </p:nvSpPr>
        <p:spPr>
          <a:xfrm>
            <a:off x="411480" y="4809744"/>
            <a:ext cx="704088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Transient (left) vs reference steady state (right) — Li, Xu, Lv, Yu, Zhou, Aerosp. Sci. Technol. 158:109878 (2025), Fig. 10</a:t>
            </a:r>
          </a:p>
        </p:txBody>
      </p:sp>
      <p:pic>
        <p:nvPicPr>
          <p:cNvPr id="18" name="Picture 17" descr="pd_fig9.png"/>
          <p:cNvPicPr>
            <a:picLocks noChangeAspect="1"/>
          </p:cNvPicPr>
          <p:nvPr/>
        </p:nvPicPr>
        <p:blipFill>
          <a:blip r:embed="rId4"/>
          <a:stretch>
            <a:fillRect/>
          </a:stretch>
        </p:blipFill>
        <p:spPr>
          <a:xfrm>
            <a:off x="8966880" y="1572768"/>
            <a:ext cx="1634398" cy="1481327"/>
          </a:xfrm>
          <a:prstGeom prst="rect">
            <a:avLst/>
          </a:prstGeom>
        </p:spPr>
      </p:pic>
      <p:sp>
        <p:nvSpPr>
          <p:cNvPr id="19" name="TextBox 18"/>
          <p:cNvSpPr txBox="1"/>
          <p:nvPr/>
        </p:nvSpPr>
        <p:spPr>
          <a:xfrm>
            <a:off x="7818120" y="3072384"/>
            <a:ext cx="393192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Instantaneous internal flow — Jourdaine et al., PCI 37 (2019), Fig. 9</a:t>
            </a:r>
          </a:p>
        </p:txBody>
      </p:sp>
      <p:pic>
        <p:nvPicPr>
          <p:cNvPr id="20" name="Picture 19" descr="pd_fig4.png"/>
          <p:cNvPicPr>
            <a:picLocks noChangeAspect="1"/>
          </p:cNvPicPr>
          <p:nvPr/>
        </p:nvPicPr>
        <p:blipFill>
          <a:blip r:embed="rId5"/>
          <a:stretch>
            <a:fillRect/>
          </a:stretch>
        </p:blipFill>
        <p:spPr>
          <a:xfrm>
            <a:off x="7860952" y="3355848"/>
            <a:ext cx="3846255" cy="1481328"/>
          </a:xfrm>
          <a:prstGeom prst="rect">
            <a:avLst/>
          </a:prstGeom>
        </p:spPr>
      </p:pic>
      <p:sp>
        <p:nvSpPr>
          <p:cNvPr id="21" name="TextBox 20"/>
          <p:cNvSpPr txBox="1"/>
          <p:nvPr/>
        </p:nvSpPr>
        <p:spPr>
          <a:xfrm>
            <a:off x="7818120" y="4855464"/>
            <a:ext cx="393192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Time-averaged exhaust — Jourdaine et al., PCI 37 (2019), Fig. 4</a:t>
            </a:r>
          </a:p>
        </p:txBody>
      </p:sp>
      <p:sp>
        <p:nvSpPr>
          <p:cNvPr id="22" name="TextBox 21"/>
          <p:cNvSpPr txBox="1"/>
          <p:nvPr/>
        </p:nvSpPr>
        <p:spPr>
          <a:xfrm>
            <a:off x="548640" y="5138928"/>
            <a:ext cx="11155680" cy="914400"/>
          </a:xfrm>
          <a:prstGeom prst="rect">
            <a:avLst/>
          </a:prstGeom>
          <a:noFill/>
        </p:spPr>
        <p:txBody>
          <a:bodyPr wrap="square" anchor="t" lIns="0" rIns="0" tIns="0" bIns="0">
            <a:spAutoFit/>
          </a:bodyPr>
          <a:lstStyle/>
          <a:p>
            <a:pPr algn="l" marL="256032" indent="-256032">
              <a:lnSpc>
                <a:spcPct val="100000"/>
              </a:lnSpc>
              <a:spcBef>
                <a:spcPts val="0"/>
              </a:spcBef>
              <a:spcAft>
                <a:spcPts val="200"/>
              </a:spcAft>
            </a:pPr>
            <a:r>
              <a:rPr b="0" i="0" sz="1600">
                <a:solidFill>
                  <a:srgbClr val="822433"/>
                </a:solidFill>
                <a:latin typeface="Palatino Linotype"/>
              </a:rPr>
              <a:t>•  </a:t>
            </a:r>
            <a:r>
              <a:rPr b="0" i="0" sz="1600">
                <a:solidFill>
                  <a:srgbClr val="2B2B2B"/>
                </a:solidFill>
                <a:latin typeface="Palatino Linotype"/>
              </a:rPr>
              <a:t>Instantaneous: a rotating oblique shock. Time-averaged: a clean axisymmetric plume.</a:t>
            </a:r>
          </a:p>
          <a:p>
            <a:pPr algn="l" marL="256032" indent="-256032">
              <a:lnSpc>
                <a:spcPct val="100000"/>
              </a:lnSpc>
              <a:spcBef>
                <a:spcPts val="0"/>
              </a:spcBef>
              <a:spcAft>
                <a:spcPts val="200"/>
              </a:spcAft>
            </a:pPr>
            <a:r>
              <a:rPr b="0" i="0" sz="1600">
                <a:solidFill>
                  <a:srgbClr val="822433"/>
                </a:solidFill>
                <a:latin typeface="Palatino Linotype"/>
              </a:rPr>
              <a:t>•  </a:t>
            </a:r>
            <a:r>
              <a:rPr b="0" i="0" sz="1600">
                <a:solidFill>
                  <a:srgbClr val="2B2B2B"/>
                </a:solidFill>
                <a:latin typeface="Palatino Linotype"/>
              </a:rPr>
              <a:t>And a third field exists: the steady state the field designs on (left figure, right panels).</a:t>
            </a:r>
          </a:p>
          <a:p>
            <a:pPr algn="l" marL="256032" indent="-256032">
              <a:lnSpc>
                <a:spcPct val="100000"/>
              </a:lnSpc>
              <a:spcBef>
                <a:spcPts val="0"/>
              </a:spcBef>
              <a:spcAft>
                <a:spcPts val="200"/>
              </a:spcAft>
            </a:pPr>
            <a:r>
              <a:rPr b="0" i="0" sz="1600">
                <a:solidFill>
                  <a:srgbClr val="822433"/>
                </a:solidFill>
                <a:latin typeface="Palatino Linotype"/>
              </a:rPr>
              <a:t>•  </a:t>
            </a:r>
            <a:r>
              <a:rPr b="0" i="0" sz="1600">
                <a:solidFill>
                  <a:srgbClr val="2B2B2B"/>
                </a:solidFill>
                <a:latin typeface="Palatino Linotype"/>
              </a:rPr>
              <a:t>Even the throat is unsteady: a corrugated sonic surface, ~6:1 excursions — we design downstream of it.</a:t>
            </a:r>
          </a:p>
        </p:txBody>
      </p:sp>
      <p:sp>
        <p:nvSpPr>
          <p:cNvPr id="23" name="TextBox 22"/>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4" name="TextBox 23"/>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Not just pressure — the whole interface state varies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B-20</a:t>
              </a:r>
            </a:p>
          </p:txBody>
        </p:sp>
      </p:grpSp>
      <p:pic>
        <p:nvPicPr>
          <p:cNvPr id="16" name="Picture 15" descr="kp18_fig6_sonicline.png"/>
          <p:cNvPicPr>
            <a:picLocks noChangeAspect="1"/>
          </p:cNvPicPr>
          <p:nvPr/>
        </p:nvPicPr>
        <p:blipFill>
          <a:blip r:embed="rId3"/>
          <a:stretch>
            <a:fillRect/>
          </a:stretch>
        </p:blipFill>
        <p:spPr>
          <a:xfrm>
            <a:off x="529660" y="1554480"/>
            <a:ext cx="3695558" cy="2834640"/>
          </a:xfrm>
          <a:prstGeom prst="rect">
            <a:avLst/>
          </a:prstGeom>
        </p:spPr>
      </p:pic>
      <p:sp>
        <p:nvSpPr>
          <p:cNvPr id="17" name="TextBox 16"/>
          <p:cNvSpPr txBox="1"/>
          <p:nvPr/>
        </p:nvSpPr>
        <p:spPr>
          <a:xfrm>
            <a:off x="365760" y="4434840"/>
            <a:ext cx="402336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Corrugated sonic line — Kaemming &amp; Paxson, AIAA 2018-1101, Fig. 6</a:t>
            </a:r>
          </a:p>
        </p:txBody>
      </p:sp>
      <p:pic>
        <p:nvPicPr>
          <p:cNvPr id="18" name="Picture 17" descr="kp18_tab1_throat.png"/>
          <p:cNvPicPr>
            <a:picLocks noChangeAspect="1"/>
          </p:cNvPicPr>
          <p:nvPr/>
        </p:nvPicPr>
        <p:blipFill>
          <a:blip r:embed="rId4"/>
          <a:stretch>
            <a:fillRect/>
          </a:stretch>
        </p:blipFill>
        <p:spPr>
          <a:xfrm>
            <a:off x="4526280" y="2069899"/>
            <a:ext cx="3931920" cy="1803800"/>
          </a:xfrm>
          <a:prstGeom prst="rect">
            <a:avLst/>
          </a:prstGeom>
        </p:spPr>
      </p:pic>
      <p:sp>
        <p:nvSpPr>
          <p:cNvPr id="19" name="TextBox 18"/>
          <p:cNvSpPr txBox="1"/>
          <p:nvPr/>
        </p:nvSpPr>
        <p:spPr>
          <a:xfrm>
            <a:off x="4526280" y="4434840"/>
            <a:ext cx="393192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Every quantity, not just pressure — ibid., Table 1</a:t>
            </a:r>
          </a:p>
        </p:txBody>
      </p:sp>
      <p:pic>
        <p:nvPicPr>
          <p:cNvPr id="20" name="Picture 19" descr="fig_c2_interface.png"/>
          <p:cNvPicPr>
            <a:picLocks noChangeAspect="1"/>
          </p:cNvPicPr>
          <p:nvPr/>
        </p:nvPicPr>
        <p:blipFill>
          <a:blip r:embed="rId5"/>
          <a:stretch>
            <a:fillRect/>
          </a:stretch>
        </p:blipFill>
        <p:spPr>
          <a:xfrm>
            <a:off x="8595360" y="2103120"/>
            <a:ext cx="3291840" cy="1783080"/>
          </a:xfrm>
          <a:prstGeom prst="rect">
            <a:avLst/>
          </a:prstGeom>
        </p:spPr>
      </p:pic>
      <p:sp>
        <p:nvSpPr>
          <p:cNvPr id="21" name="TextBox 20"/>
          <p:cNvSpPr txBox="1"/>
          <p:nvPr/>
        </p:nvSpPr>
        <p:spPr>
          <a:xfrm>
            <a:off x="457200" y="4800600"/>
            <a:ext cx="11338560" cy="1463040"/>
          </a:xfrm>
          <a:prstGeom prst="rect">
            <a:avLst/>
          </a:prstGeom>
          <a:noFill/>
        </p:spPr>
        <p:txBody>
          <a:bodyPr wrap="square" anchor="t" lIns="0" rIns="0" tIns="0" bIns="0">
            <a:spAutoFit/>
          </a:bodyPr>
          <a:lstStyle/>
          <a:p>
            <a:pPr algn="l" marL="256032" indent="-256032">
              <a:lnSpc>
                <a:spcPct val="100000"/>
              </a:lnSpc>
              <a:spcBef>
                <a:spcPts val="0"/>
              </a:spcBef>
              <a:spcAft>
                <a:spcPts val="300"/>
              </a:spcAft>
            </a:pPr>
            <a:r>
              <a:rPr b="0" i="0" sz="1600">
                <a:solidFill>
                  <a:srgbClr val="822433"/>
                </a:solidFill>
                <a:latin typeface="Palatino Linotype"/>
              </a:rPr>
              <a:t>•  </a:t>
            </a:r>
            <a:r>
              <a:rPr b="0" i="0" sz="1600">
                <a:solidFill>
                  <a:srgbClr val="2B2B2B"/>
                </a:solidFill>
                <a:latin typeface="Palatino Linotype"/>
              </a:rPr>
              <a:t>Across one cycle: total pressure ~4:1, total temperature ~40%, Mach 0.85–1.33 (published).</a:t>
            </a:r>
          </a:p>
          <a:p>
            <a:pPr algn="l" marL="256032" indent="-256032">
              <a:lnSpc>
                <a:spcPct val="100000"/>
              </a:lnSpc>
              <a:spcBef>
                <a:spcPts val="0"/>
              </a:spcBef>
              <a:spcAft>
                <a:spcPts val="300"/>
              </a:spcAft>
            </a:pPr>
            <a:r>
              <a:rPr b="0" i="0" sz="1600">
                <a:solidFill>
                  <a:srgbClr val="822433"/>
                </a:solidFill>
                <a:latin typeface="Palatino Linotype"/>
              </a:rPr>
              <a:t>•  </a:t>
            </a:r>
            <a:r>
              <a:rPr b="0" i="0" sz="1600">
                <a:solidFill>
                  <a:srgbClr val="2B2B2B"/>
                </a:solidFill>
                <a:latin typeface="Palatino Linotype"/>
              </a:rPr>
              <a:t>The sonic surface is corrugated: subsonic and supersonic bands coexist — 'choked' is not uniform.</a:t>
            </a:r>
          </a:p>
          <a:p>
            <a:pPr algn="l" marL="256032" indent="-256032">
              <a:lnSpc>
                <a:spcPct val="100000"/>
              </a:lnSpc>
              <a:spcBef>
                <a:spcPts val="0"/>
              </a:spcBef>
              <a:spcAft>
                <a:spcPts val="300"/>
              </a:spcAft>
            </a:pPr>
            <a:r>
              <a:rPr b="0" i="0" sz="1600">
                <a:solidFill>
                  <a:srgbClr val="822433"/>
                </a:solidFill>
                <a:latin typeface="Palatino Linotype"/>
              </a:rPr>
              <a:t>•  </a:t>
            </a:r>
            <a:r>
              <a:rPr b="0" i="0" sz="1600">
                <a:solidFill>
                  <a:srgbClr val="2B2B2B"/>
                </a:solidFill>
                <a:latin typeface="Palatino Linotype"/>
              </a:rPr>
              <a:t>How much stays subsonic is set by geometry and operating point — published both ways. We measure it per phase, never assume it.</a:t>
            </a:r>
          </a:p>
        </p:txBody>
      </p:sp>
      <p:sp>
        <p:nvSpPr>
          <p:cNvPr id="22" name="TextBox 21"/>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3" name="TextBox 22"/>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How the field designs RDE nozzles today</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B-21</a:t>
              </a:r>
            </a:p>
          </p:txBody>
        </p:sp>
      </p:grpSp>
      <p:pic>
        <p:nvPicPr>
          <p:cNvPr id="16" name="Picture 15" descr="pa_ramp_profile.png"/>
          <p:cNvPicPr>
            <a:picLocks noChangeAspect="1"/>
          </p:cNvPicPr>
          <p:nvPr/>
        </p:nvPicPr>
        <p:blipFill>
          <a:blip r:embed="rId3"/>
          <a:stretch>
            <a:fillRect/>
          </a:stretch>
        </p:blipFill>
        <p:spPr>
          <a:xfrm>
            <a:off x="365760" y="1496349"/>
            <a:ext cx="3657600" cy="1762181"/>
          </a:xfrm>
          <a:prstGeom prst="rect">
            <a:avLst/>
          </a:prstGeom>
        </p:spPr>
      </p:pic>
      <p:sp>
        <p:nvSpPr>
          <p:cNvPr id="17" name="Rounded Rectangle 16"/>
          <p:cNvSpPr/>
          <p:nvPr/>
        </p:nvSpPr>
        <p:spPr>
          <a:xfrm>
            <a:off x="4069080" y="1691640"/>
            <a:ext cx="1874519" cy="96012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5384" y="1764792"/>
            <a:ext cx="1581911" cy="813816"/>
          </a:xfrm>
          <a:prstGeom prst="rect">
            <a:avLst/>
          </a:prstGeom>
          <a:noFill/>
        </p:spPr>
        <p:txBody>
          <a:bodyPr wrap="square" anchor="ctr" lIns="0" rIns="0" tIns="0" bIns="0">
            <a:spAutoFit/>
          </a:bodyPr>
          <a:lstStyle/>
          <a:p>
            <a:pPr algn="l">
              <a:lnSpc>
                <a:spcPct val="105000"/>
              </a:lnSpc>
              <a:spcBef>
                <a:spcPts val="0"/>
              </a:spcBef>
              <a:spcAft>
                <a:spcPts val="200"/>
              </a:spcAft>
            </a:pPr>
            <a:r>
              <a:rPr b="1" i="0" sz="1200">
                <a:solidFill>
                  <a:srgbClr val="2B2B2B"/>
                </a:solidFill>
                <a:latin typeface="Palatino Linotype"/>
              </a:rPr>
              <a:t>Angelino-type ramp on averaged flow — Liu et al. 2022</a:t>
            </a:r>
          </a:p>
        </p:txBody>
      </p:sp>
      <p:sp>
        <p:nvSpPr>
          <p:cNvPr id="19" name="TextBox 18"/>
          <p:cNvSpPr txBox="1"/>
          <p:nvPr/>
        </p:nvSpPr>
        <p:spPr>
          <a:xfrm>
            <a:off x="365760" y="3310128"/>
            <a:ext cx="5577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Liu et al., Aerosp. Sci. Technol. 120:107300 (2022)</a:t>
            </a:r>
          </a:p>
        </p:txBody>
      </p:sp>
      <p:pic>
        <p:nvPicPr>
          <p:cNvPr id="20" name="Picture 19" descr="pb_moc_profile.png"/>
          <p:cNvPicPr>
            <a:picLocks noChangeAspect="1"/>
          </p:cNvPicPr>
          <p:nvPr/>
        </p:nvPicPr>
        <p:blipFill>
          <a:blip r:embed="rId4"/>
          <a:stretch>
            <a:fillRect/>
          </a:stretch>
        </p:blipFill>
        <p:spPr>
          <a:xfrm>
            <a:off x="7004504" y="1463040"/>
            <a:ext cx="2175871" cy="1828800"/>
          </a:xfrm>
          <a:prstGeom prst="rect">
            <a:avLst/>
          </a:prstGeom>
        </p:spPr>
      </p:pic>
      <p:sp>
        <p:nvSpPr>
          <p:cNvPr id="21" name="Rounded Rectangle 20"/>
          <p:cNvSpPr/>
          <p:nvPr/>
        </p:nvSpPr>
        <p:spPr>
          <a:xfrm>
            <a:off x="9966959" y="1691640"/>
            <a:ext cx="1874519" cy="96012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13263" y="1764792"/>
            <a:ext cx="1581911" cy="813816"/>
          </a:xfrm>
          <a:prstGeom prst="rect">
            <a:avLst/>
          </a:prstGeom>
          <a:noFill/>
        </p:spPr>
        <p:txBody>
          <a:bodyPr wrap="square" anchor="ctr" lIns="0" rIns="0" tIns="0" bIns="0">
            <a:spAutoFit/>
          </a:bodyPr>
          <a:lstStyle/>
          <a:p>
            <a:pPr algn="l">
              <a:lnSpc>
                <a:spcPct val="105000"/>
              </a:lnSpc>
              <a:spcBef>
                <a:spcPts val="0"/>
              </a:spcBef>
              <a:spcAft>
                <a:spcPts val="200"/>
              </a:spcAft>
            </a:pPr>
            <a:r>
              <a:rPr b="1" i="0" sz="1200">
                <a:solidFill>
                  <a:srgbClr val="2B2B2B"/>
                </a:solidFill>
                <a:latin typeface="Palatino Linotype"/>
              </a:rPr>
              <a:t>Classical max-thrust MoC on averaged inflow — Li et al. 2023</a:t>
            </a:r>
          </a:p>
        </p:txBody>
      </p:sp>
      <p:sp>
        <p:nvSpPr>
          <p:cNvPr id="23" name="TextBox 22"/>
          <p:cNvSpPr txBox="1"/>
          <p:nvPr/>
        </p:nvSpPr>
        <p:spPr>
          <a:xfrm>
            <a:off x="6263640" y="3310128"/>
            <a:ext cx="5577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Li, Xu et al., Aerosp. Sci. Technol. 136:108221 (2023)</a:t>
            </a:r>
          </a:p>
        </p:txBody>
      </p:sp>
      <p:pic>
        <p:nvPicPr>
          <p:cNvPr id="24" name="Picture 23" descr="pd_setup_cone.png"/>
          <p:cNvPicPr>
            <a:picLocks noChangeAspect="1"/>
          </p:cNvPicPr>
          <p:nvPr/>
        </p:nvPicPr>
        <p:blipFill>
          <a:blip r:embed="rId5"/>
          <a:stretch>
            <a:fillRect/>
          </a:stretch>
        </p:blipFill>
        <p:spPr>
          <a:xfrm>
            <a:off x="1088548" y="3611880"/>
            <a:ext cx="2212023" cy="1828800"/>
          </a:xfrm>
          <a:prstGeom prst="rect">
            <a:avLst/>
          </a:prstGeom>
        </p:spPr>
      </p:pic>
      <p:sp>
        <p:nvSpPr>
          <p:cNvPr id="25" name="Rounded Rectangle 24"/>
          <p:cNvSpPr/>
          <p:nvPr/>
        </p:nvSpPr>
        <p:spPr>
          <a:xfrm>
            <a:off x="4069080" y="3840480"/>
            <a:ext cx="1874519" cy="96012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15384" y="3913632"/>
            <a:ext cx="1581911" cy="813816"/>
          </a:xfrm>
          <a:prstGeom prst="rect">
            <a:avLst/>
          </a:prstGeom>
          <a:noFill/>
        </p:spPr>
        <p:txBody>
          <a:bodyPr wrap="square" anchor="ctr" lIns="0" rIns="0" tIns="0" bIns="0">
            <a:spAutoFit/>
          </a:bodyPr>
          <a:lstStyle/>
          <a:p>
            <a:pPr algn="l">
              <a:lnSpc>
                <a:spcPct val="105000"/>
              </a:lnSpc>
              <a:spcBef>
                <a:spcPts val="0"/>
              </a:spcBef>
              <a:spcAft>
                <a:spcPts val="200"/>
              </a:spcAft>
            </a:pPr>
            <a:r>
              <a:rPr b="1" i="0" sz="1200">
                <a:solidFill>
                  <a:srgbClr val="2B2B2B"/>
                </a:solidFill>
                <a:latin typeface="Palatino Linotype"/>
              </a:rPr>
              <a:t>Non-optimized conical spike — Jourdaine et al. 2019</a:t>
            </a:r>
          </a:p>
        </p:txBody>
      </p:sp>
      <p:sp>
        <p:nvSpPr>
          <p:cNvPr id="27" name="TextBox 26"/>
          <p:cNvSpPr txBox="1"/>
          <p:nvPr/>
        </p:nvSpPr>
        <p:spPr>
          <a:xfrm>
            <a:off x="365760" y="5458968"/>
            <a:ext cx="5577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Jourdaine et al., Proc. Combust. Inst. 37:3443 (2019)</a:t>
            </a:r>
          </a:p>
        </p:txBody>
      </p:sp>
      <p:pic>
        <p:nvPicPr>
          <p:cNvPr id="28" name="Picture 27" descr="pm_contour.png"/>
          <p:cNvPicPr>
            <a:picLocks noChangeAspect="1"/>
          </p:cNvPicPr>
          <p:nvPr/>
        </p:nvPicPr>
        <p:blipFill>
          <a:blip r:embed="rId6"/>
          <a:stretch>
            <a:fillRect/>
          </a:stretch>
        </p:blipFill>
        <p:spPr>
          <a:xfrm>
            <a:off x="6263640" y="4032009"/>
            <a:ext cx="3657600" cy="988541"/>
          </a:xfrm>
          <a:prstGeom prst="rect">
            <a:avLst/>
          </a:prstGeom>
        </p:spPr>
      </p:pic>
      <p:sp>
        <p:nvSpPr>
          <p:cNvPr id="29" name="Rounded Rectangle 28"/>
          <p:cNvSpPr/>
          <p:nvPr/>
        </p:nvSpPr>
        <p:spPr>
          <a:xfrm>
            <a:off x="9966959" y="3840480"/>
            <a:ext cx="1874519" cy="96012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13263" y="3913632"/>
            <a:ext cx="1581911" cy="813816"/>
          </a:xfrm>
          <a:prstGeom prst="rect">
            <a:avLst/>
          </a:prstGeom>
          <a:noFill/>
        </p:spPr>
        <p:txBody>
          <a:bodyPr wrap="square" anchor="ctr" lIns="0" rIns="0" tIns="0" bIns="0">
            <a:spAutoFit/>
          </a:bodyPr>
          <a:lstStyle/>
          <a:p>
            <a:pPr algn="l">
              <a:lnSpc>
                <a:spcPct val="105000"/>
              </a:lnSpc>
              <a:spcBef>
                <a:spcPts val="0"/>
              </a:spcBef>
              <a:spcAft>
                <a:spcPts val="200"/>
              </a:spcAft>
            </a:pPr>
            <a:r>
              <a:rPr b="1" i="0" sz="1200">
                <a:solidFill>
                  <a:srgbClr val="2B2B2B"/>
                </a:solidFill>
                <a:latin typeface="Palatino Linotype"/>
              </a:rPr>
              <a:t>Manual CFD-guided redesign — Paxson &amp; Miki 2022 (NASA)</a:t>
            </a:r>
          </a:p>
        </p:txBody>
      </p:sp>
      <p:sp>
        <p:nvSpPr>
          <p:cNvPr id="31" name="TextBox 30"/>
          <p:cNvSpPr txBox="1"/>
          <p:nvPr/>
        </p:nvSpPr>
        <p:spPr>
          <a:xfrm>
            <a:off x="6263640" y="5458968"/>
            <a:ext cx="55778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Paxson &amp; Miki, AIAA (2022)</a:t>
            </a:r>
          </a:p>
        </p:txBody>
      </p:sp>
      <p:sp>
        <p:nvSpPr>
          <p:cNvPr id="32" name="Rounded Rectangle 31"/>
          <p:cNvSpPr/>
          <p:nvPr/>
        </p:nvSpPr>
        <p:spPr>
          <a:xfrm>
            <a:off x="457200" y="5742432"/>
            <a:ext cx="11247120" cy="457200"/>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5815584"/>
            <a:ext cx="10954512" cy="310896"/>
          </a:xfrm>
          <a:prstGeom prst="rect">
            <a:avLst/>
          </a:prstGeom>
          <a:noFill/>
        </p:spPr>
        <p:txBody>
          <a:bodyPr wrap="square" anchor="ctr" lIns="0" rIns="0" tIns="0" bIns="0">
            <a:spAutoFit/>
          </a:bodyPr>
          <a:lstStyle/>
          <a:p>
            <a:pPr algn="ctr">
              <a:lnSpc>
                <a:spcPct val="105000"/>
              </a:lnSpc>
              <a:spcBef>
                <a:spcPts val="0"/>
              </a:spcBef>
              <a:spcAft>
                <a:spcPts val="200"/>
              </a:spcAft>
            </a:pPr>
            <a:r>
              <a:rPr b="1" i="0" sz="1500">
                <a:solidFill>
                  <a:srgbClr val="2B2B2B"/>
                </a:solidFill>
                <a:latin typeface="Palatino Linotype"/>
              </a:rPr>
              <a:t>Best of a sweep is not an optimum — and in a systematic census, no published work poses the optimum on the real RDE exhaust: the substitution error is never quantified.</a:t>
            </a:r>
          </a:p>
        </p:txBody>
      </p:sp>
      <p:sp>
        <p:nvSpPr>
          <p:cNvPr id="34" name="TextBox 33"/>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35" name="TextBox 34"/>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optimization that has never happened</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B-22</a:t>
              </a:r>
            </a:p>
          </p:txBody>
        </p:sp>
      </p:grpSp>
      <p:graphicFrame>
        <p:nvGraphicFramePr>
          <p:cNvPr id="16" name="Table 15"/>
          <p:cNvGraphicFramePr>
            <a:graphicFrameLocks noGrp="1"/>
          </p:cNvGraphicFramePr>
          <p:nvPr/>
        </p:nvGraphicFramePr>
        <p:xfrm>
          <a:off x="502920" y="1554480"/>
          <a:ext cx="11155679" cy="3520440"/>
        </p:xfrm>
        <a:graphic>
          <a:graphicData uri="http://schemas.openxmlformats.org/drawingml/2006/table">
            <a:tbl>
              <a:tblPr firstRow="1">
                <a:tableStyleId>{5C22544A-7EE6-4342-B048-85BDC9FD1C3A}</a:tableStyleId>
              </a:tblPr>
              <a:tblGrid>
                <a:gridCol w="2535381"/>
                <a:gridCol w="8620298"/>
              </a:tblGrid>
              <a:tr h="502920">
                <a:tc>
                  <a:txBody>
                    <a:bodyPr wrap="square"/>
                    <a:lstStyle/>
                    <a:p>
                      <a:pPr algn="l"/>
                      <a:r>
                        <a:rPr b="1" sz="1350">
                          <a:solidFill>
                            <a:srgbClr val="FFFFFF"/>
                          </a:solidFill>
                          <a:latin typeface="Palatino Linotype"/>
                        </a:rPr>
                        <a:t>published work</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what is actually optimized</a:t>
                      </a:r>
                    </a:p>
                  </a:txBody>
                  <a:tcPr marL="54864" marR="45720" marT="18288" marB="18288" anchor="ctr">
                    <a:solidFill>
                      <a:srgbClr val="822433"/>
                    </a:solidFill>
                  </a:tcPr>
                </a:tc>
              </a:tr>
              <a:tr h="502920">
                <a:tc>
                  <a:txBody>
                    <a:bodyPr wrap="square"/>
                    <a:lstStyle/>
                    <a:p>
                      <a:pPr algn="l"/>
                      <a:r>
                        <a:rPr b="1" sz="1350">
                          <a:solidFill>
                            <a:srgbClr val="004D59"/>
                          </a:solidFill>
                          <a:latin typeface="Palatino Linotype"/>
                        </a:rPr>
                        <a:t>Liu et al. 2022</a:t>
                      </a:r>
                    </a:p>
                  </a:txBody>
                  <a:tcPr marL="54864" marR="45720" marT="18288" marB="18288" anchor="ctr">
                    <a:solidFill>
                      <a:srgbClr val="FFFFFF"/>
                    </a:solidFill>
                  </a:tcPr>
                </a:tc>
                <a:tc>
                  <a:txBody>
                    <a:bodyPr wrap="square"/>
                    <a:lstStyle/>
                    <a:p>
                      <a:pPr algn="ctr"/>
                      <a:r>
                        <a:rPr sz="1350">
                          <a:solidFill>
                            <a:srgbClr val="2B2B2B"/>
                          </a:solidFill>
                          <a:latin typeface="Palatino Linotype"/>
                        </a:rPr>
                        <a:t>trade study, 4 cases — no optimizer</a:t>
                      </a:r>
                    </a:p>
                  </a:txBody>
                  <a:tcPr marL="54864" marR="45720" marT="18288" marB="18288" anchor="ctr">
                    <a:solidFill>
                      <a:srgbClr val="FFFFFF"/>
                    </a:solidFill>
                  </a:tcPr>
                </a:tc>
              </a:tr>
              <a:tr h="502920">
                <a:tc>
                  <a:txBody>
                    <a:bodyPr wrap="square"/>
                    <a:lstStyle/>
                    <a:p>
                      <a:pPr algn="l"/>
                      <a:r>
                        <a:rPr b="1" sz="1350">
                          <a:solidFill>
                            <a:srgbClr val="004D59"/>
                          </a:solidFill>
                          <a:latin typeface="Palatino Linotype"/>
                        </a:rPr>
                        <a:t>Li et al. 2023</a:t>
                      </a:r>
                    </a:p>
                  </a:txBody>
                  <a:tcPr marL="54864" marR="45720" marT="18288" marB="18288" anchor="ctr">
                    <a:solidFill>
                      <a:srgbClr val="F2ECED"/>
                    </a:solidFill>
                  </a:tcPr>
                </a:tc>
                <a:tc>
                  <a:txBody>
                    <a:bodyPr wrap="square"/>
                    <a:lstStyle/>
                    <a:p>
                      <a:pPr algn="ctr"/>
                      <a:r>
                        <a:rPr sz="1350">
                          <a:solidFill>
                            <a:srgbClr val="2B2B2B"/>
                          </a:solidFill>
                          <a:latin typeface="Palatino Linotype"/>
                        </a:rPr>
                        <a:t>classical steady surfaces on averaged inflow — the substitute problem</a:t>
                      </a:r>
                    </a:p>
                  </a:txBody>
                  <a:tcPr marL="54864" marR="45720" marT="18288" marB="18288" anchor="ctr">
                    <a:solidFill>
                      <a:srgbClr val="F2ECED"/>
                    </a:solidFill>
                  </a:tcPr>
                </a:tc>
              </a:tr>
              <a:tr h="502920">
                <a:tc>
                  <a:txBody>
                    <a:bodyPr wrap="square"/>
                    <a:lstStyle/>
                    <a:p>
                      <a:pPr algn="l"/>
                      <a:r>
                        <a:rPr b="1" sz="1350">
                          <a:solidFill>
                            <a:srgbClr val="004D59"/>
                          </a:solidFill>
                          <a:latin typeface="Palatino Linotype"/>
                        </a:rPr>
                        <a:t>Li et al. 2025</a:t>
                      </a:r>
                    </a:p>
                  </a:txBody>
                  <a:tcPr marL="54864" marR="45720" marT="18288" marB="18288" anchor="ctr">
                    <a:solidFill>
                      <a:srgbClr val="FFFFFF"/>
                    </a:solidFill>
                  </a:tcPr>
                </a:tc>
                <a:tc>
                  <a:txBody>
                    <a:bodyPr wrap="square"/>
                    <a:lstStyle/>
                    <a:p>
                      <a:pPr algn="ctr"/>
                      <a:r>
                        <a:rPr sz="1350">
                          <a:solidFill>
                            <a:srgbClr val="2B2B2B"/>
                          </a:solidFill>
                          <a:latin typeface="Palatino Linotype"/>
                        </a:rPr>
                        <a:t>no new design</a:t>
                      </a:r>
                    </a:p>
                  </a:txBody>
                  <a:tcPr marL="54864" marR="45720" marT="18288" marB="18288" anchor="ctr">
                    <a:solidFill>
                      <a:srgbClr val="FFFFFF"/>
                    </a:solidFill>
                  </a:tcPr>
                </a:tc>
              </a:tr>
              <a:tr h="502920">
                <a:tc>
                  <a:txBody>
                    <a:bodyPr wrap="square"/>
                    <a:lstStyle/>
                    <a:p>
                      <a:pPr algn="l"/>
                      <a:r>
                        <a:rPr b="1" sz="1350">
                          <a:solidFill>
                            <a:srgbClr val="004D59"/>
                          </a:solidFill>
                          <a:latin typeface="Palatino Linotype"/>
                        </a:rPr>
                        <a:t>Jourdaine et al. 2019</a:t>
                      </a:r>
                    </a:p>
                  </a:txBody>
                  <a:tcPr marL="54864" marR="45720" marT="18288" marB="18288" anchor="ctr">
                    <a:solidFill>
                      <a:srgbClr val="F2ECED"/>
                    </a:solidFill>
                  </a:tcPr>
                </a:tc>
                <a:tc>
                  <a:txBody>
                    <a:bodyPr wrap="square"/>
                    <a:lstStyle/>
                    <a:p>
                      <a:pPr algn="ctr"/>
                      <a:r>
                        <a:rPr sz="1350">
                          <a:solidFill>
                            <a:srgbClr val="2B2B2B"/>
                          </a:solidFill>
                          <a:latin typeface="Palatino Linotype"/>
                        </a:rPr>
                        <a:t>conical — declaredly not optimized</a:t>
                      </a:r>
                    </a:p>
                  </a:txBody>
                  <a:tcPr marL="54864" marR="45720" marT="18288" marB="18288" anchor="ctr">
                    <a:solidFill>
                      <a:srgbClr val="F2ECED"/>
                    </a:solidFill>
                  </a:tcPr>
                </a:tc>
              </a:tr>
              <a:tr h="502920">
                <a:tc>
                  <a:txBody>
                    <a:bodyPr wrap="square"/>
                    <a:lstStyle/>
                    <a:p>
                      <a:pPr algn="l"/>
                      <a:r>
                        <a:rPr b="1" sz="1350">
                          <a:solidFill>
                            <a:srgbClr val="004D59"/>
                          </a:solidFill>
                          <a:latin typeface="Palatino Linotype"/>
                        </a:rPr>
                        <a:t>Paxson &amp; Miki 2022</a:t>
                      </a:r>
                    </a:p>
                  </a:txBody>
                  <a:tcPr marL="54864" marR="45720" marT="18288" marB="18288" anchor="ctr">
                    <a:solidFill>
                      <a:srgbClr val="FFFFFF"/>
                    </a:solidFill>
                  </a:tcPr>
                </a:tc>
                <a:tc>
                  <a:txBody>
                    <a:bodyPr wrap="square"/>
                    <a:lstStyle/>
                    <a:p>
                      <a:pPr algn="ctr"/>
                      <a:r>
                        <a:rPr sz="1350">
                          <a:solidFill>
                            <a:srgbClr val="2B2B2B"/>
                          </a:solidFill>
                          <a:latin typeface="Palatino Linotype"/>
                        </a:rPr>
                        <a:t>manual CFD-guided redesign</a:t>
                      </a:r>
                    </a:p>
                  </a:txBody>
                  <a:tcPr marL="54864" marR="45720" marT="18288" marB="18288" anchor="ctr">
                    <a:solidFill>
                      <a:srgbClr val="FFFFFF"/>
                    </a:solidFill>
                  </a:tcPr>
                </a:tc>
              </a:tr>
              <a:tr h="502920">
                <a:tc>
                  <a:txBody>
                    <a:bodyPr wrap="square"/>
                    <a:lstStyle/>
                    <a:p>
                      <a:pPr algn="l"/>
                      <a:r>
                        <a:rPr b="1" sz="1350">
                          <a:solidFill>
                            <a:srgbClr val="004D59"/>
                          </a:solidFill>
                          <a:latin typeface="Palatino Linotype"/>
                        </a:rPr>
                        <a:t>nearest neighbours</a:t>
                      </a:r>
                    </a:p>
                  </a:txBody>
                  <a:tcPr marL="54864" marR="45720" marT="18288" marB="18288" anchor="ctr">
                    <a:solidFill>
                      <a:srgbClr val="F2ECED"/>
                    </a:solidFill>
                  </a:tcPr>
                </a:tc>
                <a:tc>
                  <a:txBody>
                    <a:bodyPr wrap="square"/>
                    <a:lstStyle/>
                    <a:p>
                      <a:pPr algn="ctr"/>
                      <a:r>
                        <a:rPr sz="1350">
                          <a:solidFill>
                            <a:srgbClr val="2B2B2B"/>
                          </a:solidFill>
                          <a:latin typeface="Palatino Linotype"/>
                        </a:rPr>
                        <a:t>an ideal bound (no design); direct search (no optimality conditions)</a:t>
                      </a:r>
                    </a:p>
                  </a:txBody>
                  <a:tcPr marL="54864" marR="45720" marT="18288" marB="18288" anchor="ctr">
                    <a:solidFill>
                      <a:srgbClr val="F2ECED"/>
                    </a:solidFill>
                  </a:tcPr>
                </a:tc>
              </a:tr>
            </a:tbl>
          </a:graphicData>
        </a:graphic>
      </p:graphicFrame>
      <p:sp>
        <p:nvSpPr>
          <p:cNvPr id="17" name="Rounded Rectangle 16"/>
          <p:cNvSpPr/>
          <p:nvPr/>
        </p:nvSpPr>
        <p:spPr>
          <a:xfrm>
            <a:off x="502920" y="5074920"/>
            <a:ext cx="11155680" cy="960120"/>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5148072"/>
            <a:ext cx="10863072" cy="813816"/>
          </a:xfrm>
          <a:prstGeom prst="rect">
            <a:avLst/>
          </a:prstGeom>
          <a:noFill/>
        </p:spPr>
        <p:txBody>
          <a:bodyPr wrap="square" anchor="ctr" lIns="0" rIns="0" tIns="0" bIns="0">
            <a:spAutoFit/>
          </a:bodyPr>
          <a:lstStyle/>
          <a:p>
            <a:pPr algn="ctr">
              <a:lnSpc>
                <a:spcPct val="105000"/>
              </a:lnSpc>
              <a:spcBef>
                <a:spcPts val="0"/>
              </a:spcBef>
              <a:spcAft>
                <a:spcPts val="200"/>
              </a:spcAft>
            </a:pPr>
            <a:r>
              <a:rPr b="0" i="0" sz="1500">
                <a:solidFill>
                  <a:srgbClr val="2B2B2B"/>
                </a:solidFill>
                <a:latin typeface="Palatino Linotype"/>
              </a:rPr>
              <a:t>In a systematic census: no published work poses the optimum on the real RDE exhaust — and the substitution error is never quantified.</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A 1971 warning: the closure alone moves the optimum</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B-23</a:t>
              </a:r>
            </a:p>
          </p:txBody>
        </p:sp>
      </p:grpSp>
      <p:pic>
        <p:nvPicPr>
          <p:cNvPr id="16" name="Picture 15" descr="hum_table.png"/>
          <p:cNvPicPr>
            <a:picLocks noChangeAspect="1"/>
          </p:cNvPicPr>
          <p:nvPr/>
        </p:nvPicPr>
        <p:blipFill>
          <a:blip r:embed="rId3"/>
          <a:stretch>
            <a:fillRect/>
          </a:stretch>
        </p:blipFill>
        <p:spPr>
          <a:xfrm>
            <a:off x="2217009" y="1554480"/>
            <a:ext cx="2332541" cy="2286000"/>
          </a:xfrm>
          <a:prstGeom prst="rect">
            <a:avLst/>
          </a:prstGeom>
        </p:spPr>
      </p:pic>
      <p:pic>
        <p:nvPicPr>
          <p:cNvPr id="17" name="Picture 16" descr="hum_contour.png"/>
          <p:cNvPicPr>
            <a:picLocks noChangeAspect="1"/>
          </p:cNvPicPr>
          <p:nvPr/>
        </p:nvPicPr>
        <p:blipFill>
          <a:blip r:embed="rId4"/>
          <a:stretch>
            <a:fillRect/>
          </a:stretch>
        </p:blipFill>
        <p:spPr>
          <a:xfrm>
            <a:off x="1505538" y="3913632"/>
            <a:ext cx="3755482" cy="1600200"/>
          </a:xfrm>
          <a:prstGeom prst="rect">
            <a:avLst/>
          </a:prstGeom>
        </p:spPr>
      </p:pic>
      <p:sp>
        <p:nvSpPr>
          <p:cNvPr id="18" name="TextBox 17"/>
          <p:cNvSpPr txBox="1"/>
          <p:nvPr/>
        </p:nvSpPr>
        <p:spPr>
          <a:xfrm>
            <a:off x="365760" y="5577840"/>
            <a:ext cx="60350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Optimum shift under base-pressure model swap — Humphreys, Thompson &amp; Hoffman, AIAA J. 9(8):1581 (1971), pp. 1586–87</a:t>
            </a:r>
          </a:p>
        </p:txBody>
      </p:sp>
      <p:sp>
        <p:nvSpPr>
          <p:cNvPr id="19" name="TextBox 18"/>
          <p:cNvSpPr txBox="1"/>
          <p:nvPr/>
        </p:nvSpPr>
        <p:spPr>
          <a:xfrm>
            <a:off x="6629400" y="1600200"/>
            <a:ext cx="5257800" cy="1691640"/>
          </a:xfrm>
          <a:prstGeom prst="rect">
            <a:avLst/>
          </a:prstGeom>
          <a:noFill/>
        </p:spPr>
        <p:txBody>
          <a:bodyPr wrap="square" anchor="t" lIns="0" rIns="0" tIns="0" bIns="0">
            <a:spAutoFit/>
          </a:bodyPr>
          <a:lstStyle/>
          <a:p>
            <a:pPr algn="l" marL="256032" indent="-256032">
              <a:lnSpc>
                <a:spcPct val="100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Only the base-pressure model changes: the optimum moves ×2.45 (value: +0.26%).</a:t>
            </a:r>
          </a:p>
          <a:p>
            <a:pPr algn="l" marL="256032" indent="-256032">
              <a:lnSpc>
                <a:spcPct val="100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The same closure is still in use — and RDE hot-fire base pressure sits far from steady predictions: 0.59 vs 0.95 atm (Harroun et al. 2021).</a:t>
            </a:r>
          </a:p>
        </p:txBody>
      </p:sp>
      <p:pic>
        <p:nvPicPr>
          <p:cNvPr id="20" name="Picture 19" descr="harroun_fig13_base.png"/>
          <p:cNvPicPr>
            <a:picLocks noChangeAspect="1"/>
          </p:cNvPicPr>
          <p:nvPr/>
        </p:nvPicPr>
        <p:blipFill>
          <a:blip r:embed="rId5"/>
          <a:stretch>
            <a:fillRect/>
          </a:stretch>
        </p:blipFill>
        <p:spPr>
          <a:xfrm>
            <a:off x="7914322" y="3310128"/>
            <a:ext cx="2687954" cy="2331719"/>
          </a:xfrm>
          <a:prstGeom prst="rect">
            <a:avLst/>
          </a:prstGeom>
        </p:spPr>
      </p:pic>
      <p:sp>
        <p:nvSpPr>
          <p:cNvPr id="21" name="TextBox 20"/>
          <p:cNvSpPr txBox="1"/>
          <p:nvPr/>
        </p:nvSpPr>
        <p:spPr>
          <a:xfrm>
            <a:off x="6629400" y="5669280"/>
            <a:ext cx="525780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Base pressure, steady vs RDE (CFD + five hot-fire tests) — Harroun, Heister &amp; Ruf, JPP 37(5):660 (2021), Fig. 13</a:t>
            </a:r>
          </a:p>
        </p:txBody>
      </p:sp>
      <p:sp>
        <p:nvSpPr>
          <p:cNvPr id="22" name="TextBox 21"/>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3" name="TextBox 22"/>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Seventy years of variational design — extended to the periodic system</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B-24</a:t>
              </a:r>
            </a:p>
          </p:txBody>
        </p:sp>
      </p:grpSp>
      <p:cxnSp>
        <p:nvCxnSpPr>
          <p:cNvPr id="16" name="Connector 15"/>
          <p:cNvCxnSpPr/>
          <p:nvPr/>
        </p:nvCxnSpPr>
        <p:spPr>
          <a:xfrm>
            <a:off x="457200" y="2148840"/>
            <a:ext cx="11338560" cy="0"/>
          </a:xfrm>
          <a:prstGeom prst="bentConnector3">
            <a:avLst/>
          </a:prstGeom>
          <a:ln w="25400">
            <a:solidFill>
              <a:srgbClr val="808080"/>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920" y="2377440"/>
            <a:ext cx="1847088" cy="1737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1958 · Rao</a:t>
            </a:r>
          </a:p>
        </p:txBody>
      </p:sp>
      <p:sp>
        <p:nvSpPr>
          <p:cNvPr id="19" name="TextBox 18"/>
          <p:cNvSpPr txBox="1"/>
          <p:nvPr/>
        </p:nvSpPr>
        <p:spPr>
          <a:xfrm>
            <a:off x="63093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control surface EMERGES as a result of the variational problem</a:t>
            </a:r>
          </a:p>
        </p:txBody>
      </p:sp>
      <p:cxnSp>
        <p:nvCxnSpPr>
          <p:cNvPr id="20" name="Connector 19"/>
          <p:cNvCxnSpPr/>
          <p:nvPr/>
        </p:nvCxnSpPr>
        <p:spPr>
          <a:xfrm flipV="1">
            <a:off x="1426464" y="2176272"/>
            <a:ext cx="0" cy="201168"/>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423160" y="2377440"/>
            <a:ext cx="1847088" cy="1737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5117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1967 · Hoffman</a:t>
            </a:r>
          </a:p>
        </p:txBody>
      </p:sp>
      <p:sp>
        <p:nvSpPr>
          <p:cNvPr id="23" name="TextBox 22"/>
          <p:cNvSpPr txBox="1"/>
          <p:nvPr/>
        </p:nvSpPr>
        <p:spPr>
          <a:xfrm>
            <a:off x="255117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multiplier FIELDS along characteristics — the adjoint ante litteram</a:t>
            </a:r>
          </a:p>
        </p:txBody>
      </p:sp>
      <p:cxnSp>
        <p:nvCxnSpPr>
          <p:cNvPr id="24" name="Connector 23"/>
          <p:cNvCxnSpPr/>
          <p:nvPr/>
        </p:nvCxnSpPr>
        <p:spPr>
          <a:xfrm flipV="1">
            <a:off x="3346704" y="2176272"/>
            <a:ext cx="0" cy="201168"/>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343400" y="2377440"/>
            <a:ext cx="1847088" cy="1737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1970 · Kraiko–Osipov</a:t>
            </a:r>
          </a:p>
        </p:txBody>
      </p:sp>
      <p:sp>
        <p:nvSpPr>
          <p:cNvPr id="27" name="TextBox 26"/>
          <p:cNvSpPr txBox="1"/>
          <p:nvPr/>
        </p:nvSpPr>
        <p:spPr>
          <a:xfrm>
            <a:off x="447141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time-weighted wall — the ancestor we always cite: no cycle measure, no quotient, no certificates</a:t>
            </a:r>
          </a:p>
        </p:txBody>
      </p:sp>
      <p:cxnSp>
        <p:nvCxnSpPr>
          <p:cNvPr id="28" name="Connector 27"/>
          <p:cNvCxnSpPr/>
          <p:nvPr/>
        </p:nvCxnSpPr>
        <p:spPr>
          <a:xfrm flipV="1">
            <a:off x="5266944" y="2176272"/>
            <a:ext cx="0" cy="201168"/>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2377440"/>
            <a:ext cx="1847088" cy="1737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9165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1981 · Allman–Hoffman</a:t>
            </a:r>
          </a:p>
        </p:txBody>
      </p:sp>
      <p:sp>
        <p:nvSpPr>
          <p:cNvPr id="31" name="TextBox 30"/>
          <p:cNvSpPr txBox="1"/>
          <p:nvPr/>
        </p:nvSpPr>
        <p:spPr>
          <a:xfrm>
            <a:off x="639165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direct route</a:t>
            </a:r>
          </a:p>
        </p:txBody>
      </p:sp>
      <p:cxnSp>
        <p:nvCxnSpPr>
          <p:cNvPr id="32" name="Connector 31"/>
          <p:cNvCxnSpPr/>
          <p:nvPr/>
        </p:nvCxnSpPr>
        <p:spPr>
          <a:xfrm flipV="1">
            <a:off x="7187184" y="2176272"/>
            <a:ext cx="0" cy="201168"/>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83880" y="2377440"/>
            <a:ext cx="1847088" cy="173736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1189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006778"/>
                </a:solidFill>
                <a:latin typeface="Palatino Linotype"/>
              </a:rPr>
              <a:t>1994–2002 · Kraiko–Tillyaeva school</a:t>
            </a:r>
          </a:p>
        </p:txBody>
      </p:sp>
      <p:sp>
        <p:nvSpPr>
          <p:cNvPr id="35" name="TextBox 34"/>
          <p:cNvSpPr txBox="1"/>
          <p:nvPr/>
        </p:nvSpPr>
        <p:spPr>
          <a:xfrm>
            <a:off x="831189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field adjoint &amp; shape gradient; non-uniform, vortical inflow</a:t>
            </a:r>
          </a:p>
        </p:txBody>
      </p:sp>
      <p:cxnSp>
        <p:nvCxnSpPr>
          <p:cNvPr id="36" name="Connector 35"/>
          <p:cNvCxnSpPr/>
          <p:nvPr/>
        </p:nvCxnSpPr>
        <p:spPr>
          <a:xfrm flipV="1">
            <a:off x="9107424" y="2176272"/>
            <a:ext cx="0" cy="201168"/>
          </a:xfrm>
          <a:prstGeom prst="bentConnector3">
            <a:avLst/>
          </a:prstGeom>
          <a:ln w="17780">
            <a:solidFill>
              <a:srgbClr val="006778"/>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104120" y="2377440"/>
            <a:ext cx="1847088" cy="173736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32136" y="2468880"/>
            <a:ext cx="15910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822433"/>
                </a:solidFill>
                <a:latin typeface="Palatino Linotype"/>
              </a:rPr>
              <a:t>now · this programme</a:t>
            </a:r>
          </a:p>
        </p:txBody>
      </p:sp>
      <p:sp>
        <p:nvSpPr>
          <p:cNvPr id="39" name="TextBox 38"/>
          <p:cNvSpPr txBox="1"/>
          <p:nvPr/>
        </p:nvSpPr>
        <p:spPr>
          <a:xfrm>
            <a:off x="10232136" y="2852928"/>
            <a:ext cx="1591056" cy="117043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same line, extended to the periodic system</a:t>
            </a:r>
          </a:p>
        </p:txBody>
      </p:sp>
      <p:cxnSp>
        <p:nvCxnSpPr>
          <p:cNvPr id="40" name="Connector 39"/>
          <p:cNvCxnSpPr/>
          <p:nvPr/>
        </p:nvCxnSpPr>
        <p:spPr>
          <a:xfrm flipV="1">
            <a:off x="11027664" y="2176272"/>
            <a:ext cx="0" cy="201168"/>
          </a:xfrm>
          <a:prstGeom prst="bentConnector3">
            <a:avLst/>
          </a:prstGeom>
          <a:ln w="17780">
            <a:solidFill>
              <a:srgbClr val="822433"/>
            </a:solidFill>
            <a:tailEnd type="triangle"/>
          </a:ln>
        </p:spPr>
        <p:style>
          <a:lnRef idx="2">
            <a:schemeClr val="accent1"/>
          </a:lnRef>
          <a:fillRef idx="0">
            <a:schemeClr val="accent1"/>
          </a:fillRef>
          <a:effectRef idx="1">
            <a:schemeClr val="accent1"/>
          </a:effectRef>
          <a:fontRef idx="minor">
            <a:schemeClr val="tx1"/>
          </a:fontRef>
        </p:style>
      </p:cxnSp>
      <p:pic>
        <p:nvPicPr>
          <p:cNvPr id="41" name="Picture 40" descr="rao_eq14_transversality.png"/>
          <p:cNvPicPr>
            <a:picLocks noChangeAspect="1"/>
          </p:cNvPicPr>
          <p:nvPr/>
        </p:nvPicPr>
        <p:blipFill>
          <a:blip r:embed="rId3"/>
          <a:stretch>
            <a:fillRect/>
          </a:stretch>
        </p:blipFill>
        <p:spPr>
          <a:xfrm>
            <a:off x="640080" y="4448401"/>
            <a:ext cx="5120640" cy="887277"/>
          </a:xfrm>
          <a:prstGeom prst="rect">
            <a:avLst/>
          </a:prstGeom>
        </p:spPr>
      </p:pic>
      <p:sp>
        <p:nvSpPr>
          <p:cNvPr id="42" name="TextBox 41"/>
          <p:cNvSpPr txBox="1"/>
          <p:nvPr/>
        </p:nvSpPr>
        <p:spPr>
          <a:xfrm>
            <a:off x="640080" y="5394960"/>
            <a:ext cx="51206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The transversality condition — Rao, Jet Propulsion 28(6), Eq. 14, p. 379 (1958)</a:t>
            </a:r>
          </a:p>
        </p:txBody>
      </p:sp>
      <p:sp>
        <p:nvSpPr>
          <p:cNvPr id="43" name="TextBox 42"/>
          <p:cNvSpPr txBox="1"/>
          <p:nvPr/>
        </p:nvSpPr>
        <p:spPr>
          <a:xfrm>
            <a:off x="6126480" y="4617720"/>
            <a:ext cx="5669280" cy="822960"/>
          </a:xfrm>
          <a:prstGeom prst="rect">
            <a:avLst/>
          </a:prstGeom>
          <a:noFill/>
        </p:spPr>
        <p:txBody>
          <a:bodyPr wrap="square" anchor="t" lIns="0" rIns="0" tIns="0" bIns="0">
            <a:spAutoFit/>
          </a:bodyPr>
          <a:lstStyle/>
          <a:p>
            <a:pPr algn="l">
              <a:lnSpc>
                <a:spcPct val="100000"/>
              </a:lnSpc>
              <a:spcBef>
                <a:spcPts val="0"/>
              </a:spcBef>
              <a:spcAft>
                <a:spcPts val="400"/>
              </a:spcAft>
            </a:pPr>
            <a:r>
              <a:rPr b="0" i="1" sz="1800">
                <a:solidFill>
                  <a:srgbClr val="2B2B2B"/>
                </a:solidFill>
                <a:latin typeface="Palatino Linotype"/>
              </a:rPr>
              <a:t>A 1975 Russian precedent is still in procurement — not yet read against the original.</a:t>
            </a:r>
          </a:p>
        </p:txBody>
      </p:sp>
      <p:sp>
        <p:nvSpPr>
          <p:cNvPr id="44" name="TextBox 43"/>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45" name="TextBox 44"/>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field's own conclusion: 'approximately applicable' — with no error bar</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B-25</a:t>
              </a:r>
            </a:p>
          </p:txBody>
        </p:sp>
      </p:grpSp>
      <p:sp>
        <p:nvSpPr>
          <p:cNvPr id="16" name="Rounded Rectangle 15"/>
          <p:cNvSpPr/>
          <p:nvPr/>
        </p:nvSpPr>
        <p:spPr>
          <a:xfrm>
            <a:off x="640080" y="1600200"/>
            <a:ext cx="10881360" cy="123444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1673352"/>
            <a:ext cx="10588752" cy="1088136"/>
          </a:xfrm>
          <a:prstGeom prst="rect">
            <a:avLst/>
          </a:prstGeom>
          <a:noFill/>
        </p:spPr>
        <p:txBody>
          <a:bodyPr wrap="square" anchor="ctr" lIns="0" rIns="0" tIns="0" bIns="0">
            <a:spAutoFit/>
          </a:bodyPr>
          <a:lstStyle/>
          <a:p>
            <a:pPr algn="ctr">
              <a:lnSpc>
                <a:spcPct val="105000"/>
              </a:lnSpc>
              <a:spcBef>
                <a:spcPts val="0"/>
              </a:spcBef>
              <a:spcAft>
                <a:spcPts val="200"/>
              </a:spcAft>
            </a:pPr>
            <a:r>
              <a:rPr b="0" i="1" sz="2100">
                <a:solidFill>
                  <a:srgbClr val="2B2B2B"/>
                </a:solidFill>
                <a:latin typeface="Palatino Linotype"/>
              </a:rPr>
              <a:t>“the maximum thrust theory… proposed by Veen et al. is approximately applicable to the RDE nozzle…”</a:t>
            </a:r>
          </a:p>
        </p:txBody>
      </p:sp>
      <p:sp>
        <p:nvSpPr>
          <p:cNvPr id="18" name="TextBox 17"/>
          <p:cNvSpPr txBox="1"/>
          <p:nvPr/>
        </p:nvSpPr>
        <p:spPr>
          <a:xfrm>
            <a:off x="640080" y="2907792"/>
            <a:ext cx="1088136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Li, Xu, Lv, Yu, Zhou, Aerosp. Sci. Technol. 158:109878 (2025) — conclusions</a:t>
            </a:r>
          </a:p>
        </p:txBody>
      </p:sp>
      <p:sp>
        <p:nvSpPr>
          <p:cNvPr id="19" name="Rounded Rectangle 18"/>
          <p:cNvSpPr/>
          <p:nvPr/>
        </p:nvSpPr>
        <p:spPr>
          <a:xfrm>
            <a:off x="1280160" y="3520440"/>
            <a:ext cx="9692640" cy="685800"/>
          </a:xfrm>
          <a:prstGeom prst="roundRect">
            <a:avLst>
              <a:gd name="adj" fmla="val 10000"/>
            </a:avLst>
          </a:prstGeom>
          <a:solidFill>
            <a:srgbClr val="FFFFFF"/>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6463" y="3593592"/>
            <a:ext cx="9400032" cy="539496"/>
          </a:xfrm>
          <a:prstGeom prst="rect">
            <a:avLst/>
          </a:prstGeom>
          <a:noFill/>
        </p:spPr>
        <p:txBody>
          <a:bodyPr wrap="square" anchor="ctr" lIns="0" rIns="0" tIns="0" bIns="0">
            <a:spAutoFit/>
          </a:bodyPr>
          <a:lstStyle/>
          <a:p>
            <a:pPr algn="l">
              <a:lnSpc>
                <a:spcPct val="105000"/>
              </a:lnSpc>
              <a:spcBef>
                <a:spcPts val="0"/>
              </a:spcBef>
              <a:spcAft>
                <a:spcPts val="200"/>
              </a:spcAft>
            </a:pPr>
            <a:r>
              <a:rPr b="1" i="0" sz="1500">
                <a:solidFill>
                  <a:srgbClr val="006778"/>
                </a:solidFill>
                <a:latin typeface="Palatino Linotype"/>
              </a:rPr>
              <a:t>SIZING — </a:t>
            </a:r>
            <a:r>
              <a:rPr b="0" i="0" sz="1400">
                <a:solidFill>
                  <a:srgbClr val="2B2B2B"/>
                </a:solidFill>
                <a:latin typeface="Palatino Linotype"/>
              </a:rPr>
              <a:t>error ~1% — supported at this level</a:t>
            </a:r>
          </a:p>
        </p:txBody>
      </p:sp>
      <p:sp>
        <p:nvSpPr>
          <p:cNvPr id="21" name="Rounded Rectangle 20"/>
          <p:cNvSpPr/>
          <p:nvPr/>
        </p:nvSpPr>
        <p:spPr>
          <a:xfrm>
            <a:off x="1280160" y="4361688"/>
            <a:ext cx="9692640" cy="685800"/>
          </a:xfrm>
          <a:prstGeom prst="roundRect">
            <a:avLst>
              <a:gd name="adj" fmla="val 10000"/>
            </a:avLst>
          </a:prstGeom>
          <a:solidFill>
            <a:srgbClr val="FFFFFF"/>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6463" y="4434840"/>
            <a:ext cx="9400032" cy="539496"/>
          </a:xfrm>
          <a:prstGeom prst="rect">
            <a:avLst/>
          </a:prstGeom>
          <a:noFill/>
        </p:spPr>
        <p:txBody>
          <a:bodyPr wrap="square" anchor="ctr" lIns="0" rIns="0" tIns="0" bIns="0">
            <a:spAutoFit/>
          </a:bodyPr>
          <a:lstStyle/>
          <a:p>
            <a:pPr algn="l">
              <a:lnSpc>
                <a:spcPct val="105000"/>
              </a:lnSpc>
              <a:spcBef>
                <a:spcPts val="0"/>
              </a:spcBef>
              <a:spcAft>
                <a:spcPts val="200"/>
              </a:spcAft>
            </a:pPr>
            <a:r>
              <a:rPr b="1" i="0" sz="1500">
                <a:solidFill>
                  <a:srgbClr val="822433"/>
                </a:solidFill>
                <a:latin typeface="Palatino Linotype"/>
              </a:rPr>
              <a:t>RANKING between geometries — </a:t>
            </a:r>
            <a:r>
              <a:rPr b="0" i="0" sz="1400">
                <a:solidFill>
                  <a:srgbClr val="2B2B2B"/>
                </a:solidFill>
                <a:latin typeface="Palatino Linotype"/>
              </a:rPr>
              <a:t>fractions of a point — the question is OPEN, and nobody today can answer it</a:t>
            </a:r>
          </a:p>
        </p:txBody>
      </p:sp>
      <p:sp>
        <p:nvSpPr>
          <p:cNvPr id="23" name="TextBox 22"/>
          <p:cNvSpPr txBox="1"/>
          <p:nvPr/>
        </p:nvSpPr>
        <p:spPr>
          <a:xfrm>
            <a:off x="1280160" y="5294376"/>
            <a:ext cx="9692640" cy="502920"/>
          </a:xfrm>
          <a:prstGeom prst="rect">
            <a:avLst/>
          </a:prstGeom>
          <a:noFill/>
        </p:spPr>
        <p:txBody>
          <a:bodyPr wrap="square" anchor="t" lIns="0" rIns="0" tIns="0" bIns="0">
            <a:spAutoFit/>
          </a:bodyPr>
          <a:lstStyle/>
          <a:p>
            <a:pPr algn="ctr">
              <a:lnSpc>
                <a:spcPct val="100000"/>
              </a:lnSpc>
              <a:spcBef>
                <a:spcPts val="0"/>
              </a:spcBef>
              <a:spcAft>
                <a:spcPts val="400"/>
              </a:spcAft>
            </a:pPr>
            <a:r>
              <a:rPr b="1" i="0" sz="2000">
                <a:solidFill>
                  <a:srgbClr val="822433"/>
                </a:solidFill>
                <a:latin typeface="Palatino Linotype"/>
              </a:rPr>
              <a:t>Our thesis: 'approximately' is an adverb to be quantified.</a:t>
            </a:r>
          </a:p>
        </p:txBody>
      </p:sp>
      <p:sp>
        <p:nvSpPr>
          <p:cNvPr id="24" name="TextBox 23"/>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5" name="TextBox 24"/>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per-phase idea has ancestors — and we declare them</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B-26</a:t>
              </a:r>
            </a:p>
          </p:txBody>
        </p:sp>
      </p:grpSp>
      <p:sp>
        <p:nvSpPr>
          <p:cNvPr id="16" name="Rounded Rectangle 15"/>
          <p:cNvSpPr/>
          <p:nvPr/>
        </p:nvSpPr>
        <p:spPr>
          <a:xfrm>
            <a:off x="457200" y="1600200"/>
            <a:ext cx="2761488" cy="301752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1691640"/>
            <a:ext cx="25054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50">
                <a:solidFill>
                  <a:srgbClr val="006778"/>
                </a:solidFill>
                <a:latin typeface="Palatino Linotype"/>
              </a:rPr>
              <a:t>Stechmann et al. 2019</a:t>
            </a:r>
          </a:p>
        </p:txBody>
      </p:sp>
      <p:sp>
        <p:nvSpPr>
          <p:cNvPr id="18" name="TextBox 17"/>
          <p:cNvSpPr txBox="1"/>
          <p:nvPr/>
        </p:nvSpPr>
        <p:spPr>
          <a:xfrm>
            <a:off x="585216" y="2075688"/>
            <a:ext cx="2505456" cy="245059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0-D blowdown per phase, declared mass-weighted mean — on fixed nozzle families</a:t>
            </a:r>
          </a:p>
        </p:txBody>
      </p:sp>
      <p:sp>
        <p:nvSpPr>
          <p:cNvPr id="19" name="Rounded Rectangle 18"/>
          <p:cNvSpPr/>
          <p:nvPr/>
        </p:nvSpPr>
        <p:spPr>
          <a:xfrm>
            <a:off x="3346704" y="1600200"/>
            <a:ext cx="2761488" cy="301752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1691640"/>
            <a:ext cx="25054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50">
                <a:solidFill>
                  <a:srgbClr val="006778"/>
                </a:solidFill>
                <a:latin typeface="Palatino Linotype"/>
              </a:rPr>
              <a:t>Harroun et al. 2021</a:t>
            </a:r>
          </a:p>
        </p:txBody>
      </p:sp>
      <p:sp>
        <p:nvSpPr>
          <p:cNvPr id="21" name="TextBox 20"/>
          <p:cNvSpPr txBox="1"/>
          <p:nvPr/>
        </p:nvSpPr>
        <p:spPr>
          <a:xfrm>
            <a:off x="3474720" y="2075688"/>
            <a:ext cx="2505456" cy="245059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2D-axi at cycle pressure ratios, then averaged thrust coefficients — but the mean of a ratio does not commute, and the weight is undeclared</a:t>
            </a:r>
          </a:p>
        </p:txBody>
      </p:sp>
      <p:sp>
        <p:nvSpPr>
          <p:cNvPr id="22" name="Rounded Rectangle 21"/>
          <p:cNvSpPr/>
          <p:nvPr/>
        </p:nvSpPr>
        <p:spPr>
          <a:xfrm>
            <a:off x="6236208" y="1600200"/>
            <a:ext cx="2761488" cy="301752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1691640"/>
            <a:ext cx="25054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50">
                <a:solidFill>
                  <a:srgbClr val="006778"/>
                </a:solidFill>
                <a:latin typeface="Palatino Linotype"/>
              </a:rPr>
              <a:t>Fievisohn &amp; Yu 2017</a:t>
            </a:r>
          </a:p>
        </p:txBody>
      </p:sp>
      <p:sp>
        <p:nvSpPr>
          <p:cNvPr id="24" name="TextBox 23"/>
          <p:cNvSpPr txBox="1"/>
          <p:nvPr/>
        </p:nvSpPr>
        <p:spPr>
          <a:xfrm>
            <a:off x="6364224" y="2075688"/>
            <a:ext cx="2505456" cy="2450591"/>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wave-frame method of characteristics — the closest cousin: never design, never a family</a:t>
            </a:r>
          </a:p>
        </p:txBody>
      </p:sp>
      <p:sp>
        <p:nvSpPr>
          <p:cNvPr id="25" name="Rounded Rectangle 24"/>
          <p:cNvSpPr/>
          <p:nvPr/>
        </p:nvSpPr>
        <p:spPr>
          <a:xfrm>
            <a:off x="9125712" y="1600200"/>
            <a:ext cx="2761488" cy="3657600"/>
          </a:xfrm>
          <a:prstGeom prst="roundRect">
            <a:avLst>
              <a:gd name="adj" fmla="val 6000"/>
            </a:avLst>
          </a:prstGeom>
          <a:solidFill>
            <a:srgbClr val="F6ECEE"/>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3728" y="1691640"/>
            <a:ext cx="2505456"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50">
                <a:solidFill>
                  <a:srgbClr val="822433"/>
                </a:solidFill>
                <a:latin typeface="Palatino Linotype"/>
              </a:rPr>
              <a:t>This programme</a:t>
            </a:r>
          </a:p>
        </p:txBody>
      </p:sp>
      <p:sp>
        <p:nvSpPr>
          <p:cNvPr id="27" name="TextBox 26"/>
          <p:cNvSpPr txBox="1"/>
          <p:nvPr/>
        </p:nvSpPr>
        <p:spPr>
          <a:xfrm>
            <a:off x="9253728" y="2075688"/>
            <a:ext cx="2505456" cy="309067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variational optimum on the family — never posed before</a:t>
            </a:r>
          </a:p>
        </p:txBody>
      </p:sp>
      <p:pic>
        <p:nvPicPr>
          <p:cNvPr id="28" name="Picture 27" descr="eq_ratio_mean.png"/>
          <p:cNvPicPr>
            <a:picLocks noChangeAspect="1"/>
          </p:cNvPicPr>
          <p:nvPr/>
        </p:nvPicPr>
        <p:blipFill>
          <a:blip r:embed="rId3"/>
          <a:stretch>
            <a:fillRect/>
          </a:stretch>
        </p:blipFill>
        <p:spPr>
          <a:xfrm>
            <a:off x="9235440" y="4160520"/>
            <a:ext cx="2542032" cy="139526"/>
          </a:xfrm>
          <a:prstGeom prst="rect">
            <a:avLst/>
          </a:prstGeom>
        </p:spPr>
      </p:pic>
      <p:sp>
        <p:nvSpPr>
          <p:cNvPr id="29" name="TextBox 2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30" name="TextBox 2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Per-phase is not an approximation — it is a change of coordinates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B-27</a:t>
              </a:r>
            </a:p>
          </p:txBody>
        </p:sp>
      </p:grpSp>
      <p:pic>
        <p:nvPicPr>
          <p:cNvPr id="16" name="Picture 15" descr="fig_c8_quotient.png"/>
          <p:cNvPicPr>
            <a:picLocks noChangeAspect="1"/>
          </p:cNvPicPr>
          <p:nvPr/>
        </p:nvPicPr>
        <p:blipFill>
          <a:blip r:embed="rId3"/>
          <a:stretch>
            <a:fillRect/>
          </a:stretch>
        </p:blipFill>
        <p:spPr>
          <a:xfrm>
            <a:off x="365760" y="2074244"/>
            <a:ext cx="6035040" cy="2938112"/>
          </a:xfrm>
          <a:prstGeom prst="rect">
            <a:avLst/>
          </a:prstGeom>
        </p:spPr>
      </p:pic>
      <p:sp>
        <p:nvSpPr>
          <p:cNvPr id="17" name="TextBox 16"/>
          <p:cNvSpPr txBox="1"/>
          <p:nvPr/>
        </p:nvSpPr>
        <p:spPr>
          <a:xfrm>
            <a:off x="6629400" y="1645920"/>
            <a:ext cx="5257800" cy="4114800"/>
          </a:xfrm>
          <a:prstGeom prst="rect">
            <a:avLst/>
          </a:prstGeom>
          <a:noFill/>
        </p:spPr>
        <p:txBody>
          <a:bodyPr wrap="square" anchor="t" lIns="0" rIns="0" tIns="0" bIns="0">
            <a:spAutoFit/>
          </a:bodyPr>
          <a:lstStyle/>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In the declared class (pure rotating wave) the flow is steady in the wave frame: the family is an exact change of coordinates, with one declared approximation.</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The global time average mixes the phases — the cruder reduction, not ours.</a:t>
            </a:r>
          </a:p>
        </p:txBody>
      </p:sp>
      <p:sp>
        <p:nvSpPr>
          <p:cNvPr id="18" name="Rounded Rectangle 17"/>
          <p:cNvSpPr/>
          <p:nvPr/>
        </p:nvSpPr>
        <p:spPr>
          <a:xfrm>
            <a:off x="6629400" y="5394960"/>
            <a:ext cx="5257800" cy="77724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75704" y="5468112"/>
            <a:ext cx="4965192" cy="630936"/>
          </a:xfrm>
          <a:prstGeom prst="rect">
            <a:avLst/>
          </a:prstGeom>
          <a:noFill/>
        </p:spPr>
        <p:txBody>
          <a:bodyPr wrap="square" anchor="ctr" lIns="0" rIns="0" tIns="0" bIns="0">
            <a:spAutoFit/>
          </a:bodyPr>
          <a:lstStyle/>
          <a:p>
            <a:pPr algn="l">
              <a:lnSpc>
                <a:spcPct val="105000"/>
              </a:lnSpc>
              <a:spcBef>
                <a:spcPts val="0"/>
              </a:spcBef>
              <a:spcAft>
                <a:spcPts val="200"/>
              </a:spcAft>
            </a:pPr>
            <a:r>
              <a:rPr b="0" i="0" sz="1300">
                <a:solidFill>
                  <a:srgbClr val="2B2B2B"/>
                </a:solidFill>
                <a:latin typeface="Palatino Linotype"/>
              </a:rPr>
              <a:t>Proof structure declared; complete proof in progress — stated openly.</a:t>
            </a:r>
          </a:p>
        </p:txBody>
      </p:sp>
      <p:sp>
        <p:nvSpPr>
          <p:cNvPr id="20" name="TextBox 1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1" name="TextBox 2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design space: configurations are outputs, not inputs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B-28</a:t>
              </a:r>
            </a:p>
          </p:txBody>
        </p:sp>
      </p:grpSp>
      <p:pic>
        <p:nvPicPr>
          <p:cNvPr id="16" name="Picture 15" descr="fig_c8bis_envelope.png"/>
          <p:cNvPicPr>
            <a:picLocks noChangeAspect="1"/>
          </p:cNvPicPr>
          <p:nvPr/>
        </p:nvPicPr>
        <p:blipFill>
          <a:blip r:embed="rId3"/>
          <a:stretch>
            <a:fillRect/>
          </a:stretch>
        </p:blipFill>
        <p:spPr>
          <a:xfrm>
            <a:off x="320040" y="1671931"/>
            <a:ext cx="5852160" cy="2599738"/>
          </a:xfrm>
          <a:prstGeom prst="rect">
            <a:avLst/>
          </a:prstGeom>
        </p:spPr>
      </p:pic>
      <p:sp>
        <p:nvSpPr>
          <p:cNvPr id="17" name="TextBox 16"/>
          <p:cNvSpPr txBox="1"/>
          <p:nvPr/>
        </p:nvSpPr>
        <p:spPr>
          <a:xfrm>
            <a:off x="6355080" y="1481328"/>
            <a:ext cx="5532120" cy="4206240"/>
          </a:xfrm>
          <a:prstGeom prst="rect">
            <a:avLst/>
          </a:prstGeom>
          <a:noFill/>
        </p:spPr>
        <p:txBody>
          <a:bodyPr wrap="square" anchor="t" lIns="0" rIns="0" tIns="0" bIns="0">
            <a:spAutoFit/>
          </a:bodyPr>
          <a:lstStyle/>
          <a:p>
            <a:pPr algn="l" marL="256032" indent="-256032">
              <a:lnSpc>
                <a:spcPct val="100000"/>
              </a:lnSpc>
              <a:spcBef>
                <a:spcPts val="0"/>
              </a:spcBef>
              <a:spcAft>
                <a:spcPts val="500"/>
              </a:spcAft>
            </a:pPr>
            <a:r>
              <a:rPr b="0" i="0" sz="1300">
                <a:solidFill>
                  <a:srgbClr val="822433"/>
                </a:solidFill>
                <a:latin typeface="Palatino Linotype"/>
              </a:rPr>
              <a:t>•  </a:t>
            </a:r>
            <a:r>
              <a:rPr b="0" i="0" sz="1300">
                <a:solidFill>
                  <a:srgbClr val="2B2B2B"/>
                </a:solidFill>
                <a:latin typeface="Palatino Linotype"/>
              </a:rPr>
              <a:t>The design variable is a solid body inside an envelope: bell, plug, shrouded plug, expansion–deflection are not presupposed — they emerge as classes of the result.</a:t>
            </a:r>
          </a:p>
          <a:p>
            <a:pPr algn="l" marL="256032" indent="-256032">
              <a:lnSpc>
                <a:spcPct val="100000"/>
              </a:lnSpc>
              <a:spcBef>
                <a:spcPts val="0"/>
              </a:spcBef>
              <a:spcAft>
                <a:spcPts val="500"/>
              </a:spcAft>
            </a:pPr>
            <a:r>
              <a:rPr b="0" i="0" sz="1300">
                <a:solidFill>
                  <a:srgbClr val="822433"/>
                </a:solidFill>
                <a:latin typeface="Palatino Linotype"/>
              </a:rPr>
              <a:t>•  </a:t>
            </a:r>
            <a:r>
              <a:rPr b="0" i="0" sz="1300">
                <a:solidFill>
                  <a:srgbClr val="2B2B2B"/>
                </a:solidFill>
                <a:latin typeface="Palatino Linotype"/>
              </a:rPr>
              <a:t>Sectors are finitely many: the global optimum is a tournament among sector optima — every delivered optimum declares its guarantee and its strength.</a:t>
            </a:r>
          </a:p>
          <a:p>
            <a:pPr algn="l" marL="256032" indent="-256032">
              <a:lnSpc>
                <a:spcPct val="100000"/>
              </a:lnSpc>
              <a:spcBef>
                <a:spcPts val="0"/>
              </a:spcBef>
              <a:spcAft>
                <a:spcPts val="500"/>
              </a:spcAft>
            </a:pPr>
            <a:r>
              <a:rPr b="0" i="0" sz="1300">
                <a:solidFill>
                  <a:srgbClr val="822433"/>
                </a:solidFill>
                <a:latin typeface="Palatino Linotype"/>
              </a:rPr>
              <a:t>•  </a:t>
            </a:r>
            <a:r>
              <a:rPr b="0" i="0" sz="1300">
                <a:solidFill>
                  <a:srgbClr val="2B2B2B"/>
                </a:solidFill>
                <a:latin typeface="Palatino Linotype"/>
              </a:rPr>
              <a:t>First verdict on record: at certified closures the plug weakly dominates the bell, tie region characterized — closures at equal area ratio, never hardware.</a:t>
            </a:r>
          </a:p>
          <a:p>
            <a:pPr algn="l" marL="256032" indent="-256032">
              <a:lnSpc>
                <a:spcPct val="100000"/>
              </a:lnSpc>
              <a:spcBef>
                <a:spcPts val="0"/>
              </a:spcBef>
              <a:spcAft>
                <a:spcPts val="500"/>
              </a:spcAft>
            </a:pPr>
            <a:r>
              <a:rPr b="0" i="0" sz="1300">
                <a:solidFill>
                  <a:srgbClr val="822433"/>
                </a:solidFill>
                <a:latin typeface="Palatino Linotype"/>
              </a:rPr>
              <a:t>•  </a:t>
            </a:r>
            <a:r>
              <a:rPr b="0" i="0" sz="1300">
                <a:solidFill>
                  <a:srgbClr val="2B2B2B"/>
                </a:solidFill>
                <a:latin typeface="Palatino Linotype"/>
              </a:rPr>
              <a:t>Route: certified splines per sector, no level-sets — an infinitesimal body in supersonic flow pays only wave drag: sectors are compared whole.</a:t>
            </a:r>
          </a:p>
        </p:txBody>
      </p:sp>
      <p:sp>
        <p:nvSpPr>
          <p:cNvPr id="18" name="Rounded Rectangle 17"/>
          <p:cNvSpPr/>
          <p:nvPr/>
        </p:nvSpPr>
        <p:spPr>
          <a:xfrm>
            <a:off x="411480" y="5623560"/>
            <a:ext cx="11338560" cy="566928"/>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5696712"/>
            <a:ext cx="11045952" cy="420623"/>
          </a:xfrm>
          <a:prstGeom prst="rect">
            <a:avLst/>
          </a:prstGeom>
          <a:noFill/>
        </p:spPr>
        <p:txBody>
          <a:bodyPr wrap="square" anchor="ctr" lIns="0" rIns="0" tIns="0" bIns="0">
            <a:spAutoFit/>
          </a:bodyPr>
          <a:lstStyle/>
          <a:p>
            <a:pPr algn="ctr">
              <a:lnSpc>
                <a:spcPct val="105000"/>
              </a:lnSpc>
              <a:spcBef>
                <a:spcPts val="0"/>
              </a:spcBef>
              <a:spcAft>
                <a:spcPts val="200"/>
              </a:spcAft>
            </a:pPr>
            <a:r>
              <a:rPr b="0" i="0" sz="1400">
                <a:solidFill>
                  <a:srgbClr val="2B2B2B"/>
                </a:solidFill>
                <a:latin typeface="Palatino Linotype"/>
              </a:rPr>
              <a:t>Honest state: the driver exercises one sector today (bell, 9 DOF); the others have named owners and windows.</a:t>
            </a:r>
          </a:p>
        </p:txBody>
      </p:sp>
      <p:sp>
        <p:nvSpPr>
          <p:cNvPr id="20" name="TextBox 1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1" name="TextBox 2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What the reduction drops is explicit — and measurable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B-29</a:t>
              </a:r>
            </a:p>
          </p:txBody>
        </p:sp>
      </p:grpSp>
      <p:pic>
        <p:nvPicPr>
          <p:cNvPr id="16" name="Picture 15" descr="fig_c10_operator.png"/>
          <p:cNvPicPr>
            <a:picLocks noChangeAspect="1"/>
          </p:cNvPicPr>
          <p:nvPr/>
        </p:nvPicPr>
        <p:blipFill>
          <a:blip r:embed="rId3"/>
          <a:stretch>
            <a:fillRect/>
          </a:stretch>
        </p:blipFill>
        <p:spPr>
          <a:xfrm>
            <a:off x="365760" y="1584039"/>
            <a:ext cx="6035040" cy="2684081"/>
          </a:xfrm>
          <a:prstGeom prst="rect">
            <a:avLst/>
          </a:prstGeom>
        </p:spPr>
      </p:pic>
      <p:pic>
        <p:nvPicPr>
          <p:cNvPr id="17" name="Picture 16" descr="pc_fig21_lateral.png"/>
          <p:cNvPicPr>
            <a:picLocks noChangeAspect="1"/>
          </p:cNvPicPr>
          <p:nvPr/>
        </p:nvPicPr>
        <p:blipFill>
          <a:blip r:embed="rId4"/>
          <a:stretch>
            <a:fillRect/>
          </a:stretch>
        </p:blipFill>
        <p:spPr>
          <a:xfrm>
            <a:off x="6661726" y="1508760"/>
            <a:ext cx="5147426" cy="2377440"/>
          </a:xfrm>
          <a:prstGeom prst="rect">
            <a:avLst/>
          </a:prstGeom>
        </p:spPr>
      </p:pic>
      <p:sp>
        <p:nvSpPr>
          <p:cNvPr id="18" name="TextBox 17"/>
          <p:cNvSpPr txBox="1"/>
          <p:nvPr/>
        </p:nvSpPr>
        <p:spPr>
          <a:xfrm>
            <a:off x="6629400" y="3931920"/>
            <a:ext cx="521208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Rotating lateral force, averaging to zero — Li, Xu et al., AST 158:109878 (2025), Fig. 21</a:t>
            </a:r>
          </a:p>
        </p:txBody>
      </p:sp>
      <p:sp>
        <p:nvSpPr>
          <p:cNvPr id="19" name="TextBox 18"/>
          <p:cNvSpPr txBox="1"/>
          <p:nvPr/>
        </p:nvSpPr>
        <p:spPr>
          <a:xfrm>
            <a:off x="457200" y="4526280"/>
            <a:ext cx="11338560" cy="1691640"/>
          </a:xfrm>
          <a:prstGeom prst="rect">
            <a:avLst/>
          </a:prstGeom>
          <a:noFill/>
        </p:spPr>
        <p:txBody>
          <a:bodyPr wrap="square" anchor="t" lIns="0" rIns="0" tIns="0" bIns="0">
            <a:spAutoFit/>
          </a:bodyPr>
          <a:lstStyle/>
          <a:p>
            <a:pPr algn="l" marL="256032" indent="-256032">
              <a:lnSpc>
                <a:spcPct val="100000"/>
              </a:lnSpc>
              <a:spcBef>
                <a:spcPts val="0"/>
              </a:spcBef>
              <a:spcAft>
                <a:spcPts val="300"/>
              </a:spcAft>
            </a:pPr>
            <a:r>
              <a:rPr b="0" i="0" sz="1400">
                <a:solidFill>
                  <a:srgbClr val="822433"/>
                </a:solidFill>
                <a:latin typeface="Palatino Linotype"/>
              </a:rPr>
              <a:t>•  </a:t>
            </a:r>
            <a:r>
              <a:rPr b="0" i="0" sz="1400">
                <a:solidFill>
                  <a:srgbClr val="2B2B2B"/>
                </a:solidFill>
                <a:latin typeface="Palatino Linotype"/>
              </a:rPr>
              <a:t>The discarded terms form an explicit operator; its mean channel is exactly zero — proven.</a:t>
            </a:r>
          </a:p>
          <a:p>
            <a:pPr algn="l" marL="256032" indent="-256032">
              <a:lnSpc>
                <a:spcPct val="100000"/>
              </a:lnSpc>
              <a:spcBef>
                <a:spcPts val="0"/>
              </a:spcBef>
              <a:spcAft>
                <a:spcPts val="300"/>
              </a:spcAft>
            </a:pPr>
            <a:r>
              <a:rPr b="0" i="0" sz="1400">
                <a:solidFill>
                  <a:srgbClr val="822433"/>
                </a:solidFill>
                <a:latin typeface="Palatino Linotype"/>
              </a:rPr>
              <a:t>•  </a:t>
            </a:r>
            <a:r>
              <a:rPr b="0" i="0" sz="1400">
                <a:solidFill>
                  <a:srgbClr val="2B2B2B"/>
                </a:solidFill>
                <a:latin typeface="Palatino Linotype"/>
              </a:rPr>
              <a:t>Two first-order channels survive: front jumps (no number yet — our declared weak point) and covariance.</a:t>
            </a:r>
          </a:p>
          <a:p>
            <a:pPr algn="l" marL="256032" indent="-256032">
              <a:lnSpc>
                <a:spcPct val="100000"/>
              </a:lnSpc>
              <a:spcBef>
                <a:spcPts val="0"/>
              </a:spcBef>
              <a:spcAft>
                <a:spcPts val="300"/>
              </a:spcAft>
            </a:pPr>
            <a:r>
              <a:rPr b="0" i="0" sz="1400">
                <a:solidFill>
                  <a:srgbClr val="822433"/>
                </a:solidFill>
                <a:latin typeface="Palatino Linotype"/>
              </a:rPr>
              <a:t>•  </a:t>
            </a:r>
            <a:r>
              <a:rPr b="0" i="0" sz="1400">
                <a:solidFill>
                  <a:srgbClr val="2B2B2B"/>
                </a:solidFill>
                <a:latin typeface="Palatino Linotype"/>
              </a:rPr>
              <a:t>Both are measurable — the campaign starting now measures them.</a:t>
            </a:r>
          </a:p>
          <a:p>
            <a:pPr algn="l" marL="256032" indent="-256032">
              <a:lnSpc>
                <a:spcPct val="100000"/>
              </a:lnSpc>
              <a:spcBef>
                <a:spcPts val="0"/>
              </a:spcBef>
              <a:spcAft>
                <a:spcPts val="300"/>
              </a:spcAft>
            </a:pPr>
            <a:r>
              <a:rPr b="0" i="0" sz="1400">
                <a:solidFill>
                  <a:srgbClr val="822433"/>
                </a:solidFill>
                <a:latin typeface="Palatino Linotype"/>
              </a:rPr>
              <a:t>•  </a:t>
            </a:r>
            <a:r>
              <a:rPr b="0" i="0" sz="1400">
                <a:solidFill>
                  <a:srgbClr val="2B2B2B"/>
                </a:solidFill>
                <a:latin typeface="Palatino Linotype"/>
              </a:rPr>
              <a:t>Published face: lateral force 25–35% of axial, rotating, averaging to zero.</a:t>
            </a:r>
          </a:p>
        </p:txBody>
      </p:sp>
      <p:sp>
        <p:nvSpPr>
          <p:cNvPr id="20" name="TextBox 1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1" name="TextBox 2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The largest adverse signal is published: a shroud worth 13 points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B-30</a:t>
              </a:r>
            </a:p>
          </p:txBody>
        </p:sp>
      </p:grpSp>
      <p:pic>
        <p:nvPicPr>
          <p:cNvPr id="16" name="Picture 15" descr="pm_shroud_5871.png"/>
          <p:cNvPicPr>
            <a:picLocks noChangeAspect="1"/>
          </p:cNvPicPr>
          <p:nvPr/>
        </p:nvPicPr>
        <p:blipFill>
          <a:blip r:embed="rId3"/>
          <a:stretch>
            <a:fillRect/>
          </a:stretch>
        </p:blipFill>
        <p:spPr>
          <a:xfrm>
            <a:off x="365760" y="2252221"/>
            <a:ext cx="6035040" cy="2582156"/>
          </a:xfrm>
          <a:prstGeom prst="rect">
            <a:avLst/>
          </a:prstGeom>
        </p:spPr>
      </p:pic>
      <p:sp>
        <p:nvSpPr>
          <p:cNvPr id="17" name="TextBox 16"/>
          <p:cNvSpPr txBox="1"/>
          <p:nvPr/>
        </p:nvSpPr>
        <p:spPr>
          <a:xfrm>
            <a:off x="365760" y="5577840"/>
            <a:ext cx="6035040" cy="237744"/>
          </a:xfrm>
          <a:prstGeom prst="rect">
            <a:avLst/>
          </a:prstGeom>
          <a:noFill/>
        </p:spPr>
        <p:txBody>
          <a:bodyPr wrap="square" anchor="t" lIns="0" rIns="0" tIns="0" bIns="0">
            <a:spAutoFit/>
          </a:bodyPr>
          <a:lstStyle/>
          <a:p>
            <a:pPr algn="l">
              <a:lnSpc>
                <a:spcPct val="100000"/>
              </a:lnSpc>
              <a:spcBef>
                <a:spcPts val="0"/>
              </a:spcBef>
              <a:spcAft>
                <a:spcPts val="400"/>
              </a:spcAft>
            </a:pPr>
            <a:r>
              <a:rPr b="0" i="1" sz="1000">
                <a:solidFill>
                  <a:srgbClr val="808080"/>
                </a:solidFill>
                <a:latin typeface="Palatino Linotype"/>
              </a:rPr>
              <a:t>Shroud effect at fixed area ratio — Paxson &amp; Miki, AIAA (2022)</a:t>
            </a:r>
          </a:p>
        </p:txBody>
      </p:sp>
      <p:sp>
        <p:nvSpPr>
          <p:cNvPr id="18" name="TextBox 17"/>
          <p:cNvSpPr txBox="1"/>
          <p:nvPr/>
        </p:nvSpPr>
        <p:spPr>
          <a:xfrm>
            <a:off x="6629400" y="1645920"/>
            <a:ext cx="5257800" cy="4114800"/>
          </a:xfrm>
          <a:prstGeom prst="rect">
            <a:avLst/>
          </a:prstGeom>
          <a:noFill/>
        </p:spPr>
        <p:txBody>
          <a:bodyPr wrap="square" anchor="t" lIns="0" rIns="0" tIns="0" bIns="0">
            <a:spAutoFit/>
          </a:bodyPr>
          <a:lstStyle/>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A shroud lifts a plug from 58.1% to ~71.5% of ideal at fixed area ratio — unexplained by the authors.</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On record as a candidate swirl-interaction effect.</a:t>
            </a:r>
          </a:p>
        </p:txBody>
      </p:sp>
      <p:sp>
        <p:nvSpPr>
          <p:cNvPr id="19" name="TextBox 18"/>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0" name="TextBox 19"/>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What is an adjoint — the whole gradient for one extra solve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B-31</a:t>
              </a:r>
            </a:p>
          </p:txBody>
        </p:sp>
      </p:grpSp>
      <p:pic>
        <p:nvPicPr>
          <p:cNvPr id="16" name="Picture 15" descr="fig_cadj_cost.png"/>
          <p:cNvPicPr>
            <a:picLocks noChangeAspect="1"/>
          </p:cNvPicPr>
          <p:nvPr/>
        </p:nvPicPr>
        <p:blipFill>
          <a:blip r:embed="rId3"/>
          <a:stretch>
            <a:fillRect/>
          </a:stretch>
        </p:blipFill>
        <p:spPr>
          <a:xfrm>
            <a:off x="365760" y="2404613"/>
            <a:ext cx="6035040" cy="2277374"/>
          </a:xfrm>
          <a:prstGeom prst="rect">
            <a:avLst/>
          </a:prstGeom>
        </p:spPr>
      </p:pic>
      <p:sp>
        <p:nvSpPr>
          <p:cNvPr id="17" name="TextBox 16"/>
          <p:cNvSpPr txBox="1"/>
          <p:nvPr/>
        </p:nvSpPr>
        <p:spPr>
          <a:xfrm>
            <a:off x="6629400" y="1645920"/>
            <a:ext cx="5257800" cy="4114800"/>
          </a:xfrm>
          <a:prstGeom prst="rect">
            <a:avLst/>
          </a:prstGeom>
          <a:noFill/>
        </p:spPr>
        <p:txBody>
          <a:bodyPr wrap="square" anchor="t" lIns="0" rIns="0" tIns="0" bIns="0">
            <a:spAutoFit/>
          </a:bodyPr>
          <a:lstStyle/>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The objective is one number: J, the cycle-averaged thrust of the shared wall.</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To improve a shape we need its slope dJ/d(shape) — for hundreds of wall parameters.</a:t>
            </a:r>
          </a:p>
          <a:p>
            <a:pPr algn="l" marL="256032" indent="-256032">
              <a:lnSpc>
                <a:spcPct val="103000"/>
              </a:lnSpc>
              <a:spcBef>
                <a:spcPts val="0"/>
              </a:spcBef>
              <a:spcAft>
                <a:spcPts val="600"/>
              </a:spcAft>
            </a:pPr>
            <a:r>
              <a:rPr b="0" i="0" sz="1600">
                <a:solidFill>
                  <a:srgbClr val="822433"/>
                </a:solidFill>
                <a:latin typeface="Palatino Linotype"/>
              </a:rPr>
              <a:t>•  </a:t>
            </a:r>
            <a:r>
              <a:rPr b="0" i="0" sz="1600">
                <a:solidFill>
                  <a:srgbClr val="2B2B2B"/>
                </a:solidFill>
                <a:latin typeface="Palatino Linotype"/>
              </a:rPr>
              <a:t>The adjoint: one flow solve + one backward solve → every derivative at once, exact — the gradient a trust-region Newton then climbs.</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Inside the optimizer stage — including what we will re-examine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B-32</a:t>
              </a:r>
            </a:p>
          </p:txBody>
        </p:sp>
      </p:grpSp>
      <p:sp>
        <p:nvSpPr>
          <p:cNvPr id="16" name="Rounded Rectangle 15"/>
          <p:cNvSpPr/>
          <p:nvPr/>
        </p:nvSpPr>
        <p:spPr>
          <a:xfrm>
            <a:off x="411480" y="1828800"/>
            <a:ext cx="370332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192024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006778"/>
                </a:solidFill>
                <a:latin typeface="Palatino Linotype"/>
              </a:rPr>
              <a:t>Why Newton with a trust region</a:t>
            </a:r>
          </a:p>
        </p:txBody>
      </p:sp>
      <p:sp>
        <p:nvSpPr>
          <p:cNvPr id="18" name="TextBox 17"/>
          <p:cNvSpPr txBox="1"/>
          <p:nvPr/>
        </p:nvSpPr>
        <p:spPr>
          <a:xfrm>
            <a:off x="539496" y="2304288"/>
            <a:ext cx="3447287"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300">
                <a:solidFill>
                  <a:srgbClr val="2B2B2B"/>
                </a:solidFill>
                <a:latin typeface="Palatino Linotype"/>
              </a:rPr>
              <a:t>curvature along these designs is irregular: measured curvature and a certifiable step beat quasi-Newton guesses</a:t>
            </a:r>
          </a:p>
        </p:txBody>
      </p:sp>
      <p:sp>
        <p:nvSpPr>
          <p:cNvPr id="19" name="Rounded Rectangle 18"/>
          <p:cNvSpPr/>
          <p:nvPr/>
        </p:nvSpPr>
        <p:spPr>
          <a:xfrm>
            <a:off x="4270248" y="1828800"/>
            <a:ext cx="3703320" cy="274320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98264" y="192024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006778"/>
                </a:solidFill>
                <a:latin typeface="Palatino Linotype"/>
              </a:rPr>
              <a:t>Exact gradient underneath</a:t>
            </a:r>
          </a:p>
        </p:txBody>
      </p:sp>
      <p:sp>
        <p:nvSpPr>
          <p:cNvPr id="21" name="TextBox 20"/>
          <p:cNvSpPr txBox="1"/>
          <p:nvPr/>
        </p:nvSpPr>
        <p:spPr>
          <a:xfrm>
            <a:off x="4398264" y="2304288"/>
            <a:ext cx="3447287"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300">
                <a:solidFill>
                  <a:srgbClr val="2B2B2B"/>
                </a:solidFill>
                <a:latin typeface="Palatino Linotype"/>
              </a:rPr>
              <a:t>the adjoint gradient is exact for the discrete problem — the optimizer never chases noise</a:t>
            </a:r>
          </a:p>
        </p:txBody>
      </p:sp>
      <p:sp>
        <p:nvSpPr>
          <p:cNvPr id="22" name="Rounded Rectangle 21"/>
          <p:cNvSpPr/>
          <p:nvPr/>
        </p:nvSpPr>
        <p:spPr>
          <a:xfrm>
            <a:off x="8129015" y="1828800"/>
            <a:ext cx="3703320" cy="27432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192024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822433"/>
                </a:solidFill>
                <a:latin typeface="Palatino Linotype"/>
              </a:rPr>
              <a:t>What we will re-examine</a:t>
            </a:r>
          </a:p>
        </p:txBody>
      </p:sp>
      <p:sp>
        <p:nvSpPr>
          <p:cNvPr id="24" name="TextBox 23"/>
          <p:cNvSpPr txBox="1"/>
          <p:nvPr/>
        </p:nvSpPr>
        <p:spPr>
          <a:xfrm>
            <a:off x="8257031" y="2304288"/>
            <a:ext cx="3447287" cy="2176272"/>
          </a:xfrm>
          <a:prstGeom prst="rect">
            <a:avLst/>
          </a:prstGeom>
          <a:noFill/>
        </p:spPr>
        <p:txBody>
          <a:bodyPr wrap="square" anchor="t" lIns="0" rIns="0" tIns="0" bIns="0">
            <a:spAutoFit/>
          </a:bodyPr>
          <a:lstStyle/>
          <a:p>
            <a:pPr algn="l">
              <a:lnSpc>
                <a:spcPct val="102000"/>
              </a:lnSpc>
              <a:spcBef>
                <a:spcPts val="0"/>
              </a:spcBef>
              <a:spcAft>
                <a:spcPts val="200"/>
              </a:spcAft>
            </a:pPr>
            <a:r>
              <a:rPr b="0" i="0" sz="1300">
                <a:solidFill>
                  <a:srgbClr val="2B2B2B"/>
                </a:solidFill>
                <a:latin typeface="Palatino Linotype"/>
              </a:rPr>
              <a:t>a 2026 solver candidate, comparison pre-registered at equal constraints — the solver census is dated</a:t>
            </a:r>
          </a:p>
        </p:txBody>
      </p:sp>
      <p:sp>
        <p:nvSpPr>
          <p:cNvPr id="25" name="TextBox 24"/>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6" name="TextBox 25"/>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How results are verified: certificates that can fail</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B-33</a:t>
              </a:r>
            </a:p>
          </p:txBody>
        </p:sp>
      </p:grpSp>
      <p:pic>
        <p:nvPicPr>
          <p:cNvPr id="16" name="Picture 15" descr="L1_stage45.png"/>
          <p:cNvPicPr>
            <a:picLocks noChangeAspect="1"/>
          </p:cNvPicPr>
          <p:nvPr/>
        </p:nvPicPr>
        <p:blipFill>
          <a:blip r:embed="rId3"/>
          <a:stretch>
            <a:fillRect/>
          </a:stretch>
        </p:blipFill>
        <p:spPr>
          <a:xfrm>
            <a:off x="3219682" y="1508760"/>
            <a:ext cx="5767874" cy="3246120"/>
          </a:xfrm>
          <a:prstGeom prst="rect">
            <a:avLst/>
          </a:prstGeom>
        </p:spPr>
      </p:pic>
      <p:sp>
        <p:nvSpPr>
          <p:cNvPr id="17" name="TextBox 16"/>
          <p:cNvSpPr txBox="1"/>
          <p:nvPr/>
        </p:nvSpPr>
        <p:spPr>
          <a:xfrm>
            <a:off x="548640" y="4937760"/>
            <a:ext cx="11155680" cy="1280160"/>
          </a:xfrm>
          <a:prstGeom prst="rect">
            <a:avLst/>
          </a:prstGeom>
          <a:noFill/>
        </p:spPr>
        <p:txBody>
          <a:bodyPr wrap="square" anchor="t" lIns="0" rIns="0" tIns="0" bIns="0">
            <a:spAutoFit/>
          </a:bodyPr>
          <a:lstStyle/>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Gradient exact for the discrete problem; cross-checked on a second code, with negative controls.</a:t>
            </a:r>
          </a:p>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Thresholds are derived, and they bite: halving one flips the verdict.</a:t>
            </a:r>
          </a:p>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Discretization and model error never mixed — each has its own estimator or bracket.</a:t>
            </a:r>
          </a:p>
          <a:p>
            <a:pPr algn="l" marL="256032" indent="-256032">
              <a:lnSpc>
                <a:spcPct val="103000"/>
              </a:lnSpc>
              <a:spcBef>
                <a:spcPts val="0"/>
              </a:spcBef>
              <a:spcAft>
                <a:spcPts val="400"/>
              </a:spcAft>
            </a:pPr>
            <a:r>
              <a:rPr b="0" i="0" sz="1500">
                <a:solidFill>
                  <a:srgbClr val="822433"/>
                </a:solidFill>
                <a:latin typeface="Palatino Linotype"/>
              </a:rPr>
              <a:t>•  </a:t>
            </a:r>
            <a:r>
              <a:rPr b="0" i="0" sz="1500">
                <a:solidFill>
                  <a:srgbClr val="2B2B2B"/>
                </a:solidFill>
                <a:latin typeface="Palatino Linotype"/>
              </a:rPr>
              <a:t>Results ship together: contour, certificates, bars, verdict.</a:t>
            </a:r>
          </a:p>
        </p:txBody>
      </p:sp>
      <p:sp>
        <p:nvSpPr>
          <p:cNvPr id="18" name="TextBox 17"/>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19" name="TextBox 18"/>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Speed was engineered, not found — validation becomes affordable</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B-34</a:t>
              </a:r>
            </a:p>
          </p:txBody>
        </p:sp>
      </p:grpSp>
      <p:graphicFrame>
        <p:nvGraphicFramePr>
          <p:cNvPr id="16" name="Table 15"/>
          <p:cNvGraphicFramePr>
            <a:graphicFrameLocks noGrp="1"/>
          </p:cNvGraphicFramePr>
          <p:nvPr/>
        </p:nvGraphicFramePr>
        <p:xfrm>
          <a:off x="502920" y="1600200"/>
          <a:ext cx="5760718" cy="2286000"/>
        </p:xfrm>
        <a:graphic>
          <a:graphicData uri="http://schemas.openxmlformats.org/drawingml/2006/table">
            <a:tbl>
              <a:tblPr firstRow="1">
                <a:tableStyleId>{5C22544A-7EE6-4342-B048-85BDC9FD1C3A}</a:tableStyleId>
              </a:tblPr>
              <a:tblGrid>
                <a:gridCol w="2755126"/>
                <a:gridCol w="1753262"/>
                <a:gridCol w="1252330"/>
              </a:tblGrid>
              <a:tr h="457200">
                <a:tc>
                  <a:txBody>
                    <a:bodyPr wrap="square"/>
                    <a:lstStyle/>
                    <a:p>
                      <a:pPr algn="l"/>
                      <a:r>
                        <a:rPr b="1" sz="1350">
                          <a:solidFill>
                            <a:srgbClr val="FFFFFF"/>
                          </a:solidFill>
                          <a:latin typeface="Palatino Linotype"/>
                        </a:rPr>
                        <a:t>quantity</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measured</a:t>
                      </a:r>
                    </a:p>
                  </a:txBody>
                  <a:tcPr marL="54864" marR="45720" marT="18288" marB="18288" anchor="ctr">
                    <a:solidFill>
                      <a:srgbClr val="822433"/>
                    </a:solidFill>
                  </a:tcPr>
                </a:tc>
                <a:tc>
                  <a:txBody>
                    <a:bodyPr wrap="square"/>
                    <a:lstStyle/>
                    <a:p>
                      <a:pPr algn="ctr"/>
                      <a:r>
                        <a:rPr b="1" sz="1350">
                          <a:solidFill>
                            <a:srgbClr val="FFFFFF"/>
                          </a:solidFill>
                          <a:latin typeface="Palatino Linotype"/>
                        </a:rPr>
                        <a:t>target</a:t>
                      </a:r>
                    </a:p>
                  </a:txBody>
                  <a:tcPr marL="54864" marR="45720" marT="18288" marB="18288" anchor="ctr">
                    <a:solidFill>
                      <a:srgbClr val="822433"/>
                    </a:solidFill>
                  </a:tcPr>
                </a:tc>
              </a:tr>
              <a:tr h="457200">
                <a:tc>
                  <a:txBody>
                    <a:bodyPr wrap="square"/>
                    <a:lstStyle/>
                    <a:p>
                      <a:pPr algn="l"/>
                      <a:r>
                        <a:rPr b="1" sz="1400">
                          <a:solidFill>
                            <a:srgbClr val="004D59"/>
                          </a:solidFill>
                          <a:latin typeface="Palatino Linotype"/>
                        </a:rPr>
                        <a:t>evaluation + gradient</a:t>
                      </a:r>
                    </a:p>
                  </a:txBody>
                  <a:tcPr marL="54864" marR="45720" marT="18288" marB="18288" anchor="ctr">
                    <a:solidFill>
                      <a:srgbClr val="FFFFFF"/>
                    </a:solidFill>
                  </a:tcPr>
                </a:tc>
                <a:tc>
                  <a:txBody>
                    <a:bodyPr wrap="square"/>
                    <a:lstStyle/>
                    <a:p>
                      <a:pPr algn="ctr"/>
                      <a:r>
                        <a:rPr sz="1400">
                          <a:solidFill>
                            <a:srgbClr val="2B2B2B"/>
                          </a:solidFill>
                          <a:latin typeface="Palatino Linotype"/>
                        </a:rPr>
                        <a:t>0.45 s</a:t>
                      </a:r>
                    </a:p>
                  </a:txBody>
                  <a:tcPr marL="54864" marR="45720" marT="18288" marB="18288" anchor="ctr">
                    <a:solidFill>
                      <a:srgbClr val="FFFFFF"/>
                    </a:solidFill>
                  </a:tcPr>
                </a:tc>
                <a:tc>
                  <a:txBody>
                    <a:bodyPr wrap="square"/>
                    <a:lstStyle/>
                    <a:p>
                      <a:pPr algn="ctr"/>
                      <a:r>
                        <a:rPr sz="1400">
                          <a:solidFill>
                            <a:srgbClr val="2B2B2B"/>
                          </a:solidFill>
                          <a:latin typeface="Palatino Linotype"/>
                        </a:rPr>
                        <a:t>—</a:t>
                      </a:r>
                    </a:p>
                  </a:txBody>
                  <a:tcPr marL="54864" marR="45720" marT="18288" marB="18288" anchor="ctr">
                    <a:solidFill>
                      <a:srgbClr val="FFFFFF"/>
                    </a:solidFill>
                  </a:tcPr>
                </a:tc>
              </a:tr>
              <a:tr h="457200">
                <a:tc>
                  <a:txBody>
                    <a:bodyPr wrap="square"/>
                    <a:lstStyle/>
                    <a:p>
                      <a:pPr algn="l"/>
                      <a:r>
                        <a:rPr b="1" sz="1400">
                          <a:solidFill>
                            <a:srgbClr val="004D59"/>
                          </a:solidFill>
                          <a:latin typeface="Palatino Linotype"/>
                        </a:rPr>
                        <a:t>one design segment</a:t>
                      </a:r>
                    </a:p>
                  </a:txBody>
                  <a:tcPr marL="54864" marR="45720" marT="18288" marB="18288" anchor="ctr">
                    <a:solidFill>
                      <a:srgbClr val="F2ECED"/>
                    </a:solidFill>
                  </a:tcPr>
                </a:tc>
                <a:tc>
                  <a:txBody>
                    <a:bodyPr wrap="square"/>
                    <a:lstStyle/>
                    <a:p>
                      <a:pPr algn="ctr"/>
                      <a:r>
                        <a:rPr sz="1400">
                          <a:solidFill>
                            <a:srgbClr val="2B2B2B"/>
                          </a:solidFill>
                          <a:latin typeface="Palatino Linotype"/>
                        </a:rPr>
                        <a:t>15–20 s</a:t>
                      </a:r>
                    </a:p>
                  </a:txBody>
                  <a:tcPr marL="54864" marR="45720" marT="18288" marB="18288" anchor="ctr">
                    <a:solidFill>
                      <a:srgbClr val="F2ECED"/>
                    </a:solidFill>
                  </a:tcPr>
                </a:tc>
                <a:tc>
                  <a:txBody>
                    <a:bodyPr wrap="square"/>
                    <a:lstStyle/>
                    <a:p>
                      <a:pPr algn="ctr"/>
                      <a:r>
                        <a:rPr sz="1400">
                          <a:solidFill>
                            <a:srgbClr val="2B2B2B"/>
                          </a:solidFill>
                          <a:latin typeface="Palatino Linotype"/>
                        </a:rPr>
                        <a:t>≤ 30 s</a:t>
                      </a:r>
                    </a:p>
                  </a:txBody>
                  <a:tcPr marL="54864" marR="45720" marT="18288" marB="18288" anchor="ctr">
                    <a:solidFill>
                      <a:srgbClr val="F2ECED"/>
                    </a:solidFill>
                  </a:tcPr>
                </a:tc>
              </a:tr>
              <a:tr h="457200">
                <a:tc>
                  <a:txBody>
                    <a:bodyPr wrap="square"/>
                    <a:lstStyle/>
                    <a:p>
                      <a:pPr algn="l"/>
                      <a:r>
                        <a:rPr b="1" sz="1400">
                          <a:solidFill>
                            <a:srgbClr val="004D59"/>
                          </a:solidFill>
                          <a:latin typeface="Palatino Linotype"/>
                        </a:rPr>
                        <a:t>full campaign</a:t>
                      </a:r>
                    </a:p>
                  </a:txBody>
                  <a:tcPr marL="54864" marR="45720" marT="18288" marB="18288" anchor="ctr">
                    <a:solidFill>
                      <a:srgbClr val="FFFFFF"/>
                    </a:solidFill>
                  </a:tcPr>
                </a:tc>
                <a:tc>
                  <a:txBody>
                    <a:bodyPr wrap="square"/>
                    <a:lstStyle/>
                    <a:p>
                      <a:pPr algn="ctr"/>
                      <a:r>
                        <a:rPr sz="1400">
                          <a:solidFill>
                            <a:srgbClr val="2B2B2B"/>
                          </a:solidFill>
                          <a:latin typeface="Palatino Linotype"/>
                        </a:rPr>
                        <a:t>10–14 min</a:t>
                      </a:r>
                    </a:p>
                  </a:txBody>
                  <a:tcPr marL="54864" marR="45720" marT="18288" marB="18288" anchor="ctr">
                    <a:solidFill>
                      <a:srgbClr val="FFFFFF"/>
                    </a:solidFill>
                  </a:tcPr>
                </a:tc>
                <a:tc>
                  <a:txBody>
                    <a:bodyPr wrap="square"/>
                    <a:lstStyle/>
                    <a:p>
                      <a:pPr algn="ctr"/>
                      <a:r>
                        <a:rPr sz="1400">
                          <a:solidFill>
                            <a:srgbClr val="2B2B2B"/>
                          </a:solidFill>
                          <a:latin typeface="Palatino Linotype"/>
                        </a:rPr>
                        <a:t>≤ 25 min</a:t>
                      </a:r>
                    </a:p>
                  </a:txBody>
                  <a:tcPr marL="54864" marR="45720" marT="18288" marB="18288" anchor="ctr">
                    <a:solidFill>
                      <a:srgbClr val="FFFFFF"/>
                    </a:solidFill>
                  </a:tcPr>
                </a:tc>
              </a:tr>
              <a:tr h="457200">
                <a:tc>
                  <a:txBody>
                    <a:bodyPr wrap="square"/>
                    <a:lstStyle/>
                    <a:p>
                      <a:pPr algn="l"/>
                      <a:r>
                        <a:rPr b="1" sz="1400">
                          <a:solidFill>
                            <a:srgbClr val="004D59"/>
                          </a:solidFill>
                          <a:latin typeface="Palatino Linotype"/>
                        </a:rPr>
                        <a:t>vs reference run</a:t>
                      </a:r>
                    </a:p>
                  </a:txBody>
                  <a:tcPr marL="54864" marR="45720" marT="18288" marB="18288" anchor="ctr">
                    <a:solidFill>
                      <a:srgbClr val="F2ECED"/>
                    </a:solidFill>
                  </a:tcPr>
                </a:tc>
                <a:tc>
                  <a:txBody>
                    <a:bodyPr wrap="square"/>
                    <a:lstStyle/>
                    <a:p>
                      <a:pPr algn="ctr"/>
                      <a:r>
                        <a:rPr sz="1400">
                          <a:solidFill>
                            <a:srgbClr val="2B2B2B"/>
                          </a:solidFill>
                          <a:latin typeface="Palatino Linotype"/>
                        </a:rPr>
                        <a:t>18×</a:t>
                      </a:r>
                    </a:p>
                  </a:txBody>
                  <a:tcPr marL="54864" marR="45720" marT="18288" marB="18288" anchor="ctr">
                    <a:solidFill>
                      <a:srgbClr val="F2ECED"/>
                    </a:solidFill>
                  </a:tcPr>
                </a:tc>
                <a:tc>
                  <a:txBody>
                    <a:bodyPr wrap="square"/>
                    <a:lstStyle/>
                    <a:p>
                      <a:pPr algn="ctr"/>
                      <a:r>
                        <a:rPr sz="1400">
                          <a:solidFill>
                            <a:srgbClr val="2B2B2B"/>
                          </a:solidFill>
                          <a:latin typeface="Palatino Linotype"/>
                        </a:rPr>
                        <a:t>—</a:t>
                      </a:r>
                    </a:p>
                  </a:txBody>
                  <a:tcPr marL="54864" marR="45720" marT="18288" marB="18288" anchor="ctr">
                    <a:solidFill>
                      <a:srgbClr val="F2ECED"/>
                    </a:solidFill>
                  </a:tcPr>
                </a:tc>
              </a:tr>
            </a:tbl>
          </a:graphicData>
        </a:graphic>
      </p:graphicFrame>
      <p:pic>
        <p:nvPicPr>
          <p:cNvPr id="17" name="Picture 16" descr="fig_c16_bars.png"/>
          <p:cNvPicPr>
            <a:picLocks noChangeAspect="1"/>
          </p:cNvPicPr>
          <p:nvPr/>
        </p:nvPicPr>
        <p:blipFill>
          <a:blip r:embed="rId3"/>
          <a:stretch>
            <a:fillRect/>
          </a:stretch>
        </p:blipFill>
        <p:spPr>
          <a:xfrm>
            <a:off x="6537960" y="1818058"/>
            <a:ext cx="5303520" cy="2216043"/>
          </a:xfrm>
          <a:prstGeom prst="rect">
            <a:avLst/>
          </a:prstGeom>
        </p:spPr>
      </p:pic>
      <p:sp>
        <p:nvSpPr>
          <p:cNvPr id="18" name="Rounded Rectangle 17"/>
          <p:cNvSpPr/>
          <p:nvPr/>
        </p:nvSpPr>
        <p:spPr>
          <a:xfrm>
            <a:off x="502920" y="4709160"/>
            <a:ext cx="11338560" cy="86868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782312"/>
            <a:ext cx="11045952" cy="722375"/>
          </a:xfrm>
          <a:prstGeom prst="rect">
            <a:avLst/>
          </a:prstGeom>
          <a:noFill/>
        </p:spPr>
        <p:txBody>
          <a:bodyPr wrap="square" anchor="ctr" lIns="0" rIns="0" tIns="0" bIns="0">
            <a:spAutoFit/>
          </a:bodyPr>
          <a:lstStyle/>
          <a:p>
            <a:pPr algn="ctr">
              <a:lnSpc>
                <a:spcPct val="105000"/>
              </a:lnSpc>
              <a:spcBef>
                <a:spcPts val="0"/>
              </a:spcBef>
              <a:spcAft>
                <a:spcPts val="200"/>
              </a:spcAft>
            </a:pPr>
            <a:r>
              <a:rPr b="0" i="0" sz="1500">
                <a:solidFill>
                  <a:srgbClr val="2B2B2B"/>
                </a:solidFill>
                <a:latin typeface="Palatino Linotype"/>
              </a:rPr>
              <a:t>Every speed lever passed an invariance gate: same results, same certificates. Our measurements, host declared.</a:t>
            </a:r>
          </a:p>
        </p:txBody>
      </p:sp>
      <p:sp>
        <p:nvSpPr>
          <p:cNvPr id="20" name="TextBox 19"/>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1" name="TextBox 20"/>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We commissioned a hostile audit — and the chain failed us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B-35</a:t>
              </a:r>
            </a:p>
          </p:txBody>
        </p:sp>
      </p:grpSp>
      <p:sp>
        <p:nvSpPr>
          <p:cNvPr id="16" name="Rounded Rectangle 15"/>
          <p:cNvSpPr/>
          <p:nvPr/>
        </p:nvSpPr>
        <p:spPr>
          <a:xfrm>
            <a:off x="457200" y="1554480"/>
            <a:ext cx="5532120" cy="16002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1645920"/>
            <a:ext cx="527608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822433"/>
                </a:solidFill>
                <a:latin typeface="Palatino Linotype"/>
              </a:rPr>
              <a:t>Audit 1 — self-check threat</a:t>
            </a:r>
          </a:p>
        </p:txBody>
      </p:sp>
      <p:sp>
        <p:nvSpPr>
          <p:cNvPr id="18" name="TextBox 17"/>
          <p:cNvSpPr txBox="1"/>
          <p:nvPr/>
        </p:nvSpPr>
        <p:spPr>
          <a:xfrm>
            <a:off x="585216" y="2029967"/>
            <a:ext cx="5276088" cy="1033271"/>
          </a:xfrm>
          <a:prstGeom prst="rect">
            <a:avLst/>
          </a:prstGeom>
          <a:noFill/>
        </p:spPr>
        <p:txBody>
          <a:bodyPr wrap="square" anchor="t" lIns="0" rIns="0" tIns="0" bIns="0">
            <a:spAutoFit/>
          </a:bodyPr>
          <a:lstStyle/>
          <a:p>
            <a:pPr algn="l">
              <a:lnSpc>
                <a:spcPct val="102000"/>
              </a:lnSpc>
              <a:spcBef>
                <a:spcPts val="0"/>
              </a:spcBef>
              <a:spcAft>
                <a:spcPts val="200"/>
              </a:spcAft>
            </a:pPr>
            <a:r>
              <a:rPr b="0" i="0" sz="1250">
                <a:solidFill>
                  <a:srgbClr val="2B2B2B"/>
                </a:solidFill>
                <a:latin typeface="Palatino Linotype"/>
              </a:rPr>
              <a:t>we built the way our self-check could fail silently, exposed it, closed it with a solver-independent verification</a:t>
            </a:r>
          </a:p>
        </p:txBody>
      </p:sp>
      <p:sp>
        <p:nvSpPr>
          <p:cNvPr id="19" name="Rounded Rectangle 18"/>
          <p:cNvSpPr/>
          <p:nvPr/>
        </p:nvSpPr>
        <p:spPr>
          <a:xfrm>
            <a:off x="6263640" y="1554480"/>
            <a:ext cx="5532120" cy="16002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1655" y="1645920"/>
            <a:ext cx="527608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822433"/>
                </a:solidFill>
                <a:latin typeface="Palatino Linotype"/>
              </a:rPr>
              <a:t>Audit 2 — hostile, on the certification chain</a:t>
            </a:r>
          </a:p>
        </p:txBody>
      </p:sp>
      <p:sp>
        <p:nvSpPr>
          <p:cNvPr id="21" name="TextBox 20"/>
          <p:cNvSpPr txBox="1"/>
          <p:nvPr/>
        </p:nvSpPr>
        <p:spPr>
          <a:xfrm>
            <a:off x="6391655" y="2029967"/>
            <a:ext cx="5276088" cy="1033271"/>
          </a:xfrm>
          <a:prstGeom prst="rect">
            <a:avLst/>
          </a:prstGeom>
          <a:noFill/>
        </p:spPr>
        <p:txBody>
          <a:bodyPr wrap="square" anchor="t" lIns="0" rIns="0" tIns="0" bIns="0">
            <a:spAutoFit/>
          </a:bodyPr>
          <a:lstStyle/>
          <a:p>
            <a:pPr algn="l">
              <a:lnSpc>
                <a:spcPct val="102000"/>
              </a:lnSpc>
              <a:spcBef>
                <a:spcPts val="0"/>
              </a:spcBef>
              <a:spcAft>
                <a:spcPts val="200"/>
              </a:spcAft>
            </a:pPr>
            <a:r>
              <a:rPr b="0" i="0" sz="1250">
                <a:solidFill>
                  <a:srgbClr val="2B2B2B"/>
                </a:solidFill>
                <a:latin typeface="Palatino Linotype"/>
              </a:rPr>
              <a:t>verdict: not certifiable — two named defects; one repaired and declared, one with a named lead and date</a:t>
            </a:r>
          </a:p>
        </p:txBody>
      </p:sp>
      <p:cxnSp>
        <p:nvCxnSpPr>
          <p:cNvPr id="22" name="Connector 21"/>
          <p:cNvCxnSpPr/>
          <p:nvPr/>
        </p:nvCxnSpPr>
        <p:spPr>
          <a:xfrm>
            <a:off x="5806440" y="2331720"/>
            <a:ext cx="320040" cy="0"/>
          </a:xfrm>
          <a:prstGeom prst="bentConnector3">
            <a:avLst/>
          </a:prstGeom>
          <a:ln w="27940">
            <a:solidFill>
              <a:srgbClr val="822433"/>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3520440"/>
            <a:ext cx="11247120" cy="2468880"/>
          </a:xfrm>
          <a:prstGeom prst="rect">
            <a:avLst/>
          </a:prstGeom>
          <a:noFill/>
        </p:spPr>
        <p:txBody>
          <a:bodyPr wrap="square" anchor="t" lIns="0" rIns="0" tIns="0" bIns="0">
            <a:spAutoFit/>
          </a:bodyPr>
          <a:lstStyle/>
          <a:p>
            <a:pPr algn="l" marL="256032" indent="-256032">
              <a:lnSpc>
                <a:spcPct val="105000"/>
              </a:lnSpc>
              <a:spcBef>
                <a:spcPts val="0"/>
              </a:spcBef>
              <a:spcAft>
                <a:spcPts val="700"/>
              </a:spcAft>
            </a:pPr>
            <a:r>
              <a:rPr b="0" i="0" sz="1500">
                <a:solidFill>
                  <a:srgbClr val="822433"/>
                </a:solidFill>
                <a:latin typeface="Palatino Linotype"/>
              </a:rPr>
              <a:t>•  </a:t>
            </a:r>
            <a:r>
              <a:rPr b="0" i="0" sz="1500">
                <a:solidFill>
                  <a:srgbClr val="2B2B2B"/>
                </a:solidFill>
                <a:latin typeface="Palatino Linotype"/>
              </a:rPr>
              <a:t>Audits must also reject falsehood: a planted decoy was rejected before verdicts counted.</a:t>
            </a:r>
          </a:p>
          <a:p>
            <a:pPr algn="l" marL="256032" indent="-256032">
              <a:lnSpc>
                <a:spcPct val="105000"/>
              </a:lnSpc>
              <a:spcBef>
                <a:spcPts val="0"/>
              </a:spcBef>
              <a:spcAft>
                <a:spcPts val="700"/>
              </a:spcAft>
            </a:pPr>
            <a:r>
              <a:rPr b="0" i="0" sz="1500">
                <a:solidFill>
                  <a:srgbClr val="822433"/>
                </a:solidFill>
                <a:latin typeface="Palatino Linotype"/>
              </a:rPr>
              <a:t>•  </a:t>
            </a:r>
            <a:r>
              <a:rPr b="0" i="0" sz="1500">
                <a:solidFill>
                  <a:srgbClr val="2B2B2B"/>
                </a:solidFill>
                <a:latin typeface="Palatino Linotype"/>
              </a:rPr>
              <a:t>Cross-code agreement is never treated as truth.</a:t>
            </a:r>
          </a:p>
          <a:p>
            <a:pPr algn="l" marL="256032" indent="-256032">
              <a:lnSpc>
                <a:spcPct val="105000"/>
              </a:lnSpc>
              <a:spcBef>
                <a:spcPts val="0"/>
              </a:spcBef>
              <a:spcAft>
                <a:spcPts val="700"/>
              </a:spcAft>
            </a:pPr>
            <a:r>
              <a:rPr b="0" i="0" sz="1500">
                <a:solidFill>
                  <a:srgbClr val="822433"/>
                </a:solidFill>
                <a:latin typeface="Palatino Linotype"/>
              </a:rPr>
              <a:t>•  </a:t>
            </a:r>
            <a:r>
              <a:rPr b="0" i="0" sz="1500">
                <a:solidFill>
                  <a:srgbClr val="2B2B2B"/>
                </a:solidFill>
                <a:latin typeface="Palatino Linotype"/>
              </a:rPr>
              <a:t>Across the audits, defects moved from the object to the certifier: the standard got stricter.</a:t>
            </a:r>
          </a:p>
        </p:txBody>
      </p:sp>
      <p:sp>
        <p:nvSpPr>
          <p:cNvPr id="24" name="TextBox 23"/>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5" name="TextBox 24"/>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Which gap dominates — and how we would find out</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B-36</a:t>
              </a:r>
            </a:p>
          </p:txBody>
        </p:sp>
      </p:grpSp>
      <p:sp>
        <p:nvSpPr>
          <p:cNvPr id="16" name="Rounded Rectangle 15"/>
          <p:cNvSpPr/>
          <p:nvPr/>
        </p:nvSpPr>
        <p:spPr>
          <a:xfrm>
            <a:off x="457200" y="1481328"/>
            <a:ext cx="3611880" cy="1234440"/>
          </a:xfrm>
          <a:prstGeom prst="roundRect">
            <a:avLst>
              <a:gd name="adj" fmla="val 6000"/>
            </a:avLst>
          </a:prstGeom>
          <a:solidFill>
            <a:srgbClr val="FFFFFF"/>
          </a:solidFill>
          <a:ln w="2032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1572768"/>
            <a:ext cx="335584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2B2B2B"/>
                </a:solidFill>
                <a:latin typeface="Palatino Linotype"/>
              </a:rPr>
              <a:t>mean-state design</a:t>
            </a:r>
          </a:p>
        </p:txBody>
      </p:sp>
      <p:sp>
        <p:nvSpPr>
          <p:cNvPr id="18" name="TextBox 17"/>
          <p:cNvSpPr txBox="1"/>
          <p:nvPr/>
        </p:nvSpPr>
        <p:spPr>
          <a:xfrm>
            <a:off x="585216" y="1956816"/>
            <a:ext cx="3355848" cy="667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designs to the time-averaged flow; never compared head-to-head, by anyone</a:t>
            </a:r>
          </a:p>
        </p:txBody>
      </p:sp>
      <p:cxnSp>
        <p:nvCxnSpPr>
          <p:cNvPr id="19" name="Connector 18"/>
          <p:cNvCxnSpPr/>
          <p:nvPr/>
        </p:nvCxnSpPr>
        <p:spPr>
          <a:xfrm>
            <a:off x="4087368" y="2103120"/>
            <a:ext cx="164592" cy="0"/>
          </a:xfrm>
          <a:prstGeom prst="bentConnector3">
            <a:avLst/>
          </a:prstGeom>
          <a:ln w="25400">
            <a:solidFill>
              <a:srgbClr val="82243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0248" y="1481328"/>
            <a:ext cx="3611880" cy="1234440"/>
          </a:xfrm>
          <a:prstGeom prst="roundRect">
            <a:avLst>
              <a:gd name="adj" fmla="val 6000"/>
            </a:avLst>
          </a:prstGeom>
          <a:solidFill>
            <a:srgbClr val="FFFFFF"/>
          </a:solidFill>
          <a:ln w="2032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8264" y="1572768"/>
            <a:ext cx="335584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006778"/>
                </a:solidFill>
                <a:latin typeface="Palatino Linotype"/>
              </a:rPr>
              <a:t>our per-phase design</a:t>
            </a:r>
          </a:p>
        </p:txBody>
      </p:sp>
      <p:sp>
        <p:nvSpPr>
          <p:cNvPr id="22" name="TextBox 21"/>
          <p:cNvSpPr txBox="1"/>
          <p:nvPr/>
        </p:nvSpPr>
        <p:spPr>
          <a:xfrm>
            <a:off x="4398264" y="1956816"/>
            <a:ext cx="3355848" cy="667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this method</a:t>
            </a:r>
          </a:p>
        </p:txBody>
      </p:sp>
      <p:cxnSp>
        <p:nvCxnSpPr>
          <p:cNvPr id="23" name="Connector 22"/>
          <p:cNvCxnSpPr/>
          <p:nvPr/>
        </p:nvCxnSpPr>
        <p:spPr>
          <a:xfrm>
            <a:off x="7900416" y="2103120"/>
            <a:ext cx="164592" cy="0"/>
          </a:xfrm>
          <a:prstGeom prst="bentConnector3">
            <a:avLst/>
          </a:prstGeom>
          <a:ln w="25400">
            <a:solidFill>
              <a:srgbClr val="822433"/>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83296" y="1481328"/>
            <a:ext cx="3611880" cy="1234440"/>
          </a:xfrm>
          <a:prstGeom prst="roundRect">
            <a:avLst>
              <a:gd name="adj" fmla="val 6000"/>
            </a:avLst>
          </a:prstGeom>
          <a:solidFill>
            <a:srgbClr val="FFFFFF"/>
          </a:solidFill>
          <a:ln w="2032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1572768"/>
            <a:ext cx="3355848"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400">
                <a:solidFill>
                  <a:srgbClr val="2B2B2B"/>
                </a:solidFill>
                <a:latin typeface="Palatino Linotype"/>
              </a:rPr>
              <a:t>true 3D optimum</a:t>
            </a:r>
          </a:p>
        </p:txBody>
      </p:sp>
      <p:sp>
        <p:nvSpPr>
          <p:cNvPr id="26" name="TextBox 25"/>
          <p:cNvSpPr txBox="1"/>
          <p:nvPr/>
        </p:nvSpPr>
        <p:spPr>
          <a:xfrm>
            <a:off x="8211312" y="1956816"/>
            <a:ext cx="3355848" cy="667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incomputable, for anyone</a:t>
            </a:r>
          </a:p>
        </p:txBody>
      </p:sp>
      <p:sp>
        <p:nvSpPr>
          <p:cNvPr id="27" name="TextBox 26"/>
          <p:cNvSpPr txBox="1"/>
          <p:nvPr/>
        </p:nvSpPr>
        <p:spPr>
          <a:xfrm>
            <a:off x="502920" y="2834640"/>
            <a:ext cx="11247120" cy="320040"/>
          </a:xfrm>
          <a:prstGeom prst="rect">
            <a:avLst/>
          </a:prstGeom>
          <a:noFill/>
        </p:spPr>
        <p:txBody>
          <a:bodyPr wrap="square" anchor="t" lIns="0" rIns="0" tIns="0" bIns="0">
            <a:spAutoFit/>
          </a:bodyPr>
          <a:lstStyle/>
          <a:p>
            <a:pPr algn="ctr">
              <a:lnSpc>
                <a:spcPct val="100000"/>
              </a:lnSpc>
              <a:spcBef>
                <a:spcPts val="0"/>
              </a:spcBef>
              <a:spcAft>
                <a:spcPts val="400"/>
              </a:spcAft>
            </a:pPr>
            <a:r>
              <a:rPr b="0" i="1" sz="1300">
                <a:solidFill>
                  <a:srgbClr val="822433"/>
                </a:solidFill>
                <a:latin typeface="Palatino Linotype"/>
              </a:rPr>
              <a:t>three distances: formulation (which problem you solve) · model (which physics you keep) · end to end, the total — the question is which dominates</a:t>
            </a:r>
          </a:p>
        </p:txBody>
      </p:sp>
      <p:sp>
        <p:nvSpPr>
          <p:cNvPr id="28" name="Rounded Rectangle 27"/>
          <p:cNvSpPr/>
          <p:nvPr/>
        </p:nvSpPr>
        <p:spPr>
          <a:xfrm>
            <a:off x="457200" y="3291840"/>
            <a:ext cx="11338560" cy="137160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 y="3364992"/>
            <a:ext cx="11045952" cy="1225296"/>
          </a:xfrm>
          <a:prstGeom prst="rect">
            <a:avLst/>
          </a:prstGeom>
          <a:noFill/>
        </p:spPr>
        <p:txBody>
          <a:bodyPr wrap="square" anchor="ctr" lIns="0" rIns="0" tIns="0" bIns="0">
            <a:spAutoFit/>
          </a:bodyPr>
          <a:lstStyle/>
          <a:p>
            <a:pPr algn="l">
              <a:lnSpc>
                <a:spcPct val="105000"/>
              </a:lnSpc>
              <a:spcBef>
                <a:spcPts val="0"/>
              </a:spcBef>
              <a:spcAft>
                <a:spcPts val="200"/>
              </a:spcAft>
            </a:pPr>
            <a:r>
              <a:rPr b="0" i="0" sz="1400">
                <a:solidFill>
                  <a:srgbClr val="2B2B2B"/>
                </a:solidFill>
                <a:latin typeface="Palatino Linotype"/>
              </a:rPr>
              <a:t>Working hypothesis, testable: at fixed constraints the formulation gap dominates — three exact results each close a piece of the model gap (its smooth part); none touch formulation. Its weak point: the wave-front jumps carry no bound yet — if large, the model gap can win.</a:t>
            </a:r>
          </a:p>
        </p:txBody>
      </p:sp>
      <p:sp>
        <p:nvSpPr>
          <p:cNvPr id="30" name="Rounded Rectangle 29"/>
          <p:cNvSpPr/>
          <p:nvPr/>
        </p:nvSpPr>
        <p:spPr>
          <a:xfrm>
            <a:off x="457200" y="4800600"/>
            <a:ext cx="11338560" cy="685800"/>
          </a:xfrm>
          <a:prstGeom prst="roundRect">
            <a:avLst>
              <a:gd name="adj" fmla="val 10000"/>
            </a:avLst>
          </a:prstGeom>
          <a:solidFill>
            <a:srgbClr val="FFFFFF"/>
          </a:solidFill>
          <a:ln w="177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 y="4873752"/>
            <a:ext cx="11045952" cy="539496"/>
          </a:xfrm>
          <a:prstGeom prst="rect">
            <a:avLst/>
          </a:prstGeom>
          <a:noFill/>
        </p:spPr>
        <p:txBody>
          <a:bodyPr wrap="square" anchor="ctr" lIns="0" rIns="0" tIns="0" bIns="0">
            <a:spAutoFit/>
          </a:bodyPr>
          <a:lstStyle/>
          <a:p>
            <a:pPr algn="l">
              <a:lnSpc>
                <a:spcPct val="105000"/>
              </a:lnSpc>
              <a:spcBef>
                <a:spcPts val="0"/>
              </a:spcBef>
              <a:spcAft>
                <a:spcPts val="200"/>
              </a:spcAft>
            </a:pPr>
            <a:r>
              <a:rPr b="0" i="0" sz="1350">
                <a:solidFill>
                  <a:srgbClr val="2B2B2B"/>
                </a:solidFill>
                <a:latin typeface="Palatino Linotype"/>
              </a:rPr>
              <a:t>The programme fails only if two independent measurements both go against it: the head-to-head and the residual measurement.</a:t>
            </a:r>
          </a:p>
        </p:txBody>
      </p:sp>
      <p:sp>
        <p:nvSpPr>
          <p:cNvPr id="32" name="TextBox 31"/>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33" name="TextBox 32"/>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Decisions we have not taken yet — said before you ask</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B-37</a:t>
              </a:r>
            </a:p>
          </p:txBody>
        </p:sp>
      </p:grpSp>
      <p:sp>
        <p:nvSpPr>
          <p:cNvPr id="16" name="Rounded Rectangle 15"/>
          <p:cNvSpPr/>
          <p:nvPr/>
        </p:nvSpPr>
        <p:spPr>
          <a:xfrm>
            <a:off x="457200" y="1463040"/>
            <a:ext cx="11292840" cy="73152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1536192"/>
            <a:ext cx="11000232" cy="585216"/>
          </a:xfrm>
          <a:prstGeom prst="rect">
            <a:avLst/>
          </a:prstGeom>
          <a:noFill/>
        </p:spPr>
        <p:txBody>
          <a:bodyPr wrap="square" anchor="ctr" lIns="0" rIns="0" tIns="0" bIns="0">
            <a:spAutoFit/>
          </a:bodyPr>
          <a:lstStyle/>
          <a:p>
            <a:pPr algn="l">
              <a:lnSpc>
                <a:spcPct val="105000"/>
              </a:lnSpc>
              <a:spcBef>
                <a:spcPts val="0"/>
              </a:spcBef>
              <a:spcAft>
                <a:spcPts val="200"/>
              </a:spcAft>
            </a:pPr>
            <a:r>
              <a:rPr b="0" i="0" sz="1400">
                <a:solidFill>
                  <a:srgbClr val="2B2B2B"/>
                </a:solidFill>
                <a:latin typeface="Palatino Linotype"/>
              </a:rPr>
              <a:t>The head-to-head choice is taken: no number exists before it runs — and it runs as the first campaign.</a:t>
            </a:r>
          </a:p>
        </p:txBody>
      </p:sp>
      <p:sp>
        <p:nvSpPr>
          <p:cNvPr id="18" name="Rounded Rectangle 17"/>
          <p:cNvSpPr/>
          <p:nvPr/>
        </p:nvSpPr>
        <p:spPr>
          <a:xfrm>
            <a:off x="411480" y="2468880"/>
            <a:ext cx="3703320" cy="237744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 y="256032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50">
                <a:solidFill>
                  <a:srgbClr val="822433"/>
                </a:solidFill>
                <a:latin typeface="Palatino Linotype"/>
              </a:rPr>
              <a:t>OPEN · Two technical roads — open, with criteria</a:t>
            </a:r>
          </a:p>
        </p:txBody>
      </p:sp>
      <p:sp>
        <p:nvSpPr>
          <p:cNvPr id="20" name="TextBox 19"/>
          <p:cNvSpPr txBox="1"/>
          <p:nvPr/>
        </p:nvSpPr>
        <p:spPr>
          <a:xfrm>
            <a:off x="539496" y="2944368"/>
            <a:ext cx="3447287" cy="1810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the treatment of mean swirl, and the priority of one wall closure: presented with alternatives and the decision criterion, not yet decided — lead and date named</a:t>
            </a:r>
          </a:p>
        </p:txBody>
      </p:sp>
      <p:sp>
        <p:nvSpPr>
          <p:cNvPr id="21" name="Rounded Rectangle 20"/>
          <p:cNvSpPr/>
          <p:nvPr/>
        </p:nvSpPr>
        <p:spPr>
          <a:xfrm>
            <a:off x="4270248" y="2468880"/>
            <a:ext cx="3703320" cy="237744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98264" y="256032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50">
                <a:solidFill>
                  <a:srgbClr val="822433"/>
                </a:solidFill>
                <a:latin typeface="Palatino Linotype"/>
              </a:rPr>
              <a:t>OPEN · The data contract is not frozen</a:t>
            </a:r>
          </a:p>
        </p:txBody>
      </p:sp>
      <p:sp>
        <p:nvSpPr>
          <p:cNvPr id="23" name="TextBox 22"/>
          <p:cNvSpPr txBox="1"/>
          <p:nvPr/>
        </p:nvSpPr>
        <p:spPr>
          <a:xfrm>
            <a:off x="4398264" y="2944368"/>
            <a:ext cx="3447287" cy="1810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one physical hypothesis (full choking of the RDE interface) is declared open, with a named lead</a:t>
            </a:r>
          </a:p>
        </p:txBody>
      </p:sp>
      <p:sp>
        <p:nvSpPr>
          <p:cNvPr id="24" name="Rounded Rectangle 23"/>
          <p:cNvSpPr/>
          <p:nvPr/>
        </p:nvSpPr>
        <p:spPr>
          <a:xfrm>
            <a:off x="8129015" y="2468880"/>
            <a:ext cx="3703320" cy="237744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256032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250">
                <a:solidFill>
                  <a:srgbClr val="822433"/>
                </a:solidFill>
                <a:latin typeface="Palatino Linotype"/>
              </a:rPr>
              <a:t>OPEN · One gate still lacks a rejecting threshold</a:t>
            </a:r>
          </a:p>
        </p:txBody>
      </p:sp>
      <p:sp>
        <p:nvSpPr>
          <p:cNvPr id="26" name="TextBox 25"/>
          <p:cNvSpPr txBox="1"/>
          <p:nvPr/>
        </p:nvSpPr>
        <p:spPr>
          <a:xfrm>
            <a:off x="8257031" y="2944368"/>
            <a:ext cx="3447287" cy="1810512"/>
          </a:xfrm>
          <a:prstGeom prst="rect">
            <a:avLst/>
          </a:prstGeom>
          <a:noFill/>
        </p:spPr>
        <p:txBody>
          <a:bodyPr wrap="square" anchor="t" lIns="0" rIns="0" tIns="0" bIns="0">
            <a:spAutoFit/>
          </a:bodyPr>
          <a:lstStyle/>
          <a:p>
            <a:pPr algn="l">
              <a:lnSpc>
                <a:spcPct val="102000"/>
              </a:lnSpc>
              <a:spcBef>
                <a:spcPts val="0"/>
              </a:spcBef>
              <a:spcAft>
                <a:spcPts val="200"/>
              </a:spcAft>
            </a:pPr>
            <a:r>
              <a:rPr b="0" i="0" sz="1200">
                <a:solidFill>
                  <a:srgbClr val="2B2B2B"/>
                </a:solidFill>
                <a:latin typeface="Palatino Linotype"/>
              </a:rPr>
              <a:t>we will derive it as a number</a:t>
            </a:r>
          </a:p>
        </p:txBody>
      </p:sp>
      <p:sp>
        <p:nvSpPr>
          <p:cNvPr id="27" name="TextBox 26"/>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8" name="TextBox 27"/>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Three requests: a reference simulation, engine data, publication support</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B-38</a:t>
              </a:r>
            </a:p>
          </p:txBody>
        </p:sp>
      </p:grpSp>
      <p:sp>
        <p:nvSpPr>
          <p:cNvPr id="16" name="Rounded Rectangle 15"/>
          <p:cNvSpPr/>
          <p:nvPr/>
        </p:nvSpPr>
        <p:spPr>
          <a:xfrm>
            <a:off x="411480" y="1417320"/>
            <a:ext cx="3703320" cy="22860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150876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822433"/>
                </a:solidFill>
                <a:latin typeface="Palatino Linotype"/>
              </a:rPr>
              <a:t>1 · Reference 3D simulation</a:t>
            </a:r>
          </a:p>
        </p:txBody>
      </p:sp>
      <p:sp>
        <p:nvSpPr>
          <p:cNvPr id="18" name="TextBox 17"/>
          <p:cNvSpPr txBox="1"/>
          <p:nvPr/>
        </p:nvSpPr>
        <p:spPr>
          <a:xfrm>
            <a:off x="521208" y="1920240"/>
            <a:ext cx="3483863" cy="1737360"/>
          </a:xfrm>
          <a:prstGeom prst="rect">
            <a:avLst/>
          </a:prstGeom>
          <a:noFill/>
        </p:spPr>
        <p:txBody>
          <a:bodyPr wrap="square" anchor="t" lIns="0" rIns="0" tIns="0" bIns="0">
            <a:spAutoFit/>
          </a:bodyPr>
          <a:lstStyle/>
          <a:p>
            <a:pPr algn="l">
              <a:lnSpc>
                <a:spcPct val="100000"/>
              </a:lnSpc>
              <a:spcBef>
                <a:spcPts val="0"/>
              </a:spcBef>
              <a:spcAft>
                <a:spcPts val="300"/>
              </a:spcAft>
            </a:pPr>
            <a:r>
              <a:rPr b="0" i="0" sz="1200">
                <a:solidFill>
                  <a:srgbClr val="2B2B2B"/>
                </a:solidFill>
                <a:latin typeface="Palatino Linotype"/>
              </a:rPr>
              <a:t>What: ~12M-cell reference run, by collaboration or procurement</a:t>
            </a:r>
          </a:p>
          <a:p>
            <a:pPr algn="l">
              <a:lnSpc>
                <a:spcPct val="100000"/>
              </a:lnSpc>
              <a:spcBef>
                <a:spcPts val="0"/>
              </a:spcBef>
              <a:spcAft>
                <a:spcPts val="300"/>
              </a:spcAft>
            </a:pPr>
            <a:r>
              <a:rPr b="0" i="0" sz="1200">
                <a:solidFill>
                  <a:srgbClr val="2B2B2B"/>
                </a:solidFill>
                <a:latin typeface="Palatino Linotype"/>
              </a:rPr>
              <a:t>To decide: the route — partner or purchase; the commit is decided after the residual measurement</a:t>
            </a:r>
          </a:p>
          <a:p>
            <a:pPr algn="l">
              <a:lnSpc>
                <a:spcPct val="100000"/>
              </a:lnSpc>
              <a:spcBef>
                <a:spcPts val="0"/>
              </a:spcBef>
              <a:spcAft>
                <a:spcPts val="300"/>
              </a:spcAft>
            </a:pPr>
            <a:r>
              <a:rPr b="0" i="1" sz="1200">
                <a:solidFill>
                  <a:srgbClr val="006778"/>
                </a:solidFill>
                <a:latin typeface="Palatino Linotype"/>
              </a:rPr>
              <a:t>When: route now, run later</a:t>
            </a:r>
          </a:p>
        </p:txBody>
      </p:sp>
      <p:sp>
        <p:nvSpPr>
          <p:cNvPr id="19" name="Rounded Rectangle 18"/>
          <p:cNvSpPr/>
          <p:nvPr/>
        </p:nvSpPr>
        <p:spPr>
          <a:xfrm>
            <a:off x="4270248" y="1417320"/>
            <a:ext cx="3703320" cy="22860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98264" y="150876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822433"/>
                </a:solidFill>
                <a:latin typeface="Palatino Linotype"/>
              </a:rPr>
              <a:t>2 · Engine test data</a:t>
            </a:r>
          </a:p>
        </p:txBody>
      </p:sp>
      <p:sp>
        <p:nvSpPr>
          <p:cNvPr id="21" name="TextBox 20"/>
          <p:cNvSpPr txBox="1"/>
          <p:nvPr/>
        </p:nvSpPr>
        <p:spPr>
          <a:xfrm>
            <a:off x="4379976" y="1920240"/>
            <a:ext cx="3483863" cy="1737360"/>
          </a:xfrm>
          <a:prstGeom prst="rect">
            <a:avLst/>
          </a:prstGeom>
          <a:noFill/>
        </p:spPr>
        <p:txBody>
          <a:bodyPr wrap="square" anchor="t" lIns="0" rIns="0" tIns="0" bIns="0">
            <a:spAutoFit/>
          </a:bodyPr>
          <a:lstStyle/>
          <a:p>
            <a:pPr algn="l">
              <a:lnSpc>
                <a:spcPct val="100000"/>
              </a:lnSpc>
              <a:spcBef>
                <a:spcPts val="0"/>
              </a:spcBef>
              <a:spcAft>
                <a:spcPts val="300"/>
              </a:spcAft>
            </a:pPr>
            <a:r>
              <a:rPr b="0" i="0" sz="1200">
                <a:solidFill>
                  <a:srgbClr val="2B2B2B"/>
                </a:solidFill>
                <a:latin typeface="Palatino Linotype"/>
              </a:rPr>
              <a:t>What: high-speed pressure traces or hot-fire imaging</a:t>
            </a:r>
          </a:p>
          <a:p>
            <a:pPr algn="l">
              <a:lnSpc>
                <a:spcPct val="100000"/>
              </a:lnSpc>
              <a:spcBef>
                <a:spcPts val="0"/>
              </a:spcBef>
              <a:spcAft>
                <a:spcPts val="300"/>
              </a:spcAft>
            </a:pPr>
            <a:r>
              <a:rPr b="0" i="0" sz="1200">
                <a:solidFill>
                  <a:srgbClr val="2B2B2B"/>
                </a:solidFill>
                <a:latin typeface="Palatino Linotype"/>
              </a:rPr>
              <a:t>To decide: which rig, which instrumentation</a:t>
            </a:r>
          </a:p>
          <a:p>
            <a:pPr algn="l">
              <a:lnSpc>
                <a:spcPct val="100000"/>
              </a:lnSpc>
              <a:spcBef>
                <a:spcPts val="0"/>
              </a:spcBef>
              <a:spcAft>
                <a:spcPts val="300"/>
              </a:spcAft>
            </a:pPr>
            <a:r>
              <a:rPr b="0" i="1" sz="1200">
                <a:solidFill>
                  <a:srgbClr val="006778"/>
                </a:solidFill>
                <a:latin typeface="Palatino Linotype"/>
              </a:rPr>
              <a:t>When: starting now</a:t>
            </a:r>
          </a:p>
        </p:txBody>
      </p:sp>
      <p:sp>
        <p:nvSpPr>
          <p:cNvPr id="22" name="Rounded Rectangle 21"/>
          <p:cNvSpPr/>
          <p:nvPr/>
        </p:nvSpPr>
        <p:spPr>
          <a:xfrm>
            <a:off x="8129015" y="1417320"/>
            <a:ext cx="3703320" cy="2286000"/>
          </a:xfrm>
          <a:prstGeom prst="roundRect">
            <a:avLst>
              <a:gd name="adj" fmla="val 6000"/>
            </a:avLst>
          </a:prstGeom>
          <a:solidFill>
            <a:srgbClr val="FFFFFF"/>
          </a:solidFill>
          <a:ln w="2032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1508760"/>
            <a:ext cx="3447287"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300">
                <a:solidFill>
                  <a:srgbClr val="822433"/>
                </a:solidFill>
                <a:latin typeface="Palatino Linotype"/>
              </a:rPr>
              <a:t>3 · Publication &amp; access</a:t>
            </a:r>
          </a:p>
        </p:txBody>
      </p:sp>
      <p:sp>
        <p:nvSpPr>
          <p:cNvPr id="24" name="TextBox 23"/>
          <p:cNvSpPr txBox="1"/>
          <p:nvPr/>
        </p:nvSpPr>
        <p:spPr>
          <a:xfrm>
            <a:off x="8238743" y="1920240"/>
            <a:ext cx="3483863" cy="1737360"/>
          </a:xfrm>
          <a:prstGeom prst="rect">
            <a:avLst/>
          </a:prstGeom>
          <a:noFill/>
        </p:spPr>
        <p:txBody>
          <a:bodyPr wrap="square" anchor="t" lIns="0" rIns="0" tIns="0" bIns="0">
            <a:spAutoFit/>
          </a:bodyPr>
          <a:lstStyle/>
          <a:p>
            <a:pPr algn="l">
              <a:lnSpc>
                <a:spcPct val="100000"/>
              </a:lnSpc>
              <a:spcBef>
                <a:spcPts val="0"/>
              </a:spcBef>
              <a:spcAft>
                <a:spcPts val="300"/>
              </a:spcAft>
            </a:pPr>
            <a:r>
              <a:rPr b="0" i="0" sz="1200">
                <a:solidFill>
                  <a:srgbClr val="2B2B2B"/>
                </a:solidFill>
                <a:latin typeface="Palatino Linotype"/>
              </a:rPr>
              <a:t>What: venues for the method papers; three key papers we cannot access</a:t>
            </a:r>
          </a:p>
          <a:p>
            <a:pPr algn="l">
              <a:lnSpc>
                <a:spcPct val="100000"/>
              </a:lnSpc>
              <a:spcBef>
                <a:spcPts val="0"/>
              </a:spcBef>
              <a:spcAft>
                <a:spcPts val="300"/>
              </a:spcAft>
            </a:pPr>
            <a:r>
              <a:rPr b="0" i="0" sz="1200">
                <a:solidFill>
                  <a:srgbClr val="2B2B2B"/>
                </a:solidFill>
                <a:latin typeface="Palatino Linotype"/>
              </a:rPr>
              <a:t>To decide: endorsement</a:t>
            </a:r>
          </a:p>
          <a:p>
            <a:pPr algn="l">
              <a:lnSpc>
                <a:spcPct val="100000"/>
              </a:lnSpc>
              <a:spcBef>
                <a:spcPts val="0"/>
              </a:spcBef>
              <a:spcAft>
                <a:spcPts val="300"/>
              </a:spcAft>
            </a:pPr>
            <a:r>
              <a:rPr b="0" i="1" sz="1200">
                <a:solidFill>
                  <a:srgbClr val="006778"/>
                </a:solidFill>
                <a:latin typeface="Palatino Linotype"/>
              </a:rPr>
              <a:t>When: at your convenience</a:t>
            </a:r>
          </a:p>
        </p:txBody>
      </p:sp>
      <p:sp>
        <p:nvSpPr>
          <p:cNvPr id="25" name="Rounded Rectangle 24"/>
          <p:cNvSpPr/>
          <p:nvPr/>
        </p:nvSpPr>
        <p:spPr>
          <a:xfrm>
            <a:off x="411480" y="4069080"/>
            <a:ext cx="11338560" cy="1463040"/>
          </a:xfrm>
          <a:prstGeom prst="roundRect">
            <a:avLst>
              <a:gd name="adj" fmla="val 10000"/>
            </a:avLst>
          </a:prstGeom>
          <a:solidFill>
            <a:srgbClr val="E8F1F2"/>
          </a:solidFill>
          <a:ln w="17780">
            <a:solidFill>
              <a:srgbClr val="0067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7784" y="4142232"/>
            <a:ext cx="11045952" cy="1316736"/>
          </a:xfrm>
          <a:prstGeom prst="rect">
            <a:avLst/>
          </a:prstGeom>
          <a:noFill/>
        </p:spPr>
        <p:txBody>
          <a:bodyPr wrap="square" anchor="ctr" lIns="0" rIns="0" tIns="0" bIns="0">
            <a:spAutoFit/>
          </a:bodyPr>
          <a:lstStyle/>
          <a:p>
            <a:pPr algn="l">
              <a:lnSpc>
                <a:spcPct val="105000"/>
              </a:lnSpc>
              <a:spcBef>
                <a:spcPts val="0"/>
              </a:spcBef>
              <a:spcAft>
                <a:spcPts val="200"/>
              </a:spcAft>
            </a:pPr>
            <a:r>
              <a:rPr b="0" i="0" sz="1400">
                <a:solidFill>
                  <a:srgbClr val="2B2B2B"/>
                </a:solidFill>
                <a:latin typeface="Palatino Linotype"/>
              </a:rPr>
              <a:t>'What input does the method need?' Specs suffice to design; each added measurement raises the confidence grade (scale in backup). Data outside the required class is rejected — not yet exercised on real data.</a:t>
            </a:r>
          </a:p>
        </p:txBody>
      </p:sp>
      <p:sp>
        <p:nvSpPr>
          <p:cNvPr id="27" name="TextBox 26"/>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8" name="TextBox 27"/>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92608" y="347472"/>
            <a:ext cx="11612880" cy="868680"/>
          </a:xfrm>
        </p:spPr>
        <p:txBody>
          <a:bodyPr wrap="square" anchor="t" lIns="0" rIns="0" tIns="0" bIns="0">
            <a:noAutofit/>
          </a:bodyPr>
          <a:lstStyle/>
          <a:p>
            <a:pPr algn="l"/>
            <a:r>
              <a:rPr sz="3200" b="1">
                <a:solidFill>
                  <a:srgbClr val="822433"/>
                </a:solidFill>
                <a:latin typeface="Palatino Linotype"/>
              </a:rPr>
              <a:t>What we discard is measurable — validation costs minutes, not weeks</a:t>
            </a:r>
          </a:p>
        </p:txBody>
      </p:sp>
      <p:grpSp>
        <p:nvGrpSpPr>
          <p:cNvPr id="7" name="Gruppo 6">
            <a:extLst>
              <a:ext uri="{FF2B5EF4-FFF2-40B4-BE49-F238E27FC236}">
                <a16:creationId xmlns:a16="http://schemas.microsoft.com/office/drawing/2014/main" id="{80EA8ECB-7C5B-CFA9-F3FB-1405800E02DD}"/>
              </a:ext>
            </a:extLst>
          </p:cNvPr>
          <p:cNvGrpSpPr/>
          <p:nvPr/>
        </p:nvGrpSpPr>
        <p:grpSpPr>
          <a:xfrm>
            <a:off x="0" y="6108700"/>
            <a:ext cx="12191999" cy="741549"/>
            <a:chOff x="7950" y="6134100"/>
            <a:chExt cx="12184049" cy="741549"/>
          </a:xfrm>
        </p:grpSpPr>
        <p:grpSp>
          <p:nvGrpSpPr>
            <p:cNvPr id="4" name="Gruppo 3">
              <a:extLst>
                <a:ext uri="{FF2B5EF4-FFF2-40B4-BE49-F238E27FC236}">
                  <a16:creationId xmlns:a16="http://schemas.microsoft.com/office/drawing/2014/main" id="{A5762A17-9A91-5AFE-DE6E-B5B8703EC33D}"/>
                </a:ext>
              </a:extLst>
            </p:cNvPr>
            <p:cNvGrpSpPr/>
            <p:nvPr/>
          </p:nvGrpSpPr>
          <p:grpSpPr>
            <a:xfrm>
              <a:off x="7950" y="6134100"/>
              <a:ext cx="12184049" cy="741549"/>
              <a:chOff x="0" y="6134100"/>
              <a:chExt cx="12192000" cy="741549"/>
            </a:xfrm>
          </p:grpSpPr>
          <p:sp>
            <p:nvSpPr>
              <p:cNvPr id="10" name="Rectangle 23">
                <a:extLst>
                  <a:ext uri="{FF2B5EF4-FFF2-40B4-BE49-F238E27FC236}">
                    <a16:creationId xmlns:a16="http://schemas.microsoft.com/office/drawing/2014/main" id="{8231CCB2-0097-47C1-2749-BF83BA063A35}"/>
                  </a:ext>
                </a:extLst>
              </p:cNvPr>
              <p:cNvSpPr/>
              <p:nvPr/>
            </p:nvSpPr>
            <p:spPr>
              <a:xfrm>
                <a:off x="0" y="6134100"/>
                <a:ext cx="12192000" cy="741549"/>
              </a:xfrm>
              <a:prstGeom prst="rect">
                <a:avLst/>
              </a:prstGeom>
              <a:solidFill>
                <a:srgbClr val="822333"/>
              </a:solidFill>
              <a:ln>
                <a:solidFill>
                  <a:srgbClr val="822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effectLst>
                      <a:outerShdw blurRad="38100" dist="38100" dir="2700000" algn="tl">
                        <a:srgbClr val="000000">
                          <a:alpha val="43137"/>
                        </a:srgbClr>
                      </a:outerShdw>
                    </a:effectLst>
                    <a:latin typeface="Palatino"/>
                  </a:rPr>
                  <a:t/>
                </a:r>
                <a:endParaRPr lang="en-FR" sz="1400" b="1" dirty="0">
                  <a:effectLst>
                    <a:outerShdw blurRad="38100" dist="38100" dir="2700000" algn="tl">
                      <a:srgbClr val="000000">
                        <a:alpha val="43137"/>
                      </a:srgbClr>
                    </a:outerShdw>
                  </a:effectLst>
                  <a:latin typeface="Palatino"/>
                  <a:ea typeface="Palatino" pitchFamily="2" charset="77"/>
                  <a:cs typeface="FUTURA MEDIUM" panose="020B0602020204020303" pitchFamily="34" charset="-79"/>
                </a:endParaRPr>
              </a:p>
            </p:txBody>
          </p:sp>
          <p:pic>
            <p:nvPicPr>
              <p:cNvPr id="12" name="Picture 13" descr="logo +marchio">
                <a:extLst>
                  <a:ext uri="{FF2B5EF4-FFF2-40B4-BE49-F238E27FC236}">
                    <a16:creationId xmlns:a16="http://schemas.microsoft.com/office/drawing/2014/main" id="{A2448FDD-2023-88FD-4279-31AD7AA41415}"/>
                  </a:ext>
                </a:extLst>
              </p:cNvPr>
              <p:cNvPicPr>
                <a:picLocks noChangeAspect="1" noChangeArrowheads="1"/>
              </p:cNvPicPr>
              <p:nvPr/>
            </p:nvPicPr>
            <p:blipFill rotWithShape="1">
              <a:blip r:embed="rId2" cstate="print"/>
              <a:srcRect l="14831" r="54091"/>
              <a:stretch/>
            </p:blipFill>
            <p:spPr bwMode="auto">
              <a:xfrm>
                <a:off x="84996" y="6351184"/>
                <a:ext cx="1228478" cy="495398"/>
              </a:xfrm>
              <a:prstGeom prst="rect">
                <a:avLst/>
              </a:prstGeom>
              <a:noFill/>
              <a:ln w="9525">
                <a:noFill/>
                <a:miter lim="800000"/>
                <a:headEnd/>
                <a:tailEnd/>
              </a:ln>
            </p:spPr>
          </p:pic>
          <p:sp>
            <p:nvSpPr>
              <p:cNvPr id="3" name="Rettangolo 2">
                <a:extLst>
                  <a:ext uri="{FF2B5EF4-FFF2-40B4-BE49-F238E27FC236}">
                    <a16:creationId xmlns:a16="http://schemas.microsoft.com/office/drawing/2014/main" id="{44404EB8-6ACD-DAF4-2480-0B1CB2A99C7F}"/>
                  </a:ext>
                </a:extLst>
              </p:cNvPr>
              <p:cNvSpPr/>
              <p:nvPr/>
            </p:nvSpPr>
            <p:spPr>
              <a:xfrm>
                <a:off x="0" y="6134100"/>
                <a:ext cx="928464" cy="2057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Segnaposto numero diapositiva 6">
              <a:extLst>
                <a:ext uri="{FF2B5EF4-FFF2-40B4-BE49-F238E27FC236}">
                  <a16:creationId xmlns:a16="http://schemas.microsoft.com/office/drawing/2014/main" id="{CBC1A82E-4C58-6C94-2A7F-7F9CF6CA2090}"/>
                </a:ext>
              </a:extLst>
            </p:cNvPr>
            <p:cNvSpPr txBox="1">
              <a:spLocks/>
            </p:cNvSpPr>
            <p:nvPr/>
          </p:nvSpPr>
          <p:spPr>
            <a:xfrm>
              <a:off x="11270512" y="6276274"/>
              <a:ext cx="730988" cy="457200"/>
            </a:xfrm>
            <a:prstGeom prst="rect">
              <a:avLst/>
            </a:prstGeom>
            <a:noFill/>
          </p:spPr>
          <p:txBody>
            <a:bodyPr anchor="ctr"/>
            <a:lstStyle>
              <a:defPPr>
                <a:defRPr lang="en-US"/>
              </a:defPPr>
              <a:lvl1pPr algn="r" defTabSz="457200" rtl="0" eaLnBrk="1" fontAlgn="auto" hangingPunct="1">
                <a:spcBef>
                  <a:spcPct val="20000"/>
                </a:spcBef>
                <a:spcAft>
                  <a:spcPts val="0"/>
                </a:spcAft>
                <a:buClr>
                  <a:srgbClr val="822433"/>
                </a:buClr>
                <a:buChar char="•"/>
                <a:defRPr sz="2400" kern="1200">
                  <a:solidFill>
                    <a:srgbClr val="000000"/>
                  </a:solidFill>
                  <a:latin typeface="Arial" panose="020B0604020202020204" pitchFamily="34" charset="0"/>
                  <a:ea typeface="ＭＳ Ｐゴシック" panose="020B0600070205080204" pitchFamily="34" charset="-128"/>
                  <a:cs typeface="+mn-cs"/>
                </a:defRPr>
              </a:lvl1pPr>
              <a:lvl2pPr marL="742950" indent="-285750" algn="l" defTabSz="457200" rtl="0" eaLnBrk="0" fontAlgn="base" hangingPunct="0">
                <a:spcBef>
                  <a:spcPct val="20000"/>
                </a:spcBef>
                <a:spcAft>
                  <a:spcPct val="0"/>
                </a:spcAft>
                <a:buChar char="–"/>
                <a:defRPr sz="2000" kern="1200">
                  <a:solidFill>
                    <a:srgbClr val="000000"/>
                  </a:solidFill>
                  <a:latin typeface="Arial" panose="020B0604020202020204" pitchFamily="34" charset="0"/>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Char char="•"/>
                <a:defRPr sz="1600" kern="1200">
                  <a:solidFill>
                    <a:srgbClr val="000000"/>
                  </a:solidFill>
                  <a:latin typeface="Arial" panose="020B0604020202020204" pitchFamily="34" charset="0"/>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Char char="–"/>
                <a:defRPr sz="1400" kern="1200">
                  <a:solidFill>
                    <a:srgbClr val="000000"/>
                  </a:solidFill>
                  <a:latin typeface="Arial" panose="020B0604020202020204" pitchFamily="34" charset="0"/>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20000"/>
                </a:spcBef>
                <a:spcAft>
                  <a:spcPct val="0"/>
                </a:spcAft>
                <a:buChar char="»"/>
                <a:defRPr sz="1200" kern="1200">
                  <a:solidFill>
                    <a:srgbClr val="000000"/>
                  </a:solidFill>
                  <a:latin typeface="Arial" panose="020B0604020202020204" pitchFamily="34" charset="0"/>
                  <a:ea typeface="ＭＳ Ｐゴシック" panose="020B0600070205080204" pitchFamily="34" charset="-128"/>
                  <a:cs typeface="+mn-cs"/>
                </a:defRPr>
              </a:lvl9pPr>
            </a:lstStyle>
            <a:p>
              <a:r>
                <a:rPr sz="1400" b="1">
                  <a:solidFill>
                    <a:srgbClr val="FFFFFF"/>
                  </a:solidFill>
                  <a:latin typeface="Palatino Linotype"/>
                </a:rPr>
                <a:t>B-39</a:t>
              </a:r>
            </a:p>
          </p:txBody>
        </p:sp>
      </p:grpSp>
      <p:sp>
        <p:nvSpPr>
          <p:cNvPr id="16" name="TextBox 15"/>
          <p:cNvSpPr txBox="1"/>
          <p:nvPr/>
        </p:nvSpPr>
        <p:spPr>
          <a:xfrm>
            <a:off x="548640" y="1554480"/>
            <a:ext cx="5577840"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For the engineers</a:t>
            </a:r>
          </a:p>
        </p:txBody>
      </p:sp>
      <p:sp>
        <p:nvSpPr>
          <p:cNvPr id="17" name="TextBox 16"/>
          <p:cNvSpPr txBox="1"/>
          <p:nvPr/>
        </p:nvSpPr>
        <p:spPr>
          <a:xfrm>
            <a:off x="548640" y="1965960"/>
            <a:ext cx="5577840" cy="2011680"/>
          </a:xfrm>
          <a:prstGeom prst="rect">
            <a:avLst/>
          </a:prstGeom>
          <a:noFill/>
        </p:spPr>
        <p:txBody>
          <a:bodyPr wrap="square" anchor="t" lIns="0" rIns="0" tIns="0" bIns="0">
            <a:spAutoFit/>
          </a:bodyPr>
          <a:lstStyle/>
          <a:p>
            <a:pPr algn="l" marL="256032" indent="-256032">
              <a:lnSpc>
                <a:spcPct val="105000"/>
              </a:lnSpc>
              <a:spcBef>
                <a:spcPts val="0"/>
              </a:spcBef>
              <a:spcAft>
                <a:spcPts val="500"/>
              </a:spcAft>
            </a:pPr>
            <a:r>
              <a:rPr b="0" i="0" sz="1500">
                <a:solidFill>
                  <a:srgbClr val="822433"/>
                </a:solidFill>
                <a:latin typeface="Palatino Linotype"/>
              </a:rPr>
              <a:t>•  </a:t>
            </a:r>
            <a:r>
              <a:rPr b="0" i="0" sz="1500">
                <a:solidFill>
                  <a:srgbClr val="2B2B2B"/>
                </a:solidFill>
                <a:latin typeface="Palatino Linotype"/>
              </a:rPr>
              <a:t>the first per-phase variational design method for RDE nozzles</a:t>
            </a:r>
          </a:p>
          <a:p>
            <a:pPr algn="l" marL="256032" indent="-256032">
              <a:lnSpc>
                <a:spcPct val="105000"/>
              </a:lnSpc>
              <a:spcBef>
                <a:spcPts val="0"/>
              </a:spcBef>
              <a:spcAft>
                <a:spcPts val="500"/>
              </a:spcAft>
            </a:pPr>
            <a:r>
              <a:rPr b="0" i="0" sz="1500">
                <a:solidFill>
                  <a:srgbClr val="822433"/>
                </a:solidFill>
                <a:latin typeface="Palatino Linotype"/>
              </a:rPr>
              <a:t>•  </a:t>
            </a:r>
            <a:r>
              <a:rPr b="0" i="0" sz="1500">
                <a:solidFill>
                  <a:srgbClr val="2B2B2B"/>
                </a:solidFill>
                <a:latin typeface="Palatino Linotype"/>
              </a:rPr>
              <a:t>what the reduction discards is an explicit, measurable operator</a:t>
            </a:r>
          </a:p>
          <a:p>
            <a:pPr algn="l" marL="256032" indent="-256032">
              <a:lnSpc>
                <a:spcPct val="105000"/>
              </a:lnSpc>
              <a:spcBef>
                <a:spcPts val="0"/>
              </a:spcBef>
              <a:spcAft>
                <a:spcPts val="500"/>
              </a:spcAft>
            </a:pPr>
            <a:r>
              <a:rPr b="0" i="0" sz="1500">
                <a:solidFill>
                  <a:srgbClr val="822433"/>
                </a:solidFill>
                <a:latin typeface="Palatino Linotype"/>
              </a:rPr>
              <a:t>•  </a:t>
            </a:r>
            <a:r>
              <a:rPr b="0" i="0" sz="1500">
                <a:solidFill>
                  <a:srgbClr val="2B2B2B"/>
                </a:solidFill>
                <a:latin typeface="Palatino Linotype"/>
              </a:rPr>
              <a:t>an error budget, source by source, each with its estimate</a:t>
            </a:r>
          </a:p>
        </p:txBody>
      </p:sp>
      <p:sp>
        <p:nvSpPr>
          <p:cNvPr id="18" name="TextBox 17"/>
          <p:cNvSpPr txBox="1"/>
          <p:nvPr/>
        </p:nvSpPr>
        <p:spPr>
          <a:xfrm>
            <a:off x="6400800" y="1554480"/>
            <a:ext cx="5486400" cy="365760"/>
          </a:xfrm>
          <a:prstGeom prst="rect">
            <a:avLst/>
          </a:prstGeom>
          <a:noFill/>
        </p:spPr>
        <p:txBody>
          <a:bodyPr wrap="square" anchor="t" lIns="0" rIns="0" tIns="0" bIns="0">
            <a:spAutoFit/>
          </a:bodyPr>
          <a:lstStyle/>
          <a:p>
            <a:pPr algn="l">
              <a:lnSpc>
                <a:spcPct val="100000"/>
              </a:lnSpc>
              <a:spcBef>
                <a:spcPts val="0"/>
              </a:spcBef>
              <a:spcAft>
                <a:spcPts val="400"/>
              </a:spcAft>
            </a:pPr>
            <a:r>
              <a:rPr b="1" i="0" sz="1700">
                <a:solidFill>
                  <a:srgbClr val="006778"/>
                </a:solidFill>
                <a:latin typeface="Palatino Linotype"/>
              </a:rPr>
              <a:t>For the decision-makers</a:t>
            </a:r>
          </a:p>
        </p:txBody>
      </p:sp>
      <p:sp>
        <p:nvSpPr>
          <p:cNvPr id="19" name="TextBox 18"/>
          <p:cNvSpPr txBox="1"/>
          <p:nvPr/>
        </p:nvSpPr>
        <p:spPr>
          <a:xfrm>
            <a:off x="6400800" y="1965960"/>
            <a:ext cx="5486400" cy="2011680"/>
          </a:xfrm>
          <a:prstGeom prst="rect">
            <a:avLst/>
          </a:prstGeom>
          <a:noFill/>
        </p:spPr>
        <p:txBody>
          <a:bodyPr wrap="square" anchor="t" lIns="0" rIns="0" tIns="0" bIns="0">
            <a:spAutoFit/>
          </a:bodyPr>
          <a:lstStyle/>
          <a:p>
            <a:pPr algn="l" marL="256032" indent="-256032">
              <a:lnSpc>
                <a:spcPct val="105000"/>
              </a:lnSpc>
              <a:spcBef>
                <a:spcPts val="0"/>
              </a:spcBef>
              <a:spcAft>
                <a:spcPts val="500"/>
              </a:spcAft>
            </a:pPr>
            <a:r>
              <a:rPr b="0" i="0" sz="1500">
                <a:solidFill>
                  <a:srgbClr val="822433"/>
                </a:solidFill>
                <a:latin typeface="Palatino Linotype"/>
              </a:rPr>
              <a:t>•  </a:t>
            </a:r>
            <a:r>
              <a:rPr b="0" i="0" sz="1500">
                <a:solidFill>
                  <a:srgbClr val="2B2B2B"/>
                </a:solidFill>
                <a:latin typeface="Palatino Linotype"/>
              </a:rPr>
              <a:t>validation in minutes, not weeks</a:t>
            </a:r>
          </a:p>
          <a:p>
            <a:pPr algn="l" marL="256032" indent="-256032">
              <a:lnSpc>
                <a:spcPct val="105000"/>
              </a:lnSpc>
              <a:spcBef>
                <a:spcPts val="0"/>
              </a:spcBef>
              <a:spcAft>
                <a:spcPts val="500"/>
              </a:spcAft>
            </a:pPr>
            <a:r>
              <a:rPr b="0" i="0" sz="1500">
                <a:solidFill>
                  <a:srgbClr val="822433"/>
                </a:solidFill>
                <a:latin typeface="Palatino Linotype"/>
              </a:rPr>
              <a:t>•  </a:t>
            </a:r>
            <a:r>
              <a:rPr b="0" i="0" sz="1500">
                <a:solidFill>
                  <a:srgbClr val="2B2B2B"/>
                </a:solidFill>
                <a:latin typeface="Palatino Linotype"/>
              </a:rPr>
              <a:t>a stepwise plan with known costs, fixed consequences, and a stop criterion</a:t>
            </a:r>
          </a:p>
        </p:txBody>
      </p:sp>
      <p:pic>
        <p:nvPicPr>
          <p:cNvPr id="20" name="Picture 19" descr="fig_method_flow.png"/>
          <p:cNvPicPr>
            <a:picLocks noChangeAspect="1"/>
          </p:cNvPicPr>
          <p:nvPr/>
        </p:nvPicPr>
        <p:blipFill>
          <a:blip r:embed="rId3"/>
          <a:stretch>
            <a:fillRect/>
          </a:stretch>
        </p:blipFill>
        <p:spPr>
          <a:xfrm>
            <a:off x="3776608" y="4069080"/>
            <a:ext cx="4608302" cy="1298448"/>
          </a:xfrm>
          <a:prstGeom prst="rect">
            <a:avLst/>
          </a:prstGeom>
        </p:spPr>
      </p:pic>
      <p:sp>
        <p:nvSpPr>
          <p:cNvPr id="21" name="Rounded Rectangle 20"/>
          <p:cNvSpPr/>
          <p:nvPr/>
        </p:nvSpPr>
        <p:spPr>
          <a:xfrm>
            <a:off x="548640" y="5468112"/>
            <a:ext cx="11247120" cy="621792"/>
          </a:xfrm>
          <a:prstGeom prst="roundRect">
            <a:avLst>
              <a:gd name="adj" fmla="val 10000"/>
            </a:avLst>
          </a:prstGeom>
          <a:solidFill>
            <a:srgbClr val="F6ECEE"/>
          </a:solidFill>
          <a:ln w="17780">
            <a:solidFill>
              <a:srgbClr val="82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541264"/>
            <a:ext cx="10954512" cy="475488"/>
          </a:xfrm>
          <a:prstGeom prst="rect">
            <a:avLst/>
          </a:prstGeom>
          <a:noFill/>
        </p:spPr>
        <p:txBody>
          <a:bodyPr wrap="square" anchor="ctr" lIns="0" rIns="0" tIns="0" bIns="0">
            <a:spAutoFit/>
          </a:bodyPr>
          <a:lstStyle/>
          <a:p>
            <a:pPr algn="ctr">
              <a:lnSpc>
                <a:spcPct val="105000"/>
              </a:lnSpc>
              <a:spcBef>
                <a:spcPts val="0"/>
              </a:spcBef>
              <a:spcAft>
                <a:spcPts val="200"/>
              </a:spcAft>
            </a:pPr>
            <a:r>
              <a:rPr b="0" i="0" sz="1500">
                <a:solidFill>
                  <a:srgbClr val="2B2B2B"/>
                </a:solidFill>
                <a:latin typeface="Palatino Linotype"/>
              </a:rPr>
              <a:t>The method's limits are on these slides — each with a number, or the named way to get one.</a:t>
            </a:r>
          </a:p>
        </p:txBody>
      </p:sp>
      <p:sp>
        <p:nvSpPr>
          <p:cNvPr id="23" name="TextBox 22"/>
          <p:cNvSpPr txBox="1"/>
          <p:nvPr/>
        </p:nvSpPr>
        <p:spPr>
          <a:xfrm>
            <a:off x="1435608" y="6135624"/>
            <a:ext cx="6839712"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Rotating Detonation Engine Activities</a:t>
            </a:r>
          </a:p>
        </p:txBody>
      </p:sp>
      <p:sp>
        <p:nvSpPr>
          <p:cNvPr id="24" name="TextBox 23"/>
          <p:cNvSpPr txBox="1"/>
          <p:nvPr/>
        </p:nvSpPr>
        <p:spPr>
          <a:xfrm>
            <a:off x="8284464" y="6135624"/>
            <a:ext cx="2011680" cy="740664"/>
          </a:xfrm>
          <a:prstGeom prst="rect">
            <a:avLst/>
          </a:prstGeom>
          <a:noFill/>
        </p:spPr>
        <p:txBody>
          <a:bodyPr wrap="square" anchor="ctr" lIns="0" rIns="0" tIns="0" bIns="0">
            <a:spAutoFit/>
          </a:bodyPr>
          <a:lstStyle/>
          <a:p>
            <a:pPr algn="ctr">
              <a:lnSpc>
                <a:spcPct val="100000"/>
              </a:lnSpc>
              <a:spcBef>
                <a:spcPts val="0"/>
              </a:spcBef>
              <a:spcAft>
                <a:spcPts val="400"/>
              </a:spcAft>
            </a:pPr>
            <a:r>
              <a:rPr b="1" i="0" sz="1400">
                <a:solidFill>
                  <a:srgbClr val="FFFFFF"/>
                </a:solidFill>
                <a:latin typeface="Palatino Linotype"/>
              </a:rPr>
              <a:t>T(H)RUST team</a:t>
            </a:r>
          </a:p>
        </p:txBody>
      </p:sp>
    </p:spTree>
  </p:cSld>
  <p:clrMapOvr>
    <a:masterClrMapping/>
  </p:clrMapOvr>
</p:sld>
</file>

<file path=ppt/theme/theme1.xml><?xml version="1.0" encoding="utf-8"?>
<a:theme xmlns:a="http://schemas.openxmlformats.org/drawingml/2006/main" name="Tema di Office">
  <a:themeElements>
    <a:clrScheme name="Gradazioni di grigio">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09" row="0">
    <wetp:webextensionref xmlns:r="http://schemas.openxmlformats.org/officeDocument/2006/relationships" r:id="rId1"/>
  </wetp:taskpane>
  <wetp:taskpane dockstate="right" visibility="0" width="322"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96F0C90-87E7-4693-8BD7-89CC9317711A}">
  <we:reference id="wa200010001" version="1.0.0.1" store="en-US" storeType="OMEX"/>
  <we:alternateReferences>
    <we:reference id="wa200010001" version="1.0.0.1" store="en-US" storeType="OMEX"/>
  </we:alternateReferences>
  <we:properties>
    <we:property name="claude.fileId" value="&quot;f4c1ef11-a862-4ccc-8daf-c5522655107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17906AD-1CB3-427E-B59E-E96F5E1D5758}">
  <we:reference id="WA200010725" version="1.0.0.1" store="Omex" storeType="OMEX"/>
  <we:alternateReferences>
    <we:reference id="WA200010725" version="1.0.0.1" store="WA200010725" storeType="OMEX"/>
  </we:alternateReferences>
  <we:properties>
    <we:property name="claude.fileId" value="&quot;01a6e2c6-9f91-4d81-95e9-62ebebeb5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11093</TotalTime>
  <Words>1689</Words>
  <Application>Microsoft Office PowerPoint</Application>
  <PresentationFormat>Widescreen</PresentationFormat>
  <Paragraphs>242</Paragraphs>
  <Slides>18</Slides>
  <Notes>18</Notes>
  <HiddenSlides>0</HiddenSlides>
  <MMClips>2</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18</vt:i4>
      </vt:variant>
    </vt:vector>
  </HeadingPairs>
  <TitlesOfParts>
    <vt:vector size="26" baseType="lpstr">
      <vt:lpstr>Arial</vt:lpstr>
      <vt:lpstr>Calibri</vt:lpstr>
      <vt:lpstr>Calibri Light</vt:lpstr>
      <vt:lpstr>Cambria Math</vt:lpstr>
      <vt:lpstr>Palatino</vt:lpstr>
      <vt:lpstr>Palatino Linotype</vt:lpstr>
      <vt:lpstr>Times New Roman</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Matteo Fiore</dc:creator>
  <cp:lastModifiedBy>Alessandro Montanari</cp:lastModifiedBy>
  <cp:revision>174</cp:revision>
  <dcterms:created xsi:type="dcterms:W3CDTF">2022-03-14T17:39:05Z</dcterms:created>
  <dcterms:modified xsi:type="dcterms:W3CDTF">2026-05-13T14:23:23Z</dcterms:modified>
</cp:coreProperties>
</file>